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7" r:id="rId2"/>
    <p:sldId id="983" r:id="rId3"/>
    <p:sldId id="1137" r:id="rId4"/>
    <p:sldId id="1174" r:id="rId5"/>
    <p:sldId id="1156" r:id="rId6"/>
    <p:sldId id="1158" r:id="rId7"/>
    <p:sldId id="1173" r:id="rId8"/>
    <p:sldId id="1170" r:id="rId9"/>
    <p:sldId id="1171" r:id="rId10"/>
    <p:sldId id="1172" r:id="rId11"/>
    <p:sldId id="1175" r:id="rId12"/>
    <p:sldId id="1180" r:id="rId13"/>
    <p:sldId id="1181" r:id="rId14"/>
    <p:sldId id="1182" r:id="rId15"/>
    <p:sldId id="1183" r:id="rId16"/>
    <p:sldId id="1165" r:id="rId17"/>
    <p:sldId id="1177" r:id="rId18"/>
    <p:sldId id="1178" r:id="rId19"/>
    <p:sldId id="1184" r:id="rId20"/>
  </p:sldIdLst>
  <p:sldSz cx="9144000" cy="6858000" type="letter"/>
  <p:notesSz cx="9601200" cy="7315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pitchFamily="35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58" userDrawn="1">
          <p15:clr>
            <a:srgbClr val="A4A3A4"/>
          </p15:clr>
        </p15:guide>
        <p15:guide id="2" pos="295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CC"/>
    <a:srgbClr val="FFFC8F"/>
    <a:srgbClr val="FF0000"/>
    <a:srgbClr val="98CA00"/>
    <a:srgbClr val="4032A1"/>
    <a:srgbClr val="6BEEE1"/>
    <a:srgbClr val="99CA00"/>
    <a:srgbClr val="A0CA5B"/>
    <a:srgbClr val="4734A0"/>
    <a:srgbClr val="4B36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683"/>
    <p:restoredTop sz="86514"/>
  </p:normalViewPr>
  <p:slideViewPr>
    <p:cSldViewPr>
      <p:cViewPr varScale="1">
        <p:scale>
          <a:sx n="89" d="100"/>
          <a:sy n="89" d="100"/>
        </p:scale>
        <p:origin x="2528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" d="1"/>
        <a:sy n="1" d="1"/>
      </p:scale>
      <p:origin x="0" y="4536"/>
    </p:cViewPr>
  </p:sorterViewPr>
  <p:notesViewPr>
    <p:cSldViewPr>
      <p:cViewPr varScale="1">
        <p:scale>
          <a:sx n="44" d="100"/>
          <a:sy n="44" d="100"/>
        </p:scale>
        <p:origin x="-1392" y="-72"/>
      </p:cViewPr>
      <p:guideLst>
        <p:guide orient="horz" pos="2258"/>
        <p:guide pos="295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-1210"/>
            <a:ext cx="4160937" cy="3701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t" anchorCtr="0" compatLnSpc="1">
            <a:prstTxWarp prst="textNoShape">
              <a:avLst/>
            </a:prstTxWarp>
          </a:bodyPr>
          <a:lstStyle>
            <a:lvl1pPr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440265" y="-1210"/>
            <a:ext cx="4160936" cy="3701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t" anchorCtr="0" compatLnSpc="1">
            <a:prstTxWarp prst="textNoShape">
              <a:avLst/>
            </a:prstTxWarp>
          </a:bodyPr>
          <a:lstStyle>
            <a:lvl1pPr algn="r"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9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981325" y="560388"/>
            <a:ext cx="3635375" cy="272573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83494" y="3473753"/>
            <a:ext cx="7034213" cy="3292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1042" tIns="51377" rIns="101042" bIns="513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945086"/>
            <a:ext cx="4160937" cy="370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b" anchorCtr="0" compatLnSpc="1">
            <a:prstTxWarp prst="textNoShape">
              <a:avLst/>
            </a:prstTxWarp>
          </a:bodyPr>
          <a:lstStyle>
            <a:lvl1pPr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r>
              <a:rPr lang="en-US"/>
              <a:t>Multivariate Analysis        Harrison B. Prosper       Durham, UK 2002</a:t>
            </a: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440265" y="6945086"/>
            <a:ext cx="4160936" cy="370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0551" tIns="0" rIns="20551" bIns="0" numCol="1" anchor="b" anchorCtr="0" compatLnSpc="1">
            <a:prstTxWarp prst="textNoShape">
              <a:avLst/>
            </a:prstTxWarp>
          </a:bodyPr>
          <a:lstStyle>
            <a:lvl1pPr algn="r" defTabSz="1020763">
              <a:defRPr sz="1100" i="1">
                <a:latin typeface="Times New Roman" pitchFamily="-109" charset="0"/>
              </a:defRPr>
            </a:lvl1pPr>
          </a:lstStyle>
          <a:p>
            <a:pPr>
              <a:defRPr/>
            </a:pPr>
            <a:fld id="{887413D6-4D90-094B-878C-C9B479C8F2A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109" charset="-128"/>
        <a:cs typeface="ＭＳ Ｐゴシック" pitchFamily="-109" charset="-128"/>
      </a:defRPr>
    </a:lvl1pPr>
    <a:lvl2pPr marL="468313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2pPr>
    <a:lvl3pPr marL="935038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3pPr>
    <a:lvl4pPr marL="1401763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4pPr>
    <a:lvl5pPr marL="1870075" algn="l" defTabSz="94615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-65" charset="0"/>
        <a:ea typeface="ＭＳ Ｐゴシック" pitchFamily="-65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Multivariate Analysis        Harrison B. Prosper       Durham, UK 2002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87413D6-4D90-094B-878C-C9B479C8F2AA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6109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77470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F4C301C-9EF7-E355-B6C7-843289630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84F67-D0EA-C8DB-1288-825F84C1E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32568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38100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73600" y="1295400"/>
            <a:ext cx="38100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480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1200" y="1295400"/>
            <a:ext cx="5156200" cy="481965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041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914400" y="2825496"/>
            <a:ext cx="7772400" cy="1975104"/>
          </a:xfrm>
        </p:spPr>
        <p:txBody>
          <a:bodyPr/>
          <a:lstStyle>
            <a:lvl1pPr marR="9144" algn="l">
              <a:defRPr sz="3600" b="1" cap="all" spc="0" baseline="0">
                <a:effectLst>
                  <a:reflection blurRad="12700" stA="34000" endA="740" endPos="53000" dir="5400000" sy="-100000" algn="bl" rotWithShape="0"/>
                </a:effectLst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8CF78B-6BF1-F401-D2E4-0AA44F61548A}"/>
              </a:ext>
            </a:extLst>
          </p:cNvPr>
          <p:cNvSpPr/>
          <p:nvPr userDrawn="1"/>
        </p:nvSpPr>
        <p:spPr bwMode="auto">
          <a:xfrm>
            <a:off x="6705600" y="5867400"/>
            <a:ext cx="914400" cy="914400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E472BB36-DE68-CDFF-8FB2-4944562CAFD5}"/>
              </a:ext>
            </a:extLst>
          </p:cNvPr>
          <p:cNvSpPr/>
          <p:nvPr userDrawn="1"/>
        </p:nvSpPr>
        <p:spPr bwMode="auto">
          <a:xfrm>
            <a:off x="8449294" y="6458197"/>
            <a:ext cx="685800" cy="381000"/>
          </a:xfrm>
          <a:prstGeom prst="rect">
            <a:avLst/>
          </a:prstGeom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4224090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 hasCustomPrompt="1"/>
          </p:nvPr>
        </p:nvSpPr>
        <p:spPr>
          <a:xfrm>
            <a:off x="914400" y="1377696"/>
            <a:ext cx="7772400" cy="1975104"/>
          </a:xfrm>
        </p:spPr>
        <p:txBody>
          <a:bodyPr/>
          <a:lstStyle>
            <a:lvl1pPr marR="9144" algn="l">
              <a:defRPr sz="3600" b="1" cap="all" spc="0" baseline="0">
                <a:effectLst>
                  <a:reflection blurRad="12700" stA="34000" endA="740" endPos="53000" dir="5400000" sy="-100000" algn="bl" rotWithShape="0"/>
                </a:effectLst>
                <a:latin typeface="Arial"/>
                <a:cs typeface="Arial"/>
              </a:defRPr>
            </a:lvl1pPr>
          </a:lstStyle>
          <a:p>
            <a:r>
              <a:rPr lang="en-US" dirty="0"/>
              <a:t>Machine Learning in physics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D9514EB4-1C3F-7203-17FC-7424F799880C}"/>
              </a:ext>
            </a:extLst>
          </p:cNvPr>
          <p:cNvSpPr txBox="1">
            <a:spLocks/>
          </p:cNvSpPr>
          <p:nvPr userDrawn="1"/>
        </p:nvSpPr>
        <p:spPr bwMode="auto">
          <a:xfrm>
            <a:off x="914400" y="3511296"/>
            <a:ext cx="7772400" cy="19751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marR="9144" algn="l" rtl="0" eaLnBrk="0" fontAlgn="base" hangingPunct="0">
              <a:spcBef>
                <a:spcPct val="0"/>
              </a:spcBef>
              <a:spcAft>
                <a:spcPct val="0"/>
              </a:spcAft>
              <a:defRPr sz="3600" b="1" cap="all" spc="0" baseline="0">
                <a:solidFill>
                  <a:srgbClr val="0000CC"/>
                </a:solidFill>
                <a:effectLst>
                  <a:reflection blurRad="12700" stA="34000" endA="740" endPos="53000" dir="5400000" sy="-100000" algn="bl" rotWithShape="0"/>
                </a:effectLst>
                <a:latin typeface="Arial"/>
                <a:ea typeface="ＭＳ Ｐゴシック" pitchFamily="-109" charset="-128"/>
                <a:cs typeface="Arial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  <a:ea typeface="ＭＳ Ｐゴシック" pitchFamily="-109" charset="-128"/>
                <a:cs typeface="ＭＳ Ｐゴシック" pitchFamily="-109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  <a:ea typeface="ＭＳ Ｐゴシック" pitchFamily="-109" charset="-128"/>
                <a:cs typeface="ＭＳ Ｐゴシック" pitchFamily="-109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  <a:ea typeface="ＭＳ Ｐゴシック" pitchFamily="-109" charset="-128"/>
                <a:cs typeface="ＭＳ Ｐゴシック" pitchFamily="-109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  <a:ea typeface="ＭＳ Ｐゴシック" pitchFamily="-109" charset="-128"/>
                <a:cs typeface="ＭＳ Ｐゴシック" pitchFamily="-109" charset="-128"/>
              </a:defRPr>
            </a:lvl5pPr>
            <a:lvl6pPr marL="4572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</a:defRPr>
            </a:lvl6pPr>
            <a:lvl7pPr marL="9144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</a:defRPr>
            </a:lvl7pPr>
            <a:lvl8pPr marL="13716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</a:defRPr>
            </a:lvl8pPr>
            <a:lvl9pPr marL="1828800"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00CC"/>
                </a:solidFill>
                <a:effectLst>
                  <a:outerShdw blurRad="38100" dist="38100" dir="2700000" algn="tl">
                    <a:srgbClr val="DDDDDD"/>
                  </a:outerShdw>
                </a:effectLst>
                <a:latin typeface="Times New Roman" pitchFamily="-65" charset="0"/>
              </a:defRPr>
            </a:lvl9pPr>
          </a:lstStyle>
          <a:p>
            <a:r>
              <a:rPr lang="en-US" sz="2400" b="0" i="0" kern="0" cap="small" baseline="0" dirty="0">
                <a:solidFill>
                  <a:schemeClr val="tx1"/>
                </a:solidFill>
                <a:latin typeface="+mn-lt"/>
              </a:rPr>
              <a:t>Harrison B. prosper</a:t>
            </a:r>
          </a:p>
          <a:p>
            <a:endParaRPr lang="en-US" sz="2400" b="0" i="0" kern="0" cap="small" baseline="0" dirty="0">
              <a:solidFill>
                <a:schemeClr val="tx1"/>
              </a:solidFill>
              <a:latin typeface="+mn-lt"/>
            </a:endParaRPr>
          </a:p>
          <a:p>
            <a:r>
              <a:rPr lang="en-US" sz="2400" b="0" i="0" kern="0" cap="small" baseline="0" dirty="0">
                <a:solidFill>
                  <a:schemeClr val="tx1"/>
                </a:solidFill>
                <a:latin typeface="+mn-lt"/>
              </a:rPr>
              <a:t>PHY6937 / PHY4936</a:t>
            </a:r>
            <a:endParaRPr lang="en-US" sz="2800" b="0" i="0" kern="0" cap="small" baseline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EC9E5B-8A28-1B6B-D3E7-3E9521354FBE}"/>
              </a:ext>
            </a:extLst>
          </p:cNvPr>
          <p:cNvSpPr/>
          <p:nvPr userDrawn="1"/>
        </p:nvSpPr>
        <p:spPr bwMode="auto">
          <a:xfrm>
            <a:off x="762000" y="3511296"/>
            <a:ext cx="914400" cy="914400"/>
          </a:xfrm>
          <a:prstGeom prst="rect">
            <a:avLst/>
          </a:pr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DF16E033-80B5-2ADB-62C6-C637CCE38381}"/>
              </a:ext>
            </a:extLst>
          </p:cNvPr>
          <p:cNvSpPr/>
          <p:nvPr userDrawn="1"/>
        </p:nvSpPr>
        <p:spPr bwMode="auto">
          <a:xfrm>
            <a:off x="8449294" y="6458197"/>
            <a:ext cx="685800" cy="381000"/>
          </a:xfrm>
          <a:prstGeom prst="rect">
            <a:avLst/>
          </a:prstGeom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1069620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 algn="l">
              <a:defRPr/>
            </a:lvl1pPr>
          </a:lstStyle>
          <a:p>
            <a:pPr>
              <a:defRPr/>
            </a:pPr>
            <a:r>
              <a:rPr lang="en-US"/>
              <a:t>FSU: Machine Learning in Physics</a:t>
            </a:r>
            <a:endParaRPr lang="en-US" dirty="0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6487E0-6C48-9842-89A3-09BD27C705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628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8600"/>
            <a:ext cx="77724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1295400"/>
            <a:ext cx="7772400" cy="4819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C0F15DE-6B04-7264-D863-843F42C0E0E9}"/>
              </a:ext>
            </a:extLst>
          </p:cNvPr>
          <p:cNvCxnSpPr/>
          <p:nvPr userDrawn="1"/>
        </p:nvCxnSpPr>
        <p:spPr bwMode="auto">
          <a:xfrm>
            <a:off x="0" y="6400800"/>
            <a:ext cx="9144000" cy="0"/>
          </a:xfrm>
          <a:prstGeom prst="line">
            <a:avLst/>
          </a:prstGeom>
          <a:noFill/>
          <a:ln w="12700" cap="flat" cmpd="sng" algn="ctr">
            <a:solidFill>
              <a:srgbClr val="0033CC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2220806-BEE9-EFFE-0921-DFEF6BB8FA1D}"/>
              </a:ext>
            </a:extLst>
          </p:cNvPr>
          <p:cNvSpPr txBox="1"/>
          <p:nvPr userDrawn="1"/>
        </p:nvSpPr>
        <p:spPr>
          <a:xfrm>
            <a:off x="11474" y="6474023"/>
            <a:ext cx="270939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FSU: Machine Learning in Physics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B4AF15-DD31-995A-6565-3F133A45E1D8}"/>
              </a:ext>
            </a:extLst>
          </p:cNvPr>
          <p:cNvSpPr txBox="1"/>
          <p:nvPr userDrawn="1"/>
        </p:nvSpPr>
        <p:spPr>
          <a:xfrm>
            <a:off x="8642684" y="6443246"/>
            <a:ext cx="4251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79503ECA-0FA0-C844-BE1C-9E0ADD6C9254}" type="slidenum">
              <a:rPr lang="en-US" sz="1600" smtClean="0"/>
              <a:t>‹#›</a:t>
            </a:fld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2" r:id="rId1"/>
    <p:sldLayoutId id="2147483890" r:id="rId2"/>
    <p:sldLayoutId id="2147483889" r:id="rId3"/>
    <p:sldLayoutId id="2147483891" r:id="rId4"/>
    <p:sldLayoutId id="2147483885" r:id="rId5"/>
    <p:sldLayoutId id="2147483886" r:id="rId6"/>
    <p:sldLayoutId id="2147483892" r:id="rId7"/>
    <p:sldLayoutId id="2147483893" r:id="rId8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/>
          <a:ea typeface="ＭＳ Ｐゴシック" pitchFamily="-109" charset="-128"/>
          <a:cs typeface="Times New Roman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  <a:ea typeface="ＭＳ Ｐゴシック" pitchFamily="-109" charset="-128"/>
          <a:cs typeface="ＭＳ Ｐゴシック" pitchFamily="-109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600" b="1">
          <a:solidFill>
            <a:srgbClr val="0000CC"/>
          </a:solidFill>
          <a:effectLst>
            <a:outerShdw blurRad="38100" dist="38100" dir="2700000" algn="tl">
              <a:srgbClr val="DDDDDD"/>
            </a:outerShdw>
          </a:effectLst>
          <a:latin typeface="Times New Roman" pitchFamily="-65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Ø"/>
        <a:defRPr sz="2400">
          <a:solidFill>
            <a:schemeClr val="tx1"/>
          </a:solidFill>
          <a:latin typeface="Times New Roman"/>
          <a:ea typeface="ＭＳ Ｐゴシック" pitchFamily="-109" charset="-128"/>
          <a:cs typeface="Times New Roman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009900"/>
        </a:buClr>
        <a:buFont typeface="Wingdings" pitchFamily="2" charset="2"/>
        <a:buChar char="Ø"/>
        <a:defRPr sz="24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0000CC"/>
        </a:buClr>
        <a:buFont typeface="Wingdings" pitchFamily="2" charset="2"/>
        <a:buChar char="Ø"/>
        <a:defRPr sz="24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sz="20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Wingdings" pitchFamily="2" charset="2"/>
        <a:buChar char="Ø"/>
        <a:defRPr sz="2000">
          <a:solidFill>
            <a:schemeClr val="tx1"/>
          </a:solidFill>
          <a:latin typeface="Times New Roman"/>
          <a:ea typeface="ＭＳ Ｐゴシック" pitchFamily="-65" charset="-128"/>
          <a:cs typeface="Times New Roman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ＭＳ Ｐゴシック" pitchFamily="-65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E000CB-EC61-7DFA-0258-19D3DFAC49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Machine learning in physics</a:t>
            </a:r>
            <a:br>
              <a:rPr lang="en-US" dirty="0"/>
            </a:br>
            <a:r>
              <a:rPr lang="en-US" dirty="0">
                <a:solidFill>
                  <a:schemeClr val="accent1"/>
                </a:solidFill>
              </a:rPr>
              <a:t>Bayesian Neural networks</a:t>
            </a:r>
            <a:endParaRPr lang="en-US" sz="2400" dirty="0">
              <a:solidFill>
                <a:srgbClr val="00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1479501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Approach</a:t>
            </a:r>
          </a:p>
          <a:p>
            <a:pPr lvl="1">
              <a:lnSpc>
                <a:spcPct val="9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Bayesian Approach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Hamiltonian Monte Carlo</a:t>
            </a:r>
          </a:p>
          <a:p>
            <a:pPr>
              <a:lnSpc>
                <a:spcPct val="9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  <a:p>
            <a:pPr>
              <a:lnSpc>
                <a:spcPct val="90000"/>
              </a:lnSpc>
              <a:buFont typeface="Marlett" pitchFamily="26" charset="0"/>
              <a:buNone/>
            </a:pPr>
            <a:endParaRPr lang="en-US" b="1" dirty="0">
              <a:solidFill>
                <a:srgbClr val="0033CC"/>
              </a:solidFill>
            </a:endParaRPr>
          </a:p>
          <a:p>
            <a:pPr>
              <a:lnSpc>
                <a:spcPct val="90000"/>
              </a:lnSpc>
              <a:buFont typeface="Marlett" pitchFamily="26" charset="0"/>
              <a:buNone/>
            </a:pPr>
            <a:r>
              <a:rPr lang="en-US" b="1" dirty="0">
                <a:solidFill>
                  <a:srgbClr val="0033CC"/>
                </a:solidFill>
              </a:rPr>
              <a:t>	</a:t>
            </a:r>
            <a:r>
              <a:rPr lang="en-US" dirty="0"/>
              <a:t>	</a:t>
            </a:r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2" name="Freeform 1"/>
          <p:cNvSpPr/>
          <p:nvPr/>
        </p:nvSpPr>
        <p:spPr bwMode="auto">
          <a:xfrm>
            <a:off x="1803400" y="2235200"/>
            <a:ext cx="3365514" cy="1549400"/>
          </a:xfrm>
          <a:custGeom>
            <a:avLst/>
            <a:gdLst>
              <a:gd name="connsiteX0" fmla="*/ 1549400 w 3365514"/>
              <a:gd name="connsiteY0" fmla="*/ 114300 h 1549400"/>
              <a:gd name="connsiteX1" fmla="*/ 1549400 w 3365514"/>
              <a:gd name="connsiteY1" fmla="*/ 114300 h 1549400"/>
              <a:gd name="connsiteX2" fmla="*/ 1422400 w 3365514"/>
              <a:gd name="connsiteY2" fmla="*/ 127000 h 1549400"/>
              <a:gd name="connsiteX3" fmla="*/ 1181100 w 3365514"/>
              <a:gd name="connsiteY3" fmla="*/ 139700 h 1549400"/>
              <a:gd name="connsiteX4" fmla="*/ 1054100 w 3365514"/>
              <a:gd name="connsiteY4" fmla="*/ 165100 h 1549400"/>
              <a:gd name="connsiteX5" fmla="*/ 990600 w 3365514"/>
              <a:gd name="connsiteY5" fmla="*/ 177800 h 1549400"/>
              <a:gd name="connsiteX6" fmla="*/ 800100 w 3365514"/>
              <a:gd name="connsiteY6" fmla="*/ 254000 h 1549400"/>
              <a:gd name="connsiteX7" fmla="*/ 736600 w 3365514"/>
              <a:gd name="connsiteY7" fmla="*/ 279400 h 1549400"/>
              <a:gd name="connsiteX8" fmla="*/ 673100 w 3365514"/>
              <a:gd name="connsiteY8" fmla="*/ 317500 h 1549400"/>
              <a:gd name="connsiteX9" fmla="*/ 558800 w 3365514"/>
              <a:gd name="connsiteY9" fmla="*/ 368300 h 1549400"/>
              <a:gd name="connsiteX10" fmla="*/ 508000 w 3365514"/>
              <a:gd name="connsiteY10" fmla="*/ 406400 h 1549400"/>
              <a:gd name="connsiteX11" fmla="*/ 469900 w 3365514"/>
              <a:gd name="connsiteY11" fmla="*/ 431800 h 1549400"/>
              <a:gd name="connsiteX12" fmla="*/ 368300 w 3365514"/>
              <a:gd name="connsiteY12" fmla="*/ 508000 h 1549400"/>
              <a:gd name="connsiteX13" fmla="*/ 317500 w 3365514"/>
              <a:gd name="connsiteY13" fmla="*/ 533400 h 1549400"/>
              <a:gd name="connsiteX14" fmla="*/ 292100 w 3365514"/>
              <a:gd name="connsiteY14" fmla="*/ 571500 h 1549400"/>
              <a:gd name="connsiteX15" fmla="*/ 254000 w 3365514"/>
              <a:gd name="connsiteY15" fmla="*/ 596900 h 1549400"/>
              <a:gd name="connsiteX16" fmla="*/ 114300 w 3365514"/>
              <a:gd name="connsiteY16" fmla="*/ 711200 h 1549400"/>
              <a:gd name="connsiteX17" fmla="*/ 63500 w 3365514"/>
              <a:gd name="connsiteY17" fmla="*/ 787400 h 1549400"/>
              <a:gd name="connsiteX18" fmla="*/ 25400 w 3365514"/>
              <a:gd name="connsiteY18" fmla="*/ 914400 h 1549400"/>
              <a:gd name="connsiteX19" fmla="*/ 12700 w 3365514"/>
              <a:gd name="connsiteY19" fmla="*/ 952500 h 1549400"/>
              <a:gd name="connsiteX20" fmla="*/ 0 w 3365514"/>
              <a:gd name="connsiteY20" fmla="*/ 1028700 h 1549400"/>
              <a:gd name="connsiteX21" fmla="*/ 12700 w 3365514"/>
              <a:gd name="connsiteY21" fmla="*/ 1206500 h 1549400"/>
              <a:gd name="connsiteX22" fmla="*/ 38100 w 3365514"/>
              <a:gd name="connsiteY22" fmla="*/ 1244600 h 1549400"/>
              <a:gd name="connsiteX23" fmla="*/ 76200 w 3365514"/>
              <a:gd name="connsiteY23" fmla="*/ 1295400 h 1549400"/>
              <a:gd name="connsiteX24" fmla="*/ 165100 w 3365514"/>
              <a:gd name="connsiteY24" fmla="*/ 1371600 h 1549400"/>
              <a:gd name="connsiteX25" fmla="*/ 355600 w 3365514"/>
              <a:gd name="connsiteY25" fmla="*/ 1473200 h 1549400"/>
              <a:gd name="connsiteX26" fmla="*/ 393700 w 3365514"/>
              <a:gd name="connsiteY26" fmla="*/ 1485900 h 1549400"/>
              <a:gd name="connsiteX27" fmla="*/ 571500 w 3365514"/>
              <a:gd name="connsiteY27" fmla="*/ 1511300 h 1549400"/>
              <a:gd name="connsiteX28" fmla="*/ 749300 w 3365514"/>
              <a:gd name="connsiteY28" fmla="*/ 1536700 h 1549400"/>
              <a:gd name="connsiteX29" fmla="*/ 952500 w 3365514"/>
              <a:gd name="connsiteY29" fmla="*/ 1549400 h 1549400"/>
              <a:gd name="connsiteX30" fmla="*/ 1422400 w 3365514"/>
              <a:gd name="connsiteY30" fmla="*/ 1536700 h 1549400"/>
              <a:gd name="connsiteX31" fmla="*/ 1473200 w 3365514"/>
              <a:gd name="connsiteY31" fmla="*/ 1524000 h 1549400"/>
              <a:gd name="connsiteX32" fmla="*/ 1562100 w 3365514"/>
              <a:gd name="connsiteY32" fmla="*/ 1511300 h 1549400"/>
              <a:gd name="connsiteX33" fmla="*/ 1701800 w 3365514"/>
              <a:gd name="connsiteY33" fmla="*/ 1485900 h 1549400"/>
              <a:gd name="connsiteX34" fmla="*/ 1943100 w 3365514"/>
              <a:gd name="connsiteY34" fmla="*/ 1460500 h 1549400"/>
              <a:gd name="connsiteX35" fmla="*/ 2082800 w 3365514"/>
              <a:gd name="connsiteY35" fmla="*/ 1435100 h 1549400"/>
              <a:gd name="connsiteX36" fmla="*/ 2133600 w 3365514"/>
              <a:gd name="connsiteY36" fmla="*/ 1422400 h 1549400"/>
              <a:gd name="connsiteX37" fmla="*/ 2235200 w 3365514"/>
              <a:gd name="connsiteY37" fmla="*/ 1409700 h 1549400"/>
              <a:gd name="connsiteX38" fmla="*/ 2387600 w 3365514"/>
              <a:gd name="connsiteY38" fmla="*/ 1358900 h 1549400"/>
              <a:gd name="connsiteX39" fmla="*/ 2451100 w 3365514"/>
              <a:gd name="connsiteY39" fmla="*/ 1346200 h 1549400"/>
              <a:gd name="connsiteX40" fmla="*/ 2552700 w 3365514"/>
              <a:gd name="connsiteY40" fmla="*/ 1295400 h 1549400"/>
              <a:gd name="connsiteX41" fmla="*/ 2692400 w 3365514"/>
              <a:gd name="connsiteY41" fmla="*/ 1231900 h 1549400"/>
              <a:gd name="connsiteX42" fmla="*/ 2743200 w 3365514"/>
              <a:gd name="connsiteY42" fmla="*/ 1193800 h 1549400"/>
              <a:gd name="connsiteX43" fmla="*/ 2870200 w 3365514"/>
              <a:gd name="connsiteY43" fmla="*/ 1130300 h 1549400"/>
              <a:gd name="connsiteX44" fmla="*/ 2921000 w 3365514"/>
              <a:gd name="connsiteY44" fmla="*/ 1079500 h 1549400"/>
              <a:gd name="connsiteX45" fmla="*/ 2971800 w 3365514"/>
              <a:gd name="connsiteY45" fmla="*/ 1041400 h 1549400"/>
              <a:gd name="connsiteX46" fmla="*/ 3022600 w 3365514"/>
              <a:gd name="connsiteY46" fmla="*/ 990600 h 1549400"/>
              <a:gd name="connsiteX47" fmla="*/ 3073400 w 3365514"/>
              <a:gd name="connsiteY47" fmla="*/ 952500 h 1549400"/>
              <a:gd name="connsiteX48" fmla="*/ 3124200 w 3365514"/>
              <a:gd name="connsiteY48" fmla="*/ 901700 h 1549400"/>
              <a:gd name="connsiteX49" fmla="*/ 3251200 w 3365514"/>
              <a:gd name="connsiteY49" fmla="*/ 787400 h 1549400"/>
              <a:gd name="connsiteX50" fmla="*/ 3289300 w 3365514"/>
              <a:gd name="connsiteY50" fmla="*/ 723900 h 1549400"/>
              <a:gd name="connsiteX51" fmla="*/ 3302000 w 3365514"/>
              <a:gd name="connsiteY51" fmla="*/ 685800 h 1549400"/>
              <a:gd name="connsiteX52" fmla="*/ 3340100 w 3365514"/>
              <a:gd name="connsiteY52" fmla="*/ 635000 h 1549400"/>
              <a:gd name="connsiteX53" fmla="*/ 3365500 w 3365514"/>
              <a:gd name="connsiteY53" fmla="*/ 533400 h 1549400"/>
              <a:gd name="connsiteX54" fmla="*/ 3352800 w 3365514"/>
              <a:gd name="connsiteY54" fmla="*/ 254000 h 1549400"/>
              <a:gd name="connsiteX55" fmla="*/ 3314700 w 3365514"/>
              <a:gd name="connsiteY55" fmla="*/ 190500 h 1549400"/>
              <a:gd name="connsiteX56" fmla="*/ 3187700 w 3365514"/>
              <a:gd name="connsiteY56" fmla="*/ 76200 h 1549400"/>
              <a:gd name="connsiteX57" fmla="*/ 3124200 w 3365514"/>
              <a:gd name="connsiteY57" fmla="*/ 38100 h 1549400"/>
              <a:gd name="connsiteX58" fmla="*/ 2984500 w 3365514"/>
              <a:gd name="connsiteY58" fmla="*/ 12700 h 1549400"/>
              <a:gd name="connsiteX59" fmla="*/ 2946400 w 3365514"/>
              <a:gd name="connsiteY59" fmla="*/ 0 h 1549400"/>
              <a:gd name="connsiteX60" fmla="*/ 2006600 w 3365514"/>
              <a:gd name="connsiteY60" fmla="*/ 12700 h 1549400"/>
              <a:gd name="connsiteX61" fmla="*/ 1625600 w 3365514"/>
              <a:gd name="connsiteY61" fmla="*/ 38100 h 1549400"/>
              <a:gd name="connsiteX62" fmla="*/ 1536700 w 3365514"/>
              <a:gd name="connsiteY62" fmla="*/ 63500 h 1549400"/>
              <a:gd name="connsiteX63" fmla="*/ 1473200 w 3365514"/>
              <a:gd name="connsiteY63" fmla="*/ 114300 h 1549400"/>
              <a:gd name="connsiteX64" fmla="*/ 1473200 w 3365514"/>
              <a:gd name="connsiteY64" fmla="*/ 114300 h 1549400"/>
              <a:gd name="connsiteX65" fmla="*/ 1473200 w 3365514"/>
              <a:gd name="connsiteY65" fmla="*/ 114300 h 1549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3365514" h="1549400">
                <a:moveTo>
                  <a:pt x="1549400" y="114300"/>
                </a:moveTo>
                <a:lnTo>
                  <a:pt x="1549400" y="114300"/>
                </a:lnTo>
                <a:cubicBezTo>
                  <a:pt x="1507067" y="118533"/>
                  <a:pt x="1464844" y="124073"/>
                  <a:pt x="1422400" y="127000"/>
                </a:cubicBezTo>
                <a:cubicBezTo>
                  <a:pt x="1342046" y="132542"/>
                  <a:pt x="1261388" y="133277"/>
                  <a:pt x="1181100" y="139700"/>
                </a:cubicBezTo>
                <a:cubicBezTo>
                  <a:pt x="1122773" y="144366"/>
                  <a:pt x="1106096" y="153545"/>
                  <a:pt x="1054100" y="165100"/>
                </a:cubicBezTo>
                <a:cubicBezTo>
                  <a:pt x="1033028" y="169783"/>
                  <a:pt x="1011078" y="170974"/>
                  <a:pt x="990600" y="177800"/>
                </a:cubicBezTo>
                <a:lnTo>
                  <a:pt x="800100" y="254000"/>
                </a:lnTo>
                <a:cubicBezTo>
                  <a:pt x="778933" y="262467"/>
                  <a:pt x="756148" y="267671"/>
                  <a:pt x="736600" y="279400"/>
                </a:cubicBezTo>
                <a:cubicBezTo>
                  <a:pt x="715433" y="292100"/>
                  <a:pt x="695178" y="306461"/>
                  <a:pt x="673100" y="317500"/>
                </a:cubicBezTo>
                <a:cubicBezTo>
                  <a:pt x="612884" y="347608"/>
                  <a:pt x="612665" y="334634"/>
                  <a:pt x="558800" y="368300"/>
                </a:cubicBezTo>
                <a:cubicBezTo>
                  <a:pt x="540851" y="379518"/>
                  <a:pt x="525224" y="394097"/>
                  <a:pt x="508000" y="406400"/>
                </a:cubicBezTo>
                <a:cubicBezTo>
                  <a:pt x="495580" y="415272"/>
                  <a:pt x="482244" y="422822"/>
                  <a:pt x="469900" y="431800"/>
                </a:cubicBezTo>
                <a:cubicBezTo>
                  <a:pt x="435664" y="456699"/>
                  <a:pt x="406164" y="489068"/>
                  <a:pt x="368300" y="508000"/>
                </a:cubicBezTo>
                <a:lnTo>
                  <a:pt x="317500" y="533400"/>
                </a:lnTo>
                <a:cubicBezTo>
                  <a:pt x="309033" y="546100"/>
                  <a:pt x="302893" y="560707"/>
                  <a:pt x="292100" y="571500"/>
                </a:cubicBezTo>
                <a:cubicBezTo>
                  <a:pt x="281307" y="582293"/>
                  <a:pt x="266344" y="587922"/>
                  <a:pt x="254000" y="596900"/>
                </a:cubicBezTo>
                <a:cubicBezTo>
                  <a:pt x="224795" y="618140"/>
                  <a:pt x="145524" y="671055"/>
                  <a:pt x="114300" y="711200"/>
                </a:cubicBezTo>
                <a:cubicBezTo>
                  <a:pt x="95558" y="735297"/>
                  <a:pt x="73153" y="758440"/>
                  <a:pt x="63500" y="787400"/>
                </a:cubicBezTo>
                <a:cubicBezTo>
                  <a:pt x="3139" y="968484"/>
                  <a:pt x="63787" y="780045"/>
                  <a:pt x="25400" y="914400"/>
                </a:cubicBezTo>
                <a:cubicBezTo>
                  <a:pt x="21722" y="927272"/>
                  <a:pt x="15604" y="939432"/>
                  <a:pt x="12700" y="952500"/>
                </a:cubicBezTo>
                <a:cubicBezTo>
                  <a:pt x="7114" y="977637"/>
                  <a:pt x="4233" y="1003300"/>
                  <a:pt x="0" y="1028700"/>
                </a:cubicBezTo>
                <a:cubicBezTo>
                  <a:pt x="4233" y="1087967"/>
                  <a:pt x="2374" y="1147986"/>
                  <a:pt x="12700" y="1206500"/>
                </a:cubicBezTo>
                <a:cubicBezTo>
                  <a:pt x="15353" y="1221531"/>
                  <a:pt x="29228" y="1232180"/>
                  <a:pt x="38100" y="1244600"/>
                </a:cubicBezTo>
                <a:cubicBezTo>
                  <a:pt x="50403" y="1261824"/>
                  <a:pt x="62425" y="1279329"/>
                  <a:pt x="76200" y="1295400"/>
                </a:cubicBezTo>
                <a:cubicBezTo>
                  <a:pt x="101071" y="1324417"/>
                  <a:pt x="133161" y="1351068"/>
                  <a:pt x="165100" y="1371600"/>
                </a:cubicBezTo>
                <a:cubicBezTo>
                  <a:pt x="266101" y="1436530"/>
                  <a:pt x="267295" y="1440086"/>
                  <a:pt x="355600" y="1473200"/>
                </a:cubicBezTo>
                <a:cubicBezTo>
                  <a:pt x="368135" y="1477900"/>
                  <a:pt x="380517" y="1483574"/>
                  <a:pt x="393700" y="1485900"/>
                </a:cubicBezTo>
                <a:cubicBezTo>
                  <a:pt x="452657" y="1496304"/>
                  <a:pt x="512446" y="1501458"/>
                  <a:pt x="571500" y="1511300"/>
                </a:cubicBezTo>
                <a:cubicBezTo>
                  <a:pt x="633400" y="1521617"/>
                  <a:pt x="685724" y="1531402"/>
                  <a:pt x="749300" y="1536700"/>
                </a:cubicBezTo>
                <a:cubicBezTo>
                  <a:pt x="816931" y="1542336"/>
                  <a:pt x="884767" y="1545167"/>
                  <a:pt x="952500" y="1549400"/>
                </a:cubicBezTo>
                <a:cubicBezTo>
                  <a:pt x="1109133" y="1545167"/>
                  <a:pt x="1265896" y="1544334"/>
                  <a:pt x="1422400" y="1536700"/>
                </a:cubicBezTo>
                <a:cubicBezTo>
                  <a:pt x="1439834" y="1535850"/>
                  <a:pt x="1456027" y="1527122"/>
                  <a:pt x="1473200" y="1524000"/>
                </a:cubicBezTo>
                <a:cubicBezTo>
                  <a:pt x="1502651" y="1518645"/>
                  <a:pt x="1532467" y="1515533"/>
                  <a:pt x="1562100" y="1511300"/>
                </a:cubicBezTo>
                <a:cubicBezTo>
                  <a:pt x="1629762" y="1488746"/>
                  <a:pt x="1594097" y="1497867"/>
                  <a:pt x="1701800" y="1485900"/>
                </a:cubicBezTo>
                <a:lnTo>
                  <a:pt x="1943100" y="1460500"/>
                </a:lnTo>
                <a:cubicBezTo>
                  <a:pt x="2058319" y="1431695"/>
                  <a:pt x="1915947" y="1465437"/>
                  <a:pt x="2082800" y="1435100"/>
                </a:cubicBezTo>
                <a:cubicBezTo>
                  <a:pt x="2099973" y="1431978"/>
                  <a:pt x="2116383" y="1425269"/>
                  <a:pt x="2133600" y="1422400"/>
                </a:cubicBezTo>
                <a:cubicBezTo>
                  <a:pt x="2167266" y="1416789"/>
                  <a:pt x="2201654" y="1415990"/>
                  <a:pt x="2235200" y="1409700"/>
                </a:cubicBezTo>
                <a:cubicBezTo>
                  <a:pt x="2476603" y="1364437"/>
                  <a:pt x="2239719" y="1408194"/>
                  <a:pt x="2387600" y="1358900"/>
                </a:cubicBezTo>
                <a:cubicBezTo>
                  <a:pt x="2408078" y="1352074"/>
                  <a:pt x="2429933" y="1350433"/>
                  <a:pt x="2451100" y="1346200"/>
                </a:cubicBezTo>
                <a:cubicBezTo>
                  <a:pt x="2484967" y="1329267"/>
                  <a:pt x="2517544" y="1309462"/>
                  <a:pt x="2552700" y="1295400"/>
                </a:cubicBezTo>
                <a:cubicBezTo>
                  <a:pt x="2603797" y="1274961"/>
                  <a:pt x="2644105" y="1260877"/>
                  <a:pt x="2692400" y="1231900"/>
                </a:cubicBezTo>
                <a:cubicBezTo>
                  <a:pt x="2710550" y="1221010"/>
                  <a:pt x="2724697" y="1204079"/>
                  <a:pt x="2743200" y="1193800"/>
                </a:cubicBezTo>
                <a:cubicBezTo>
                  <a:pt x="2828753" y="1146271"/>
                  <a:pt x="2788089" y="1194164"/>
                  <a:pt x="2870200" y="1130300"/>
                </a:cubicBezTo>
                <a:cubicBezTo>
                  <a:pt x="2889103" y="1115598"/>
                  <a:pt x="2902978" y="1095269"/>
                  <a:pt x="2921000" y="1079500"/>
                </a:cubicBezTo>
                <a:cubicBezTo>
                  <a:pt x="2936930" y="1065562"/>
                  <a:pt x="2955870" y="1055338"/>
                  <a:pt x="2971800" y="1041400"/>
                </a:cubicBezTo>
                <a:cubicBezTo>
                  <a:pt x="2989822" y="1025631"/>
                  <a:pt x="3004578" y="1006369"/>
                  <a:pt x="3022600" y="990600"/>
                </a:cubicBezTo>
                <a:cubicBezTo>
                  <a:pt x="3038530" y="976662"/>
                  <a:pt x="3057470" y="966438"/>
                  <a:pt x="3073400" y="952500"/>
                </a:cubicBezTo>
                <a:cubicBezTo>
                  <a:pt x="3091422" y="936731"/>
                  <a:pt x="3106178" y="917469"/>
                  <a:pt x="3124200" y="901700"/>
                </a:cubicBezTo>
                <a:cubicBezTo>
                  <a:pt x="3171057" y="860700"/>
                  <a:pt x="3215493" y="846912"/>
                  <a:pt x="3251200" y="787400"/>
                </a:cubicBezTo>
                <a:cubicBezTo>
                  <a:pt x="3263900" y="766233"/>
                  <a:pt x="3278261" y="745978"/>
                  <a:pt x="3289300" y="723900"/>
                </a:cubicBezTo>
                <a:cubicBezTo>
                  <a:pt x="3295287" y="711926"/>
                  <a:pt x="3295358" y="697423"/>
                  <a:pt x="3302000" y="685800"/>
                </a:cubicBezTo>
                <a:cubicBezTo>
                  <a:pt x="3312502" y="667422"/>
                  <a:pt x="3327400" y="651933"/>
                  <a:pt x="3340100" y="635000"/>
                </a:cubicBezTo>
                <a:cubicBezTo>
                  <a:pt x="3350122" y="604935"/>
                  <a:pt x="3365500" y="564051"/>
                  <a:pt x="3365500" y="533400"/>
                </a:cubicBezTo>
                <a:cubicBezTo>
                  <a:pt x="3365500" y="440171"/>
                  <a:pt x="3366463" y="346223"/>
                  <a:pt x="3352800" y="254000"/>
                </a:cubicBezTo>
                <a:cubicBezTo>
                  <a:pt x="3349183" y="229582"/>
                  <a:pt x="3328856" y="210722"/>
                  <a:pt x="3314700" y="190500"/>
                </a:cubicBezTo>
                <a:cubicBezTo>
                  <a:pt x="3263934" y="117977"/>
                  <a:pt x="3264940" y="125353"/>
                  <a:pt x="3187700" y="76200"/>
                </a:cubicBezTo>
                <a:cubicBezTo>
                  <a:pt x="3166875" y="62948"/>
                  <a:pt x="3148549" y="42158"/>
                  <a:pt x="3124200" y="38100"/>
                </a:cubicBezTo>
                <a:cubicBezTo>
                  <a:pt x="3090231" y="32439"/>
                  <a:pt x="3020000" y="21575"/>
                  <a:pt x="2984500" y="12700"/>
                </a:cubicBezTo>
                <a:cubicBezTo>
                  <a:pt x="2971513" y="9453"/>
                  <a:pt x="2959100" y="4233"/>
                  <a:pt x="2946400" y="0"/>
                </a:cubicBezTo>
                <a:lnTo>
                  <a:pt x="2006600" y="12700"/>
                </a:lnTo>
                <a:cubicBezTo>
                  <a:pt x="1791578" y="17227"/>
                  <a:pt x="1789605" y="19877"/>
                  <a:pt x="1625600" y="38100"/>
                </a:cubicBezTo>
                <a:cubicBezTo>
                  <a:pt x="1609324" y="42169"/>
                  <a:pt x="1554920" y="54390"/>
                  <a:pt x="1536700" y="63500"/>
                </a:cubicBezTo>
                <a:cubicBezTo>
                  <a:pt x="1504658" y="79521"/>
                  <a:pt x="1496825" y="90675"/>
                  <a:pt x="1473200" y="114300"/>
                </a:cubicBezTo>
                <a:lnTo>
                  <a:pt x="1473200" y="114300"/>
                </a:lnTo>
                <a:lnTo>
                  <a:pt x="1473200" y="114300"/>
                </a:lnTo>
              </a:path>
            </a:pathLst>
          </a:cu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4621271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CB1A0-42D7-C589-36DA-2326866286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br>
              <a:rPr lang="en-US" dirty="0"/>
            </a:b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1872750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54967-19D3-905F-FB8D-0F983AB3D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map of a mountain&#10;&#10;Description automatically generated">
            <a:extLst>
              <a:ext uri="{FF2B5EF4-FFF2-40B4-BE49-F238E27FC236}">
                <a16:creationId xmlns:a16="http://schemas.microsoft.com/office/drawing/2014/main" id="{192327F5-4A26-CB89-01BA-8B8E7BDFE7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7518" y="1869000"/>
            <a:ext cx="3846482" cy="39222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291" name="Rectangle 3">
                <a:extLst>
                  <a:ext uri="{FF2B5EF4-FFF2-40B4-BE49-F238E27FC236}">
                    <a16:creationId xmlns:a16="http://schemas.microsoft.com/office/drawing/2014/main" id="{20B69581-3FC5-8CA0-8680-44D1590656C1}"/>
                  </a:ext>
                </a:extLst>
              </p:cNvPr>
              <p:cNvSpPr>
                <a:spLocks noGrp="1" noChangeArrowheads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>
                  <a:lnSpc>
                    <a:spcPct val="90000"/>
                  </a:lnSpc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begin by recalling the most common algorithm for training an ML model.</a:t>
                </a:r>
              </a:p>
              <a:p>
                <a:pPr>
                  <a:lnSpc>
                    <a:spcPct val="90000"/>
                  </a:lnSpc>
                  <a:buFont typeface="Marlett" pitchFamily="26" charset="0"/>
                  <a:buNone/>
                </a:pPr>
                <a:endParaRPr lang="en-US" b="1" dirty="0">
                  <a:solidFill>
                    <a:srgbClr val="0033CC"/>
                  </a:solidFill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dirty="0">
                    <a:solidFill>
                      <a:srgbClr val="000000"/>
                    </a:solidFill>
                  </a:rPr>
                  <a:t>Given a batch of data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i="1" smtClean="0">
                                    <a:solidFill>
                                      <a:srgbClr val="0033CC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0033CC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0033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0033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solidFill>
                                      <a:srgbClr val="0033CC"/>
                                    </a:solidFill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solidFill>
                                          <a:srgbClr val="0033CC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solidFill>
                                          <a:srgbClr val="0033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solidFill>
                                          <a:srgbClr val="0033CC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dirty="0">
                    <a:solidFill>
                      <a:srgbClr val="000000"/>
                    </a:solidFill>
                  </a:rPr>
                  <a:t> and </a:t>
                </a:r>
                <a:br>
                  <a:rPr lang="en-US" dirty="0">
                    <a:solidFill>
                      <a:srgbClr val="000000"/>
                    </a:solidFill>
                  </a:rPr>
                </a:br>
                <a:r>
                  <a:rPr lang="en-US" dirty="0">
                    <a:solidFill>
                      <a:srgbClr val="000000"/>
                    </a:solidFill>
                  </a:rPr>
                  <a:t>an empirical risk function</a:t>
                </a:r>
                <a:br>
                  <a:rPr lang="en-US" dirty="0">
                    <a:solidFill>
                      <a:srgbClr val="000000"/>
                    </a:solidFill>
                  </a:rPr>
                </a:br>
                <a:endParaRPr lang="en-US" i="1" dirty="0">
                  <a:solidFill>
                    <a:srgbClr val="0033CC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i="1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dirty="0">
                  <a:solidFill>
                    <a:srgbClr val="000000"/>
                  </a:solidFill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:br>
                  <a:rPr lang="en-US" dirty="0">
                    <a:solidFill>
                      <a:srgbClr val="000000"/>
                    </a:solidFill>
                  </a:rPr>
                </a:br>
                <a:r>
                  <a:rPr lang="en-US" dirty="0"/>
                  <a:t>move to the next position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using </a:t>
                </a:r>
                <a:endParaRPr lang="en-US" i="1" dirty="0">
                  <a:solidFill>
                    <a:srgbClr val="000000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0" indent="0">
                  <a:lnSpc>
                    <a:spcPct val="9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i="1">
                          <a:solidFill>
                            <a:srgbClr val="000000"/>
                          </a:solidFill>
                          <a:latin typeface="Cambria Math" charset="0"/>
                          <a:ea typeface="Cambria Math" charset="0"/>
                          <a:cs typeface="Cambria Math" charset="0"/>
                        </a:rPr>
                        <m:t>−</m:t>
                      </m:r>
                      <m:r>
                        <a:rPr lang="en-US" i="1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charset="0"/>
                        </a:rPr>
                        <m:t>𝜂</m:t>
                      </m:r>
                      <m:r>
                        <m:rPr>
                          <m:sty m:val="p"/>
                        </m:rP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charset="0"/>
                        </a:rPr>
                        <m:t>∇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charset="0"/>
                        </a:rPr>
                        <m:t>𝑅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charset="0"/>
                            </a:rPr>
                            <m:t>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lnSpc>
                    <a:spcPct val="90000"/>
                  </a:lnSpc>
                  <a:buNone/>
                </a:pPr>
                <a:r>
                  <a:rPr lang="en-US" dirty="0"/>
                  <a:t>until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en-US" dirty="0"/>
                  <a:t> is minimized.</a:t>
                </a:r>
              </a:p>
              <a:p>
                <a:pPr>
                  <a:lnSpc>
                    <a:spcPct val="90000"/>
                  </a:lnSpc>
                  <a:buFont typeface="Marlett" pitchFamily="26" charset="0"/>
                  <a:buNone/>
                </a:pPr>
                <a:endParaRPr lang="en-US" dirty="0"/>
              </a:p>
              <a:p>
                <a:pPr>
                  <a:lnSpc>
                    <a:spcPct val="90000"/>
                  </a:lnSpc>
                  <a:buFont typeface="Marlett" pitchFamily="26" charset="0"/>
                  <a:buNone/>
                </a:pPr>
                <a:endParaRPr lang="en-US" b="1" dirty="0">
                  <a:solidFill>
                    <a:srgbClr val="0033CC"/>
                  </a:solidFill>
                </a:endParaRPr>
              </a:p>
              <a:p>
                <a:pPr>
                  <a:lnSpc>
                    <a:spcPct val="90000"/>
                  </a:lnSpc>
                  <a:buFont typeface="Marlett" pitchFamily="26" charset="0"/>
                  <a:buNone/>
                </a:pPr>
                <a:r>
                  <a:rPr lang="en-US" b="1" dirty="0">
                    <a:solidFill>
                      <a:srgbClr val="0033CC"/>
                    </a:solidFill>
                  </a:rPr>
                  <a:t>	</a:t>
                </a:r>
                <a:r>
                  <a:rPr lang="en-US" dirty="0"/>
                  <a:t>	</a:t>
                </a:r>
              </a:p>
            </p:txBody>
          </p:sp>
        </mc:Choice>
        <mc:Fallback xmlns="">
          <p:sp>
            <p:nvSpPr>
              <p:cNvPr id="12291" name="Rectangle 3">
                <a:extLst>
                  <a:ext uri="{FF2B5EF4-FFF2-40B4-BE49-F238E27FC236}">
                    <a16:creationId xmlns:a16="http://schemas.microsoft.com/office/drawing/2014/main" id="{20B69581-3FC5-8CA0-8680-44D1590656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 l="-1305" t="-1842" b="-6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90" name="Rectangle 2">
            <a:extLst>
              <a:ext uri="{FF2B5EF4-FFF2-40B4-BE49-F238E27FC236}">
                <a16:creationId xmlns:a16="http://schemas.microsoft.com/office/drawing/2014/main" id="{706C8338-2D56-D938-C035-14A38E838F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Introduction: </a:t>
            </a:r>
            <a:r>
              <a:rPr lang="en-US" dirty="0">
                <a:solidFill>
                  <a:schemeClr val="accent1"/>
                </a:solidFill>
              </a:rPr>
              <a:t>Standard Approach</a:t>
            </a:r>
            <a:endParaRPr lang="en-US" dirty="0"/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57D01F12-9FFA-346C-165C-1B06264D2BC8}"/>
              </a:ext>
            </a:extLst>
          </p:cNvPr>
          <p:cNvSpPr/>
          <p:nvPr/>
        </p:nvSpPr>
        <p:spPr bwMode="auto">
          <a:xfrm>
            <a:off x="1803400" y="2235200"/>
            <a:ext cx="3365514" cy="1549400"/>
          </a:xfrm>
          <a:custGeom>
            <a:avLst/>
            <a:gdLst>
              <a:gd name="connsiteX0" fmla="*/ 1549400 w 3365514"/>
              <a:gd name="connsiteY0" fmla="*/ 114300 h 1549400"/>
              <a:gd name="connsiteX1" fmla="*/ 1549400 w 3365514"/>
              <a:gd name="connsiteY1" fmla="*/ 114300 h 1549400"/>
              <a:gd name="connsiteX2" fmla="*/ 1422400 w 3365514"/>
              <a:gd name="connsiteY2" fmla="*/ 127000 h 1549400"/>
              <a:gd name="connsiteX3" fmla="*/ 1181100 w 3365514"/>
              <a:gd name="connsiteY3" fmla="*/ 139700 h 1549400"/>
              <a:gd name="connsiteX4" fmla="*/ 1054100 w 3365514"/>
              <a:gd name="connsiteY4" fmla="*/ 165100 h 1549400"/>
              <a:gd name="connsiteX5" fmla="*/ 990600 w 3365514"/>
              <a:gd name="connsiteY5" fmla="*/ 177800 h 1549400"/>
              <a:gd name="connsiteX6" fmla="*/ 800100 w 3365514"/>
              <a:gd name="connsiteY6" fmla="*/ 254000 h 1549400"/>
              <a:gd name="connsiteX7" fmla="*/ 736600 w 3365514"/>
              <a:gd name="connsiteY7" fmla="*/ 279400 h 1549400"/>
              <a:gd name="connsiteX8" fmla="*/ 673100 w 3365514"/>
              <a:gd name="connsiteY8" fmla="*/ 317500 h 1549400"/>
              <a:gd name="connsiteX9" fmla="*/ 558800 w 3365514"/>
              <a:gd name="connsiteY9" fmla="*/ 368300 h 1549400"/>
              <a:gd name="connsiteX10" fmla="*/ 508000 w 3365514"/>
              <a:gd name="connsiteY10" fmla="*/ 406400 h 1549400"/>
              <a:gd name="connsiteX11" fmla="*/ 469900 w 3365514"/>
              <a:gd name="connsiteY11" fmla="*/ 431800 h 1549400"/>
              <a:gd name="connsiteX12" fmla="*/ 368300 w 3365514"/>
              <a:gd name="connsiteY12" fmla="*/ 508000 h 1549400"/>
              <a:gd name="connsiteX13" fmla="*/ 317500 w 3365514"/>
              <a:gd name="connsiteY13" fmla="*/ 533400 h 1549400"/>
              <a:gd name="connsiteX14" fmla="*/ 292100 w 3365514"/>
              <a:gd name="connsiteY14" fmla="*/ 571500 h 1549400"/>
              <a:gd name="connsiteX15" fmla="*/ 254000 w 3365514"/>
              <a:gd name="connsiteY15" fmla="*/ 596900 h 1549400"/>
              <a:gd name="connsiteX16" fmla="*/ 114300 w 3365514"/>
              <a:gd name="connsiteY16" fmla="*/ 711200 h 1549400"/>
              <a:gd name="connsiteX17" fmla="*/ 63500 w 3365514"/>
              <a:gd name="connsiteY17" fmla="*/ 787400 h 1549400"/>
              <a:gd name="connsiteX18" fmla="*/ 25400 w 3365514"/>
              <a:gd name="connsiteY18" fmla="*/ 914400 h 1549400"/>
              <a:gd name="connsiteX19" fmla="*/ 12700 w 3365514"/>
              <a:gd name="connsiteY19" fmla="*/ 952500 h 1549400"/>
              <a:gd name="connsiteX20" fmla="*/ 0 w 3365514"/>
              <a:gd name="connsiteY20" fmla="*/ 1028700 h 1549400"/>
              <a:gd name="connsiteX21" fmla="*/ 12700 w 3365514"/>
              <a:gd name="connsiteY21" fmla="*/ 1206500 h 1549400"/>
              <a:gd name="connsiteX22" fmla="*/ 38100 w 3365514"/>
              <a:gd name="connsiteY22" fmla="*/ 1244600 h 1549400"/>
              <a:gd name="connsiteX23" fmla="*/ 76200 w 3365514"/>
              <a:gd name="connsiteY23" fmla="*/ 1295400 h 1549400"/>
              <a:gd name="connsiteX24" fmla="*/ 165100 w 3365514"/>
              <a:gd name="connsiteY24" fmla="*/ 1371600 h 1549400"/>
              <a:gd name="connsiteX25" fmla="*/ 355600 w 3365514"/>
              <a:gd name="connsiteY25" fmla="*/ 1473200 h 1549400"/>
              <a:gd name="connsiteX26" fmla="*/ 393700 w 3365514"/>
              <a:gd name="connsiteY26" fmla="*/ 1485900 h 1549400"/>
              <a:gd name="connsiteX27" fmla="*/ 571500 w 3365514"/>
              <a:gd name="connsiteY27" fmla="*/ 1511300 h 1549400"/>
              <a:gd name="connsiteX28" fmla="*/ 749300 w 3365514"/>
              <a:gd name="connsiteY28" fmla="*/ 1536700 h 1549400"/>
              <a:gd name="connsiteX29" fmla="*/ 952500 w 3365514"/>
              <a:gd name="connsiteY29" fmla="*/ 1549400 h 1549400"/>
              <a:gd name="connsiteX30" fmla="*/ 1422400 w 3365514"/>
              <a:gd name="connsiteY30" fmla="*/ 1536700 h 1549400"/>
              <a:gd name="connsiteX31" fmla="*/ 1473200 w 3365514"/>
              <a:gd name="connsiteY31" fmla="*/ 1524000 h 1549400"/>
              <a:gd name="connsiteX32" fmla="*/ 1562100 w 3365514"/>
              <a:gd name="connsiteY32" fmla="*/ 1511300 h 1549400"/>
              <a:gd name="connsiteX33" fmla="*/ 1701800 w 3365514"/>
              <a:gd name="connsiteY33" fmla="*/ 1485900 h 1549400"/>
              <a:gd name="connsiteX34" fmla="*/ 1943100 w 3365514"/>
              <a:gd name="connsiteY34" fmla="*/ 1460500 h 1549400"/>
              <a:gd name="connsiteX35" fmla="*/ 2082800 w 3365514"/>
              <a:gd name="connsiteY35" fmla="*/ 1435100 h 1549400"/>
              <a:gd name="connsiteX36" fmla="*/ 2133600 w 3365514"/>
              <a:gd name="connsiteY36" fmla="*/ 1422400 h 1549400"/>
              <a:gd name="connsiteX37" fmla="*/ 2235200 w 3365514"/>
              <a:gd name="connsiteY37" fmla="*/ 1409700 h 1549400"/>
              <a:gd name="connsiteX38" fmla="*/ 2387600 w 3365514"/>
              <a:gd name="connsiteY38" fmla="*/ 1358900 h 1549400"/>
              <a:gd name="connsiteX39" fmla="*/ 2451100 w 3365514"/>
              <a:gd name="connsiteY39" fmla="*/ 1346200 h 1549400"/>
              <a:gd name="connsiteX40" fmla="*/ 2552700 w 3365514"/>
              <a:gd name="connsiteY40" fmla="*/ 1295400 h 1549400"/>
              <a:gd name="connsiteX41" fmla="*/ 2692400 w 3365514"/>
              <a:gd name="connsiteY41" fmla="*/ 1231900 h 1549400"/>
              <a:gd name="connsiteX42" fmla="*/ 2743200 w 3365514"/>
              <a:gd name="connsiteY42" fmla="*/ 1193800 h 1549400"/>
              <a:gd name="connsiteX43" fmla="*/ 2870200 w 3365514"/>
              <a:gd name="connsiteY43" fmla="*/ 1130300 h 1549400"/>
              <a:gd name="connsiteX44" fmla="*/ 2921000 w 3365514"/>
              <a:gd name="connsiteY44" fmla="*/ 1079500 h 1549400"/>
              <a:gd name="connsiteX45" fmla="*/ 2971800 w 3365514"/>
              <a:gd name="connsiteY45" fmla="*/ 1041400 h 1549400"/>
              <a:gd name="connsiteX46" fmla="*/ 3022600 w 3365514"/>
              <a:gd name="connsiteY46" fmla="*/ 990600 h 1549400"/>
              <a:gd name="connsiteX47" fmla="*/ 3073400 w 3365514"/>
              <a:gd name="connsiteY47" fmla="*/ 952500 h 1549400"/>
              <a:gd name="connsiteX48" fmla="*/ 3124200 w 3365514"/>
              <a:gd name="connsiteY48" fmla="*/ 901700 h 1549400"/>
              <a:gd name="connsiteX49" fmla="*/ 3251200 w 3365514"/>
              <a:gd name="connsiteY49" fmla="*/ 787400 h 1549400"/>
              <a:gd name="connsiteX50" fmla="*/ 3289300 w 3365514"/>
              <a:gd name="connsiteY50" fmla="*/ 723900 h 1549400"/>
              <a:gd name="connsiteX51" fmla="*/ 3302000 w 3365514"/>
              <a:gd name="connsiteY51" fmla="*/ 685800 h 1549400"/>
              <a:gd name="connsiteX52" fmla="*/ 3340100 w 3365514"/>
              <a:gd name="connsiteY52" fmla="*/ 635000 h 1549400"/>
              <a:gd name="connsiteX53" fmla="*/ 3365500 w 3365514"/>
              <a:gd name="connsiteY53" fmla="*/ 533400 h 1549400"/>
              <a:gd name="connsiteX54" fmla="*/ 3352800 w 3365514"/>
              <a:gd name="connsiteY54" fmla="*/ 254000 h 1549400"/>
              <a:gd name="connsiteX55" fmla="*/ 3314700 w 3365514"/>
              <a:gd name="connsiteY55" fmla="*/ 190500 h 1549400"/>
              <a:gd name="connsiteX56" fmla="*/ 3187700 w 3365514"/>
              <a:gd name="connsiteY56" fmla="*/ 76200 h 1549400"/>
              <a:gd name="connsiteX57" fmla="*/ 3124200 w 3365514"/>
              <a:gd name="connsiteY57" fmla="*/ 38100 h 1549400"/>
              <a:gd name="connsiteX58" fmla="*/ 2984500 w 3365514"/>
              <a:gd name="connsiteY58" fmla="*/ 12700 h 1549400"/>
              <a:gd name="connsiteX59" fmla="*/ 2946400 w 3365514"/>
              <a:gd name="connsiteY59" fmla="*/ 0 h 1549400"/>
              <a:gd name="connsiteX60" fmla="*/ 2006600 w 3365514"/>
              <a:gd name="connsiteY60" fmla="*/ 12700 h 1549400"/>
              <a:gd name="connsiteX61" fmla="*/ 1625600 w 3365514"/>
              <a:gd name="connsiteY61" fmla="*/ 38100 h 1549400"/>
              <a:gd name="connsiteX62" fmla="*/ 1536700 w 3365514"/>
              <a:gd name="connsiteY62" fmla="*/ 63500 h 1549400"/>
              <a:gd name="connsiteX63" fmla="*/ 1473200 w 3365514"/>
              <a:gd name="connsiteY63" fmla="*/ 114300 h 1549400"/>
              <a:gd name="connsiteX64" fmla="*/ 1473200 w 3365514"/>
              <a:gd name="connsiteY64" fmla="*/ 114300 h 1549400"/>
              <a:gd name="connsiteX65" fmla="*/ 1473200 w 3365514"/>
              <a:gd name="connsiteY65" fmla="*/ 114300 h 1549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3365514" h="1549400">
                <a:moveTo>
                  <a:pt x="1549400" y="114300"/>
                </a:moveTo>
                <a:lnTo>
                  <a:pt x="1549400" y="114300"/>
                </a:lnTo>
                <a:cubicBezTo>
                  <a:pt x="1507067" y="118533"/>
                  <a:pt x="1464844" y="124073"/>
                  <a:pt x="1422400" y="127000"/>
                </a:cubicBezTo>
                <a:cubicBezTo>
                  <a:pt x="1342046" y="132542"/>
                  <a:pt x="1261388" y="133277"/>
                  <a:pt x="1181100" y="139700"/>
                </a:cubicBezTo>
                <a:cubicBezTo>
                  <a:pt x="1122773" y="144366"/>
                  <a:pt x="1106096" y="153545"/>
                  <a:pt x="1054100" y="165100"/>
                </a:cubicBezTo>
                <a:cubicBezTo>
                  <a:pt x="1033028" y="169783"/>
                  <a:pt x="1011078" y="170974"/>
                  <a:pt x="990600" y="177800"/>
                </a:cubicBezTo>
                <a:lnTo>
                  <a:pt x="800100" y="254000"/>
                </a:lnTo>
                <a:cubicBezTo>
                  <a:pt x="778933" y="262467"/>
                  <a:pt x="756148" y="267671"/>
                  <a:pt x="736600" y="279400"/>
                </a:cubicBezTo>
                <a:cubicBezTo>
                  <a:pt x="715433" y="292100"/>
                  <a:pt x="695178" y="306461"/>
                  <a:pt x="673100" y="317500"/>
                </a:cubicBezTo>
                <a:cubicBezTo>
                  <a:pt x="612884" y="347608"/>
                  <a:pt x="612665" y="334634"/>
                  <a:pt x="558800" y="368300"/>
                </a:cubicBezTo>
                <a:cubicBezTo>
                  <a:pt x="540851" y="379518"/>
                  <a:pt x="525224" y="394097"/>
                  <a:pt x="508000" y="406400"/>
                </a:cubicBezTo>
                <a:cubicBezTo>
                  <a:pt x="495580" y="415272"/>
                  <a:pt x="482244" y="422822"/>
                  <a:pt x="469900" y="431800"/>
                </a:cubicBezTo>
                <a:cubicBezTo>
                  <a:pt x="435664" y="456699"/>
                  <a:pt x="406164" y="489068"/>
                  <a:pt x="368300" y="508000"/>
                </a:cubicBezTo>
                <a:lnTo>
                  <a:pt x="317500" y="533400"/>
                </a:lnTo>
                <a:cubicBezTo>
                  <a:pt x="309033" y="546100"/>
                  <a:pt x="302893" y="560707"/>
                  <a:pt x="292100" y="571500"/>
                </a:cubicBezTo>
                <a:cubicBezTo>
                  <a:pt x="281307" y="582293"/>
                  <a:pt x="266344" y="587922"/>
                  <a:pt x="254000" y="596900"/>
                </a:cubicBezTo>
                <a:cubicBezTo>
                  <a:pt x="224795" y="618140"/>
                  <a:pt x="145524" y="671055"/>
                  <a:pt x="114300" y="711200"/>
                </a:cubicBezTo>
                <a:cubicBezTo>
                  <a:pt x="95558" y="735297"/>
                  <a:pt x="73153" y="758440"/>
                  <a:pt x="63500" y="787400"/>
                </a:cubicBezTo>
                <a:cubicBezTo>
                  <a:pt x="3139" y="968484"/>
                  <a:pt x="63787" y="780045"/>
                  <a:pt x="25400" y="914400"/>
                </a:cubicBezTo>
                <a:cubicBezTo>
                  <a:pt x="21722" y="927272"/>
                  <a:pt x="15604" y="939432"/>
                  <a:pt x="12700" y="952500"/>
                </a:cubicBezTo>
                <a:cubicBezTo>
                  <a:pt x="7114" y="977637"/>
                  <a:pt x="4233" y="1003300"/>
                  <a:pt x="0" y="1028700"/>
                </a:cubicBezTo>
                <a:cubicBezTo>
                  <a:pt x="4233" y="1087967"/>
                  <a:pt x="2374" y="1147986"/>
                  <a:pt x="12700" y="1206500"/>
                </a:cubicBezTo>
                <a:cubicBezTo>
                  <a:pt x="15353" y="1221531"/>
                  <a:pt x="29228" y="1232180"/>
                  <a:pt x="38100" y="1244600"/>
                </a:cubicBezTo>
                <a:cubicBezTo>
                  <a:pt x="50403" y="1261824"/>
                  <a:pt x="62425" y="1279329"/>
                  <a:pt x="76200" y="1295400"/>
                </a:cubicBezTo>
                <a:cubicBezTo>
                  <a:pt x="101071" y="1324417"/>
                  <a:pt x="133161" y="1351068"/>
                  <a:pt x="165100" y="1371600"/>
                </a:cubicBezTo>
                <a:cubicBezTo>
                  <a:pt x="266101" y="1436530"/>
                  <a:pt x="267295" y="1440086"/>
                  <a:pt x="355600" y="1473200"/>
                </a:cubicBezTo>
                <a:cubicBezTo>
                  <a:pt x="368135" y="1477900"/>
                  <a:pt x="380517" y="1483574"/>
                  <a:pt x="393700" y="1485900"/>
                </a:cubicBezTo>
                <a:cubicBezTo>
                  <a:pt x="452657" y="1496304"/>
                  <a:pt x="512446" y="1501458"/>
                  <a:pt x="571500" y="1511300"/>
                </a:cubicBezTo>
                <a:cubicBezTo>
                  <a:pt x="633400" y="1521617"/>
                  <a:pt x="685724" y="1531402"/>
                  <a:pt x="749300" y="1536700"/>
                </a:cubicBezTo>
                <a:cubicBezTo>
                  <a:pt x="816931" y="1542336"/>
                  <a:pt x="884767" y="1545167"/>
                  <a:pt x="952500" y="1549400"/>
                </a:cubicBezTo>
                <a:cubicBezTo>
                  <a:pt x="1109133" y="1545167"/>
                  <a:pt x="1265896" y="1544334"/>
                  <a:pt x="1422400" y="1536700"/>
                </a:cubicBezTo>
                <a:cubicBezTo>
                  <a:pt x="1439834" y="1535850"/>
                  <a:pt x="1456027" y="1527122"/>
                  <a:pt x="1473200" y="1524000"/>
                </a:cubicBezTo>
                <a:cubicBezTo>
                  <a:pt x="1502651" y="1518645"/>
                  <a:pt x="1532467" y="1515533"/>
                  <a:pt x="1562100" y="1511300"/>
                </a:cubicBezTo>
                <a:cubicBezTo>
                  <a:pt x="1629762" y="1488746"/>
                  <a:pt x="1594097" y="1497867"/>
                  <a:pt x="1701800" y="1485900"/>
                </a:cubicBezTo>
                <a:lnTo>
                  <a:pt x="1943100" y="1460500"/>
                </a:lnTo>
                <a:cubicBezTo>
                  <a:pt x="2058319" y="1431695"/>
                  <a:pt x="1915947" y="1465437"/>
                  <a:pt x="2082800" y="1435100"/>
                </a:cubicBezTo>
                <a:cubicBezTo>
                  <a:pt x="2099973" y="1431978"/>
                  <a:pt x="2116383" y="1425269"/>
                  <a:pt x="2133600" y="1422400"/>
                </a:cubicBezTo>
                <a:cubicBezTo>
                  <a:pt x="2167266" y="1416789"/>
                  <a:pt x="2201654" y="1415990"/>
                  <a:pt x="2235200" y="1409700"/>
                </a:cubicBezTo>
                <a:cubicBezTo>
                  <a:pt x="2476603" y="1364437"/>
                  <a:pt x="2239719" y="1408194"/>
                  <a:pt x="2387600" y="1358900"/>
                </a:cubicBezTo>
                <a:cubicBezTo>
                  <a:pt x="2408078" y="1352074"/>
                  <a:pt x="2429933" y="1350433"/>
                  <a:pt x="2451100" y="1346200"/>
                </a:cubicBezTo>
                <a:cubicBezTo>
                  <a:pt x="2484967" y="1329267"/>
                  <a:pt x="2517544" y="1309462"/>
                  <a:pt x="2552700" y="1295400"/>
                </a:cubicBezTo>
                <a:cubicBezTo>
                  <a:pt x="2603797" y="1274961"/>
                  <a:pt x="2644105" y="1260877"/>
                  <a:pt x="2692400" y="1231900"/>
                </a:cubicBezTo>
                <a:cubicBezTo>
                  <a:pt x="2710550" y="1221010"/>
                  <a:pt x="2724697" y="1204079"/>
                  <a:pt x="2743200" y="1193800"/>
                </a:cubicBezTo>
                <a:cubicBezTo>
                  <a:pt x="2828753" y="1146271"/>
                  <a:pt x="2788089" y="1194164"/>
                  <a:pt x="2870200" y="1130300"/>
                </a:cubicBezTo>
                <a:cubicBezTo>
                  <a:pt x="2889103" y="1115598"/>
                  <a:pt x="2902978" y="1095269"/>
                  <a:pt x="2921000" y="1079500"/>
                </a:cubicBezTo>
                <a:cubicBezTo>
                  <a:pt x="2936930" y="1065562"/>
                  <a:pt x="2955870" y="1055338"/>
                  <a:pt x="2971800" y="1041400"/>
                </a:cubicBezTo>
                <a:cubicBezTo>
                  <a:pt x="2989822" y="1025631"/>
                  <a:pt x="3004578" y="1006369"/>
                  <a:pt x="3022600" y="990600"/>
                </a:cubicBezTo>
                <a:cubicBezTo>
                  <a:pt x="3038530" y="976662"/>
                  <a:pt x="3057470" y="966438"/>
                  <a:pt x="3073400" y="952500"/>
                </a:cubicBezTo>
                <a:cubicBezTo>
                  <a:pt x="3091422" y="936731"/>
                  <a:pt x="3106178" y="917469"/>
                  <a:pt x="3124200" y="901700"/>
                </a:cubicBezTo>
                <a:cubicBezTo>
                  <a:pt x="3171057" y="860700"/>
                  <a:pt x="3215493" y="846912"/>
                  <a:pt x="3251200" y="787400"/>
                </a:cubicBezTo>
                <a:cubicBezTo>
                  <a:pt x="3263900" y="766233"/>
                  <a:pt x="3278261" y="745978"/>
                  <a:pt x="3289300" y="723900"/>
                </a:cubicBezTo>
                <a:cubicBezTo>
                  <a:pt x="3295287" y="711926"/>
                  <a:pt x="3295358" y="697423"/>
                  <a:pt x="3302000" y="685800"/>
                </a:cubicBezTo>
                <a:cubicBezTo>
                  <a:pt x="3312502" y="667422"/>
                  <a:pt x="3327400" y="651933"/>
                  <a:pt x="3340100" y="635000"/>
                </a:cubicBezTo>
                <a:cubicBezTo>
                  <a:pt x="3350122" y="604935"/>
                  <a:pt x="3365500" y="564051"/>
                  <a:pt x="3365500" y="533400"/>
                </a:cubicBezTo>
                <a:cubicBezTo>
                  <a:pt x="3365500" y="440171"/>
                  <a:pt x="3366463" y="346223"/>
                  <a:pt x="3352800" y="254000"/>
                </a:cubicBezTo>
                <a:cubicBezTo>
                  <a:pt x="3349183" y="229582"/>
                  <a:pt x="3328856" y="210722"/>
                  <a:pt x="3314700" y="190500"/>
                </a:cubicBezTo>
                <a:cubicBezTo>
                  <a:pt x="3263934" y="117977"/>
                  <a:pt x="3264940" y="125353"/>
                  <a:pt x="3187700" y="76200"/>
                </a:cubicBezTo>
                <a:cubicBezTo>
                  <a:pt x="3166875" y="62948"/>
                  <a:pt x="3148549" y="42158"/>
                  <a:pt x="3124200" y="38100"/>
                </a:cubicBezTo>
                <a:cubicBezTo>
                  <a:pt x="3090231" y="32439"/>
                  <a:pt x="3020000" y="21575"/>
                  <a:pt x="2984500" y="12700"/>
                </a:cubicBezTo>
                <a:cubicBezTo>
                  <a:pt x="2971513" y="9453"/>
                  <a:pt x="2959100" y="4233"/>
                  <a:pt x="2946400" y="0"/>
                </a:cubicBezTo>
                <a:lnTo>
                  <a:pt x="2006600" y="12700"/>
                </a:lnTo>
                <a:cubicBezTo>
                  <a:pt x="1791578" y="17227"/>
                  <a:pt x="1789605" y="19877"/>
                  <a:pt x="1625600" y="38100"/>
                </a:cubicBezTo>
                <a:cubicBezTo>
                  <a:pt x="1609324" y="42169"/>
                  <a:pt x="1554920" y="54390"/>
                  <a:pt x="1536700" y="63500"/>
                </a:cubicBezTo>
                <a:cubicBezTo>
                  <a:pt x="1504658" y="79521"/>
                  <a:pt x="1496825" y="90675"/>
                  <a:pt x="1473200" y="114300"/>
                </a:cubicBezTo>
                <a:lnTo>
                  <a:pt x="1473200" y="114300"/>
                </a:lnTo>
                <a:lnTo>
                  <a:pt x="1473200" y="114300"/>
                </a:lnTo>
              </a:path>
            </a:pathLst>
          </a:custGeom>
          <a:noFill/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-65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5960660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97CDF-C94E-1CBB-7CEF-96CF5320B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D9D87A2-951F-8A45-1A95-8AD2BEE8F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Introduction: </a:t>
            </a:r>
            <a:r>
              <a:rPr lang="en-US" dirty="0">
                <a:solidFill>
                  <a:schemeClr val="accent1"/>
                </a:solidFill>
              </a:rPr>
              <a:t>Standard Approach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2BE2A823-27D5-8C11-920E-24B7BAF7E10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standard approach, which provides a </a:t>
                </a:r>
                <a:r>
                  <a:rPr lang="en-US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point estimate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</m:acc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the ML parameters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𝜔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 clearly works but it has a serious problem.</a:t>
                </a: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does not provide a measure of </a:t>
                </a:r>
                <a:r>
                  <a:rPr lang="en-US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uncertainty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b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Consequently, we have no fully reliable way to decide whether the output of an ML model should be trusted. </a:t>
                </a: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2BE2A823-27D5-8C11-920E-24B7BAF7E10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5" t="-1316" r="-1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340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14285-72B0-59CC-E781-2603205B9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57FC190-9605-D00D-1122-27A67347C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Introduction: </a:t>
            </a:r>
            <a:r>
              <a:rPr lang="en-US" dirty="0">
                <a:solidFill>
                  <a:schemeClr val="accent1"/>
                </a:solidFill>
              </a:rPr>
              <a:t>Bayesian Approach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D2DD0516-5BF6-1EB2-5F07-70CF1AE722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Suppose we have access to the joint probability density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𝜔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the test data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𝜔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are the parameters of an underlying ML model.</a:t>
                </a: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Bayesian approach constructs a probability density over the parameter space using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𝑝</m:t>
                      </m:r>
                      <m:d>
                        <m:dPr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en-US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𝐷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 </m:t>
                              </m:r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𝐷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e>
                    </m:d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marginal density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D2DD0516-5BF6-1EB2-5F07-70CF1AE722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5"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1860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9AC6C-01C4-D7A2-00DC-9519A5B2F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D23D817-0434-0A5B-B72E-BCD8DB3CC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Introduction: </a:t>
            </a:r>
            <a:r>
              <a:rPr lang="en-US" dirty="0">
                <a:solidFill>
                  <a:schemeClr val="accent1"/>
                </a:solidFill>
              </a:rPr>
              <a:t>Bayesian Approach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696F670-8CC7-1BA4-8B95-48747D01E0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function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d>
                      <m:dPr>
                        <m:endChr m:val="|"/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called the </a:t>
                </a:r>
                <a:r>
                  <a:rPr lang="en-US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posterior density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In principle, it provides a comprehensive description of the uncertainty in the underlying model. 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principle, this is done by computing expectations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Ε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𝑔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𝐷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nary>
                    </m:oMath>
                  </m:oMathPara>
                </a14:m>
                <a:endParaRPr lang="en-US" b="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functions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𝜔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that depend on the model parameters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𝜔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In practice, these integrals are approximated using Monte Carlo integration:</a:t>
                </a:r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Ε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𝑔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≈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𝑁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∼</m:t>
                      </m:r>
                      <m:r>
                        <a:rPr lang="en-US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  <m:e>
                          <m:r>
                            <a:rPr lang="en-US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</m:d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696F670-8CC7-1BA4-8B95-48747D01E0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5" t="-1316" r="-816" b="-3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5369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BB228-EBF0-B1BD-E61F-A88E7AD03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1640390-9CBA-E9CB-FA82-28105FBF5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Introduction: </a:t>
            </a:r>
            <a:r>
              <a:rPr lang="en-US" dirty="0">
                <a:solidFill>
                  <a:schemeClr val="accent1"/>
                </a:solidFill>
              </a:rPr>
              <a:t>Bayesian Approach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60A8CE62-2C71-918E-077A-639560EFD6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a supervised context,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so we can write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𝜔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which can be factorized as follows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𝜔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allows us to write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𝑝</m:t>
                      </m:r>
                      <m:d>
                        <m:dPr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en-US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 </m:t>
                              </m:r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that is,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𝑝</m:t>
                      </m:r>
                      <m:d>
                        <m:dPr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en-US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 </m:t>
                              </m:r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60A8CE62-2C71-918E-077A-639560EFD6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5"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99126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C1F9A-05D4-7ADB-62E4-75A157271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4CE499E-31E5-CD04-1877-49FC2F432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Introduction: </a:t>
            </a:r>
            <a:r>
              <a:rPr lang="en-US" dirty="0">
                <a:solidFill>
                  <a:schemeClr val="accent1"/>
                </a:solidFill>
              </a:rPr>
              <a:t>Bayesian Approach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8A03B687-4D4C-A4D4-A222-6DE1387BD4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expression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𝑝</m:t>
                      </m:r>
                      <m:d>
                        <m:dPr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en-US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 </m:t>
                              </m:r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shows that we need to construct two quantities: the likelihood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</m:d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the prior density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which is typically assumed not to depend on the input data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  <m:e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𝜔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Unfortunately, neither of these functions is known! </a:t>
                </a: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What is done in practice is to assume that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</m:d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𝜖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the noise term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𝜖</m:t>
                    </m:r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sampled from an easily sampled probability density.</a:t>
                </a: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8A03B687-4D4C-A4D4-A222-6DE1387BD4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5" t="-1316" r="-1142" b="-44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25171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E4A42-C30B-0CF8-4D75-CEA3DBFDC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095AF44-A65D-FD3F-AF8D-5CC2CE50C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Introduction: </a:t>
            </a:r>
            <a:r>
              <a:rPr lang="en-US" dirty="0">
                <a:solidFill>
                  <a:schemeClr val="accent1"/>
                </a:solidFill>
              </a:rPr>
              <a:t>Bayesian Approach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A161D8C7-C1D9-4E14-AB2D-F0BF586637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make use of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𝑝</m:t>
                      </m:r>
                      <m:d>
                        <m:dPr>
                          <m:endChr m:val="|"/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𝐷</m:t>
                      </m:r>
                      <m:r>
                        <a:rPr lang="en-US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 </m:t>
                              </m:r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</m:d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</m:e>
                            <m:e>
                              <m:r>
                                <a:rPr lang="en-US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|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𝑥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standard assumption is that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b="0" i="1" smtClean="0">
                          <a:solidFill>
                            <a:srgbClr val="0033CC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∝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0033CC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rgbClr val="0033CC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b="0" i="1" smtClean="0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f>
                                <m:fPr>
                                  <m:ctrlPr>
                                    <a:rPr lang="en-US" b="0" i="1" smtClean="0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i="1">
                                          <a:solidFill>
                                            <a:srgbClr val="0033CC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0033CC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𝜖</m:t>
                                      </m:r>
                                    </m:e>
                                    <m:sup>
                                      <m:r>
                                        <a:rPr lang="en-US" i="1">
                                          <a:solidFill>
                                            <a:srgbClr val="0033CC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b="0" i="1" smtClean="0">
                                      <a:solidFill>
                                        <a:srgbClr val="0033CC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 </m:t>
                                  </m:r>
                                  <m:sSup>
                                    <m:sSupPr>
                                      <m:ctrlPr>
                                        <a:rPr lang="en-US" b="0" i="1" smtClean="0">
                                          <a:solidFill>
                                            <a:srgbClr val="0033CC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solidFill>
                                            <a:srgbClr val="0033CC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solidFill>
                                            <a:srgbClr val="0033CC"/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</m:d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an ML model 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is, typically, a product of Gaussians. </a:t>
                </a: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Neither of these assumptions is well founded but, in practice, they often yield reasonable results.</a:t>
                </a: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A161D8C7-C1D9-4E14-AB2D-F0BF586637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5" t="-1316" r="-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43308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72DFC-8C3F-779A-AD3D-F3CCE637A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1D2EB-D5FA-32A0-30FD-56C45DA94F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Hamiltonian monte Carlo</a:t>
            </a:r>
            <a:br>
              <a:rPr lang="en-US" dirty="0"/>
            </a:br>
            <a:br>
              <a:rPr lang="en-US" dirty="0"/>
            </a:br>
            <a:endParaRPr 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0205137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0BC40-FE31-219A-ABA5-556B62745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427F82F-B577-AAE0-0F5F-96C29F400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Hamiltonian Monte Carlo</a:t>
            </a:r>
            <a:endParaRPr lang="en-US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AD519143-D8D4-9A9D-720E-AFDA907D9D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fundamental idea of Hamiltonian Monte Carlo is to treat the problem of sampling from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d>
                      <m:dPr>
                        <m:endChr m:val="|"/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</m:d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i="1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 one of sampling the states of a system governed by a Hamiltonian </a:t>
                </a:r>
                <a:b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𝐻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𝑞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𝑞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b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:r>
                  <a:rPr lang="en-US" i="1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:r>
                  <a:rPr lang="en-US" i="1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are the kinetic and potential energy functions, respectively, and the probability density of a state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given by the canonical distribution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𝛽</m:t>
                            </m:r>
                            <m: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𝐻</m:t>
                            </m:r>
                            <m: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𝑞</m:t>
                            </m:r>
                            <m: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 </m:t>
                            </m:r>
                            <m: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𝑝</m:t>
                            </m:r>
                            <m:r>
                              <a:rPr lang="en-US" b="0" i="1" smtClean="0">
                                <a:solidFill>
                                  <a:srgbClr val="0033CC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</m:d>
                      </m:e>
                    </m:func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𝛽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=1/</m:t>
                    </m:r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en-US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the inverse temperature. 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the simplest case, we take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</m:d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a vector of the same dimension as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AD519143-D8D4-9A9D-720E-AFDA907D9D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5" t="-1316" r="-1468" b="-28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33808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307DD-97B5-0E36-69C8-969FA44A7B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10C1BA-2DD2-E500-6104-2C0E59CEA7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Hamiltonian Monte Carlo</a:t>
            </a:r>
            <a:endParaRPr lang="en-US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FCFAA36-9ECE-6ED4-58F3-E7971AB150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we write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𝜔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|</m:t>
                          </m:r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∝</m:t>
                      </m:r>
                      <m:func>
                        <m:funcPr>
                          <m:ctrlP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𝛽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𝜔</m:t>
                              </m:r>
                              <m:r>
                                <a:rPr lang="en-US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defines a “potential” energy function </a:t>
                </a:r>
                <a:endParaRPr lang="en-US" i="1" dirty="0">
                  <a:solidFill>
                    <a:srgbClr val="0033CC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𝑉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𝜔</m:t>
                        </m:r>
                      </m:e>
                    </m:d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=−</m:t>
                    </m:r>
                    <m:f>
                      <m:f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𝛽</m:t>
                        </m:r>
                      </m:den>
                    </m:f>
                    <m:func>
                      <m:func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𝜔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|</m:t>
                            </m:r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𝐷</m:t>
                            </m:r>
                          </m:e>
                        </m:d>
                      </m:e>
                    </m:func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Hamiltonian Monte Carlo (</a:t>
                </a:r>
                <a:r>
                  <a:rPr lang="en-US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HMC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sampling in phase space consists of a repeated sequence of three steps: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random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sampling of kinetic energies,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deterministic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move to a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proposed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point, governed by Hamilton’s equations, and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decision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about whether to accept the proposed point.</a:t>
                </a:r>
              </a:p>
              <a:p>
                <a:pPr marL="857250" lvl="1" indent="-457200">
                  <a:buFont typeface="+mj-lt"/>
                  <a:buAutoNum type="arabicPeriod"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7FCFAA36-9ECE-6ED4-58F3-E7971AB150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5"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97628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1A73B-D2CB-8440-A0D3-B205F5464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091B3D0-5C29-068C-26AF-D893649C4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Hamiltonian Monte Carlo</a:t>
            </a:r>
            <a:endParaRPr lang="en-US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DECAB6B6-EA85-ED0E-9286-A3C763D6E1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11200" y="1295400"/>
                <a:ext cx="8204200" cy="481965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HMC 3-Step Sampling Algorithm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b="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b="0" dirty="0">
                    <a:cs typeface="Times New Roman" panose="02020603050405020304" pitchFamily="18" charset="0"/>
                  </a:rPr>
                  <a:t>				current value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</m:oMath>
                </a14:m>
                <a:r>
                  <a:rPr lang="en-US" b="0" dirty="0">
                    <a:cs typeface="Times New Roman" panose="02020603050405020304" pitchFamily="18" charset="0"/>
                  </a:rPr>
                  <a:t>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b="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∼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exp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sample current momenta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 range(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		deterministic move</a:t>
                </a:r>
              </a:p>
              <a:p>
                <a:pPr marL="0" indent="0">
                  <a:buNone/>
                </a:pPr>
                <a:r>
                  <a:rPr lang="en-US" b="0" dirty="0"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←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𝜖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∇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00050" lvl="1" indent="0">
                  <a:buNone/>
                </a:pPr>
                <a:r>
                  <a:rPr lang="en-US" b="0" dirty="0"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←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𝜖</m:t>
                    </m:r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00050" lvl="1" indent="0">
                  <a:buNone/>
                </a:pPr>
                <a:r>
                  <a:rPr lang="en-US" b="0" dirty="0"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←</m:t>
                    </m:r>
                    <m:r>
                      <a:rPr lang="en-US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𝜖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∇</m:t>
                    </m:r>
                    <m:r>
                      <a:rPr lang="en-US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𝑉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00050" lvl="1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US" dirty="0">
                    <a:solidFill>
                      <a:srgbClr val="0033C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Metropolis step</a:t>
                </a:r>
              </a:p>
              <a:p>
                <a:pPr marL="400050" lvl="1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&lt;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𝐻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𝐻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 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</m:d>
                      </m:e>
                    </m:func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else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𝑢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∼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𝑈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(0,1)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857250" lvl="1" indent="-457200">
                  <a:buFont typeface="+mj-lt"/>
                  <a:buAutoNum type="arabicPeriod"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DECAB6B6-EA85-ED0E-9286-A3C763D6E1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1200" y="1295400"/>
                <a:ext cx="8204200" cy="4819650"/>
              </a:xfrm>
              <a:blipFill>
                <a:blip r:embed="rId2"/>
                <a:stretch>
                  <a:fillRect l="-1236" t="-1316" b="-5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72007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ED673-6D1A-6D1D-080A-083C0D10D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BF54760-63B1-CB86-BDDE-B05B69427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Hamiltonian Monte Carlo</a:t>
            </a:r>
            <a:endParaRPr lang="en-US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EC7D4CE8-F332-E05E-253E-C166DE22AE2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11200" y="1295400"/>
                <a:ext cx="7772400" cy="4819650"/>
              </a:xfrm>
            </p:spPr>
            <p:txBody>
              <a:bodyPr/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principle, this algorithm (with probability one) is guaranteed to yield a faithful sample from the desired distribution.</a:t>
                </a: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HMC is the go-to method for sampling complex densities and can work surprisingly well. </a:t>
                </a: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But how well HMC works often depends on careful tuning of hyperparameters such as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33CC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𝜖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 burn-in count – that is, the length of the initial chain of points that is discarded, and even the precise form of the kinetic energy term.</a:t>
                </a:r>
              </a:p>
              <a:p>
                <a:pPr marL="0" indent="0">
                  <a:buNone/>
                </a:pPr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Content Placeholder 9">
                <a:extLst>
                  <a:ext uri="{FF2B5EF4-FFF2-40B4-BE49-F238E27FC236}">
                    <a16:creationId xmlns:a16="http://schemas.microsoft.com/office/drawing/2014/main" id="{EC7D4CE8-F332-E05E-253E-C166DE22AE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11200" y="1295400"/>
                <a:ext cx="7772400" cy="4819650"/>
              </a:xfrm>
              <a:blipFill>
                <a:blip r:embed="rId2"/>
                <a:stretch>
                  <a:fillRect l="-1142" t="-1316" r="-1142" b="-2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64773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2C5FC-0636-1D87-B99F-27E5FEB7E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5605ADB-F2B5-B87C-2ED6-0FE566BA3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HMC Example: </a:t>
            </a:r>
            <a:r>
              <a:rPr lang="en-US" dirty="0">
                <a:solidFill>
                  <a:schemeClr val="accent1"/>
                </a:solidFill>
              </a:rPr>
              <a:t>Nuclear Star Crusts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59A6600-4AE3-7F20-4297-95E3C53C3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3BCEC78E-B645-E11C-A0D7-F5B9822C5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0" y="1543050"/>
            <a:ext cx="7772400" cy="377189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81403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BADC1-B28B-7F8B-5637-561459E72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001E6E2-CE8F-EA7B-CE9D-682C99EEA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HMC Example: </a:t>
            </a:r>
            <a:r>
              <a:rPr lang="en-US" dirty="0">
                <a:solidFill>
                  <a:schemeClr val="accent1"/>
                </a:solidFill>
              </a:rPr>
              <a:t>Nuclear Star Crusts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4225FDF1-C54D-2895-B8A8-7F570930E4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b="1" dirty="0">
                    <a:solidFill>
                      <a:srgbClr val="0033CC"/>
                    </a:solidFill>
                  </a:rPr>
                  <a:t>Goal</a:t>
                </a:r>
              </a:p>
              <a:p>
                <a:r>
                  <a:rPr lang="en-US" dirty="0"/>
                  <a:t>Predict corrections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𝐿𝐷𝑀</m:t>
                        </m:r>
                      </m:sub>
                    </m:sSub>
                    <m:d>
                      <m:dPr>
                        <m:ctrlP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r>
                  <a:rPr lang="en-US" dirty="0"/>
                  <a:t>, with uncertainties, to the liquid drop model of nuclei: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𝐿𝐷𝑀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𝐿𝐷𝑀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b="0" i="1" smtClean="0">
                            <a:solidFill>
                              <a:srgbClr val="0033CC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d>
                  </m:oMath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Extrapolate to nuclei (typically, far from stability) that are thought to be relevant for the formation of the outer crust of neutron stars.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4225FDF1-C54D-2895-B8A8-7F570930E4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05"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7538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85495-10D6-1244-4D06-474EC5869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B66C4D1-E47D-D862-DDBB-AD2A92ED0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HMC Example: </a:t>
            </a:r>
            <a:r>
              <a:rPr lang="en-US" dirty="0">
                <a:solidFill>
                  <a:schemeClr val="accent1"/>
                </a:solidFill>
              </a:rPr>
              <a:t>Nuclear Star Crusts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06C2D5D-4686-0513-D9FF-1682F989E6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pic>
        <p:nvPicPr>
          <p:cNvPr id="5" name="Picture 4" descr="A diagram of a diagram of different colors&#10;&#10;Description automatically generated with medium confidence">
            <a:extLst>
              <a:ext uri="{FF2B5EF4-FFF2-40B4-BE49-F238E27FC236}">
                <a16:creationId xmlns:a16="http://schemas.microsoft.com/office/drawing/2014/main" id="{046362CB-1E4C-102C-7F0C-36101A7300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0" y="1172497"/>
            <a:ext cx="7772400" cy="451300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35761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DBE37-73A8-6CD1-FCFC-EADC829E8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7A67EC5-9BEF-8408-A355-0AAFEA3C4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89E975-D844-9F38-5582-3319A1B923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Standard training methods in ML do not provide a measure of uncertainty, which is a serious deficiency.</a:t>
            </a:r>
          </a:p>
          <a:p>
            <a:r>
              <a:rPr lang="en-US" dirty="0"/>
              <a:t>In principle, the Bayesian approach provides a principled way to handle uncertainty in all its forms, but the high-dimensional integrals encountered are intractable.</a:t>
            </a:r>
          </a:p>
          <a:p>
            <a:r>
              <a:rPr lang="en-US" dirty="0"/>
              <a:t>Hamiltonian Monte Carlo, first developed by physicists to solve Lattice QCD, has proven to be an effective, albeit computationally demanding, method to approximate these integrals.</a:t>
            </a:r>
          </a:p>
          <a:p>
            <a:r>
              <a:rPr lang="en-US" dirty="0"/>
              <a:t>Unfortunately, while there now exist many methods of uncertainty quantification, none, including Bayesian methods, is completely satisfactory.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5131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Default Design">
  <a:themeElements>
    <a:clrScheme name="Default Design 7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3399FF"/>
      </a:accent1>
      <a:accent2>
        <a:srgbClr val="99FFCC"/>
      </a:accent2>
      <a:accent3>
        <a:srgbClr val="FFFFFF"/>
      </a:accent3>
      <a:accent4>
        <a:srgbClr val="000000"/>
      </a:accent4>
      <a:accent5>
        <a:srgbClr val="ADCAFF"/>
      </a:accent5>
      <a:accent6>
        <a:srgbClr val="8AE7B9"/>
      </a:accent6>
      <a:hlink>
        <a:srgbClr val="CC00CC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itchFamily="-65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 New Roman" pitchFamily="-65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FSUML" id="{613EE9AE-404D-B44A-8379-18A65839E42D}" vid="{6F3B3403-6EF1-2147-8245-ED1F0091AC9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8C64F51-4645-064B-ACDC-0DE76AF412F6}">
  <we:reference id="wa200000729" version="3.19.222.0" store="en-US" storeType="OMEX"/>
  <we:alternateReferences>
    <we:reference id="wa200000729" version="3.19.222.0" store="wa200000729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Default Design</Template>
  <TotalTime>3</TotalTime>
  <Words>1055</Words>
  <Application>Microsoft Macintosh PowerPoint</Application>
  <PresentationFormat>Letter Paper (8.5x11 in)</PresentationFormat>
  <Paragraphs>115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Cambria Math</vt:lpstr>
      <vt:lpstr>Marlett</vt:lpstr>
      <vt:lpstr>Times New Roman</vt:lpstr>
      <vt:lpstr>Wingdings</vt:lpstr>
      <vt:lpstr>Default Design</vt:lpstr>
      <vt:lpstr>Machine learning in physics Bayesian Neural networks</vt:lpstr>
      <vt:lpstr>Outline</vt:lpstr>
      <vt:lpstr>introduction </vt:lpstr>
      <vt:lpstr>Introduction: Standard Approach</vt:lpstr>
      <vt:lpstr>Introduction: Standard Approach</vt:lpstr>
      <vt:lpstr>Introduction: Bayesian Approach</vt:lpstr>
      <vt:lpstr>Introduction: Bayesian Approach</vt:lpstr>
      <vt:lpstr>Introduction: Bayesian Approach</vt:lpstr>
      <vt:lpstr>Introduction: Bayesian Approach</vt:lpstr>
      <vt:lpstr>Introduction: Bayesian Approach</vt:lpstr>
      <vt:lpstr>Hamiltonian monte Carlo  </vt:lpstr>
      <vt:lpstr>Hamiltonian Monte Carlo</vt:lpstr>
      <vt:lpstr>Hamiltonian Monte Carlo</vt:lpstr>
      <vt:lpstr>Hamiltonian Monte Carlo</vt:lpstr>
      <vt:lpstr>Hamiltonian Monte Carlo</vt:lpstr>
      <vt:lpstr>HMC Example: Nuclear Star Crusts</vt:lpstr>
      <vt:lpstr>HMC Example: Nuclear Star Crusts</vt:lpstr>
      <vt:lpstr>HMC Example: Nuclear Star Crusts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Harrison Prosper</dc:creator>
  <cp:lastModifiedBy>Harrison Prosper</cp:lastModifiedBy>
  <cp:revision>1</cp:revision>
  <cp:lastPrinted>2019-01-07T00:35:58Z</cp:lastPrinted>
  <dcterms:created xsi:type="dcterms:W3CDTF">2025-10-29T04:04:14Z</dcterms:created>
  <dcterms:modified xsi:type="dcterms:W3CDTF">2025-10-29T04:07:42Z</dcterms:modified>
</cp:coreProperties>
</file>