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1027" r:id="rId3"/>
    <p:sldId id="1043" r:id="rId4"/>
    <p:sldId id="274" r:id="rId5"/>
    <p:sldId id="1057" r:id="rId6"/>
    <p:sldId id="276" r:id="rId7"/>
    <p:sldId id="277" r:id="rId8"/>
    <p:sldId id="1022" r:id="rId9"/>
    <p:sldId id="1013" r:id="rId10"/>
    <p:sldId id="1015" r:id="rId11"/>
    <p:sldId id="1017" r:id="rId12"/>
    <p:sldId id="1019" r:id="rId13"/>
    <p:sldId id="1055" r:id="rId14"/>
    <p:sldId id="1054" r:id="rId15"/>
    <p:sldId id="1040" r:id="rId16"/>
    <p:sldId id="1045" r:id="rId17"/>
    <p:sldId id="1046" r:id="rId18"/>
    <p:sldId id="1053" r:id="rId19"/>
    <p:sldId id="1047" r:id="rId20"/>
    <p:sldId id="1033" r:id="rId21"/>
    <p:sldId id="1048" r:id="rId22"/>
    <p:sldId id="1018" r:id="rId23"/>
    <p:sldId id="1050" r:id="rId24"/>
    <p:sldId id="1051" r:id="rId25"/>
    <p:sldId id="1052" r:id="rId26"/>
    <p:sldId id="1056" r:id="rId27"/>
    <p:sldId id="1042" r:id="rId28"/>
  </p:sldIdLst>
  <p:sldSz cx="9144000" cy="6858000" type="letter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58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FC8F"/>
    <a:srgbClr val="FF0000"/>
    <a:srgbClr val="98CA00"/>
    <a:srgbClr val="4032A1"/>
    <a:srgbClr val="6BEEE1"/>
    <a:srgbClr val="99CA00"/>
    <a:srgbClr val="A0CA5B"/>
    <a:srgbClr val="4734A0"/>
    <a:srgbClr val="4B3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7"/>
    <p:restoredTop sz="86566"/>
  </p:normalViewPr>
  <p:slideViewPr>
    <p:cSldViewPr>
      <p:cViewPr varScale="1">
        <p:scale>
          <a:sx n="88" d="100"/>
          <a:sy n="88" d="100"/>
        </p:scale>
        <p:origin x="136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36"/>
    </p:cViewPr>
  </p:sorterViewPr>
  <p:notesViewPr>
    <p:cSldViewPr>
      <p:cViewPr varScale="1">
        <p:scale>
          <a:sx n="44" d="100"/>
          <a:sy n="44" d="100"/>
        </p:scale>
        <p:origin x="-1392" y="-72"/>
      </p:cViewPr>
      <p:guideLst>
        <p:guide orient="horz" pos="2258"/>
        <p:guide pos="295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210"/>
            <a:ext cx="4160937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65" y="-1210"/>
            <a:ext cx="4160936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81325" y="560388"/>
            <a:ext cx="3635375" cy="272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3494" y="3473753"/>
            <a:ext cx="7034213" cy="32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042" tIns="51377" rIns="101042" bIns="51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5086"/>
            <a:ext cx="4160937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65" y="6945086"/>
            <a:ext cx="4160936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fld id="{887413D6-4D90-094B-878C-C9B479C8F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109" charset="-128"/>
        <a:cs typeface="ＭＳ Ｐゴシック" pitchFamily="-109" charset="-128"/>
      </a:defRPr>
    </a:lvl1pPr>
    <a:lvl2pPr marL="46831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35038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40176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70075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7747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C301C-9EF7-E355-B6C7-84328963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F67-D0EA-C8DB-1288-825F84C1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56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4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4699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069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4699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41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28254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CF78B-6BF1-F401-D2E4-0AA44F61548A}"/>
              </a:ext>
            </a:extLst>
          </p:cNvPr>
          <p:cNvSpPr/>
          <p:nvPr userDrawn="1"/>
        </p:nvSpPr>
        <p:spPr bwMode="auto">
          <a:xfrm>
            <a:off x="6705600" y="5867400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472BB36-DE68-CDFF-8FB2-4944562CAFD5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409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914400" y="13776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Machine Learning in physics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D9514EB4-1C3F-7203-17FC-7424F799880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400" y="3511296"/>
            <a:ext cx="7772400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R="9144" algn="l" rtl="0" eaLnBrk="0" fontAlgn="base" hangingPunct="0">
              <a:spcBef>
                <a:spcPct val="0"/>
              </a:spcBef>
              <a:spcAft>
                <a:spcPct val="0"/>
              </a:spcAft>
              <a:defRPr sz="3600" b="1" cap="all" spc="0" baseline="0">
                <a:solidFill>
                  <a:srgbClr val="0000CC"/>
                </a:solidFill>
                <a:effectLst>
                  <a:reflection blurRad="12700" stA="34000" endA="740" endPos="53000" dir="5400000" sy="-100000" algn="bl" rotWithShape="0"/>
                </a:effectLst>
                <a:latin typeface="Arial"/>
                <a:ea typeface="ＭＳ Ｐゴシック" pitchFamily="-109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9pPr>
          </a:lstStyle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Harrison B. prosper</a:t>
            </a:r>
          </a:p>
          <a:p>
            <a:endParaRPr lang="en-US" sz="2400" b="0" i="0" kern="0" cap="small" baseline="0" dirty="0">
              <a:solidFill>
                <a:schemeClr val="tx1"/>
              </a:solidFill>
              <a:latin typeface="+mn-lt"/>
            </a:endParaRPr>
          </a:p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PHY6937 / PHY4936</a:t>
            </a:r>
            <a:endParaRPr lang="en-US" sz="2800" b="0" i="0" kern="0" cap="sm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C9E5B-8A28-1B6B-D3E7-3E9521354FBE}"/>
              </a:ext>
            </a:extLst>
          </p:cNvPr>
          <p:cNvSpPr/>
          <p:nvPr userDrawn="1"/>
        </p:nvSpPr>
        <p:spPr bwMode="auto">
          <a:xfrm>
            <a:off x="762000" y="3511296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F16E033-80B5-2ADB-62C6-C637CCE38381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6962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487E0-6C48-9842-89A3-09BD27C70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55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77724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0F15DE-6B04-7264-D863-843F42C0E0E9}"/>
              </a:ext>
            </a:extLst>
          </p:cNvPr>
          <p:cNvCxnSpPr/>
          <p:nvPr userDrawn="1"/>
        </p:nvCxnSpPr>
        <p:spPr bwMode="auto">
          <a:xfrm>
            <a:off x="0" y="6400800"/>
            <a:ext cx="9144000" cy="0"/>
          </a:xfrm>
          <a:prstGeom prst="line">
            <a:avLst/>
          </a:prstGeom>
          <a:noFill/>
          <a:ln w="127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220806-BEE9-EFFE-0921-DFEF6BB8FA1D}"/>
              </a:ext>
            </a:extLst>
          </p:cNvPr>
          <p:cNvSpPr txBox="1"/>
          <p:nvPr userDrawn="1"/>
        </p:nvSpPr>
        <p:spPr>
          <a:xfrm>
            <a:off x="11474" y="6474023"/>
            <a:ext cx="2709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FSU: Machine Learning in Physics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4AF15-DD31-995A-6565-3F133A45E1D8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9503ECA-0FA0-C844-BE1C-9E0ADD6C9254}" type="slidenum">
              <a:rPr lang="en-US" sz="1600" smtClean="0"/>
              <a:t>‹#›</a:t>
            </a:fld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90" r:id="rId2"/>
    <p:sldLayoutId id="2147483889" r:id="rId3"/>
    <p:sldLayoutId id="2147483888" r:id="rId4"/>
    <p:sldLayoutId id="2147483891" r:id="rId5"/>
    <p:sldLayoutId id="2147483884" r:id="rId6"/>
    <p:sldLayoutId id="2147483885" r:id="rId7"/>
    <p:sldLayoutId id="2147483886" r:id="rId8"/>
    <p:sldLayoutId id="2147483892" r:id="rId9"/>
    <p:sldLayoutId id="2147483893" r:id="rId10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/>
          <a:ea typeface="ＭＳ Ｐゴシック" pitchFamily="-109" charset="-128"/>
          <a:cs typeface="Times New Roman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109" charset="-128"/>
          <a:cs typeface="Times New Roman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E000CB-EC61-7DFA-0258-19D3DFAC49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 physics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Foundations 3</a:t>
            </a:r>
            <a:endParaRPr lang="en-US" sz="24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33422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B72B-CBF3-BA89-4F7A-266EE54F9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C422737-B0BC-5667-4514-0BB233340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E042F69-AFDA-1FBB-692F-5D0D0BD717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What have we learned so far?</a:t>
                </a:r>
                <a:br>
                  <a:rPr lang="en-US" dirty="0"/>
                </a:b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Machine learning models are trained by minimizing the empirical risk (aka average loss):</a:t>
                </a: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 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dirty="0"/>
                  <a:t>The loss function,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dirty="0"/>
                  <a:t>, is chosen according to the task at hand.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E042F69-AFDA-1FBB-692F-5D0D0BD717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838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EB631-CC40-84E0-9D60-34127FF22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DBFC140-278B-664E-6BCF-9B66463A7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A1A1B08-1158-8B28-BD0C-D1A7508A79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dirty="0"/>
                  <a:t>The empirical risk (which is typically referred to as the “loss” in ML circles) is an </a:t>
                </a:r>
                <a:r>
                  <a:rPr lang="en-US" i="1" dirty="0"/>
                  <a:t>unbiased</a:t>
                </a:r>
                <a:r>
                  <a:rPr lang="en-US" dirty="0"/>
                  <a:t> Monte Carlo estimate of the risk functional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where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is the probability density of the data.</a:t>
                </a:r>
                <a:br>
                  <a:rPr lang="en-US" dirty="0"/>
                </a:br>
                <a:endParaRPr lang="en-US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dirty="0"/>
                  <a:t>Minimizing the risk functional with respect to the ML model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shows that the optimal model satisfies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A1A1B08-1158-8B28-BD0C-D1A7508A79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2" t="-8421" r="-1631" b="-4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2134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60679-D6B1-610A-B664-7236129E7F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Empirical RISK Minimization</a:t>
            </a:r>
          </a:p>
        </p:txBody>
      </p:sp>
    </p:spTree>
    <p:extLst>
      <p:ext uri="{BB962C8B-B14F-4D97-AF65-F5344CB8AC3E}">
        <p14:creationId xmlns:p14="http://schemas.microsoft.com/office/powerpoint/2010/main" val="379386027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a mountain&#10;&#10;Description automatically generated">
            <a:extLst>
              <a:ext uri="{FF2B5EF4-FFF2-40B4-BE49-F238E27FC236}">
                <a16:creationId xmlns:a16="http://schemas.microsoft.com/office/drawing/2014/main" id="{1A2EAA9C-C30B-4209-7C57-577CC8C5C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700" y="378767"/>
            <a:ext cx="5903588" cy="6019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EF134B-1C30-2F33-B22D-7AB504903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1200" y="1276350"/>
            <a:ext cx="4699000" cy="48196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Some jargon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Batch</a:t>
            </a:r>
            <a:r>
              <a:rPr lang="en-US" dirty="0"/>
              <a:t>: a subset of the</a:t>
            </a:r>
            <a:br>
              <a:rPr lang="en-US" dirty="0"/>
            </a:br>
            <a:r>
              <a:rPr lang="en-US" dirty="0"/>
              <a:t>training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Iteration</a:t>
            </a:r>
            <a:r>
              <a:rPr lang="en-US" dirty="0"/>
              <a:t>: a single </a:t>
            </a:r>
            <a:br>
              <a:rPr lang="en-US" dirty="0"/>
            </a:br>
            <a:r>
              <a:rPr lang="en-US" dirty="0"/>
              <a:t>optimization step.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Epoch</a:t>
            </a:r>
            <a:r>
              <a:rPr lang="en-US" dirty="0"/>
              <a:t>: a single </a:t>
            </a:r>
          </a:p>
          <a:p>
            <a:pPr marL="0" indent="0">
              <a:buNone/>
            </a:pPr>
            <a:r>
              <a:rPr lang="en-US" dirty="0"/>
              <a:t>pass through the training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33CC"/>
                </a:solidFill>
              </a:rPr>
              <a:t>Learning Rate Step</a:t>
            </a:r>
            <a:r>
              <a:rPr lang="en-US" dirty="0"/>
              <a:t>: a sequence of iterations with fixed learning rate.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D3DC66-CCC2-1FAD-5103-64B1FB5CA688}"/>
              </a:ext>
            </a:extLst>
          </p:cNvPr>
          <p:cNvSpPr txBox="1"/>
          <p:nvPr/>
        </p:nvSpPr>
        <p:spPr>
          <a:xfrm>
            <a:off x="3807047" y="76200"/>
            <a:ext cx="963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Start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BFFAE8-5F75-7D8F-7376-F4E5623C617A}"/>
              </a:ext>
            </a:extLst>
          </p:cNvPr>
          <p:cNvSpPr txBox="1"/>
          <p:nvPr/>
        </p:nvSpPr>
        <p:spPr>
          <a:xfrm>
            <a:off x="7810438" y="5701040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032599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a mountain&#10;&#10;Description automatically generated">
            <a:extLst>
              <a:ext uri="{FF2B5EF4-FFF2-40B4-BE49-F238E27FC236}">
                <a16:creationId xmlns:a16="http://schemas.microsoft.com/office/drawing/2014/main" id="{FC20D917-2813-56A2-BE44-B1E435474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518" y="2514600"/>
            <a:ext cx="3846482" cy="3922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07674D-04C0-896E-ECB0-08F4A9BA384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/>
                  <a:t>The minimization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typically done by moving in the direction of </a:t>
                </a:r>
                <a:r>
                  <a:rPr lang="en-US" i="1" dirty="0">
                    <a:solidFill>
                      <a:srgbClr val="0033CC"/>
                    </a:solidFill>
                  </a:rPr>
                  <a:t>steepest descent</a:t>
                </a:r>
                <a:r>
                  <a:rPr lang="en-US" dirty="0"/>
                  <a:t>. Most optimization algorithms in ML are variations of</a:t>
                </a:r>
                <a:r>
                  <a:rPr 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b="1" dirty="0">
                    <a:solidFill>
                      <a:srgbClr val="0033CC"/>
                    </a:solidFill>
                  </a:rPr>
                  <a:t>S</a:t>
                </a:r>
                <a:r>
                  <a:rPr lang="en-US" dirty="0">
                    <a:solidFill>
                      <a:srgbClr val="0033CC"/>
                    </a:solidFill>
                  </a:rPr>
                  <a:t>tochastic </a:t>
                </a:r>
                <a:r>
                  <a:rPr lang="en-US" b="1" dirty="0">
                    <a:solidFill>
                      <a:srgbClr val="0033CC"/>
                    </a:solidFill>
                  </a:rPr>
                  <a:t>G</a:t>
                </a:r>
                <a:r>
                  <a:rPr lang="en-US" dirty="0">
                    <a:solidFill>
                      <a:srgbClr val="0033CC"/>
                    </a:solidFill>
                  </a:rPr>
                  <a:t>radient </a:t>
                </a:r>
                <a:r>
                  <a:rPr lang="en-US" b="1" dirty="0">
                    <a:solidFill>
                      <a:srgbClr val="0033CC"/>
                    </a:solidFill>
                  </a:rPr>
                  <a:t>D</a:t>
                </a:r>
                <a:r>
                  <a:rPr lang="en-US" dirty="0">
                    <a:solidFill>
                      <a:srgbClr val="0033CC"/>
                    </a:solidFill>
                  </a:rPr>
                  <a:t>escent</a:t>
                </a:r>
                <a:r>
                  <a:rPr lang="en-US" dirty="0">
                    <a:solidFill>
                      <a:srgbClr val="000000"/>
                    </a:solidFill>
                  </a:rPr>
                  <a:t>. 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endParaRPr lang="en-US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Algorithm</a:t>
                </a:r>
                <a:endParaRPr lang="en-US" b="1" dirty="0">
                  <a:solidFill>
                    <a:srgbClr val="000000"/>
                  </a:solidFill>
                </a:endParaRPr>
              </a:p>
              <a:p>
                <a:pPr marL="457200" indent="-4572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dirty="0">
                    <a:solidFill>
                      <a:srgbClr val="000000"/>
                    </a:solidFill>
                  </a:rPr>
                  <a:t>At the current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, compute a </a:t>
                </a:r>
                <a:br>
                  <a:rPr lang="en-US" dirty="0">
                    <a:solidFill>
                      <a:srgbClr val="000000"/>
                    </a:solidFill>
                  </a:rPr>
                </a:br>
                <a:r>
                  <a:rPr lang="en-US" i="1" u="sng" dirty="0">
                    <a:solidFill>
                      <a:srgbClr val="0033CC"/>
                    </a:solidFill>
                  </a:rPr>
                  <a:t>noisy</a:t>
                </a:r>
                <a:r>
                  <a:rPr lang="en-US" dirty="0">
                    <a:solidFill>
                      <a:srgbClr val="000000"/>
                    </a:solidFill>
                  </a:rPr>
                  <a:t> approximation of the gradient </a:t>
                </a:r>
                <a:br>
                  <a:rPr lang="en-US" dirty="0">
                    <a:solidFill>
                      <a:srgbClr val="000000"/>
                    </a:solidFill>
                  </a:rPr>
                </a:br>
                <a:r>
                  <a:rPr lang="en-US" dirty="0">
                    <a:solidFill>
                      <a:srgbClr val="000000"/>
                    </a:solidFill>
                  </a:rPr>
                  <a:t>of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by </a:t>
                </a:r>
                <a:br>
                  <a:rPr lang="en-US" dirty="0">
                    <a:solidFill>
                      <a:srgbClr val="000000"/>
                    </a:solidFill>
                  </a:rPr>
                </a:br>
                <a:r>
                  <a:rPr lang="en-US" dirty="0">
                    <a:solidFill>
                      <a:srgbClr val="000000"/>
                    </a:solidFill>
                  </a:rPr>
                  <a:t>using a </a:t>
                </a:r>
                <a:r>
                  <a:rPr lang="en-US" b="1" dirty="0">
                    <a:solidFill>
                      <a:srgbClr val="0033CC"/>
                    </a:solidFill>
                  </a:rPr>
                  <a:t>batch</a:t>
                </a:r>
                <a:r>
                  <a:rPr lang="en-US" dirty="0">
                    <a:solidFill>
                      <a:srgbClr val="000000"/>
                    </a:solidFill>
                  </a:rPr>
                  <a:t> of </a:t>
                </a:r>
                <a:r>
                  <a:rPr lang="en-US" b="1" dirty="0">
                    <a:solidFill>
                      <a:srgbClr val="0033CC"/>
                    </a:solidFill>
                  </a:rPr>
                  <a:t>training data</a:t>
                </a:r>
                <a:r>
                  <a:rPr lang="en-US" dirty="0">
                    <a:solidFill>
                      <a:srgbClr val="000000"/>
                    </a:solidFill>
                  </a:rPr>
                  <a:t>, </a:t>
                </a:r>
                <a:br>
                  <a:rPr lang="en-US" dirty="0">
                    <a:solidFill>
                      <a:srgbClr val="000000"/>
                    </a:solidFill>
                  </a:rPr>
                </a:br>
                <a:r>
                  <a:rPr lang="en-US" dirty="0">
                    <a:solidFill>
                      <a:srgbClr val="000000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b="1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dirty="0"/>
                  <a:t>Move to the next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in the landscape using </a:t>
                </a: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07674D-04C0-896E-ECB0-08F4A9BA38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309" t="-1842" r="-1964" b="-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5997FEB-454C-5C8C-3731-F19D54CE6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Risk Minimization (1)</a:t>
            </a:r>
          </a:p>
        </p:txBody>
      </p:sp>
    </p:spTree>
    <p:extLst>
      <p:ext uri="{BB962C8B-B14F-4D97-AF65-F5344CB8AC3E}">
        <p14:creationId xmlns:p14="http://schemas.microsoft.com/office/powerpoint/2010/main" val="184966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63A2D-5754-2FAF-C4D1-4F4BC6430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a mountain&#10;&#10;Description automatically generated">
            <a:extLst>
              <a:ext uri="{FF2B5EF4-FFF2-40B4-BE49-F238E27FC236}">
                <a16:creationId xmlns:a16="http://schemas.microsoft.com/office/drawing/2014/main" id="{9E54FDF4-4C20-75CD-A55C-2128FB104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518" y="2514600"/>
            <a:ext cx="3846482" cy="3922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15839D9-08FB-02BE-91C0-05B1224A652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/>
                  <a:t>Why does </a:t>
                </a:r>
                <a:r>
                  <a:rPr lang="en-US" dirty="0">
                    <a:solidFill>
                      <a:srgbClr val="000000"/>
                    </a:solidFill>
                  </a:rPr>
                  <a:t>this (1</a:t>
                </a:r>
                <a:r>
                  <a:rPr lang="en-US" baseline="30000" dirty="0">
                    <a:solidFill>
                      <a:srgbClr val="000000"/>
                    </a:solidFill>
                  </a:rPr>
                  <a:t>st</a:t>
                </a:r>
                <a:r>
                  <a:rPr lang="en-US" dirty="0">
                    <a:solidFill>
                      <a:srgbClr val="000000"/>
                    </a:solidFill>
                  </a:rPr>
                  <a:t>-order) algorithm 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𝑅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  <a:cs typeface="Cambria Math" charset="0"/>
                </a:endParaRP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work? 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Consider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𝜂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𝑅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rgbClr val="000000"/>
                              </a:solidFill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 		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dirty="0">
                        <a:solidFill>
                          <a:srgbClr val="0033CC"/>
                        </a:solidFill>
                        <a:ea typeface="Cambria Math" panose="02040503050406030204" pitchFamily="18" charset="0"/>
                        <a:cs typeface="Cambria Math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𝜂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/>
                  <a:t>If the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𝑂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can be neglected, and 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/>
                  <a:t>given that the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𝑂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𝜂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term is always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dirty="0"/>
                  <a:t>negative, it follows that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br>
                  <a:rPr lang="en-US" dirty="0"/>
                </a:br>
                <a:r>
                  <a:rPr lang="en-US" dirty="0"/>
                  <a:t>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15839D9-08FB-02BE-91C0-05B1224A65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309" t="-1842" b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B48CDEA-88F8-3CA5-B26A-0F384AAF6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Risk Minimization (2)</a:t>
            </a:r>
          </a:p>
        </p:txBody>
      </p:sp>
    </p:spTree>
    <p:extLst>
      <p:ext uri="{BB962C8B-B14F-4D97-AF65-F5344CB8AC3E}">
        <p14:creationId xmlns:p14="http://schemas.microsoft.com/office/powerpoint/2010/main" val="710313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432F4-C927-BA01-B1A8-23BE5EEE61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Classifiers</a:t>
            </a:r>
          </a:p>
        </p:txBody>
      </p:sp>
    </p:spTree>
    <p:extLst>
      <p:ext uri="{BB962C8B-B14F-4D97-AF65-F5344CB8AC3E}">
        <p14:creationId xmlns:p14="http://schemas.microsoft.com/office/powerpoint/2010/main" val="33743950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0A66F-0B72-66CA-D036-8B3BA0869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CD71358-E7C4-4011-A59E-755828C26D7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en-US" dirty="0"/>
                  <a:t>Starting with</a:t>
                </a:r>
              </a:p>
              <a:p>
                <a:pPr>
                  <a:buFont typeface="Marlett" pitchFamily="26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buFont typeface="Marlett" pitchFamily="26" charset="0"/>
                  <a:buNone/>
                </a:pPr>
                <a:r>
                  <a:rPr lang="en-US" dirty="0"/>
                  <a:t>it was shown in Lecture 2 and tutorial 2 that a binary classifier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dirty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 trained using the cross-entropy loss</a:t>
                </a:r>
                <a:r>
                  <a:rPr lang="en-US" b="1" dirty="0">
                    <a:solidFill>
                      <a:srgbClr val="0033CC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=−[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𝑦</m:t>
                    </m:r>
                    <m:func>
                      <m:func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1−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𝑦</m:t>
                            </m:r>
                          </m:e>
                        </m:d>
                        <m:func>
                          <m:funcPr>
                            <m:ctrlP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(1−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𝑓</m:t>
                            </m:r>
                            <m:r>
                              <a:rPr lang="en-US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)</m:t>
                            </m:r>
                          </m:e>
                        </m:func>
                      </m:e>
                    </m:func>
                    <m:r>
                      <a:rPr lang="en-US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]</m:t>
                    </m:r>
                  </m:oMath>
                </a14:m>
                <a:r>
                  <a:rPr lang="en-US" dirty="0"/>
                  <a:t> approximates the </a:t>
                </a:r>
                <a:r>
                  <a:rPr lang="en-US" b="1" dirty="0">
                    <a:solidFill>
                      <a:srgbClr val="0033CC"/>
                    </a:solidFill>
                  </a:rPr>
                  <a:t>class probability</a:t>
                </a:r>
              </a:p>
              <a:p>
                <a:pPr>
                  <a:buFont typeface="Marlett" pitchFamily="26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br>
                  <a:rPr lang="en-US" dirty="0"/>
                </a:br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>
                  <a:buFont typeface="Marlett" pitchFamily="26" charset="0"/>
                  <a:buNone/>
                </a:pP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that is, the probability that an object characterized by the </a:t>
                </a:r>
                <a:r>
                  <a:rPr lang="en-US" b="1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features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effectLst>
                          <a:outerShdw blurRad="38100" dist="38100" dir="2700000" algn="tl">
                            <a:srgbClr val="DDDDDD"/>
                          </a:outerShdw>
                        </a:effectLst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belongs to the class labeled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effectLst>
                          <a:outerShdw blurRad="38100" dist="38100" dir="2700000" algn="tl">
                            <a:srgbClr val="DDDDDD"/>
                          </a:outerShdw>
                        </a:effectLst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0033CC"/>
                        </a:solidFill>
                        <a:effectLst>
                          <a:outerShdw blurRad="38100" dist="38100" dir="2700000" algn="tl">
                            <a:srgbClr val="DDDDDD"/>
                          </a:outerShdw>
                        </a:effectLst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CD71358-E7C4-4011-A59E-755828C26D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23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159F6C5-C484-EC79-5C75-AB8B30630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Classifiers (1)</a:t>
            </a:r>
          </a:p>
        </p:txBody>
      </p:sp>
    </p:spTree>
    <p:extLst>
      <p:ext uri="{BB962C8B-B14F-4D97-AF65-F5344CB8AC3E}">
        <p14:creationId xmlns:p14="http://schemas.microsoft.com/office/powerpoint/2010/main" val="2471689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9EFD6-8AF9-3AC0-A772-0C5780E4E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A5FF234-6F7F-A2E8-4C2B-8C41E7CF3A5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From Bayes’ theorem, we can write the class probability as</a:t>
                </a:r>
                <a:br>
                  <a:rPr lang="en-US" dirty="0">
                    <a:latin typeface="+mn-lt"/>
                  </a:rPr>
                </a:b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and</a:t>
                </a:r>
              </a:p>
              <a:p>
                <a:pPr marL="0" indent="0">
                  <a:buNone/>
                </a:pPr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is the probability density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effectLst>
                          <a:outerShdw blurRad="38100" dist="38100" dir="2700000" algn="tl">
                            <a:srgbClr val="DDDDDD"/>
                          </a:outerShdw>
                        </a:effectLst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for class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,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is the </a:t>
                </a:r>
                <a:r>
                  <a:rPr lang="en-US" b="1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prior probability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of class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, and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i="1" dirty="0">
                    <a:solidFill>
                      <a:srgbClr val="0033CC"/>
                    </a:solidFill>
                    <a:latin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A5FF234-6F7F-A2E8-4C2B-8C41E7CF3A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2840FCC-D5A4-4372-6695-0E20A32EC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Classifiers (2)</a:t>
            </a:r>
          </a:p>
        </p:txBody>
      </p:sp>
    </p:spTree>
    <p:extLst>
      <p:ext uri="{BB962C8B-B14F-4D97-AF65-F5344CB8AC3E}">
        <p14:creationId xmlns:p14="http://schemas.microsoft.com/office/powerpoint/2010/main" val="2050482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0FA07-4D08-91C5-822D-EA30DA04B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4FBE111-5277-6CD5-CDB1-358D32EF551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11200" y="1295400"/>
                <a:ext cx="77470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When the training dataset is </a:t>
                </a:r>
                <a:r>
                  <a:rPr lang="en-US" b="1" dirty="0">
                    <a:solidFill>
                      <a:srgbClr val="0033CC"/>
                    </a:solidFill>
                  </a:rPr>
                  <a:t>balanced</a:t>
                </a:r>
                <a:r>
                  <a:rPr lang="en-US" dirty="0"/>
                  <a:t> (as in tutorial 2), that is,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, the class probability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becomes the </a:t>
                </a:r>
                <a:r>
                  <a:rPr lang="en-US" b="1" dirty="0">
                    <a:solidFill>
                      <a:srgbClr val="0033CC"/>
                    </a:solidFill>
                  </a:rPr>
                  <a:t>discriminant</a:t>
                </a:r>
                <a:r>
                  <a:rPr lang="en-US" dirty="0"/>
                  <a:t>, 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US" i="1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This is one of the most useful results in scientific machine learning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. </a:t>
                </a:r>
              </a:p>
              <a:p>
                <a:pPr marL="0" indent="0">
                  <a:buNone/>
                </a:pPr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4FBE111-5277-6CD5-CDB1-358D32EF55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11200" y="1295400"/>
                <a:ext cx="7747000" cy="4819650"/>
              </a:xfrm>
              <a:blipFill>
                <a:blip r:embed="rId2"/>
                <a:stretch>
                  <a:fillRect l="-1309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260803B-6204-0C12-7211-987376BA4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Classifiers (3)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81070C-C4FA-0018-0FFC-DB553E5FD2D0}"/>
              </a:ext>
            </a:extLst>
          </p:cNvPr>
          <p:cNvSpPr/>
          <p:nvPr/>
        </p:nvSpPr>
        <p:spPr bwMode="auto">
          <a:xfrm>
            <a:off x="2895600" y="2590800"/>
            <a:ext cx="3657600" cy="121920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398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01C9A-C562-4209-2742-5C63B4220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5270A78-B3C6-0C0C-96AB-1507A7B10D4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0" dirty="0"/>
                  <a:t>It is possible to train a binary classifier using an </a:t>
                </a:r>
                <a:r>
                  <a:rPr lang="en-US" b="1" dirty="0">
                    <a:solidFill>
                      <a:srgbClr val="0033CC"/>
                    </a:solidFill>
                  </a:rPr>
                  <a:t>unbalanced</a:t>
                </a:r>
                <a:r>
                  <a:rPr lang="en-US" b="0" dirty="0"/>
                  <a:t> dataset: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(1)≠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b="0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But if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(1)≪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dirty="0"/>
                  <a:t> this might be challenging. 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Why do you think this is</a:t>
                </a:r>
                <a:r>
                  <a:rPr lang="en-US" dirty="0"/>
                  <a:t>?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However, as shown on the next slide,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(1|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can be computed from a model trained with a balanced dataset.</a:t>
                </a:r>
                <a:b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5270A78-B3C6-0C0C-96AB-1507A7B10D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499AF41-7810-2449-4FA8-B6D0A34DF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Classifiers (4)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150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9333D-192A-2FCA-AE84-08D7D1DBA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E792C1-CB86-39DD-FA3E-9E01E109D4F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According to Bayes’ theorem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|1</m:t>
                          </m:r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(1) 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|1</m:t>
                          </m:r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(1)+</m:t>
                          </m:r>
                          <m: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(0)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Dividing the numerator and denominator by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yields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(1) 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(1)+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den>
                      </m:f>
                    </m:oMath>
                  </m:oMathPara>
                </a14:m>
                <a:b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</a:br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So, it is not necessary to use the true priors during training.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E792C1-CB86-39DD-FA3E-9E01E109D4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89EB1F5-6713-6803-18CA-A9B285050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Classifiers (4)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40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BE79B-56F4-3405-DA5A-9ACDBA7BB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72AB6-435C-31AE-89B5-EDE60FAC70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Classifier Performance</a:t>
            </a:r>
          </a:p>
        </p:txBody>
      </p:sp>
    </p:spTree>
    <p:extLst>
      <p:ext uri="{BB962C8B-B14F-4D97-AF65-F5344CB8AC3E}">
        <p14:creationId xmlns:p14="http://schemas.microsoft.com/office/powerpoint/2010/main" val="128482267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7B484-30DB-8614-B778-B22C582F7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3A9D521-96B0-0007-4301-2463D3091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Classifier Performance (1)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8DAA0BC-4401-45B6-8218-AEEEF18E17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Consider a classifier,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indicator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[∗]</m:t>
                    </m:r>
                  </m:oMath>
                </a14:m>
                <a:r>
                  <a:rPr lang="en-US" dirty="0"/>
                  <a:t>, the targets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and a threshold </a:t>
                </a:r>
                <a:r>
                  <a:rPr lang="en-US" i="1" dirty="0">
                    <a:solidFill>
                      <a:srgbClr val="0033CC"/>
                    </a:solidFill>
                  </a:rPr>
                  <a:t>t </a:t>
                </a:r>
                <a:r>
                  <a:rPr lang="en-US" dirty="0"/>
                  <a:t>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above which one is prepared to assign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the “positive” (signal) class and below which one assigns it to the “negative” (background) class. 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following counts can be computed: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False Negatives 	(FN):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brk m:alnAt="7"/>
                              </m:rPr>
                              <a:rPr lang="en-US" b="1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1" i="1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b="1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True Positives 	(TP):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b="1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1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True Negatives 	(TN):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False Positives 	(FP):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m:rPr>
                                <m:brk m:alnAt="7"/>
                              </m:rP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is true, 0 otherwise.</a:t>
                </a:r>
                <a:endParaRPr lang="en-US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8DAA0BC-4401-45B6-8218-AEEEF18E17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1631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85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0CCC6-1254-A8A6-1666-29EA2E74E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B4D7EC-0A9E-88B8-3786-D04B92BF0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Classifier Performance (2)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A099783-2799-6C19-C31C-FAF24757F7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84328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FN: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TP: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			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endParaRPr lang="en-US" b="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br>
                  <a:rPr lang="en-US" b="0" dirty="0"/>
                </a:b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/>
                  <a:t> 				TN: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				FP: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A099783-2799-6C19-C31C-FAF24757F7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8432800" cy="4819650"/>
              </a:xfrm>
              <a:blipFill>
                <a:blip r:embed="rId2"/>
                <a:stretch>
                  <a:fillRect l="-1205" t="-12368" b="-2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 descr="A graph of a function&#10;&#10;Description automatically generated">
            <a:extLst>
              <a:ext uri="{FF2B5EF4-FFF2-40B4-BE49-F238E27FC236}">
                <a16:creationId xmlns:a16="http://schemas.microsoft.com/office/drawing/2014/main" id="{ED5C4D9E-FC76-30ED-A950-D295A549F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362200"/>
            <a:ext cx="3657600" cy="292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 descr="A graph of a function&#10;&#10;Description automatically generated">
            <a:extLst>
              <a:ext uri="{FF2B5EF4-FFF2-40B4-BE49-F238E27FC236}">
                <a16:creationId xmlns:a16="http://schemas.microsoft.com/office/drawing/2014/main" id="{0735ED67-9E57-1D90-753D-20058D423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286000"/>
            <a:ext cx="3657600" cy="292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79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E3E14-E81B-0001-CB18-62738DE0D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EFA01A-487B-ACAE-8ABB-3CF070E81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4A691D5-9F0D-FB02-2F98-B56C50D2CB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84328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FN: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TP: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dirty="0">
                    <a:solidFill>
                      <a:srgbClr val="0033CC"/>
                    </a:solidFill>
                  </a:rPr>
                  <a:t>confusion matrix</a:t>
                </a:r>
                <a:r>
                  <a:rPr lang="en-US" dirty="0"/>
                  <a:t> is a simple</a:t>
                </a:r>
              </a:p>
              <a:p>
                <a:pPr marL="0" indent="0">
                  <a:buNone/>
                </a:pPr>
                <a:r>
                  <a:rPr lang="en-US" dirty="0"/>
                  <a:t>w</a:t>
                </a:r>
                <a:r>
                  <a:rPr lang="en-US" b="0" dirty="0"/>
                  <a:t>ay to summari</a:t>
                </a:r>
                <a:r>
                  <a:rPr lang="en-US" dirty="0"/>
                  <a:t>ze the counts in</a:t>
                </a:r>
              </a:p>
              <a:p>
                <a:pPr marL="0" indent="0">
                  <a:buNone/>
                </a:pPr>
                <a:r>
                  <a:rPr lang="en-US" dirty="0"/>
                  <a:t>t</a:t>
                </a:r>
                <a:r>
                  <a:rPr lang="en-US" b="0" dirty="0"/>
                  <a:t>he four disjoint regions.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A perfectly separable dataset</a:t>
                </a:r>
                <a:br>
                  <a:rPr lang="en-US" b="0" dirty="0"/>
                </a:br>
                <a:r>
                  <a:rPr lang="en-US" b="0" dirty="0"/>
                  <a:t>would yield a diagonal matrix</a:t>
                </a:r>
                <a:r>
                  <a:rPr lang="en-US" dirty="0"/>
                  <a:t>.</a:t>
                </a:r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				TN: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				FP: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4A691D5-9F0D-FB02-2F98-B56C50D2C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8432800" cy="4819650"/>
              </a:xfrm>
              <a:blipFill>
                <a:blip r:embed="rId2"/>
                <a:stretch>
                  <a:fillRect l="-1205" t="-12368" b="-2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diagram of a confusion matrix&#10;&#10;Description automatically generated">
            <a:extLst>
              <a:ext uri="{FF2B5EF4-FFF2-40B4-BE49-F238E27FC236}">
                <a16:creationId xmlns:a16="http://schemas.microsoft.com/office/drawing/2014/main" id="{9C32FE41-1CEB-B66A-E34F-950A4C4D2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295400"/>
            <a:ext cx="3657600" cy="3657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9794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7A5D4-61CE-7BA2-0A77-B01D721BB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CFFE38CD-8CD0-A665-1977-8FF686A074B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Confusion Matrix (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r>
                  <a:rPr lang="en-US" dirty="0"/>
                  <a:t>)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itle 6">
                <a:extLst>
                  <a:ext uri="{FF2B5EF4-FFF2-40B4-BE49-F238E27FC236}">
                    <a16:creationId xmlns:a16="http://schemas.microsoft.com/office/drawing/2014/main" id="{CFFE38CD-8CD0-A665-1977-8FF686A074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515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A graph of a graph&#10;&#10;Description automatically generated">
            <a:extLst>
              <a:ext uri="{FF2B5EF4-FFF2-40B4-BE49-F238E27FC236}">
                <a16:creationId xmlns:a16="http://schemas.microsoft.com/office/drawing/2014/main" id="{186DAB4B-38CF-DB45-3844-107A48AA3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424" y="3287712"/>
            <a:ext cx="3657600" cy="292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 descr="A diagram of a confusion matrix&#10;&#10;Description automatically generated">
            <a:extLst>
              <a:ext uri="{FF2B5EF4-FFF2-40B4-BE49-F238E27FC236}">
                <a16:creationId xmlns:a16="http://schemas.microsoft.com/office/drawing/2014/main" id="{E4B6085F-DA2F-133C-082B-29395A94D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990600"/>
            <a:ext cx="3657600" cy="3657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A graph of a function&#10;&#10;Description automatically generated">
            <a:extLst>
              <a:ext uri="{FF2B5EF4-FFF2-40B4-BE49-F238E27FC236}">
                <a16:creationId xmlns:a16="http://schemas.microsoft.com/office/drawing/2014/main" id="{B03FEB89-1C50-8CFB-0F50-EF9D2DA7DA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3263900"/>
            <a:ext cx="3657600" cy="292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3467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DF535-56A9-5FE1-75AA-7EA105642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graph of a function&#10;&#10;Description automatically generated">
            <a:extLst>
              <a:ext uri="{FF2B5EF4-FFF2-40B4-BE49-F238E27FC236}">
                <a16:creationId xmlns:a16="http://schemas.microsoft.com/office/drawing/2014/main" id="{6F056D68-A397-B3B1-0686-EEBC4B73D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214" y="3403600"/>
            <a:ext cx="3657600" cy="292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 descr="A graph of a function&#10;&#10;Description automatically generated">
            <a:extLst>
              <a:ext uri="{FF2B5EF4-FFF2-40B4-BE49-F238E27FC236}">
                <a16:creationId xmlns:a16="http://schemas.microsoft.com/office/drawing/2014/main" id="{A86F94DE-6CF7-24F3-FAB6-EBD36C084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4" y="3403600"/>
            <a:ext cx="3657600" cy="2921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9243018-889C-B2B3-1F5D-17ED3AF4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Accuracy, Precision, Recall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2D6F545-675A-4AF5-BCA1-CC5C0ECDDF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84328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0" dirty="0">
                    <a:solidFill>
                      <a:srgbClr val="0033CC"/>
                    </a:solidFill>
                  </a:rPr>
                  <a:t>Accuracy</a:t>
                </a:r>
                <a:r>
                  <a:rPr lang="en-US" b="0" dirty="0"/>
                  <a:t>	= (TP + TN) / </a:t>
                </a:r>
                <a:r>
                  <a:rPr lang="en-US" dirty="0"/>
                  <a:t>(TP + TN + FN + </a:t>
                </a:r>
                <a:r>
                  <a:rPr lang="en-US" b="0" dirty="0"/>
                  <a:t>FP)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Precision</a:t>
                </a:r>
                <a:r>
                  <a:rPr lang="en-US" dirty="0"/>
                  <a:t>	= TP / (TP + FP)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solidFill>
                      <a:srgbClr val="0033CC"/>
                    </a:solidFill>
                  </a:rPr>
                  <a:t>Recall</a:t>
                </a:r>
                <a:r>
                  <a:rPr lang="en-US" b="0" dirty="0"/>
                  <a:t>		= TP / (FN + TP)	</a:t>
                </a:r>
              </a:p>
              <a:p>
                <a:pPr marL="0" indent="0">
                  <a:buNone/>
                </a:pPr>
                <a:r>
                  <a:rPr lang="en-US" b="0" dirty="0">
                    <a:solidFill>
                      <a:srgbClr val="0033CC"/>
                    </a:solidFill>
                  </a:rPr>
                  <a:t>True Positive Rate </a:t>
                </a:r>
                <a:r>
                  <a:rPr lang="en-US" b="0" dirty="0"/>
                  <a:t>(TPR)	= TP / (FN + TP) 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|1)</m:t>
                    </m:r>
                  </m:oMath>
                </a14:m>
                <a:endParaRPr lang="en-US" b="0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</a:rPr>
                  <a:t>False Positive Rate </a:t>
                </a:r>
                <a:r>
                  <a:rPr lang="en-US" dirty="0"/>
                  <a:t>(FPR)	= FP / (TN + FP)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|0)</m:t>
                    </m:r>
                  </m:oMath>
                </a14:m>
                <a:endParaRPr lang="en-US" b="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endParaRPr lang="en-US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2D6F545-675A-4AF5-BCA1-CC5C0ECDDF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8432800" cy="4819650"/>
              </a:xfrm>
              <a:blipFill>
                <a:blip r:embed="rId4"/>
                <a:stretch>
                  <a:fillRect l="-12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486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52E35-A156-BC43-791C-17D8A7B0A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808ABAD-372F-B9A5-CF67-B4F30591B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and AUC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2C9029E-555C-CE56-CBFA-52C6C7B980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The ROC curve is a plot of </a:t>
                </a:r>
                <a:br>
                  <a:rPr lang="en-US" dirty="0">
                    <a:latin typeface="+mn-lt"/>
                  </a:rPr>
                </a:br>
                <a:r>
                  <a:rPr lang="en-US" dirty="0">
                    <a:latin typeface="+mn-lt"/>
                  </a:rPr>
                  <a:t>TPR vs. FPR, that is,</a:t>
                </a:r>
                <a:br>
                  <a:rPr lang="en-US" dirty="0">
                    <a:latin typeface="+mn-lt"/>
                  </a:rPr>
                </a:b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vs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|0)</m:t>
                      </m:r>
                    </m:oMath>
                  </m:oMathPara>
                </a14:m>
                <a:endParaRPr lang="en-US" dirty="0">
                  <a:solidFill>
                    <a:srgbClr val="0033CC"/>
                  </a:solidFill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where (usually)</a:t>
                </a: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|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|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|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pPr marL="0" indent="0">
                  <a:buNone/>
                </a:pPr>
                <a:endParaRPr lang="en-US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2C9029E-555C-CE56-CBFA-52C6C7B980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of a function&#10;&#10;Description automatically generated">
            <a:extLst>
              <a:ext uri="{FF2B5EF4-FFF2-40B4-BE49-F238E27FC236}">
                <a16:creationId xmlns:a16="http://schemas.microsoft.com/office/drawing/2014/main" id="{4EBCB0AC-A544-D7DE-97C5-CF8BAC908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447800"/>
            <a:ext cx="4662435" cy="4419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280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3233E-4612-1EF1-198D-7E2E02962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56991-5CFF-F6C8-CDA0-56652C8606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Beyond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55509517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C65E5-B875-3CDA-6D69-16B547143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7AEFDB6-F50F-F8CA-6518-78625CBBA63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0" dirty="0"/>
                  <a:t>Notice that the discriminant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can be rewritten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|1)=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|0)</m:t>
                      </m:r>
                    </m:oMath>
                  </m:oMathPara>
                </a14:m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The above is often referred to as the likelihood ratio trick. </a:t>
                </a:r>
              </a:p>
              <a:p>
                <a:pPr marL="0" indent="0">
                  <a:buNone/>
                </a:pPr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|0)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is a </a:t>
                </a:r>
                <a:r>
                  <a:rPr lang="en-US" i="1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known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density from which the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effectLst>
                          <a:outerShdw blurRad="38100" dist="38100" dir="2700000" algn="tl">
                            <a:srgbClr val="DDDDDD"/>
                          </a:outerShdw>
                        </a:effectLst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effectLst>
                          <a:outerShdw blurRad="38100" dist="38100" dir="2700000" algn="tl">
                            <a:srgbClr val="DDDDDD"/>
                          </a:outerShdw>
                        </a:effectLst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 vectors are sampled, then the discriminant can be repurposed as a </a:t>
                </a:r>
                <a:r>
                  <a:rPr lang="en-US" b="1" dirty="0">
                    <a:solidFill>
                      <a:srgbClr val="0033CC"/>
                    </a:solidFill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probability density estimator</a:t>
                </a:r>
                <a:r>
                  <a:rPr lang="en-US" dirty="0">
                    <a:effectLst>
                      <a:outerShdw blurRad="38100" dist="38100" dir="2700000" algn="tl">
                        <a:srgbClr val="DDDDDD"/>
                      </a:outerShdw>
                    </a:effectLst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effectLst>
                    <a:outerShdw blurRad="38100" dist="38100" dir="2700000" algn="tl">
                      <a:srgbClr val="DDDDDD"/>
                    </a:outerShdw>
                  </a:effectLst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7AEFDB6-F50F-F8CA-6518-78625CBBA6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6BF1F42-9D07-58C2-7DEF-AAD977C15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Classification (1) 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973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85FAE-27C2-8BB3-6FEE-71FA98E04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0C65E00-5CA2-2EC7-8CDA-2FFC57939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Classification (2)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BB4544E-B2F7-15C2-FEF0-91F9F534E1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Consider a dataset </a:t>
                </a:r>
                <a:r>
                  <a:rPr lang="en-US" dirty="0">
                    <a:solidFill>
                      <a:srgbClr val="0033CC"/>
                    </a:solidFill>
                  </a:rPr>
                  <a:t>U[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]</a:t>
                </a:r>
                <a:r>
                  <a:rPr lang="en-US" dirty="0"/>
                  <a:t>,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labeled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 The goal is to approximate its associated probability density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  <a:endParaRPr lang="en-US" b="1" dirty="0">
                  <a:solidFill>
                    <a:srgbClr val="0033CC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Algorithm</a:t>
                </a: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Generate another dataset </a:t>
                </a:r>
                <a:r>
                  <a:rPr lang="en-US" dirty="0">
                    <a:solidFill>
                      <a:srgbClr val="0033CC"/>
                    </a:solidFill>
                  </a:rPr>
                  <a:t>K[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]</a:t>
                </a:r>
                <a:r>
                  <a:rPr lang="en-US" dirty="0"/>
                  <a:t>, of size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labeled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, a </a:t>
                </a:r>
                <a:r>
                  <a:rPr lang="en-US" i="1" dirty="0"/>
                  <a:t>known</a:t>
                </a:r>
                <a:r>
                  <a:rPr lang="en-US" dirty="0"/>
                  <a:t> density*. </a:t>
                </a:r>
                <a:br>
                  <a:rPr lang="en-US" dirty="0">
                    <a:solidFill>
                      <a:srgbClr val="0033CC"/>
                    </a:solidFill>
                  </a:rPr>
                </a:br>
                <a:endParaRPr lang="en-US" dirty="0">
                  <a:solidFill>
                    <a:srgbClr val="0033CC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Train a classifier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using a randomized mixture of the datasets </a:t>
                </a:r>
                <a:r>
                  <a:rPr lang="en-US" dirty="0">
                    <a:solidFill>
                      <a:srgbClr val="0033CC"/>
                    </a:solidFill>
                  </a:rPr>
                  <a:t>U[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] </a:t>
                </a:r>
                <a:r>
                  <a:rPr lang="en-US" dirty="0"/>
                  <a:t>and</a:t>
                </a:r>
                <a:r>
                  <a:rPr lang="en-US" dirty="0">
                    <a:solidFill>
                      <a:srgbClr val="0033CC"/>
                    </a:solidFill>
                  </a:rPr>
                  <a:t> K[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] </a:t>
                </a:r>
                <a:r>
                  <a:rPr lang="en-US" dirty="0"/>
                  <a:t>of sample size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Approximate the unknown density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using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* </a:t>
                </a:r>
                <a:r>
                  <a:rPr lang="en-US" sz="2000" dirty="0"/>
                  <a:t>The symbol “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sz="2000" dirty="0"/>
                  <a:t>” means “sampled from”.</a:t>
                </a: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BB4544E-B2F7-15C2-FEF0-91F9F534E1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1142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777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4BB75-C7FD-A545-2D7F-9AF91FEA9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D720821-06F8-57AE-7CC4-75963BB05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Classification (3)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A5C1975-8E13-2BA1-7AC2-66CBFD887B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But we can go further*.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Suppose our dataset U of sample size </a:t>
                </a:r>
                <a:r>
                  <a:rPr lang="en-US" i="1" dirty="0">
                    <a:solidFill>
                      <a:srgbClr val="0033CC"/>
                    </a:solidFill>
                  </a:rPr>
                  <a:t>N</a:t>
                </a:r>
                <a:r>
                  <a:rPr lang="en-US" dirty="0"/>
                  <a:t> is from a simulation that depends on a set of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Let’s sample these parameters from a </a:t>
                </a:r>
                <a:r>
                  <a:rPr lang="en-US" i="1" dirty="0">
                    <a:solidFill>
                      <a:srgbClr val="0033CC"/>
                    </a:solidFill>
                  </a:rPr>
                  <a:t>known</a:t>
                </a:r>
                <a:r>
                  <a:rPr lang="en-US" dirty="0"/>
                  <a:t> prior,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.  For each sampled point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sampled from the </a:t>
                </a:r>
                <a:r>
                  <a:rPr lang="en-US" i="1" dirty="0">
                    <a:solidFill>
                      <a:srgbClr val="0033CC"/>
                    </a:solidFill>
                  </a:rPr>
                  <a:t>unknown</a:t>
                </a:r>
                <a:r>
                  <a:rPr lang="en-US" dirty="0"/>
                  <a:t> density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using the simulator.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dataset, labeled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 comprises </a:t>
                </a:r>
                <a:r>
                  <a:rPr lang="en-US" i="1" dirty="0">
                    <a:solidFill>
                      <a:srgbClr val="0033CC"/>
                    </a:solidFill>
                  </a:rPr>
                  <a:t>N</a:t>
                </a:r>
                <a:r>
                  <a:rPr lang="en-US" dirty="0"/>
                  <a:t> pairs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 that constitute a </a:t>
                </a:r>
                <a:r>
                  <a:rPr lang="en-US" b="1" dirty="0">
                    <a:solidFill>
                      <a:srgbClr val="0033CC"/>
                    </a:solidFill>
                  </a:rPr>
                  <a:t>point cloud </a:t>
                </a:r>
                <a:r>
                  <a:rPr lang="en-US" dirty="0"/>
                  <a:t>representation of the joint density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A5C1975-8E13-2BA1-7AC2-66CBFD887B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1631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000067B-73D2-8C50-C0A1-8A38ED301FC6}"/>
              </a:ext>
            </a:extLst>
          </p:cNvPr>
          <p:cNvSpPr txBox="1"/>
          <p:nvPr/>
        </p:nvSpPr>
        <p:spPr>
          <a:xfrm>
            <a:off x="3352800" y="5831740"/>
            <a:ext cx="48376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* </a:t>
            </a:r>
            <a:r>
              <a:rPr lang="en-US" sz="1600" dirty="0" err="1"/>
              <a:t>Baldi</a:t>
            </a:r>
            <a:r>
              <a:rPr lang="en-US" sz="1600" dirty="0"/>
              <a:t>, P., Cranmer, K., </a:t>
            </a:r>
            <a:r>
              <a:rPr lang="en-US" sz="1600" dirty="0" err="1"/>
              <a:t>Faucett</a:t>
            </a:r>
            <a:r>
              <a:rPr lang="en-US" sz="1600" dirty="0"/>
              <a:t>, T. </a:t>
            </a:r>
            <a:r>
              <a:rPr lang="en-US" sz="1600" i="1" dirty="0"/>
              <a:t>et al.</a:t>
            </a:r>
            <a:r>
              <a:rPr lang="en-US" sz="1600" dirty="0"/>
              <a:t> </a:t>
            </a:r>
          </a:p>
          <a:p>
            <a:r>
              <a:rPr lang="en-US" sz="1600" dirty="0"/>
              <a:t>Parameterized neural networks for high-energy physics. </a:t>
            </a:r>
          </a:p>
          <a:p>
            <a:r>
              <a:rPr lang="en-US" sz="1600" i="1" dirty="0"/>
              <a:t>Eur. Phys. J. C</a:t>
            </a:r>
            <a:r>
              <a:rPr lang="en-US" sz="1600" dirty="0"/>
              <a:t> </a:t>
            </a:r>
            <a:r>
              <a:rPr lang="en-US" sz="1600" b="1" dirty="0"/>
              <a:t>76</a:t>
            </a:r>
            <a:r>
              <a:rPr lang="en-US" sz="1600" dirty="0"/>
              <a:t>, 235 (2016). </a:t>
            </a:r>
          </a:p>
        </p:txBody>
      </p:sp>
    </p:spTree>
    <p:extLst>
      <p:ext uri="{BB962C8B-B14F-4D97-AF65-F5344CB8AC3E}">
        <p14:creationId xmlns:p14="http://schemas.microsoft.com/office/powerpoint/2010/main" val="352900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71CF8-6391-B492-D4D6-F4F481B91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2AFA258-15BA-73B2-A895-6F0D47DD6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Classification (4)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8A0F1CB-A47B-70E4-E81D-4D20BEC82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8994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Algorithm</a:t>
                </a: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Generate a dataset K of size </a:t>
                </a:r>
                <a:r>
                  <a:rPr lang="en-US" i="1" dirty="0">
                    <a:solidFill>
                      <a:srgbClr val="0033CC"/>
                    </a:solidFill>
                  </a:rPr>
                  <a:t>N</a:t>
                </a:r>
                <a:r>
                  <a:rPr lang="en-US" dirty="0"/>
                  <a:t>, labeled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is sampled from the </a:t>
                </a:r>
                <a:r>
                  <a:rPr lang="en-US" i="1" u="sng" dirty="0"/>
                  <a:t>same</a:t>
                </a:r>
                <a:r>
                  <a:rPr lang="en-US" dirty="0"/>
                  <a:t> prior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For each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>
                    <a:solidFill>
                      <a:srgbClr val="0033CC"/>
                    </a:solidFill>
                  </a:rPr>
                  <a:t> sample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, </a:t>
                </a:r>
                <a:r>
                  <a:rPr lang="en-US" dirty="0"/>
                  <a:t>where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is a </a:t>
                </a:r>
                <a:r>
                  <a:rPr lang="en-US" i="1" u="sng" dirty="0"/>
                  <a:t>known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conditional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density</a:t>
                </a:r>
                <a:r>
                  <a:rPr lang="en-US" dirty="0">
                    <a:solidFill>
                      <a:srgbClr val="0033CC"/>
                    </a:solidFill>
                  </a:rPr>
                  <a:t>.</a:t>
                </a:r>
                <a:br>
                  <a:rPr lang="en-US" dirty="0">
                    <a:solidFill>
                      <a:srgbClr val="0033CC"/>
                    </a:solidFill>
                  </a:rPr>
                </a:br>
                <a:endParaRPr lang="en-US" dirty="0">
                  <a:solidFill>
                    <a:srgbClr val="0033CC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Train a classifier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 with an admixture of U and K.</a:t>
                </a:r>
                <a:br>
                  <a:rPr lang="en-US" dirty="0"/>
                </a:b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Divide by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8A0F1CB-A47B-70E4-E81D-4D20BEC82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899400" cy="4819650"/>
              </a:xfrm>
              <a:blipFill>
                <a:blip r:embed="rId2"/>
                <a:stretch>
                  <a:fillRect l="-1284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1439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44B2E-2CA7-ACE0-1259-9EEEF9EAC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C248160-7434-7564-BA6D-B9266946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Classification (5)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7A66908-D4A5-D232-6893-666E46FDB5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8994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ratio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could have a large dynamic range. </a:t>
                </a:r>
              </a:p>
              <a:p>
                <a:pPr marL="0" indent="0">
                  <a:buNone/>
                </a:pPr>
                <a:r>
                  <a:rPr lang="en-US" dirty="0"/>
                  <a:t>If so,  instead of approximating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, it may be better to use the appropriate* loss function to approximate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 then compute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m:rPr>
                              <m:aln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func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33CC"/>
                    </a:solidFill>
                    <a:latin typeface="+mn-lt"/>
                  </a:rPr>
                  <a:t>* Which one?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7A66908-D4A5-D232-6893-666E46FDB5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899400" cy="4819650"/>
              </a:xfrm>
              <a:blipFill>
                <a:blip r:embed="rId2"/>
                <a:stretch>
                  <a:fillRect l="-1284" t="-1316" r="-1766" b="-2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431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0730A-77BF-1B8D-5376-F6DCE604B7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addition to the ROC curve and the AUC, the performance of a classifier can be characterized with several other numbers including:</a:t>
            </a:r>
          </a:p>
          <a:p>
            <a:pPr lvl="1"/>
            <a:r>
              <a:rPr lang="en-US" dirty="0"/>
              <a:t>False Negatives (FN)</a:t>
            </a:r>
          </a:p>
          <a:p>
            <a:pPr lvl="1"/>
            <a:r>
              <a:rPr lang="en-US" dirty="0"/>
              <a:t>True Positives	(TP)</a:t>
            </a:r>
          </a:p>
          <a:p>
            <a:pPr lvl="1"/>
            <a:r>
              <a:rPr lang="en-US" dirty="0"/>
              <a:t>True Negatives 	(TN)</a:t>
            </a:r>
          </a:p>
          <a:p>
            <a:pPr lvl="1"/>
            <a:r>
              <a:rPr lang="en-US" dirty="0"/>
              <a:t>False Positives	(FP)</a:t>
            </a:r>
            <a:br>
              <a:rPr lang="en-US" dirty="0"/>
            </a:br>
            <a:endParaRPr lang="en-US" dirty="0"/>
          </a:p>
          <a:p>
            <a:r>
              <a:rPr lang="en-US" dirty="0"/>
              <a:t>A classifier can be repurposed in many ways, including as a probability density estimator.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31FE53-CCD3-2FB4-0B9D-BDDBD7ADB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19094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1" id="{C3F3F02C-A0EA-B24E-929C-A6C346386062}" vid="{27EB58C2-21AD-A141-B9F0-987C112EF1E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64F51-4645-064B-ACDC-0DE76AF412F6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Default Design</Template>
  <TotalTime>5903</TotalTime>
  <Words>1593</Words>
  <Application>Microsoft Macintosh PowerPoint</Application>
  <PresentationFormat>Letter Paper (8.5x11 in)</PresentationFormat>
  <Paragraphs>179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Cambria Math</vt:lpstr>
      <vt:lpstr>Marlett</vt:lpstr>
      <vt:lpstr>Times New Roman</vt:lpstr>
      <vt:lpstr>Wingdings</vt:lpstr>
      <vt:lpstr>Default Design</vt:lpstr>
      <vt:lpstr>Machine learning in physics Foundations 3</vt:lpstr>
      <vt:lpstr>Recap</vt:lpstr>
      <vt:lpstr>Recap</vt:lpstr>
      <vt:lpstr>Empirical RISK Minimization</vt:lpstr>
      <vt:lpstr>PowerPoint Presentation</vt:lpstr>
      <vt:lpstr>Empirical Risk Minimization (1)</vt:lpstr>
      <vt:lpstr>Empirical Risk Minimization (2)</vt:lpstr>
      <vt:lpstr>BINARY Classifiers</vt:lpstr>
      <vt:lpstr>Binary Classifiers (1)</vt:lpstr>
      <vt:lpstr>Binary Classifiers (2)</vt:lpstr>
      <vt:lpstr>Binary Classifiers (3)</vt:lpstr>
      <vt:lpstr>Binary Classifiers (4)</vt:lpstr>
      <vt:lpstr>Binary Classifiers (4)</vt:lpstr>
      <vt:lpstr>Classifier Performance</vt:lpstr>
      <vt:lpstr>Classifier Performance (1)</vt:lpstr>
      <vt:lpstr>Classifier Performance (2)</vt:lpstr>
      <vt:lpstr>Confusion Matrix</vt:lpstr>
      <vt:lpstr>Confusion Matrix (t=0.9)</vt:lpstr>
      <vt:lpstr>Accuracy, Precision, Recall</vt:lpstr>
      <vt:lpstr>ROC and AUC</vt:lpstr>
      <vt:lpstr>Beyond Classification</vt:lpstr>
      <vt:lpstr>Beyond Classification (1) </vt:lpstr>
      <vt:lpstr>Beyond Classification (2)</vt:lpstr>
      <vt:lpstr>Beyond Classification (3)</vt:lpstr>
      <vt:lpstr>Beyond Classification (4)</vt:lpstr>
      <vt:lpstr>Beyond Classification (5)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36</cp:revision>
  <cp:lastPrinted>2019-01-07T00:35:58Z</cp:lastPrinted>
  <dcterms:created xsi:type="dcterms:W3CDTF">2024-08-29T20:46:20Z</dcterms:created>
  <dcterms:modified xsi:type="dcterms:W3CDTF">2025-09-11T03:02:37Z</dcterms:modified>
</cp:coreProperties>
</file>