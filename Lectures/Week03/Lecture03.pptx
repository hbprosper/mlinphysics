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48" r:id="rId1"/>
  </p:sldMasterIdLst>
  <p:notesMasterIdLst>
    <p:notesMasterId r:id="rId27"/>
  </p:notesMasterIdLst>
  <p:handoutMasterIdLst>
    <p:handoutMasterId r:id="rId28"/>
  </p:handoutMasterIdLst>
  <p:sldIdLst>
    <p:sldId id="256" r:id="rId2"/>
    <p:sldId id="1027" r:id="rId3"/>
    <p:sldId id="1043" r:id="rId4"/>
    <p:sldId id="274" r:id="rId5"/>
    <p:sldId id="276" r:id="rId6"/>
    <p:sldId id="277" r:id="rId7"/>
    <p:sldId id="1022" r:id="rId8"/>
    <p:sldId id="1013" r:id="rId9"/>
    <p:sldId id="1015" r:id="rId10"/>
    <p:sldId id="1017" r:id="rId11"/>
    <p:sldId id="1019" r:id="rId12"/>
    <p:sldId id="1055" r:id="rId13"/>
    <p:sldId id="1054" r:id="rId14"/>
    <p:sldId id="1040" r:id="rId15"/>
    <p:sldId id="1045" r:id="rId16"/>
    <p:sldId id="1046" r:id="rId17"/>
    <p:sldId id="1053" r:id="rId18"/>
    <p:sldId id="1047" r:id="rId19"/>
    <p:sldId id="1033" r:id="rId20"/>
    <p:sldId id="1048" r:id="rId21"/>
    <p:sldId id="1018" r:id="rId22"/>
    <p:sldId id="1050" r:id="rId23"/>
    <p:sldId id="1051" r:id="rId24"/>
    <p:sldId id="1052" r:id="rId25"/>
    <p:sldId id="1042" r:id="rId26"/>
  </p:sldIdLst>
  <p:sldSz cx="9144000" cy="6858000" type="letter"/>
  <p:notesSz cx="9601200" cy="73152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5pPr>
    <a:lvl6pPr marL="2286000" algn="l" defTabSz="457200" rtl="0" eaLnBrk="1" latinLnBrk="0" hangingPunct="1"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6pPr>
    <a:lvl7pPr marL="2743200" algn="l" defTabSz="457200" rtl="0" eaLnBrk="1" latinLnBrk="0" hangingPunct="1"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7pPr>
    <a:lvl8pPr marL="3200400" algn="l" defTabSz="457200" rtl="0" eaLnBrk="1" latinLnBrk="0" hangingPunct="1"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8pPr>
    <a:lvl9pPr marL="3657600" algn="l" defTabSz="457200" rtl="0" eaLnBrk="1" latinLnBrk="0" hangingPunct="1">
      <a:defRPr sz="2400" kern="1200">
        <a:solidFill>
          <a:schemeClr val="tx1"/>
        </a:solidFill>
        <a:latin typeface="Times New Roman" pitchFamily="35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258" userDrawn="1">
          <p15:clr>
            <a:srgbClr val="A4A3A4"/>
          </p15:clr>
        </p15:guide>
        <p15:guide id="2" pos="2958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33CC"/>
    <a:srgbClr val="FFFC8F"/>
    <a:srgbClr val="FF0000"/>
    <a:srgbClr val="98CA00"/>
    <a:srgbClr val="4032A1"/>
    <a:srgbClr val="6BEEE1"/>
    <a:srgbClr val="99CA00"/>
    <a:srgbClr val="A0CA5B"/>
    <a:srgbClr val="4734A0"/>
    <a:srgbClr val="4B36A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806"/>
    <p:restoredTop sz="86581"/>
  </p:normalViewPr>
  <p:slideViewPr>
    <p:cSldViewPr>
      <p:cViewPr varScale="1">
        <p:scale>
          <a:sx n="88" d="100"/>
          <a:sy n="88" d="100"/>
        </p:scale>
        <p:origin x="2624" y="18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" d="1"/>
        <a:sy n="1" d="1"/>
      </p:scale>
      <p:origin x="0" y="4536"/>
    </p:cViewPr>
  </p:sorterViewPr>
  <p:notesViewPr>
    <p:cSldViewPr>
      <p:cViewPr varScale="1">
        <p:scale>
          <a:sx n="44" d="100"/>
          <a:sy n="44" d="100"/>
        </p:scale>
        <p:origin x="-1392" y="-72"/>
      </p:cViewPr>
      <p:guideLst>
        <p:guide orient="horz" pos="2258"/>
        <p:guide pos="2958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-1210"/>
            <a:ext cx="4160937" cy="37011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551" tIns="0" rIns="20551" bIns="0" numCol="1" anchor="t" anchorCtr="0" compatLnSpc="1">
            <a:prstTxWarp prst="textNoShape">
              <a:avLst/>
            </a:prstTxWarp>
          </a:bodyPr>
          <a:lstStyle>
            <a:lvl1pPr defTabSz="1020763">
              <a:defRPr sz="1100" i="1">
                <a:latin typeface="Times New Roman" pitchFamily="-109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051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5440265" y="-1210"/>
            <a:ext cx="4160936" cy="37011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551" tIns="0" rIns="20551" bIns="0" numCol="1" anchor="t" anchorCtr="0" compatLnSpc="1">
            <a:prstTxWarp prst="textNoShape">
              <a:avLst/>
            </a:prstTxWarp>
          </a:bodyPr>
          <a:lstStyle>
            <a:lvl1pPr algn="r" defTabSz="1020763">
              <a:defRPr sz="1100" i="1">
                <a:latin typeface="Times New Roman" pitchFamily="-109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198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2981325" y="560388"/>
            <a:ext cx="3635375" cy="2725737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</p:spPr>
      </p:sp>
      <p:sp>
        <p:nvSpPr>
          <p:cNvPr id="2053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1283494" y="3473753"/>
            <a:ext cx="7034213" cy="32923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101042" tIns="51377" rIns="101042" bIns="51377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2054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6945086"/>
            <a:ext cx="4160937" cy="3701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551" tIns="0" rIns="20551" bIns="0" numCol="1" anchor="b" anchorCtr="0" compatLnSpc="1">
            <a:prstTxWarp prst="textNoShape">
              <a:avLst/>
            </a:prstTxWarp>
          </a:bodyPr>
          <a:lstStyle>
            <a:lvl1pPr defTabSz="1020763">
              <a:defRPr sz="1100" i="1">
                <a:latin typeface="Times New Roman" pitchFamily="-109" charset="0"/>
              </a:defRPr>
            </a:lvl1pPr>
          </a:lstStyle>
          <a:p>
            <a:pPr>
              <a:defRPr/>
            </a:pPr>
            <a:r>
              <a:rPr lang="en-US"/>
              <a:t>Multivariate Analysis        Harrison B. Prosper       Durham, UK 2002</a:t>
            </a:r>
          </a:p>
        </p:txBody>
      </p:sp>
      <p:sp>
        <p:nvSpPr>
          <p:cNvPr id="2055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5440265" y="6945086"/>
            <a:ext cx="4160936" cy="3701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20551" tIns="0" rIns="20551" bIns="0" numCol="1" anchor="b" anchorCtr="0" compatLnSpc="1">
            <a:prstTxWarp prst="textNoShape">
              <a:avLst/>
            </a:prstTxWarp>
          </a:bodyPr>
          <a:lstStyle>
            <a:lvl1pPr algn="r" defTabSz="1020763">
              <a:defRPr sz="1100" i="1">
                <a:latin typeface="Times New Roman" pitchFamily="-109" charset="0"/>
              </a:defRPr>
            </a:lvl1pPr>
          </a:lstStyle>
          <a:p>
            <a:pPr>
              <a:defRPr/>
            </a:pPr>
            <a:fld id="{887413D6-4D90-094B-878C-C9B479C8F2AA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dt="0"/>
  <p:notesStyle>
    <a:lvl1pPr algn="l" defTabSz="94615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65" charset="0"/>
        <a:ea typeface="ＭＳ Ｐゴシック" pitchFamily="-109" charset="-128"/>
        <a:cs typeface="ＭＳ Ｐゴシック" pitchFamily="-109" charset="-128"/>
      </a:defRPr>
    </a:lvl1pPr>
    <a:lvl2pPr marL="468313" algn="l" defTabSz="94615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65" charset="0"/>
        <a:ea typeface="ＭＳ Ｐゴシック" pitchFamily="-65" charset="-128"/>
        <a:cs typeface="+mn-cs"/>
      </a:defRPr>
    </a:lvl2pPr>
    <a:lvl3pPr marL="935038" algn="l" defTabSz="94615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65" charset="0"/>
        <a:ea typeface="ＭＳ Ｐゴシック" pitchFamily="-65" charset="-128"/>
        <a:cs typeface="+mn-cs"/>
      </a:defRPr>
    </a:lvl3pPr>
    <a:lvl4pPr marL="1401763" algn="l" defTabSz="94615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65" charset="0"/>
        <a:ea typeface="ＭＳ Ｐゴシック" pitchFamily="-65" charset="-128"/>
        <a:cs typeface="+mn-cs"/>
      </a:defRPr>
    </a:lvl4pPr>
    <a:lvl5pPr marL="1870075" algn="l" defTabSz="94615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-65" charset="0"/>
        <a:ea typeface="ＭＳ Ｐゴシック" pitchFamily="-65" charset="-128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11200" y="1295400"/>
            <a:ext cx="7747000" cy="4819650"/>
          </a:xfrm>
        </p:spPr>
        <p:txBody>
          <a:bodyPr/>
          <a:lstStyle>
            <a:lvl1pPr>
              <a:defRPr sz="24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F4C301C-9EF7-E355-B6C7-8432896307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684F67-D0EA-C8DB-1288-825F84C1E4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5325684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11200" y="1295400"/>
            <a:ext cx="3810000" cy="4819650"/>
          </a:xfrm>
        </p:spPr>
        <p:txBody>
          <a:bodyPr/>
          <a:lstStyle>
            <a:lvl1pPr>
              <a:defRPr sz="24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73600" y="1295400"/>
            <a:ext cx="3810000" cy="4819650"/>
          </a:xfrm>
        </p:spPr>
        <p:txBody>
          <a:bodyPr/>
          <a:lstStyle>
            <a:lvl1pPr>
              <a:defRPr sz="24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274808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11200" y="1295400"/>
            <a:ext cx="4699000" cy="4819650"/>
          </a:xfrm>
        </p:spPr>
        <p:txBody>
          <a:bodyPr/>
          <a:lstStyle>
            <a:lvl1pPr>
              <a:defRPr sz="24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90692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11200" y="1295400"/>
            <a:ext cx="4699000" cy="4819650"/>
          </a:xfrm>
        </p:spPr>
        <p:txBody>
          <a:bodyPr/>
          <a:lstStyle>
            <a:lvl1pPr>
              <a:defRPr sz="24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150413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Slide"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914400" y="2825496"/>
            <a:ext cx="7772400" cy="1975104"/>
          </a:xfrm>
        </p:spPr>
        <p:txBody>
          <a:bodyPr/>
          <a:lstStyle>
            <a:lvl1pPr marR="9144" algn="l">
              <a:defRPr sz="3600" b="1" cap="all" spc="0" baseline="0">
                <a:effectLst>
                  <a:reflection blurRad="12700" stA="34000" endA="740" endPos="53000" dir="5400000" sy="-100000" algn="bl" rotWithShape="0"/>
                </a:effectLst>
                <a:latin typeface="Arial"/>
                <a:cs typeface="Arial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58CF78B-6BF1-F401-D2E4-0AA44F61548A}"/>
              </a:ext>
            </a:extLst>
          </p:cNvPr>
          <p:cNvSpPr/>
          <p:nvPr userDrawn="1"/>
        </p:nvSpPr>
        <p:spPr bwMode="auto">
          <a:xfrm>
            <a:off x="6705600" y="5867400"/>
            <a:ext cx="914400" cy="914400"/>
          </a:xfrm>
          <a:prstGeom prst="rect">
            <a:avLst/>
          </a:prstGeom>
          <a:noFill/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-65" charset="0"/>
            </a:endParaRPr>
          </a:p>
        </p:txBody>
      </p:sp>
      <p:sp useBgFill="1">
        <p:nvSpPr>
          <p:cNvPr id="4" name="Rectangle 3">
            <a:extLst>
              <a:ext uri="{FF2B5EF4-FFF2-40B4-BE49-F238E27FC236}">
                <a16:creationId xmlns:a16="http://schemas.microsoft.com/office/drawing/2014/main" id="{E472BB36-DE68-CDFF-8FB2-4944562CAFD5}"/>
              </a:ext>
            </a:extLst>
          </p:cNvPr>
          <p:cNvSpPr/>
          <p:nvPr userDrawn="1"/>
        </p:nvSpPr>
        <p:spPr bwMode="auto">
          <a:xfrm>
            <a:off x="8449294" y="6458197"/>
            <a:ext cx="685800" cy="381000"/>
          </a:xfrm>
          <a:prstGeom prst="rect">
            <a:avLst/>
          </a:prstGeom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-65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84224090"/>
      </p:ext>
    </p:extLst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le Slide"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ctrTitle" hasCustomPrompt="1"/>
          </p:nvPr>
        </p:nvSpPr>
        <p:spPr>
          <a:xfrm>
            <a:off x="914400" y="1377696"/>
            <a:ext cx="7772400" cy="1975104"/>
          </a:xfrm>
        </p:spPr>
        <p:txBody>
          <a:bodyPr/>
          <a:lstStyle>
            <a:lvl1pPr marR="9144" algn="l">
              <a:defRPr sz="3600" b="1" cap="all" spc="0" baseline="0">
                <a:effectLst>
                  <a:reflection blurRad="12700" stA="34000" endA="740" endPos="53000" dir="5400000" sy="-100000" algn="bl" rotWithShape="0"/>
                </a:effectLst>
                <a:latin typeface="Arial"/>
                <a:cs typeface="Arial"/>
              </a:defRPr>
            </a:lvl1pPr>
          </a:lstStyle>
          <a:p>
            <a:r>
              <a:rPr lang="en-US" dirty="0"/>
              <a:t>Machine Learning in physics</a:t>
            </a: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sp>
        <p:nvSpPr>
          <p:cNvPr id="2" name="Title 7">
            <a:extLst>
              <a:ext uri="{FF2B5EF4-FFF2-40B4-BE49-F238E27FC236}">
                <a16:creationId xmlns:a16="http://schemas.microsoft.com/office/drawing/2014/main" id="{D9514EB4-1C3F-7203-17FC-7424F799880C}"/>
              </a:ext>
            </a:extLst>
          </p:cNvPr>
          <p:cNvSpPr txBox="1">
            <a:spLocks/>
          </p:cNvSpPr>
          <p:nvPr userDrawn="1"/>
        </p:nvSpPr>
        <p:spPr bwMode="auto">
          <a:xfrm>
            <a:off x="914400" y="3511296"/>
            <a:ext cx="7772400" cy="197510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075" tIns="46038" rIns="92075" bIns="46038" numCol="1" anchor="ctr" anchorCtr="0" compatLnSpc="1">
            <a:prstTxWarp prst="textNoShape">
              <a:avLst/>
            </a:prstTxWarp>
          </a:bodyPr>
          <a:lstStyle>
            <a:lvl1pPr marR="9144" algn="l" rtl="0" eaLnBrk="0" fontAlgn="base" hangingPunct="0">
              <a:spcBef>
                <a:spcPct val="0"/>
              </a:spcBef>
              <a:spcAft>
                <a:spcPct val="0"/>
              </a:spcAft>
              <a:defRPr sz="3600" b="1" cap="all" spc="0" baseline="0">
                <a:solidFill>
                  <a:srgbClr val="0000CC"/>
                </a:solidFill>
                <a:effectLst>
                  <a:reflection blurRad="12700" stA="34000" endA="740" endPos="53000" dir="5400000" sy="-100000" algn="bl" rotWithShape="0"/>
                </a:effectLst>
                <a:latin typeface="Arial"/>
                <a:ea typeface="ＭＳ Ｐゴシック" pitchFamily="-109" charset="-128"/>
                <a:cs typeface="Arial"/>
              </a:defRPr>
            </a:lvl1pPr>
            <a:lvl2pPr algn="ctr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CC"/>
                </a:solidFill>
                <a:effectLst>
                  <a:outerShdw blurRad="38100" dist="38100" dir="2700000" algn="tl">
                    <a:srgbClr val="DDDDDD"/>
                  </a:outerShdw>
                </a:effectLst>
                <a:latin typeface="Times New Roman" pitchFamily="-65" charset="0"/>
                <a:ea typeface="ＭＳ Ｐゴシック" pitchFamily="-109" charset="-128"/>
                <a:cs typeface="ＭＳ Ｐゴシック" pitchFamily="-109" charset="-128"/>
              </a:defRPr>
            </a:lvl2pPr>
            <a:lvl3pPr algn="ctr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CC"/>
                </a:solidFill>
                <a:effectLst>
                  <a:outerShdw blurRad="38100" dist="38100" dir="2700000" algn="tl">
                    <a:srgbClr val="DDDDDD"/>
                  </a:outerShdw>
                </a:effectLst>
                <a:latin typeface="Times New Roman" pitchFamily="-65" charset="0"/>
                <a:ea typeface="ＭＳ Ｐゴシック" pitchFamily="-109" charset="-128"/>
                <a:cs typeface="ＭＳ Ｐゴシック" pitchFamily="-109" charset="-128"/>
              </a:defRPr>
            </a:lvl3pPr>
            <a:lvl4pPr algn="ctr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CC"/>
                </a:solidFill>
                <a:effectLst>
                  <a:outerShdw blurRad="38100" dist="38100" dir="2700000" algn="tl">
                    <a:srgbClr val="DDDDDD"/>
                  </a:outerShdw>
                </a:effectLst>
                <a:latin typeface="Times New Roman" pitchFamily="-65" charset="0"/>
                <a:ea typeface="ＭＳ Ｐゴシック" pitchFamily="-109" charset="-128"/>
                <a:cs typeface="ＭＳ Ｐゴシック" pitchFamily="-109" charset="-128"/>
              </a:defRPr>
            </a:lvl4pPr>
            <a:lvl5pPr algn="ctr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CC"/>
                </a:solidFill>
                <a:effectLst>
                  <a:outerShdw blurRad="38100" dist="38100" dir="2700000" algn="tl">
                    <a:srgbClr val="DDDDDD"/>
                  </a:outerShdw>
                </a:effectLst>
                <a:latin typeface="Times New Roman" pitchFamily="-65" charset="0"/>
                <a:ea typeface="ＭＳ Ｐゴシック" pitchFamily="-109" charset="-128"/>
                <a:cs typeface="ＭＳ Ｐゴシック" pitchFamily="-109" charset="-128"/>
              </a:defRPr>
            </a:lvl5pPr>
            <a:lvl6pPr marL="457200" algn="ctr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CC"/>
                </a:solidFill>
                <a:effectLst>
                  <a:outerShdw blurRad="38100" dist="38100" dir="2700000" algn="tl">
                    <a:srgbClr val="DDDDDD"/>
                  </a:outerShdw>
                </a:effectLst>
                <a:latin typeface="Times New Roman" pitchFamily="-65" charset="0"/>
              </a:defRPr>
            </a:lvl6pPr>
            <a:lvl7pPr marL="914400" algn="ctr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CC"/>
                </a:solidFill>
                <a:effectLst>
                  <a:outerShdw blurRad="38100" dist="38100" dir="2700000" algn="tl">
                    <a:srgbClr val="DDDDDD"/>
                  </a:outerShdw>
                </a:effectLst>
                <a:latin typeface="Times New Roman" pitchFamily="-65" charset="0"/>
              </a:defRPr>
            </a:lvl7pPr>
            <a:lvl8pPr marL="1371600" algn="ctr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CC"/>
                </a:solidFill>
                <a:effectLst>
                  <a:outerShdw blurRad="38100" dist="38100" dir="2700000" algn="tl">
                    <a:srgbClr val="DDDDDD"/>
                  </a:outerShdw>
                </a:effectLst>
                <a:latin typeface="Times New Roman" pitchFamily="-65" charset="0"/>
              </a:defRPr>
            </a:lvl8pPr>
            <a:lvl9pPr marL="1828800" algn="ctr" rtl="0" eaLnBrk="0" fontAlgn="base" hangingPunct="0">
              <a:spcBef>
                <a:spcPct val="0"/>
              </a:spcBef>
              <a:spcAft>
                <a:spcPct val="0"/>
              </a:spcAft>
              <a:defRPr sz="3600" b="1">
                <a:solidFill>
                  <a:srgbClr val="0000CC"/>
                </a:solidFill>
                <a:effectLst>
                  <a:outerShdw blurRad="38100" dist="38100" dir="2700000" algn="tl">
                    <a:srgbClr val="DDDDDD"/>
                  </a:outerShdw>
                </a:effectLst>
                <a:latin typeface="Times New Roman" pitchFamily="-65" charset="0"/>
              </a:defRPr>
            </a:lvl9pPr>
          </a:lstStyle>
          <a:p>
            <a:r>
              <a:rPr lang="en-US" sz="2400" b="0" i="0" kern="0" cap="small" baseline="0" dirty="0">
                <a:solidFill>
                  <a:schemeClr val="tx1"/>
                </a:solidFill>
                <a:latin typeface="+mn-lt"/>
              </a:rPr>
              <a:t>Harrison B. prosper</a:t>
            </a:r>
          </a:p>
          <a:p>
            <a:endParaRPr lang="en-US" sz="2400" b="0" i="0" kern="0" cap="small" baseline="0" dirty="0">
              <a:solidFill>
                <a:schemeClr val="tx1"/>
              </a:solidFill>
              <a:latin typeface="+mn-lt"/>
            </a:endParaRPr>
          </a:p>
          <a:p>
            <a:r>
              <a:rPr lang="en-US" sz="2400" b="0" i="0" kern="0" cap="small" baseline="0" dirty="0">
                <a:solidFill>
                  <a:schemeClr val="tx1"/>
                </a:solidFill>
                <a:latin typeface="+mn-lt"/>
              </a:rPr>
              <a:t>PHY6937 / PHY4936</a:t>
            </a:r>
            <a:endParaRPr lang="en-US" sz="2800" b="0" i="0" kern="0" cap="small" baseline="0" dirty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5EC9E5B-8A28-1B6B-D3E7-3E9521354FBE}"/>
              </a:ext>
            </a:extLst>
          </p:cNvPr>
          <p:cNvSpPr/>
          <p:nvPr userDrawn="1"/>
        </p:nvSpPr>
        <p:spPr bwMode="auto">
          <a:xfrm>
            <a:off x="762000" y="3511296"/>
            <a:ext cx="914400" cy="914400"/>
          </a:xfrm>
          <a:prstGeom prst="rect">
            <a:avLst/>
          </a:prstGeom>
          <a:noFill/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-65" charset="0"/>
            </a:endParaRPr>
          </a:p>
        </p:txBody>
      </p:sp>
      <p:sp useBgFill="1">
        <p:nvSpPr>
          <p:cNvPr id="4" name="Rectangle 3">
            <a:extLst>
              <a:ext uri="{FF2B5EF4-FFF2-40B4-BE49-F238E27FC236}">
                <a16:creationId xmlns:a16="http://schemas.microsoft.com/office/drawing/2014/main" id="{DF16E033-80B5-2ADB-62C6-C637CCE38381}"/>
              </a:ext>
            </a:extLst>
          </p:cNvPr>
          <p:cNvSpPr/>
          <p:nvPr userDrawn="1"/>
        </p:nvSpPr>
        <p:spPr bwMode="auto">
          <a:xfrm>
            <a:off x="8449294" y="6458197"/>
            <a:ext cx="685800" cy="381000"/>
          </a:xfrm>
          <a:prstGeom prst="rect">
            <a:avLst/>
          </a:prstGeom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-65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01069620"/>
      </p:ext>
    </p:extLst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400"/>
            </a:lvl1pPr>
            <a:lvl2pPr>
              <a:defRPr sz="2400"/>
            </a:lvl2pPr>
            <a:lvl3pPr>
              <a:defRPr sz="2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Rectangle 8"/>
          <p:cNvSpPr>
            <a:spLocks noGrp="1" noChangeArrowheads="1"/>
          </p:cNvSpPr>
          <p:nvPr>
            <p:ph type="ftr" sz="quarter" idx="10"/>
          </p:nvPr>
        </p:nvSpPr>
        <p:spPr/>
        <p:txBody>
          <a:bodyPr/>
          <a:lstStyle>
            <a:lvl1pPr algn="l">
              <a:defRPr/>
            </a:lvl1pPr>
          </a:lstStyle>
          <a:p>
            <a:pPr>
              <a:defRPr/>
            </a:pPr>
            <a:r>
              <a:rPr lang="en-US"/>
              <a:t>FSU: Machine Learning in Physics</a:t>
            </a:r>
            <a:endParaRPr lang="en-US" dirty="0"/>
          </a:p>
        </p:txBody>
      </p:sp>
      <p:sp>
        <p:nvSpPr>
          <p:cNvPr id="5" name="Rectangle 9"/>
          <p:cNvSpPr>
            <a:spLocks noGrp="1" noChangeArrowheads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46487E0-6C48-9842-89A3-09BD27C7057F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09550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85800" y="228600"/>
            <a:ext cx="7772400" cy="838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075" tIns="46038" rIns="92075" bIns="46038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711200" y="1295400"/>
            <a:ext cx="7772400" cy="48196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2075" tIns="46038" rIns="92075" bIns="46038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DC0F15DE-6B04-7264-D863-843F42C0E0E9}"/>
              </a:ext>
            </a:extLst>
          </p:cNvPr>
          <p:cNvCxnSpPr/>
          <p:nvPr userDrawn="1"/>
        </p:nvCxnSpPr>
        <p:spPr bwMode="auto">
          <a:xfrm>
            <a:off x="0" y="6400800"/>
            <a:ext cx="9144000" cy="0"/>
          </a:xfrm>
          <a:prstGeom prst="line">
            <a:avLst/>
          </a:prstGeom>
          <a:noFill/>
          <a:ln w="12700" cap="flat" cmpd="sng" algn="ctr">
            <a:solidFill>
              <a:srgbClr val="0033CC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82220806-BEE9-EFFE-0921-DFEF6BB8FA1D}"/>
              </a:ext>
            </a:extLst>
          </p:cNvPr>
          <p:cNvSpPr txBox="1"/>
          <p:nvPr userDrawn="1"/>
        </p:nvSpPr>
        <p:spPr>
          <a:xfrm>
            <a:off x="11474" y="6474023"/>
            <a:ext cx="27093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FSU: Machine Learning in Physics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4B4AF15-DD31-995A-6565-3F133A45E1D8}"/>
              </a:ext>
            </a:extLst>
          </p:cNvPr>
          <p:cNvSpPr txBox="1"/>
          <p:nvPr userDrawn="1"/>
        </p:nvSpPr>
        <p:spPr>
          <a:xfrm>
            <a:off x="8642684" y="6443246"/>
            <a:ext cx="42511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79503ECA-0FA0-C844-BE1C-9E0ADD6C9254}" type="slidenum">
              <a:rPr lang="en-US" sz="1600" smtClean="0"/>
              <a:t>‹#›</a:t>
            </a:fld>
            <a:endParaRPr lang="en-US" sz="160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82" r:id="rId1"/>
    <p:sldLayoutId id="2147483890" r:id="rId2"/>
    <p:sldLayoutId id="2147483889" r:id="rId3"/>
    <p:sldLayoutId id="2147483888" r:id="rId4"/>
    <p:sldLayoutId id="2147483891" r:id="rId5"/>
    <p:sldLayoutId id="2147483884" r:id="rId6"/>
    <p:sldLayoutId id="2147483885" r:id="rId7"/>
    <p:sldLayoutId id="2147483886" r:id="rId8"/>
    <p:sldLayoutId id="2147483892" r:id="rId9"/>
    <p:sldLayoutId id="2147483893" r:id="rId10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/>
          <a:ea typeface="ＭＳ Ｐゴシック" pitchFamily="-109" charset="-128"/>
          <a:cs typeface="Times New Roman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  <a:ea typeface="ＭＳ Ｐゴシック" pitchFamily="-109" charset="-128"/>
          <a:cs typeface="ＭＳ Ｐゴシック" pitchFamily="-109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  <a:ea typeface="ＭＳ Ｐゴシック" pitchFamily="-109" charset="-128"/>
          <a:cs typeface="ＭＳ Ｐゴシック" pitchFamily="-109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  <a:ea typeface="ＭＳ Ｐゴシック" pitchFamily="-109" charset="-128"/>
          <a:cs typeface="ＭＳ Ｐゴシック" pitchFamily="-109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  <a:ea typeface="ＭＳ Ｐゴシック" pitchFamily="-109" charset="-128"/>
          <a:cs typeface="ＭＳ Ｐゴシック" pitchFamily="-109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sz="3600" b="1">
          <a:solidFill>
            <a:srgbClr val="0000CC"/>
          </a:solidFill>
          <a:effectLst>
            <a:outerShdw blurRad="38100" dist="38100" dir="2700000" algn="tl">
              <a:srgbClr val="DDDDDD"/>
            </a:outerShdw>
          </a:effectLst>
          <a:latin typeface="Times New Roman" pitchFamily="-65" charset="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lr>
          <a:srgbClr val="CC0000"/>
        </a:buClr>
        <a:buFont typeface="Wingdings" pitchFamily="2" charset="2"/>
        <a:buChar char="Ø"/>
        <a:defRPr sz="2400">
          <a:solidFill>
            <a:schemeClr val="tx1"/>
          </a:solidFill>
          <a:latin typeface="Times New Roman"/>
          <a:ea typeface="ＭＳ Ｐゴシック" pitchFamily="-109" charset="-128"/>
          <a:cs typeface="Times New Roman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lr>
          <a:srgbClr val="009900"/>
        </a:buClr>
        <a:buFont typeface="Wingdings" pitchFamily="2" charset="2"/>
        <a:buChar char="Ø"/>
        <a:defRPr sz="2400">
          <a:solidFill>
            <a:schemeClr val="tx1"/>
          </a:solidFill>
          <a:latin typeface="Times New Roman"/>
          <a:ea typeface="ＭＳ Ｐゴシック" pitchFamily="-65" charset="-128"/>
          <a:cs typeface="Times New Roman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Font typeface="Wingdings" pitchFamily="2" charset="2"/>
        <a:buChar char="Ø"/>
        <a:defRPr sz="2400">
          <a:solidFill>
            <a:schemeClr val="tx1"/>
          </a:solidFill>
          <a:latin typeface="Times New Roman"/>
          <a:ea typeface="ＭＳ Ｐゴシック" pitchFamily="-65" charset="-128"/>
          <a:cs typeface="Times New Roman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Wingdings" pitchFamily="2" charset="2"/>
        <a:buChar char="Ø"/>
        <a:defRPr sz="2000">
          <a:solidFill>
            <a:schemeClr val="tx1"/>
          </a:solidFill>
          <a:latin typeface="Times New Roman"/>
          <a:ea typeface="ＭＳ Ｐゴシック" pitchFamily="-65" charset="-128"/>
          <a:cs typeface="Times New Roman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Wingdings" pitchFamily="2" charset="2"/>
        <a:buChar char="Ø"/>
        <a:defRPr sz="2000">
          <a:solidFill>
            <a:schemeClr val="tx1"/>
          </a:solidFill>
          <a:latin typeface="Times New Roman"/>
          <a:ea typeface="ＭＳ Ｐゴシック" pitchFamily="-65" charset="-128"/>
          <a:cs typeface="Times New Roman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  <a:ea typeface="ＭＳ Ｐゴシック" pitchFamily="-65" charset="-128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  <a:ea typeface="ＭＳ Ｐゴシック" pitchFamily="-65" charset="-128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  <a:ea typeface="ＭＳ Ｐゴシック" pitchFamily="-65" charset="-128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  <a:ea typeface="ＭＳ Ｐゴシック" pitchFamily="-65" charset="-128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0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0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10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1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10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10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16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0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0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0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0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4E000CB-EC61-7DFA-0258-19D3DFAC497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Machine learning in physics</a:t>
            </a:r>
            <a:br>
              <a:rPr lang="en-US" dirty="0"/>
            </a:br>
            <a:r>
              <a:rPr lang="en-US" dirty="0">
                <a:solidFill>
                  <a:schemeClr val="accent1"/>
                </a:solidFill>
              </a:rPr>
              <a:t>Foundations 3</a:t>
            </a:r>
            <a:endParaRPr lang="en-US" sz="2400" dirty="0">
              <a:solidFill>
                <a:srgbClr val="0033CC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91334222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47B72B-CBF3-BA89-4F7A-266EE54F99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8C422737-B0BC-5667-4514-0BB233340A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Recap</a:t>
            </a:r>
            <a:endParaRPr lang="en-US" dirty="0">
              <a:solidFill>
                <a:schemeClr val="accent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EE042F69-AFDA-1FBB-692F-5D0D0BD7175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What have we learned so far?</a:t>
                </a:r>
                <a:br>
                  <a:rPr lang="en-US" dirty="0"/>
                </a:br>
                <a:endParaRPr lang="en-US" dirty="0"/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dirty="0"/>
                  <a:t>Machine learning models are trained by minimizing the empirical risk (aka average loss):</a:t>
                </a:r>
                <a:endParaRPr lang="en-US" dirty="0">
                  <a:solidFill>
                    <a:srgbClr val="0033CC"/>
                  </a:solidFill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𝑅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=1 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r>
                            <a:rPr lang="en-US" b="0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rgbClr val="0033CC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rgbClr val="0033CC"/>
                                      </a:solidFill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rgbClr val="0033CC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solidFill>
                                        <a:srgbClr val="0033CC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solidFill>
                                        <a:srgbClr val="0033CC"/>
                                      </a:solidFill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solidFill>
                                        <a:srgbClr val="0033CC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      </a:t>
                </a:r>
              </a:p>
              <a:p>
                <a:pPr marL="457200" indent="-457200">
                  <a:buFont typeface="+mj-lt"/>
                  <a:buAutoNum type="arabicPeriod" startAt="2"/>
                </a:pPr>
                <a:r>
                  <a:rPr lang="en-US" dirty="0"/>
                  <a:t>The loss function,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𝐿</m:t>
                    </m:r>
                    <m:d>
                      <m:dPr>
                        <m:ctrlP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</m:d>
                  </m:oMath>
                </a14:m>
                <a:r>
                  <a:rPr lang="en-US" dirty="0"/>
                  <a:t>, is chosen according to the task at hand.</a:t>
                </a:r>
                <a:br>
                  <a:rPr lang="en-US" dirty="0"/>
                </a:b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  </a:t>
                </a:r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EE042F69-AFDA-1FBB-692F-5D0D0BD7175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05" t="-1316" r="-8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283824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DEB631-CC40-84E0-9D60-34127FF22E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CDBFC140-278B-664E-6BCF-9B66463A74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Recap</a:t>
            </a:r>
            <a:endParaRPr lang="en-US" dirty="0">
              <a:solidFill>
                <a:schemeClr val="accent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3A1A1B08-1158-8B28-BD0C-D1A7508A798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457200" indent="-457200">
                  <a:buFont typeface="+mj-lt"/>
                  <a:buAutoNum type="arabicPeriod" startAt="3"/>
                </a:pPr>
                <a:r>
                  <a:rPr lang="en-US" dirty="0"/>
                  <a:t>The empirical risk (which is typically referred to as the “loss” in ML circles) is an </a:t>
                </a:r>
                <a:r>
                  <a:rPr lang="en-US" i="1" dirty="0"/>
                  <a:t>unbiased</a:t>
                </a:r>
                <a:r>
                  <a:rPr lang="en-US" dirty="0"/>
                  <a:t> Monte Carlo estimate of the risk functional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𝑅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𝑑𝑦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𝐿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d>
                        </m:e>
                      </m:nary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      where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</m:oMath>
                </a14:m>
                <a:r>
                  <a:rPr lang="en-US" dirty="0"/>
                  <a:t> is the probability density of the data.</a:t>
                </a:r>
                <a:br>
                  <a:rPr lang="en-US" dirty="0"/>
                </a:br>
                <a:endParaRPr lang="en-US" dirty="0"/>
              </a:p>
              <a:p>
                <a:pPr marL="457200" indent="-457200">
                  <a:buFont typeface="+mj-lt"/>
                  <a:buAutoNum type="arabicPeriod" startAt="4"/>
                </a:pPr>
                <a:r>
                  <a:rPr lang="en-US" dirty="0"/>
                  <a:t>Minimizing the risk functional with respect to the ML model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shows that the optimal model satisfies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𝑑𝑦</m:t>
                          </m:r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den>
                          </m:f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|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=0</m:t>
                          </m:r>
                        </m:e>
                      </m:nary>
                    </m:oMath>
                  </m:oMathPara>
                </a14:m>
                <a:br>
                  <a:rPr lang="en-US" dirty="0"/>
                </a:b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  </a:t>
                </a:r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3A1A1B08-1158-8B28-BD0C-D1A7508A798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42" t="-8421" r="-1631" b="-410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621342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160679-D6B1-610A-B664-7236129E7F9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Empirical RISK Minimization</a:t>
            </a:r>
          </a:p>
        </p:txBody>
      </p:sp>
    </p:spTree>
    <p:extLst>
      <p:ext uri="{BB962C8B-B14F-4D97-AF65-F5344CB8AC3E}">
        <p14:creationId xmlns:p14="http://schemas.microsoft.com/office/powerpoint/2010/main" val="3793860274"/>
      </p:ext>
    </p:extLst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map of a mountain&#10;&#10;Description automatically generated">
            <a:extLst>
              <a:ext uri="{FF2B5EF4-FFF2-40B4-BE49-F238E27FC236}">
                <a16:creationId xmlns:a16="http://schemas.microsoft.com/office/drawing/2014/main" id="{FC20D917-2813-56A2-BE44-B1E435474A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7518" y="2514600"/>
            <a:ext cx="3846482" cy="39222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6907674D-04C0-896E-ECB0-08F4A9BA3844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pPr>
                  <a:lnSpc>
                    <a:spcPct val="90000"/>
                  </a:lnSpc>
                  <a:buFont typeface="Marlett" pitchFamily="26" charset="0"/>
                  <a:buNone/>
                </a:pPr>
                <a:r>
                  <a:rPr lang="en-US" dirty="0"/>
                  <a:t>The minimization of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𝑅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</m:d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is typically done by moving in the direction of </a:t>
                </a:r>
                <a:r>
                  <a:rPr lang="en-US" i="1" dirty="0">
                    <a:solidFill>
                      <a:srgbClr val="0033CC"/>
                    </a:solidFill>
                  </a:rPr>
                  <a:t>steepest descent</a:t>
                </a:r>
                <a:r>
                  <a:rPr lang="en-US" dirty="0"/>
                  <a:t>. Most optimization algorithms in ML are variations of</a:t>
                </a:r>
                <a:r>
                  <a:rPr lang="en-US" dirty="0">
                    <a:solidFill>
                      <a:srgbClr val="000000"/>
                    </a:solidFill>
                  </a:rPr>
                  <a:t> </a:t>
                </a:r>
                <a:r>
                  <a:rPr lang="en-US" b="1" dirty="0">
                    <a:solidFill>
                      <a:srgbClr val="0033CC"/>
                    </a:solidFill>
                  </a:rPr>
                  <a:t>S</a:t>
                </a:r>
                <a:r>
                  <a:rPr lang="en-US" dirty="0">
                    <a:solidFill>
                      <a:srgbClr val="0033CC"/>
                    </a:solidFill>
                  </a:rPr>
                  <a:t>tochastic </a:t>
                </a:r>
                <a:r>
                  <a:rPr lang="en-US" b="1" dirty="0">
                    <a:solidFill>
                      <a:srgbClr val="0033CC"/>
                    </a:solidFill>
                  </a:rPr>
                  <a:t>G</a:t>
                </a:r>
                <a:r>
                  <a:rPr lang="en-US" dirty="0">
                    <a:solidFill>
                      <a:srgbClr val="0033CC"/>
                    </a:solidFill>
                  </a:rPr>
                  <a:t>radient </a:t>
                </a:r>
                <a:r>
                  <a:rPr lang="en-US" b="1" dirty="0">
                    <a:solidFill>
                      <a:srgbClr val="0033CC"/>
                    </a:solidFill>
                  </a:rPr>
                  <a:t>D</a:t>
                </a:r>
                <a:r>
                  <a:rPr lang="en-US" dirty="0">
                    <a:solidFill>
                      <a:srgbClr val="0033CC"/>
                    </a:solidFill>
                  </a:rPr>
                  <a:t>escent</a:t>
                </a:r>
                <a:r>
                  <a:rPr lang="en-US" dirty="0">
                    <a:solidFill>
                      <a:srgbClr val="000000"/>
                    </a:solidFill>
                  </a:rPr>
                  <a:t>. </a:t>
                </a:r>
              </a:p>
              <a:p>
                <a:pPr>
                  <a:lnSpc>
                    <a:spcPct val="90000"/>
                  </a:lnSpc>
                  <a:buFont typeface="Marlett" pitchFamily="26" charset="0"/>
                  <a:buNone/>
                </a:pPr>
                <a:endParaRPr lang="en-US" dirty="0">
                  <a:solidFill>
                    <a:srgbClr val="000000"/>
                  </a:solidFill>
                </a:endParaRPr>
              </a:p>
              <a:p>
                <a:pPr>
                  <a:lnSpc>
                    <a:spcPct val="90000"/>
                  </a:lnSpc>
                  <a:buFont typeface="Marlett" pitchFamily="26" charset="0"/>
                  <a:buNone/>
                </a:pPr>
                <a:r>
                  <a:rPr lang="en-US" b="1" dirty="0">
                    <a:solidFill>
                      <a:srgbClr val="0033CC"/>
                    </a:solidFill>
                  </a:rPr>
                  <a:t>Algorithm</a:t>
                </a:r>
                <a:endParaRPr lang="en-US" b="1" dirty="0">
                  <a:solidFill>
                    <a:srgbClr val="000000"/>
                  </a:solidFill>
                </a:endParaRPr>
              </a:p>
              <a:p>
                <a:pPr marL="457200" indent="-457200">
                  <a:lnSpc>
                    <a:spcPct val="90000"/>
                  </a:lnSpc>
                  <a:buFont typeface="+mj-lt"/>
                  <a:buAutoNum type="arabicPeriod"/>
                </a:pPr>
                <a:r>
                  <a:rPr lang="en-US" dirty="0">
                    <a:solidFill>
                      <a:srgbClr val="000000"/>
                    </a:solidFill>
                  </a:rPr>
                  <a:t>At the current point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rgbClr val="000000"/>
                    </a:solidFill>
                  </a:rPr>
                  <a:t>, compute a </a:t>
                </a:r>
                <a:br>
                  <a:rPr lang="en-US" dirty="0">
                    <a:solidFill>
                      <a:srgbClr val="000000"/>
                    </a:solidFill>
                  </a:rPr>
                </a:br>
                <a:r>
                  <a:rPr lang="en-US" i="1" u="sng" dirty="0">
                    <a:solidFill>
                      <a:srgbClr val="0033CC"/>
                    </a:solidFill>
                  </a:rPr>
                  <a:t>noisy</a:t>
                </a:r>
                <a:r>
                  <a:rPr lang="en-US" dirty="0">
                    <a:solidFill>
                      <a:srgbClr val="000000"/>
                    </a:solidFill>
                  </a:rPr>
                  <a:t> approximation of the gradient </a:t>
                </a:r>
                <a:br>
                  <a:rPr lang="en-US" dirty="0">
                    <a:solidFill>
                      <a:srgbClr val="000000"/>
                    </a:solidFill>
                  </a:rPr>
                </a:br>
                <a:r>
                  <a:rPr lang="en-US" dirty="0">
                    <a:solidFill>
                      <a:srgbClr val="000000"/>
                    </a:solidFill>
                  </a:rPr>
                  <a:t>of 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𝑅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  <m:nary>
                      <m:naryPr>
                        <m:chr m:val="∑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𝐿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 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e>
                    </m:nary>
                  </m:oMath>
                </a14:m>
                <a:r>
                  <a:rPr lang="en-US" dirty="0">
                    <a:solidFill>
                      <a:srgbClr val="000000"/>
                    </a:solidFill>
                  </a:rPr>
                  <a:t> by </a:t>
                </a:r>
                <a:br>
                  <a:rPr lang="en-US" dirty="0">
                    <a:solidFill>
                      <a:srgbClr val="000000"/>
                    </a:solidFill>
                  </a:rPr>
                </a:br>
                <a:r>
                  <a:rPr lang="en-US" dirty="0">
                    <a:solidFill>
                      <a:srgbClr val="000000"/>
                    </a:solidFill>
                  </a:rPr>
                  <a:t>using a </a:t>
                </a:r>
                <a:r>
                  <a:rPr lang="en-US" b="1" dirty="0">
                    <a:solidFill>
                      <a:srgbClr val="0033CC"/>
                    </a:solidFill>
                  </a:rPr>
                  <a:t>batch</a:t>
                </a:r>
                <a:r>
                  <a:rPr lang="en-US" dirty="0">
                    <a:solidFill>
                      <a:srgbClr val="000000"/>
                    </a:solidFill>
                  </a:rPr>
                  <a:t> of </a:t>
                </a:r>
                <a:r>
                  <a:rPr lang="en-US" b="1" dirty="0">
                    <a:solidFill>
                      <a:srgbClr val="0033CC"/>
                    </a:solidFill>
                  </a:rPr>
                  <a:t>training data</a:t>
                </a:r>
                <a:r>
                  <a:rPr lang="en-US" dirty="0">
                    <a:solidFill>
                      <a:srgbClr val="000000"/>
                    </a:solidFill>
                  </a:rPr>
                  <a:t>, </a:t>
                </a:r>
                <a:br>
                  <a:rPr lang="en-US" dirty="0">
                    <a:solidFill>
                      <a:srgbClr val="000000"/>
                    </a:solidFill>
                  </a:rPr>
                </a:br>
                <a:r>
                  <a:rPr lang="en-US" dirty="0">
                    <a:solidFill>
                      <a:srgbClr val="000000"/>
                    </a:solidFill>
                  </a:rPr>
                  <a:t>where </a:t>
                </a:r>
                <a14:m>
                  <m:oMath xmlns:m="http://schemas.openxmlformats.org/officeDocument/2006/math">
                    <m:r>
                      <a:rPr lang="en-US" b="1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𝒏</m:t>
                    </m:r>
                    <m:r>
                      <a:rPr lang="en-US" b="1" i="1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≪</m:t>
                    </m:r>
                    <m:r>
                      <a:rPr lang="en-US" b="1" i="1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𝑵</m:t>
                    </m:r>
                  </m:oMath>
                </a14:m>
                <a:r>
                  <a:rPr lang="en-US" dirty="0"/>
                  <a:t>.</a:t>
                </a:r>
              </a:p>
              <a:p>
                <a:pPr marL="457200" indent="-457200">
                  <a:lnSpc>
                    <a:spcPct val="90000"/>
                  </a:lnSpc>
                  <a:buFont typeface="+mj-lt"/>
                  <a:buAutoNum type="arabicPeriod"/>
                </a:pPr>
                <a:r>
                  <a:rPr lang="en-US" dirty="0"/>
                  <a:t>Move to the next position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  <m: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br>
                  <a:rPr lang="en-US" dirty="0"/>
                </a:br>
                <a:r>
                  <a:rPr lang="en-US" dirty="0"/>
                  <a:t>in the landscape using </a:t>
                </a:r>
                <a:endParaRPr lang="en-US" i="1" dirty="0">
                  <a:solidFill>
                    <a:srgbClr val="000000"/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lnSpc>
                    <a:spcPct val="9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i="1">
                          <a:solidFill>
                            <a:srgbClr val="000000"/>
                          </a:solidFill>
                          <a:latin typeface="Cambria Math" charset="0"/>
                          <a:ea typeface="Cambria Math" charset="0"/>
                          <a:cs typeface="Cambria Math" charset="0"/>
                        </a:rPr>
                        <m:t>−</m:t>
                      </m:r>
                      <m:r>
                        <a:rPr lang="en-US" i="1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mbria Math" charset="0"/>
                        </a:rPr>
                        <m:t>𝜂</m:t>
                      </m:r>
                      <m:r>
                        <m:rPr>
                          <m:sty m:val="p"/>
                        </m:rP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mbria Math" charset="0"/>
                        </a:rPr>
                        <m:t>∇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mbria Math" charset="0"/>
                        </a:rPr>
                        <m:t>𝑅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6907674D-04C0-896E-ECB0-08F4A9BA384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3"/>
                <a:stretch>
                  <a:fillRect l="-1309" t="-1842" r="-1964" b="-31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65997FEB-454C-5C8C-3731-F19D54CE69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Empirical Risk Minimization (1)</a:t>
            </a:r>
          </a:p>
        </p:txBody>
      </p:sp>
    </p:spTree>
    <p:extLst>
      <p:ext uri="{BB962C8B-B14F-4D97-AF65-F5344CB8AC3E}">
        <p14:creationId xmlns:p14="http://schemas.microsoft.com/office/powerpoint/2010/main" val="18496602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763A2D-5754-2FAF-C4D1-4F4BC64301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map of a mountain&#10;&#10;Description automatically generated">
            <a:extLst>
              <a:ext uri="{FF2B5EF4-FFF2-40B4-BE49-F238E27FC236}">
                <a16:creationId xmlns:a16="http://schemas.microsoft.com/office/drawing/2014/main" id="{9E54FDF4-4C20-75CD-A55C-2128FB1041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7518" y="2514600"/>
            <a:ext cx="3846482" cy="39222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15839D9-08FB-02BE-91C0-05B1224A6521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pPr>
                  <a:lnSpc>
                    <a:spcPct val="90000"/>
                  </a:lnSpc>
                  <a:buFont typeface="Marlett" pitchFamily="26" charset="0"/>
                  <a:buNone/>
                </a:pPr>
                <a:r>
                  <a:rPr lang="en-US" dirty="0"/>
                  <a:t>Why does </a:t>
                </a:r>
                <a:r>
                  <a:rPr lang="en-US" dirty="0">
                    <a:solidFill>
                      <a:srgbClr val="000000"/>
                    </a:solidFill>
                  </a:rPr>
                  <a:t>this (1</a:t>
                </a:r>
                <a:r>
                  <a:rPr lang="en-US" baseline="30000" dirty="0">
                    <a:solidFill>
                      <a:srgbClr val="000000"/>
                    </a:solidFill>
                  </a:rPr>
                  <a:t>st</a:t>
                </a:r>
                <a:r>
                  <a:rPr lang="en-US" dirty="0">
                    <a:solidFill>
                      <a:srgbClr val="000000"/>
                    </a:solidFill>
                  </a:rPr>
                  <a:t>-order) algorithm </a:t>
                </a:r>
              </a:p>
              <a:p>
                <a:pPr>
                  <a:lnSpc>
                    <a:spcPct val="90000"/>
                  </a:lnSpc>
                  <a:buFont typeface="Marlett" pitchFamily="26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</m:t>
                          </m:r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𝑗</m:t>
                          </m:r>
                        </m:sub>
                      </m:sSub>
                      <m:r>
                        <a:rPr lang="en-US" i="1">
                          <a:solidFill>
                            <a:srgbClr val="000000"/>
                          </a:solidFill>
                          <a:latin typeface="Cambria Math" charset="0"/>
                          <a:ea typeface="Cambria Math" charset="0"/>
                          <a:cs typeface="Cambria Math" charset="0"/>
                        </a:rPr>
                        <m:t>−</m:t>
                      </m:r>
                      <m:r>
                        <a:rPr lang="en-US" i="1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mbria Math" charset="0"/>
                        </a:rPr>
                        <m:t>𝜂</m:t>
                      </m:r>
                      <m:r>
                        <m:rPr>
                          <m:sty m:val="p"/>
                        </m:rP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mbria Math" charset="0"/>
                        </a:rPr>
                        <m:t>∇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mbria Math" charset="0"/>
                        </a:rPr>
                        <m:t>𝑅</m:t>
                      </m:r>
                    </m:oMath>
                  </m:oMathPara>
                </a14:m>
                <a:endParaRPr lang="en-US" dirty="0">
                  <a:ea typeface="Cambria Math" panose="02040503050406030204" pitchFamily="18" charset="0"/>
                  <a:cs typeface="Cambria Math" charset="0"/>
                </a:endParaRPr>
              </a:p>
              <a:p>
                <a:pPr>
                  <a:lnSpc>
                    <a:spcPct val="90000"/>
                  </a:lnSpc>
                  <a:buFont typeface="Marlett" pitchFamily="26" charset="0"/>
                  <a:buNone/>
                </a:pPr>
                <a:r>
                  <a:rPr lang="en-US" dirty="0">
                    <a:solidFill>
                      <a:srgbClr val="000000"/>
                    </a:solidFill>
                  </a:rPr>
                  <a:t>work? </a:t>
                </a:r>
              </a:p>
              <a:p>
                <a:pPr>
                  <a:lnSpc>
                    <a:spcPct val="90000"/>
                  </a:lnSpc>
                  <a:buFont typeface="Marlett" pitchFamily="26" charset="0"/>
                  <a:buNone/>
                </a:pPr>
                <a:r>
                  <a:rPr lang="en-US" dirty="0">
                    <a:solidFill>
                      <a:srgbClr val="000000"/>
                    </a:solidFill>
                  </a:rPr>
                  <a:t>Consider</a:t>
                </a:r>
              </a:p>
              <a:p>
                <a:pPr>
                  <a:lnSpc>
                    <a:spcPct val="90000"/>
                  </a:lnSpc>
                  <a:buFont typeface="Marlett" pitchFamily="26" charset="0"/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𝑅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</m:e>
                      </m:d>
                      <m:r>
                        <a:rPr lang="en-US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𝑅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en-US" i="1">
                                  <a:solidFill>
                                    <a:srgbClr val="0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a:rPr lang="en-US" i="1">
                              <a:solidFill>
                                <a:srgbClr val="000000"/>
                              </a:solidFill>
                              <a:latin typeface="Cambria Math" charset="0"/>
                              <a:ea typeface="Cambria Math" charset="0"/>
                              <a:cs typeface="Cambria Math" charset="0"/>
                            </a:rPr>
                            <m:t>−</m:t>
                          </m:r>
                          <m:r>
                            <a:rPr lang="en-US" i="1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ambria Math" charset="0"/>
                            </a:rPr>
                            <m:t>𝜂</m:t>
                          </m:r>
                          <m:r>
                            <m:rPr>
                              <m:sty m:val="p"/>
                            </m:r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ambria Math" charset="0"/>
                            </a:rPr>
                            <m:t>∇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Cambria Math" charset="0"/>
                            </a:rPr>
                            <m:t>𝑅</m:t>
                          </m:r>
                          <m:r>
                            <m:rPr>
                              <m:nor/>
                            </m:rPr>
                            <a:rPr lang="en-US" dirty="0">
                              <a:solidFill>
                                <a:srgbClr val="000000"/>
                              </a:solidFill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US" i="1" dirty="0">
                  <a:solidFill>
                    <a:srgbClr val="000000"/>
                  </a:solidFill>
                  <a:latin typeface="Cambria Math" panose="02040503050406030204" pitchFamily="18" charset="0"/>
                </a:endParaRPr>
              </a:p>
              <a:p>
                <a:pPr>
                  <a:lnSpc>
                    <a:spcPct val="90000"/>
                  </a:lnSpc>
                  <a:buFont typeface="Marlett" pitchFamily="26" charset="0"/>
                  <a:buNone/>
                </a:pPr>
                <a:r>
                  <a:rPr lang="en-US" dirty="0">
                    <a:solidFill>
                      <a:srgbClr val="000000"/>
                    </a:solidFill>
                    <a:ea typeface="Cambria Math" panose="02040503050406030204" pitchFamily="18" charset="0"/>
                  </a:rPr>
                  <a:t>  		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𝑅</m:t>
                    </m:r>
                    <m:d>
                      <m:dPr>
                        <m:ctrlPr>
                          <a:rPr lang="en-US" i="1">
                            <a:solidFill>
                              <a:srgbClr val="0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d>
                    <m:r>
                      <a:rPr lang="en-US" i="1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r>
                      <m:rPr>
                        <m:nor/>
                      </m:rPr>
                      <a:rPr lang="en-US" dirty="0">
                        <a:solidFill>
                          <a:srgbClr val="0033CC"/>
                        </a:solidFill>
                        <a:ea typeface="Cambria Math" panose="02040503050406030204" pitchFamily="18" charset="0"/>
                        <a:cs typeface="Cambria Math" charset="0"/>
                      </a:rPr>
                      <m:t> 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ambria Math" charset="0"/>
                      </a:rPr>
                      <m:t>𝜂</m:t>
                    </m:r>
                    <m:r>
                      <m:rPr>
                        <m:sty m:val="p"/>
                      </m:rP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Cambria Math" charset="0"/>
                      </a:rPr>
                      <m:t>∇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Cambria Math" charset="0"/>
                      </a:rPr>
                      <m:t>𝑅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Cambria Math" charset="0"/>
                      </a:rPr>
                      <m:t>∙</m:t>
                    </m:r>
                    <m:r>
                      <m:rPr>
                        <m:sty m:val="p"/>
                      </m:rP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Cambria Math" charset="0"/>
                      </a:rPr>
                      <m:t>∇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Cambria Math" charset="0"/>
                      </a:rPr>
                      <m:t>𝑅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Cambria Math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Cambria Math" charset="0"/>
                      </a:rPr>
                      <m:t>𝑂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Cambria Math" charset="0"/>
                      </a:rPr>
                      <m:t>(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𝜂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i="1" dirty="0">
                  <a:solidFill>
                    <a:srgbClr val="000000"/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>
                  <a:lnSpc>
                    <a:spcPct val="90000"/>
                  </a:lnSpc>
                  <a:buFont typeface="Marlett" pitchFamily="26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solidFill>
                            <a:srgbClr val="0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US" dirty="0"/>
              </a:p>
              <a:p>
                <a:pPr>
                  <a:lnSpc>
                    <a:spcPct val="90000"/>
                  </a:lnSpc>
                  <a:buFont typeface="Marlett" pitchFamily="26" charset="0"/>
                  <a:buNone/>
                </a:pPr>
                <a:r>
                  <a:rPr lang="en-US" dirty="0"/>
                  <a:t>If the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ambria Math" charset="0"/>
                      </a:rPr>
                      <m:t>𝑂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ambria Math" charset="0"/>
                      </a:rPr>
                      <m:t>(</m:t>
                    </m:r>
                    <m:sSup>
                      <m:sSup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𝜂</m:t>
                        </m:r>
                      </m:e>
                      <m:sup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rgbClr val="0033CC"/>
                    </a:solidFill>
                  </a:rPr>
                  <a:t> </a:t>
                </a:r>
                <a:r>
                  <a:rPr lang="en-US" dirty="0"/>
                  <a:t>can be neglected, and </a:t>
                </a:r>
              </a:p>
              <a:p>
                <a:pPr>
                  <a:lnSpc>
                    <a:spcPct val="90000"/>
                  </a:lnSpc>
                  <a:buFont typeface="Marlett" pitchFamily="26" charset="0"/>
                  <a:buNone/>
                </a:pPr>
                <a:r>
                  <a:rPr lang="en-US" dirty="0"/>
                  <a:t>given that the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ambria Math" charset="0"/>
                      </a:rPr>
                      <m:t>𝑂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ambria Math" charset="0"/>
                      </a:rPr>
                      <m:t>(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ambria Math" charset="0"/>
                      </a:rPr>
                      <m:t>𝜂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rgbClr val="0033CC"/>
                    </a:solidFill>
                  </a:rPr>
                  <a:t> </a:t>
                </a:r>
                <a:r>
                  <a:rPr lang="en-US" dirty="0"/>
                  <a:t>term is always</a:t>
                </a:r>
              </a:p>
              <a:p>
                <a:pPr>
                  <a:lnSpc>
                    <a:spcPct val="90000"/>
                  </a:lnSpc>
                  <a:buFont typeface="Marlett" pitchFamily="26" charset="0"/>
                  <a:buNone/>
                </a:pPr>
                <a:r>
                  <a:rPr lang="en-US" dirty="0"/>
                  <a:t>negative, it follows that</a:t>
                </a:r>
              </a:p>
              <a:p>
                <a:pPr>
                  <a:lnSpc>
                    <a:spcPct val="90000"/>
                  </a:lnSpc>
                  <a:buFont typeface="Marlett" pitchFamily="26" charset="0"/>
                  <a:buNone/>
                </a:pPr>
                <a:br>
                  <a:rPr lang="en-US" dirty="0"/>
                </a:br>
                <a:r>
                  <a:rPr lang="en-US" dirty="0"/>
                  <a:t>	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𝑅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e>
                    </m:d>
                    <m:r>
                      <a:rPr lang="en-US">
                        <a:solidFill>
                          <a:srgbClr val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&lt;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𝑅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en-US" i="1">
                                <a:solidFill>
                                  <a:srgbClr val="0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715839D9-08FB-02BE-91C0-05B1224A652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3"/>
                <a:stretch>
                  <a:fillRect l="-1309" t="-1842" b="-10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5B48CDEA-88F8-3CA5-B26A-0F384AAF6D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Empirical Risk Minimization (2)</a:t>
            </a:r>
          </a:p>
        </p:txBody>
      </p:sp>
    </p:spTree>
    <p:extLst>
      <p:ext uri="{BB962C8B-B14F-4D97-AF65-F5344CB8AC3E}">
        <p14:creationId xmlns:p14="http://schemas.microsoft.com/office/powerpoint/2010/main" val="7103135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8432F4-C927-BA01-B1A8-23BE5EEE610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BINARY Classifiers</a:t>
            </a:r>
          </a:p>
        </p:txBody>
      </p:sp>
    </p:spTree>
    <p:extLst>
      <p:ext uri="{BB962C8B-B14F-4D97-AF65-F5344CB8AC3E}">
        <p14:creationId xmlns:p14="http://schemas.microsoft.com/office/powerpoint/2010/main" val="337439505"/>
      </p:ext>
    </p:extLst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B0A66F-0B72-66CA-D036-8B3BA08698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BCD71358-E7C4-4011-A59E-755828C26D73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pPr>
                  <a:buNone/>
                </a:pPr>
                <a:r>
                  <a:rPr lang="en-US" dirty="0"/>
                  <a:t>Starting with</a:t>
                </a:r>
              </a:p>
              <a:p>
                <a:pPr>
                  <a:buFont typeface="Marlett" pitchFamily="26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limLoc m:val="undOvr"/>
                          <m:subHide m:val="on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𝑑𝑦</m:t>
                          </m:r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den>
                          </m:f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e>
                              <m: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=0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  <a:p>
                <a:pPr>
                  <a:buFont typeface="Marlett" pitchFamily="26" charset="0"/>
                  <a:buNone/>
                </a:pPr>
                <a:r>
                  <a:rPr lang="en-US" dirty="0"/>
                  <a:t>it was shown in Lecture 2 and tutorial 2 that a binary classifier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i="1" dirty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dirty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i="1" dirty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b="0" i="1" dirty="0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</m:d>
                  </m:oMath>
                </a14:m>
                <a:r>
                  <a:rPr lang="en-US" dirty="0"/>
                  <a:t> trained using the cross-entropy loss</a:t>
                </a:r>
                <a:r>
                  <a:rPr lang="en-US" b="1" dirty="0">
                    <a:solidFill>
                      <a:srgbClr val="0033CC"/>
                    </a:solidFill>
                  </a:rPr>
                  <a:t> 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charset="0"/>
                        <a:cs typeface="Cambria Math" charset="0"/>
                      </a:rPr>
                      <m:t>𝐿</m:t>
                    </m:r>
                    <m:d>
                      <m:dPr>
                        <m:ctrlP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  <m:t>𝑦</m:t>
                        </m:r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  <m:t>𝑓</m:t>
                        </m:r>
                      </m:e>
                    </m:d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charset="0"/>
                        <a:cs typeface="Cambria Math" charset="0"/>
                      </a:rPr>
                      <m:t>=−[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charset="0"/>
                        <a:cs typeface="Cambria Math" charset="0"/>
                      </a:rPr>
                      <m:t>𝑦</m:t>
                    </m:r>
                    <m:func>
                      <m:func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  <m:t>log</m:t>
                        </m:r>
                      </m:fName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  <m:t>𝑓</m:t>
                        </m:r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  <a:ea typeface="Cambria Math" charset="0"/>
                            <a:cs typeface="Cambria Math" charset="0"/>
                          </a:rPr>
                          <m:t>+</m:t>
                        </m:r>
                        <m:d>
                          <m:dPr>
                            <m:ctrlP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  <a:ea typeface="Cambria Math" charset="0"/>
                                <a:cs typeface="Cambria Math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  <a:ea typeface="Cambria Math" charset="0"/>
                                <a:cs typeface="Cambria Math" charset="0"/>
                              </a:rPr>
                              <m:t>1−</m:t>
                            </m:r>
                            <m: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  <a:ea typeface="Cambria Math" charset="0"/>
                                <a:cs typeface="Cambria Math" charset="0"/>
                              </a:rPr>
                              <m:t>𝑦</m:t>
                            </m:r>
                          </m:e>
                        </m:d>
                        <m:func>
                          <m:funcPr>
                            <m:ctrlP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  <a:ea typeface="Cambria Math" charset="0"/>
                                <a:cs typeface="Cambria Math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  <a:ea typeface="Cambria Math" charset="0"/>
                                <a:cs typeface="Cambria Math" charset="0"/>
                              </a:rPr>
                              <m:t>log</m:t>
                            </m:r>
                          </m:fName>
                          <m:e>
                            <m: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  <a:ea typeface="Cambria Math" charset="0"/>
                                <a:cs typeface="Cambria Math" charset="0"/>
                              </a:rPr>
                              <m:t>(1−</m:t>
                            </m:r>
                            <m: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  <a:ea typeface="Cambria Math" charset="0"/>
                                <a:cs typeface="Cambria Math" charset="0"/>
                              </a:rPr>
                              <m:t>𝑓</m:t>
                            </m:r>
                            <m:r>
                              <a:rPr lang="en-US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  <a:ea typeface="Cambria Math" charset="0"/>
                                <a:cs typeface="Cambria Math" charset="0"/>
                              </a:rPr>
                              <m:t>)</m:t>
                            </m:r>
                          </m:e>
                        </m:func>
                      </m:e>
                    </m:func>
                    <m:r>
                      <a:rPr lang="en-US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charset="0"/>
                        <a:cs typeface="Cambria Math" charset="0"/>
                      </a:rPr>
                      <m:t>]</m:t>
                    </m:r>
                  </m:oMath>
                </a14:m>
                <a:r>
                  <a:rPr lang="en-US" dirty="0"/>
                  <a:t> approximates the </a:t>
                </a:r>
                <a:r>
                  <a:rPr lang="en-US" b="1" dirty="0">
                    <a:solidFill>
                      <a:srgbClr val="0033CC"/>
                    </a:solidFill>
                  </a:rPr>
                  <a:t>class probability</a:t>
                </a:r>
              </a:p>
              <a:p>
                <a:pPr>
                  <a:buFont typeface="Marlett" pitchFamily="26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, </m:t>
                          </m:r>
                          <m:sSup>
                            <m:sSupPr>
                              <m:ctrlPr>
                                <a:rPr lang="en-US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p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  <m:e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br>
                  <a:rPr lang="en-US" dirty="0"/>
                </a:br>
                <a:endParaRPr lang="en-US" dirty="0">
                  <a:effectLst>
                    <a:outerShdw blurRad="38100" dist="38100" dir="2700000" algn="tl">
                      <a:srgbClr val="DDDDDD"/>
                    </a:outerShdw>
                  </a:effectLst>
                </a:endParaRPr>
              </a:p>
              <a:p>
                <a:pPr>
                  <a:buFont typeface="Marlett" pitchFamily="26" charset="0"/>
                  <a:buNone/>
                </a:pPr>
                <a:r>
                  <a:rPr lang="en-US" dirty="0"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that is, the probability that an object characterized by the </a:t>
                </a:r>
                <a:r>
                  <a:rPr lang="en-US" b="1" dirty="0">
                    <a:solidFill>
                      <a:srgbClr val="0033CC"/>
                    </a:solidFill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features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effectLst>
                          <a:outerShdw blurRad="38100" dist="38100" dir="2700000" algn="tl">
                            <a:srgbClr val="DDDDDD"/>
                          </a:outerShdw>
                        </a:effectLst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 belongs to the class labeled 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effectLst>
                          <a:outerShdw blurRad="38100" dist="38100" dir="2700000" algn="tl">
                            <a:srgbClr val="DDDDDD"/>
                          </a:outerShdw>
                        </a:effectLst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>
                        <a:solidFill>
                          <a:srgbClr val="0033CC"/>
                        </a:solidFill>
                        <a:effectLst>
                          <a:outerShdw blurRad="38100" dist="38100" dir="2700000" algn="tl">
                            <a:srgbClr val="DDDDDD"/>
                          </a:outerShdw>
                        </a:effectLst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dirty="0"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.</a:t>
                </a:r>
              </a:p>
            </p:txBody>
          </p:sp>
        </mc:Choice>
        <mc:Fallback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BCD71358-E7C4-4011-A59E-755828C26D7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1309" t="-234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9159F6C5-C484-EC79-5C75-AB8B306305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Binary Classifiers (1)</a:t>
            </a:r>
          </a:p>
        </p:txBody>
      </p:sp>
    </p:spTree>
    <p:extLst>
      <p:ext uri="{BB962C8B-B14F-4D97-AF65-F5344CB8AC3E}">
        <p14:creationId xmlns:p14="http://schemas.microsoft.com/office/powerpoint/2010/main" val="24716897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19EFD6-8AF9-3AC0-A772-0C5780E4E8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CA5FF234-6F7F-A2E8-4C2B-8C41E7CF3A52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From Bayes’ theorem, we can write the class probability as</a:t>
                </a:r>
                <a:br>
                  <a:rPr lang="en-US" dirty="0">
                    <a:latin typeface="+mn-lt"/>
                  </a:rPr>
                </a:br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  <m:e>
                          <m: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e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(1)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where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𝜋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(0)</m:t>
                    </m:r>
                  </m:oMath>
                </a14:m>
                <a:r>
                  <a:rPr lang="en-US" dirty="0">
                    <a:ea typeface="Cambria Math" panose="02040503050406030204" pitchFamily="18" charset="0"/>
                  </a:rPr>
                  <a:t> and</a:t>
                </a:r>
              </a:p>
              <a:p>
                <a:pPr marL="0" indent="0">
                  <a:buNone/>
                </a:pPr>
                <a:endParaRPr lang="en-US" dirty="0">
                  <a:effectLst>
                    <a:outerShdw blurRad="38100" dist="38100" dir="2700000" algn="tl">
                      <a:srgbClr val="DDDDDD"/>
                    </a:outerShdw>
                  </a:effectLst>
                </a:endParaRPr>
              </a:p>
              <a:p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</m:oMath>
                </a14:m>
                <a:r>
                  <a:rPr lang="en-US" dirty="0"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 is the probability density of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effectLst>
                          <a:outerShdw blurRad="38100" dist="38100" dir="2700000" algn="tl">
                            <a:srgbClr val="DDDDDD"/>
                          </a:outerShdw>
                        </a:effectLst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 for class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, 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rgbClr val="0033CC"/>
                    </a:solidFill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 </a:t>
                </a:r>
                <a:r>
                  <a:rPr lang="en-US" dirty="0"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is the </a:t>
                </a:r>
                <a:r>
                  <a:rPr lang="en-US" b="1" dirty="0">
                    <a:solidFill>
                      <a:srgbClr val="0033CC"/>
                    </a:solidFill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prior probability</a:t>
                </a:r>
                <a:r>
                  <a:rPr lang="en-US" dirty="0"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 of class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, and</a:t>
                </a:r>
              </a:p>
              <a:p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𝜋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+ 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𝜋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i="1" dirty="0">
                    <a:solidFill>
                      <a:srgbClr val="0033CC"/>
                    </a:solidFill>
                    <a:latin typeface="Cambria Math" panose="02040503050406030204" pitchFamily="18" charset="0"/>
                  </a:rPr>
                  <a:t>.</a:t>
                </a:r>
              </a:p>
              <a:p>
                <a:pPr marL="0" indent="0">
                  <a:buNone/>
                </a:pPr>
                <a:endParaRPr lang="en-US" dirty="0">
                  <a:effectLst>
                    <a:outerShdw blurRad="38100" dist="38100" dir="2700000" algn="tl">
                      <a:srgbClr val="DDDDDD"/>
                    </a:outerShdw>
                  </a:effectLst>
                </a:endParaRP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CA5FF234-6F7F-A2E8-4C2B-8C41E7CF3A5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1309" t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32840FCC-D5A4-4372-6695-0E20A32EC1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Binary Classifiers (2)</a:t>
            </a:r>
          </a:p>
        </p:txBody>
      </p:sp>
    </p:spTree>
    <p:extLst>
      <p:ext uri="{BB962C8B-B14F-4D97-AF65-F5344CB8AC3E}">
        <p14:creationId xmlns:p14="http://schemas.microsoft.com/office/powerpoint/2010/main" val="20504823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B0FA07-4D08-91C5-822D-EA30DA04B7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84FBE111-5277-6CD5-CDB1-358D32EF551E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711200" y="1295400"/>
                <a:ext cx="7747000" cy="4819650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When the training dataset is </a:t>
                </a:r>
                <a:r>
                  <a:rPr lang="en-US" b="1" dirty="0">
                    <a:solidFill>
                      <a:srgbClr val="0033CC"/>
                    </a:solidFill>
                  </a:rPr>
                  <a:t>balanced</a:t>
                </a:r>
                <a:r>
                  <a:rPr lang="en-US" dirty="0"/>
                  <a:t> (as in tutorial 2), that is,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𝜋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𝜋</m:t>
                    </m:r>
                    <m:d>
                      <m:dPr>
                        <m:ctrlP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</m:oMath>
                </a14:m>
                <a:r>
                  <a:rPr lang="en-US" dirty="0"/>
                  <a:t>, the class probability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e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n-US" dirty="0"/>
                  <a:t> becomes the </a:t>
                </a:r>
                <a:r>
                  <a:rPr lang="en-US" b="1" dirty="0">
                    <a:solidFill>
                      <a:srgbClr val="0033CC"/>
                    </a:solidFill>
                  </a:rPr>
                  <a:t>discriminant</a:t>
                </a:r>
                <a:r>
                  <a:rPr lang="en-US" dirty="0"/>
                  <a:t>, </a:t>
                </a:r>
                <a:br>
                  <a:rPr lang="en-US" dirty="0"/>
                </a:b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𝐷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US" dirty="0">
                  <a:effectLst>
                    <a:outerShdw blurRad="38100" dist="38100" dir="2700000" algn="tl">
                      <a:srgbClr val="DDDDDD"/>
                    </a:outerShdw>
                  </a:effectLst>
                </a:endParaRPr>
              </a:p>
              <a:p>
                <a:pPr marL="0" indent="0">
                  <a:buNone/>
                </a:pPr>
                <a:endParaRPr lang="en-US" dirty="0">
                  <a:effectLst>
                    <a:outerShdw blurRad="38100" dist="38100" dir="2700000" algn="tl">
                      <a:srgbClr val="DDDDDD"/>
                    </a:outerShdw>
                  </a:effectLst>
                </a:endParaRPr>
              </a:p>
              <a:p>
                <a:pPr marL="0" indent="0">
                  <a:buNone/>
                </a:pPr>
                <a:r>
                  <a:rPr lang="en-US" i="1" dirty="0">
                    <a:solidFill>
                      <a:srgbClr val="0033CC"/>
                    </a:solidFill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This is one of the most useful results in scientific machine learning</a:t>
                </a:r>
                <a:r>
                  <a:rPr lang="en-US" dirty="0"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. </a:t>
                </a:r>
              </a:p>
              <a:p>
                <a:pPr marL="0" indent="0">
                  <a:buNone/>
                </a:pPr>
                <a:endParaRPr lang="en-US" dirty="0">
                  <a:effectLst>
                    <a:outerShdw blurRad="38100" dist="38100" dir="2700000" algn="tl">
                      <a:srgbClr val="DDDDDD"/>
                    </a:outerShdw>
                  </a:effectLst>
                </a:endParaRP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84FBE111-5277-6CD5-CDB1-358D32EF551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711200" y="1295400"/>
                <a:ext cx="7747000" cy="4819650"/>
              </a:xfrm>
              <a:blipFill>
                <a:blip r:embed="rId2"/>
                <a:stretch>
                  <a:fillRect l="-1309" t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8260803B-6204-0C12-7211-987376BA41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Binary Classifiers (3)</a:t>
            </a:r>
            <a:endParaRPr lang="en-US" dirty="0">
              <a:solidFill>
                <a:schemeClr val="accent1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181070C-C4FA-0018-0FFC-DB553E5FD2D0}"/>
              </a:ext>
            </a:extLst>
          </p:cNvPr>
          <p:cNvSpPr/>
          <p:nvPr/>
        </p:nvSpPr>
        <p:spPr bwMode="auto">
          <a:xfrm>
            <a:off x="2895600" y="2590800"/>
            <a:ext cx="3657600" cy="1219200"/>
          </a:xfrm>
          <a:prstGeom prst="rect">
            <a:avLst/>
          </a:prstGeom>
          <a:noFill/>
          <a:ln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imes New Roman" pitchFamily="-65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2139823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801C9A-C562-4209-2742-5C63B42200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55270A78-B3C6-0C0C-96AB-1507A7B10D43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b="0" dirty="0"/>
                  <a:t>It is possible to train a binary classifier using an </a:t>
                </a:r>
                <a:r>
                  <a:rPr lang="en-US" b="1" dirty="0">
                    <a:solidFill>
                      <a:srgbClr val="0033CC"/>
                    </a:solidFill>
                  </a:rPr>
                  <a:t>unbalanced</a:t>
                </a:r>
                <a:r>
                  <a:rPr lang="en-US" b="0" dirty="0"/>
                  <a:t> dataset: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(1)≠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(0)</m:t>
                    </m:r>
                  </m:oMath>
                </a14:m>
                <a:r>
                  <a:rPr lang="en-US" b="0" dirty="0"/>
                  <a:t>. 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b="0" dirty="0"/>
                  <a:t>But if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(1)≪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(0)</m:t>
                    </m:r>
                  </m:oMath>
                </a14:m>
                <a:r>
                  <a:rPr lang="en-US" dirty="0"/>
                  <a:t> this might be challenging. </a:t>
                </a:r>
              </a:p>
              <a:p>
                <a:pPr marL="0" indent="0">
                  <a:buNone/>
                </a:pPr>
                <a:endParaRPr lang="en-US" dirty="0">
                  <a:solidFill>
                    <a:srgbClr val="0033CC"/>
                  </a:solidFill>
                </a:endParaRPr>
              </a:p>
              <a:p>
                <a:pPr marL="0" indent="0">
                  <a:buNone/>
                </a:pPr>
                <a:r>
                  <a:rPr lang="en-US" dirty="0">
                    <a:solidFill>
                      <a:srgbClr val="0033CC"/>
                    </a:solidFill>
                  </a:rPr>
                  <a:t>Why do you think this is</a:t>
                </a:r>
                <a:r>
                  <a:rPr lang="en-US" dirty="0"/>
                  <a:t>?) 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However, as shown on the next slide,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(1|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rgbClr val="0033CC"/>
                    </a:solidFill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 </a:t>
                </a:r>
                <a:r>
                  <a:rPr lang="en-US" dirty="0"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can be computed from a model trained with a balanced dataset.</a:t>
                </a:r>
                <a:br>
                  <a:rPr lang="en-US" dirty="0"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</a:br>
                <a:endParaRPr lang="en-US" dirty="0"/>
              </a:p>
            </p:txBody>
          </p:sp>
        </mc:Choice>
        <mc:Fallback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55270A78-B3C6-0C0C-96AB-1507A7B10D4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1309" t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6499AF41-7810-2449-4FA8-B6D0A34DFF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Binary Classifiers (4)</a:t>
            </a:r>
            <a:endParaRPr 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4615038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A9333D-192A-2FCA-AE84-08D7D1DBA9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29E792C1-CB86-39DD-FA3E-9E01E109D4F5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According to Bayes’ theorem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i="1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|1</m:t>
                          </m:r>
                          <m:r>
                            <a:rPr lang="en-US" i="1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  <m:r>
                            <a:rPr lang="en-US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(1) </m:t>
                          </m:r>
                        </m:num>
                        <m:den>
                          <m:r>
                            <a:rPr lang="en-US" b="0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b="0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|1</m:t>
                          </m:r>
                          <m:r>
                            <a:rPr lang="en-US" i="1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  <m:r>
                            <a:rPr lang="en-US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(1)+</m:t>
                          </m:r>
                          <m:r>
                            <a:rPr lang="en-US" i="1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i="1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e>
                              <m:r>
                                <a:rPr lang="en-US" b="0" i="1" smtClean="0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(0)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Dividing the numerator and denominator by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</m:oMath>
                </a14:m>
                <a:r>
                  <a:rPr lang="en-US" dirty="0"/>
                  <a:t> yields</a:t>
                </a:r>
                <a:br>
                  <a:rPr lang="en-US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lang="en-US" b="0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  <m: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(1) </m:t>
                          </m:r>
                        </m:num>
                        <m:den>
                          <m:r>
                            <a:rPr lang="en-US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lang="en-US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  <m:r>
                            <a:rPr lang="en-US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(1)+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r>
                                <a:rPr lang="en-US" b="0" i="1" smtClean="0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solidFill>
                                        <a:srgbClr val="0033CC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solidFill>
                                        <a:srgbClr val="0033CC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(0)</m:t>
                          </m:r>
                        </m:den>
                      </m:f>
                    </m:oMath>
                  </m:oMathPara>
                </a14:m>
                <a:br>
                  <a:rPr lang="en-US" dirty="0"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</a:br>
                <a:endParaRPr lang="en-US" dirty="0">
                  <a:effectLst>
                    <a:outerShdw blurRad="38100" dist="38100" dir="2700000" algn="tl">
                      <a:srgbClr val="DDDDDD"/>
                    </a:outerShdw>
                  </a:effectLst>
                </a:endParaRP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So, it is not necessary to use the true priors during training.</a:t>
                </a:r>
              </a:p>
            </p:txBody>
          </p:sp>
        </mc:Choice>
        <mc:Fallback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29E792C1-CB86-39DD-FA3E-9E01E109D4F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1309" t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F89EB1F5-6713-6803-18CA-A9B285050C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Binary Classifiers (4)</a:t>
            </a:r>
            <a:endParaRPr 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644081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9BE79B-56F4-3405-DA5A-9ACDBA7BBB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C72AB6-435C-31AE-89B5-EDE60FAC700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Classifier Performance</a:t>
            </a:r>
          </a:p>
        </p:txBody>
      </p:sp>
    </p:spTree>
    <p:extLst>
      <p:ext uri="{BB962C8B-B14F-4D97-AF65-F5344CB8AC3E}">
        <p14:creationId xmlns:p14="http://schemas.microsoft.com/office/powerpoint/2010/main" val="1284822674"/>
      </p:ext>
    </p:extLst>
  </p:cSld>
  <p:clrMapOvr>
    <a:masterClrMapping/>
  </p:clrMapOvr>
  <p:transition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37B484-30DB-8614-B778-B22C582F79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43A9D521-96B0-0007-4301-2463D30916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Classifier Performance (1)</a:t>
            </a:r>
            <a:endParaRPr lang="en-US" dirty="0">
              <a:solidFill>
                <a:schemeClr val="accent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B8DAA0BC-4401-45B6-8218-AEEEF18E175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Given a classifier,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, the indicator function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𝐼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[∗]</m:t>
                    </m:r>
                  </m:oMath>
                </a14:m>
                <a:r>
                  <a:rPr lang="en-US" dirty="0"/>
                  <a:t>, the targets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, and a threshold </a:t>
                </a:r>
                <a:r>
                  <a:rPr lang="en-US" i="1" dirty="0">
                    <a:solidFill>
                      <a:srgbClr val="0033CC"/>
                    </a:solidFill>
                  </a:rPr>
                  <a:t>t </a:t>
                </a:r>
                <a:r>
                  <a:rPr lang="en-US" dirty="0"/>
                  <a:t>on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, the following counts can be computed: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dirty="0"/>
                  <a:t>False Negatives 	(FN):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sSub>
                          <m:sSubPr>
                            <m:ctrlPr>
                              <a:rPr lang="en-US" b="1" i="1" smtClean="0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brk m:alnAt="7"/>
                              </m:rPr>
                              <a:rPr lang="en-US" b="1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  <m:sub>
                            <m:r>
                              <m:rPr>
                                <m:brk m:alnAt="7"/>
                              </m:rPr>
                              <a:rPr lang="en-US" b="1" i="1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  <m:t>𝒊</m:t>
                            </m:r>
                          </m:sub>
                        </m:sSub>
                        <m:r>
                          <m:rPr>
                            <m:brk m:alnAt="7"/>
                          </m:rPr>
                          <a:rPr lang="en-US" b="1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1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  <m:sup/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𝐼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𝐷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≤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nary>
                    <m:r>
                      <a:rPr lang="en-US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dirty="0"/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dirty="0"/>
                  <a:t>True Positives 	(TP): 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sSub>
                          <m:sSubPr>
                            <m:ctrlPr>
                              <a:rPr lang="en-US" b="1" i="1" smtClean="0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brk m:alnAt="7"/>
                              </m:rPr>
                              <a:rPr lang="en-US" b="1" i="1" smtClean="0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  <m:sub>
                            <m:r>
                              <m:rPr>
                                <m:brk m:alnAt="7"/>
                              </m:rPr>
                              <a:rPr lang="en-US" b="1" i="1" smtClean="0">
                                <a:solidFill>
                                  <a:srgbClr val="0033CC"/>
                                </a:solidFill>
                                <a:latin typeface="Cambria Math" panose="02040503050406030204" pitchFamily="18" charset="0"/>
                              </a:rPr>
                              <m:t>𝒊</m:t>
                            </m:r>
                          </m:sub>
                        </m:sSub>
                        <m:r>
                          <m:rPr>
                            <m:brk m:alnAt="7"/>
                          </m:rPr>
                          <a:rPr lang="en-US" b="1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1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  <m:sup/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𝐼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𝐷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</a:rPr>
                          <m:t>&gt;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nary>
                    <m:r>
                      <a:rPr lang="en-US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b="0" dirty="0"/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dirty="0"/>
                  <a:t>True Negatives 	(TN):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sSub>
                          <m:sSubPr>
                            <m:ctrlPr>
                              <a:rPr lang="en-US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brk m:alnAt="7"/>
                              </m:rPr>
                              <a:rPr lang="en-US" b="1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  <m:sub>
                            <m:r>
                              <m:rPr>
                                <m:brk m:alnAt="7"/>
                              </m:rPr>
                              <a:rPr lang="en-US" b="1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𝒊</m:t>
                            </m:r>
                          </m:sub>
                        </m:sSub>
                        <m:r>
                          <m:rPr>
                            <m:brk m:alnAt="7"/>
                          </m:rPr>
                          <a:rPr lang="en-US" b="1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1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𝟎</m:t>
                        </m:r>
                      </m:sub>
                      <m:sup/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𝐼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𝐷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≤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nary>
                    <m:r>
                      <a:rPr lang="en-US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b="0" dirty="0"/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dirty="0"/>
                  <a:t>False Positives 	(FP):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sSub>
                          <m:sSubPr>
                            <m:ctrlPr>
                              <a:rPr lang="en-US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brk m:alnAt="7"/>
                              </m:rPr>
                              <a:rPr lang="en-US" b="1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𝒚</m:t>
                            </m:r>
                          </m:e>
                          <m:sub>
                            <m:r>
                              <m:rPr>
                                <m:brk m:alnAt="7"/>
                              </m:rPr>
                              <a:rPr lang="en-US" b="1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𝒊</m:t>
                            </m:r>
                          </m:sub>
                        </m:sSub>
                        <m:r>
                          <m:rPr>
                            <m:brk m:alnAt="7"/>
                          </m:rPr>
                          <a:rPr lang="en-US" b="1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1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𝟎</m:t>
                        </m:r>
                      </m:sub>
                      <m:sup/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𝐼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𝐷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</a:rPr>
                          <m:t>&gt;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nary>
                    <m:r>
                      <a:rPr lang="en-US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>
                    <a:solidFill>
                      <a:srgbClr val="0033CC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𝐼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dirty="0">
                    <a:solidFill>
                      <a:srgbClr val="0033CC"/>
                    </a:solidFill>
                  </a:rPr>
                  <a:t> if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lang="en-US" dirty="0">
                    <a:solidFill>
                      <a:srgbClr val="0033CC"/>
                    </a:solidFill>
                  </a:rPr>
                  <a:t> is true, 0 otherwise.</a:t>
                </a:r>
                <a:endParaRPr lang="en-US" b="0" dirty="0">
                  <a:latin typeface="+mn-lt"/>
                </a:endParaRPr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B8DAA0BC-4401-45B6-8218-AEEEF18E175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05" t="-1316" r="-8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98551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70CCC6-1254-A8A6-1666-29EA2E74EB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E5B4D7EC-0A9E-88B8-3786-D04B92BF0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Classifier Performance (2)</a:t>
            </a:r>
            <a:endParaRPr lang="en-US" dirty="0">
              <a:solidFill>
                <a:schemeClr val="accent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8A099783-2799-6C19-C31C-FAF24757F70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11200" y="1295400"/>
                <a:ext cx="8432800" cy="4819650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FN: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brk m:alnAt="7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m:rPr>
                                <m:brk m:alnAt="7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m:rPr>
                            <m:brk m:alnAt="7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/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𝐼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𝐷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≤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nary>
                    <m:r>
                      <a:rPr lang="en-US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	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TP: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brk m:alnAt="7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m:rPr>
                                <m:brk m:alnAt="7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m:rPr>
                            <m:brk m:alnAt="7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/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𝐼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𝐷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</a:rPr>
                          <m:t>&gt;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nary>
                    <m:r>
                      <a:rPr lang="en-US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			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𝒚</m:t>
                    </m:r>
                    <m:r>
                      <a:rPr lang="en-US" b="1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𝟎</m:t>
                    </m:r>
                  </m:oMath>
                </a14:m>
                <a:endParaRPr lang="en-US" b="1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457200" indent="-457200">
                  <a:buFont typeface="+mj-lt"/>
                  <a:buAutoNum type="arabicPeriod"/>
                </a:pPr>
                <a:endParaRPr lang="en-US" b="0" dirty="0"/>
              </a:p>
              <a:p>
                <a:pPr marL="457200" indent="-457200">
                  <a:buFont typeface="+mj-lt"/>
                  <a:buAutoNum type="arabicPeriod"/>
                </a:pPr>
                <a:endParaRPr lang="en-US" dirty="0"/>
              </a:p>
              <a:p>
                <a:pPr marL="457200" indent="-457200">
                  <a:buFont typeface="+mj-lt"/>
                  <a:buAutoNum type="arabicPeriod"/>
                </a:pPr>
                <a:endParaRPr lang="en-US" b="0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br>
                  <a:rPr lang="en-US" b="0" dirty="0"/>
                </a:br>
                <a:r>
                  <a:rPr lang="en-US" b="0" dirty="0"/>
                  <a:t>	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𝒚</m:t>
                    </m:r>
                    <m:r>
                      <a:rPr lang="en-US" b="1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0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r>
                  <a:rPr lang="en-US" dirty="0"/>
                  <a:t> 				TN: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brk m:alnAt="7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m:rPr>
                                <m:brk m:alnAt="7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m:rPr>
                            <m:brk m:alnAt="7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/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𝐼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𝐷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≤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nary>
                    <m:r>
                      <a:rPr lang="en-US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b="0" dirty="0"/>
              </a:p>
              <a:p>
                <a:pPr marL="0" indent="0">
                  <a:buNone/>
                </a:pPr>
                <a:r>
                  <a:rPr lang="en-US" dirty="0"/>
                  <a:t>					FP: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brk m:alnAt="7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m:rPr>
                                <m:brk m:alnAt="7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m:rPr>
                            <m:brk m:alnAt="7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/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𝐼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𝐷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</a:rPr>
                          <m:t>&gt;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nary>
                    <m:r>
                      <a:rPr lang="en-US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b="0" dirty="0">
                  <a:latin typeface="+mn-lt"/>
                </a:endParaRPr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8A099783-2799-6C19-C31C-FAF24757F70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11200" y="1295400"/>
                <a:ext cx="8432800" cy="4819650"/>
              </a:xfrm>
              <a:blipFill>
                <a:blip r:embed="rId2"/>
                <a:stretch>
                  <a:fillRect l="-1205" t="-12368" b="-207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9" name="Picture 18" descr="A graph of a function&#10;&#10;Description automatically generated">
            <a:extLst>
              <a:ext uri="{FF2B5EF4-FFF2-40B4-BE49-F238E27FC236}">
                <a16:creationId xmlns:a16="http://schemas.microsoft.com/office/drawing/2014/main" id="{ED5C4D9E-FC76-30ED-A950-D295A549FD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3000" y="2362200"/>
            <a:ext cx="3657600" cy="29210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21" name="Picture 20" descr="A graph of a function&#10;&#10;Description automatically generated">
            <a:extLst>
              <a:ext uri="{FF2B5EF4-FFF2-40B4-BE49-F238E27FC236}">
                <a16:creationId xmlns:a16="http://schemas.microsoft.com/office/drawing/2014/main" id="{0735ED67-9E57-1D90-753D-20058D4239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2286000"/>
            <a:ext cx="3657600" cy="29210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247924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DE3E14-E81B-0001-CB18-62738DE0D9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6DEFA01A-487B-ACAE-8ABB-3CF070E81C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Confusion Matrix</a:t>
            </a:r>
            <a:endParaRPr lang="en-US" dirty="0">
              <a:solidFill>
                <a:schemeClr val="accent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44A691D5-9F0D-FB02-2F98-B56C50D2CB9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11200" y="1295400"/>
                <a:ext cx="8432800" cy="4819650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FN: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brk m:alnAt="7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m:rPr>
                                <m:brk m:alnAt="7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m:rPr>
                            <m:brk m:alnAt="7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/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𝐼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𝐷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≤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nary>
                    <m:r>
                      <a:rPr lang="en-US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TP: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brk m:alnAt="7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m:rPr>
                                <m:brk m:alnAt="7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m:rPr>
                            <m:brk m:alnAt="7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/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𝐼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𝐷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</a:rPr>
                          <m:t>&gt;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nary>
                    <m:r>
                      <a:rPr lang="en-US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b="0" dirty="0"/>
              </a:p>
              <a:p>
                <a:pPr marL="0" indent="0">
                  <a:buNone/>
                </a:pPr>
                <a:endParaRPr lang="en-US" b="0" dirty="0"/>
              </a:p>
              <a:p>
                <a:pPr marL="0" indent="0">
                  <a:buNone/>
                </a:pPr>
                <a:r>
                  <a:rPr lang="en-US" dirty="0"/>
                  <a:t>The </a:t>
                </a:r>
                <a:r>
                  <a:rPr lang="en-US" dirty="0">
                    <a:solidFill>
                      <a:srgbClr val="0033CC"/>
                    </a:solidFill>
                  </a:rPr>
                  <a:t>confusion matrix</a:t>
                </a:r>
                <a:r>
                  <a:rPr lang="en-US" dirty="0"/>
                  <a:t> is a simple</a:t>
                </a:r>
              </a:p>
              <a:p>
                <a:pPr marL="0" indent="0">
                  <a:buNone/>
                </a:pPr>
                <a:r>
                  <a:rPr lang="en-US" dirty="0"/>
                  <a:t>w</a:t>
                </a:r>
                <a:r>
                  <a:rPr lang="en-US" b="0" dirty="0"/>
                  <a:t>ay to summari</a:t>
                </a:r>
                <a:r>
                  <a:rPr lang="en-US" dirty="0"/>
                  <a:t>ze the counts in</a:t>
                </a:r>
              </a:p>
              <a:p>
                <a:pPr marL="0" indent="0">
                  <a:buNone/>
                </a:pPr>
                <a:r>
                  <a:rPr lang="en-US" dirty="0"/>
                  <a:t>t</a:t>
                </a:r>
                <a:r>
                  <a:rPr lang="en-US" b="0" dirty="0"/>
                  <a:t>he four disjoint regions.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b="0" dirty="0"/>
                  <a:t>A perfectly separable dataset</a:t>
                </a:r>
                <a:br>
                  <a:rPr lang="en-US" b="0" dirty="0"/>
                </a:br>
                <a:r>
                  <a:rPr lang="en-US" b="0" dirty="0"/>
                  <a:t>would yield a diagonal matrix</a:t>
                </a:r>
                <a:r>
                  <a:rPr lang="en-US" dirty="0"/>
                  <a:t>.</a:t>
                </a:r>
                <a:endParaRPr lang="en-US" b="0" dirty="0"/>
              </a:p>
              <a:p>
                <a:pPr marL="0" indent="0">
                  <a:buNone/>
                </a:pPr>
                <a:r>
                  <a:rPr lang="en-US" dirty="0"/>
                  <a:t>					TN: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brk m:alnAt="7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m:rPr>
                                <m:brk m:alnAt="7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m:rPr>
                            <m:brk m:alnAt="7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/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𝐼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𝐷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≤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nary>
                    <m:r>
                      <a:rPr lang="en-US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b="0" dirty="0"/>
              </a:p>
              <a:p>
                <a:pPr marL="0" indent="0">
                  <a:buNone/>
                </a:pPr>
                <a:r>
                  <a:rPr lang="en-US" dirty="0"/>
                  <a:t>					FP:	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brk m:alnAt="7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m:rPr>
                                <m:brk m:alnAt="7"/>
                              </m:rP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m:rPr>
                            <m:brk m:alnAt="7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/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𝐼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[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𝐷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</a:rPr>
                          <m:t>&gt;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nary>
                    <m:r>
                      <a:rPr lang="en-US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b="0" dirty="0">
                  <a:latin typeface="+mn-lt"/>
                </a:endParaRPr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44A691D5-9F0D-FB02-2F98-B56C50D2CB9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11200" y="1295400"/>
                <a:ext cx="8432800" cy="4819650"/>
              </a:xfrm>
              <a:blipFill>
                <a:blip r:embed="rId2"/>
                <a:stretch>
                  <a:fillRect l="-1205" t="-12368" b="-207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 descr="A diagram of a confusion matrix&#10;&#10;Description automatically generated">
            <a:extLst>
              <a:ext uri="{FF2B5EF4-FFF2-40B4-BE49-F238E27FC236}">
                <a16:creationId xmlns:a16="http://schemas.microsoft.com/office/drawing/2014/main" id="{9C32FE41-1CEB-B66A-E34F-950A4C4D20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3000" y="1295400"/>
            <a:ext cx="3657600" cy="36576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4979400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97A5D4-61CE-7BA2-0A77-B01D721BB4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7" name="Title 6">
                <a:extLst>
                  <a:ext uri="{FF2B5EF4-FFF2-40B4-BE49-F238E27FC236}">
                    <a16:creationId xmlns:a16="http://schemas.microsoft.com/office/drawing/2014/main" id="{CFFE38CD-8CD0-A665-1977-8FF686A074BE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Confusion Matrix (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𝒕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𝟎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𝟗</m:t>
                    </m:r>
                  </m:oMath>
                </a14:m>
                <a:r>
                  <a:rPr lang="en-US" dirty="0"/>
                  <a:t>)</a:t>
                </a:r>
                <a:endParaRPr lang="en-US" dirty="0">
                  <a:solidFill>
                    <a:schemeClr val="accent1"/>
                  </a:solidFill>
                </a:endParaRPr>
              </a:p>
            </p:txBody>
          </p:sp>
        </mc:Choice>
        <mc:Fallback xmlns="">
          <p:sp>
            <p:nvSpPr>
              <p:cNvPr id="7" name="Title 6">
                <a:extLst>
                  <a:ext uri="{FF2B5EF4-FFF2-40B4-BE49-F238E27FC236}">
                    <a16:creationId xmlns:a16="http://schemas.microsoft.com/office/drawing/2014/main" id="{CFFE38CD-8CD0-A665-1977-8FF686A074B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t="-1515" b="-2121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4" name="Picture 13" descr="A graph of a graph&#10;&#10;Description automatically generated">
            <a:extLst>
              <a:ext uri="{FF2B5EF4-FFF2-40B4-BE49-F238E27FC236}">
                <a16:creationId xmlns:a16="http://schemas.microsoft.com/office/drawing/2014/main" id="{186DAB4B-38CF-DB45-3844-107A48AA34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5424" y="3287712"/>
            <a:ext cx="3657600" cy="29210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0" name="Picture 9" descr="A diagram of a confusion matrix&#10;&#10;Description automatically generated">
            <a:extLst>
              <a:ext uri="{FF2B5EF4-FFF2-40B4-BE49-F238E27FC236}">
                <a16:creationId xmlns:a16="http://schemas.microsoft.com/office/drawing/2014/main" id="{E4B6085F-DA2F-133C-082B-29395A94D2A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0" y="990600"/>
            <a:ext cx="3657600" cy="36576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12" name="Picture 11" descr="A graph of a function&#10;&#10;Description automatically generated">
            <a:extLst>
              <a:ext uri="{FF2B5EF4-FFF2-40B4-BE49-F238E27FC236}">
                <a16:creationId xmlns:a16="http://schemas.microsoft.com/office/drawing/2014/main" id="{B03FEB89-1C50-8CFB-0F50-EF9D2DA7DA9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2400" y="3263900"/>
            <a:ext cx="3657600" cy="29210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9334678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8DF535-56A9-5FE1-75AA-7EA105642E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 descr="A graph of a function&#10;&#10;Description automatically generated">
            <a:extLst>
              <a:ext uri="{FF2B5EF4-FFF2-40B4-BE49-F238E27FC236}">
                <a16:creationId xmlns:a16="http://schemas.microsoft.com/office/drawing/2014/main" id="{6F056D68-A397-B3B1-0686-EEBC4B73DC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9214" y="3403600"/>
            <a:ext cx="3657600" cy="29210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21" name="Picture 20" descr="A graph of a function&#10;&#10;Description automatically generated">
            <a:extLst>
              <a:ext uri="{FF2B5EF4-FFF2-40B4-BE49-F238E27FC236}">
                <a16:creationId xmlns:a16="http://schemas.microsoft.com/office/drawing/2014/main" id="{A86F94DE-6CF7-24F3-FAB6-EBD36C0843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474" y="3403600"/>
            <a:ext cx="3657600" cy="29210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39243018-889C-B2B3-1F5D-17ED3AF4B8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Accuracy, Precision, Recall</a:t>
            </a:r>
            <a:endParaRPr lang="en-US" dirty="0">
              <a:solidFill>
                <a:schemeClr val="accent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02D6F545-675A-4AF5-BCA1-CC5C0ECDDFE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11200" y="1295400"/>
                <a:ext cx="8432800" cy="4819650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b="0" dirty="0">
                    <a:solidFill>
                      <a:srgbClr val="0033CC"/>
                    </a:solidFill>
                  </a:rPr>
                  <a:t>Accuracy</a:t>
                </a:r>
                <a:r>
                  <a:rPr lang="en-US" b="0" dirty="0"/>
                  <a:t>	= (TP + TN) / </a:t>
                </a:r>
                <a:r>
                  <a:rPr lang="en-US" dirty="0"/>
                  <a:t>(TP + TN + FN + </a:t>
                </a:r>
                <a:r>
                  <a:rPr lang="en-US" b="0" dirty="0"/>
                  <a:t>FP)</a:t>
                </a:r>
              </a:p>
              <a:p>
                <a:pPr marL="0" indent="0">
                  <a:buNone/>
                </a:pPr>
                <a:r>
                  <a:rPr lang="en-US" dirty="0">
                    <a:solidFill>
                      <a:srgbClr val="0033CC"/>
                    </a:solidFill>
                  </a:rPr>
                  <a:t>Precision</a:t>
                </a:r>
                <a:r>
                  <a:rPr lang="en-US" dirty="0"/>
                  <a:t>	= TP / (TP + FP)	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=1|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b="0" dirty="0">
                    <a:solidFill>
                      <a:srgbClr val="0033CC"/>
                    </a:solidFill>
                  </a:rPr>
                  <a:t>Recall</a:t>
                </a:r>
                <a:r>
                  <a:rPr lang="en-US" b="0" dirty="0"/>
                  <a:t>		= TP / (FN + TP)	</a:t>
                </a:r>
              </a:p>
              <a:p>
                <a:pPr marL="0" indent="0">
                  <a:buNone/>
                </a:pPr>
                <a:r>
                  <a:rPr lang="en-US" b="0" dirty="0">
                    <a:solidFill>
                      <a:srgbClr val="0033CC"/>
                    </a:solidFill>
                  </a:rPr>
                  <a:t>True Positive Rate </a:t>
                </a:r>
                <a:r>
                  <a:rPr lang="en-US" b="0" dirty="0"/>
                  <a:t>(TPR)	= TP / (FN + TP) 	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|1)</m:t>
                    </m:r>
                  </m:oMath>
                </a14:m>
                <a:endParaRPr lang="en-US" b="0" dirty="0">
                  <a:solidFill>
                    <a:srgbClr val="0033CC"/>
                  </a:solidFill>
                </a:endParaRPr>
              </a:p>
              <a:p>
                <a:pPr marL="0" indent="0">
                  <a:buNone/>
                </a:pPr>
                <a:r>
                  <a:rPr lang="en-US" dirty="0">
                    <a:solidFill>
                      <a:srgbClr val="0033CC"/>
                    </a:solidFill>
                  </a:rPr>
                  <a:t>False Positive Rate </a:t>
                </a:r>
                <a:r>
                  <a:rPr lang="en-US" dirty="0"/>
                  <a:t>(FPR)	= FP / (TN + FP)	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|0)</m:t>
                    </m:r>
                  </m:oMath>
                </a14:m>
                <a:endParaRPr lang="en-US" b="0" dirty="0"/>
              </a:p>
              <a:p>
                <a:pPr marL="457200" indent="-457200">
                  <a:buFont typeface="+mj-lt"/>
                  <a:buAutoNum type="arabicPeriod"/>
                </a:pPr>
                <a:endParaRPr lang="en-US" dirty="0"/>
              </a:p>
              <a:p>
                <a:pPr marL="0" indent="0">
                  <a:buNone/>
                </a:pPr>
                <a:endParaRPr lang="en-US" b="0" dirty="0">
                  <a:latin typeface="+mn-lt"/>
                </a:endParaRPr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02D6F545-675A-4AF5-BCA1-CC5C0ECDDFE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11200" y="1295400"/>
                <a:ext cx="8432800" cy="4819650"/>
              </a:xfrm>
              <a:blipFill>
                <a:blip r:embed="rId4"/>
                <a:stretch>
                  <a:fillRect l="-1205" t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74866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552E35-A156-BC43-791C-17D8A7B0A2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3808ABAD-372F-B9A5-CF67-B4F30591B9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ROC and AUC</a:t>
            </a:r>
            <a:endParaRPr lang="en-US" dirty="0">
              <a:solidFill>
                <a:schemeClr val="accent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92C9029E-555C-CE56-CBFA-52C6C7B980F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The ROC curve is a plot of </a:t>
                </a:r>
                <a:br>
                  <a:rPr lang="en-US" dirty="0">
                    <a:latin typeface="+mn-lt"/>
                  </a:rPr>
                </a:br>
                <a:r>
                  <a:rPr lang="en-US" dirty="0">
                    <a:latin typeface="+mn-lt"/>
                  </a:rPr>
                  <a:t>TPR vs. FPR, that is,</a:t>
                </a:r>
                <a:br>
                  <a:rPr lang="en-US" dirty="0">
                    <a:latin typeface="+mn-lt"/>
                  </a:rPr>
                </a:br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lang="en-US" b="0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&gt;</m:t>
                          </m:r>
                          <m:r>
                            <a:rPr lang="en-US" b="0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e>
                          <m:r>
                            <a:rPr lang="en-US" b="0" i="1" smtClean="0">
                              <a:solidFill>
                                <a:srgbClr val="0033CC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b="0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vs</m:t>
                      </m:r>
                      <m:r>
                        <m:rPr>
                          <m:nor/>
                        </m:rPr>
                        <a:rPr lang="en-US" b="0" i="0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b="0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en-US" b="0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b="0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𝐷</m:t>
                      </m:r>
                      <m:r>
                        <a:rPr lang="en-US" b="0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&gt;</m:t>
                      </m:r>
                      <m:r>
                        <a:rPr lang="en-US" b="0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b="0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|0)</m:t>
                      </m:r>
                    </m:oMath>
                  </m:oMathPara>
                </a14:m>
                <a:endParaRPr lang="en-US" dirty="0">
                  <a:solidFill>
                    <a:srgbClr val="0033CC"/>
                  </a:solidFill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where (usually)</a:t>
                </a: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𝐷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en-US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d>
                            <m:dPr>
                              <m:begChr m:val="|"/>
                              <m:ctrlP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num>
                        <m:den>
                          <m: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d>
                            <m:dPr>
                              <m:begChr m:val="|"/>
                              <m:ctrlP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  <m:r>
                            <a:rPr 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d>
                            <m:dPr>
                              <m:begChr m:val="|"/>
                              <m:ctrlP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US" b="0" dirty="0">
                  <a:latin typeface="+mn-lt"/>
                </a:endParaRPr>
              </a:p>
              <a:p>
                <a:pPr marL="0" indent="0">
                  <a:buNone/>
                </a:pPr>
                <a:endParaRPr lang="en-US" b="0" dirty="0">
                  <a:latin typeface="+mn-lt"/>
                </a:endParaRPr>
              </a:p>
            </p:txBody>
          </p:sp>
        </mc:Choice>
        <mc:Fallback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92C9029E-555C-CE56-CBFA-52C6C7B980F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05" t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 descr="A graph of a function&#10;&#10;Description automatically generated">
            <a:extLst>
              <a:ext uri="{FF2B5EF4-FFF2-40B4-BE49-F238E27FC236}">
                <a16:creationId xmlns:a16="http://schemas.microsoft.com/office/drawing/2014/main" id="{4EBCB0AC-A544-D7DE-97C5-CF8BAC9084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200" y="1447800"/>
            <a:ext cx="4662435" cy="4419600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42628072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93233E-4612-1EF1-198D-7E2E029621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D56991-5CFF-F6C8-CDA0-56652C8606D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Beyond Classification</a:t>
            </a:r>
          </a:p>
        </p:txBody>
      </p:sp>
    </p:spTree>
    <p:extLst>
      <p:ext uri="{BB962C8B-B14F-4D97-AF65-F5344CB8AC3E}">
        <p14:creationId xmlns:p14="http://schemas.microsoft.com/office/powerpoint/2010/main" val="355509517"/>
      </p:ext>
    </p:extLst>
  </p:cSld>
  <p:clrMapOvr>
    <a:masterClrMapping/>
  </p:clrMapOvr>
  <p:transition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7C65E5-B875-3CDA-6D69-16B5471434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17AEFDB6-F50F-F8CA-6518-78625CBBA631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b="0" dirty="0"/>
                  <a:t>Notice that the discriminant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𝐷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US" dirty="0">
                  <a:effectLst>
                    <a:outerShdw blurRad="38100" dist="38100" dir="2700000" algn="tl">
                      <a:srgbClr val="DDDDDD"/>
                    </a:outerShdw>
                  </a:effectLst>
                </a:endParaRPr>
              </a:p>
              <a:p>
                <a:pPr marL="0" indent="0">
                  <a:buNone/>
                </a:pPr>
                <a:r>
                  <a:rPr lang="en-US" dirty="0"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can be rewritten as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|1)=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b="0" i="1" smtClean="0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  <m:r>
                                <a:rPr lang="en-US" b="0" i="1" smtClean="0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b="0" i="1" smtClean="0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b="0" i="1" smtClean="0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num>
                            <m:den>
                              <m:r>
                                <a:rPr lang="en-US" b="0" i="1" smtClean="0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r>
                                <a:rPr lang="en-US" b="0" i="1" smtClean="0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  <m:r>
                                <a:rPr lang="en-US" b="0" i="1" smtClean="0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b="0" i="1" smtClean="0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b="0" i="1" smtClean="0">
                                  <a:solidFill>
                                    <a:srgbClr val="0033CC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|0)</m:t>
                      </m:r>
                    </m:oMath>
                  </m:oMathPara>
                </a14:m>
                <a:endParaRPr lang="en-US" dirty="0">
                  <a:effectLst>
                    <a:outerShdw blurRad="38100" dist="38100" dir="2700000" algn="tl">
                      <a:srgbClr val="DDDDDD"/>
                    </a:outerShdw>
                  </a:effectLst>
                </a:endParaRPr>
              </a:p>
              <a:p>
                <a:pPr marL="0" indent="0">
                  <a:buNone/>
                </a:pPr>
                <a:r>
                  <a:rPr lang="en-US" dirty="0"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which is often referred to as the likelihood ratio trick. </a:t>
                </a:r>
              </a:p>
              <a:p>
                <a:pPr marL="0" indent="0">
                  <a:buNone/>
                </a:pPr>
                <a:endParaRPr lang="en-US" dirty="0">
                  <a:effectLst>
                    <a:outerShdw blurRad="38100" dist="38100" dir="2700000" algn="tl">
                      <a:srgbClr val="DDDDDD"/>
                    </a:outerShdw>
                  </a:effectLst>
                </a:endParaRPr>
              </a:p>
              <a:p>
                <a:pPr marL="0" indent="0">
                  <a:buNone/>
                </a:pPr>
                <a:r>
                  <a:rPr lang="en-US" dirty="0"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If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|0)</m:t>
                    </m:r>
                  </m:oMath>
                </a14:m>
                <a:r>
                  <a:rPr lang="en-US" dirty="0">
                    <a:solidFill>
                      <a:srgbClr val="0033CC"/>
                    </a:solidFill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 </a:t>
                </a:r>
                <a:r>
                  <a:rPr lang="en-US" dirty="0"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is a </a:t>
                </a:r>
                <a:r>
                  <a:rPr lang="en-US" i="1" dirty="0"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known</a:t>
                </a:r>
                <a:r>
                  <a:rPr lang="en-US" dirty="0"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 density from which the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effectLst>
                          <a:outerShdw blurRad="38100" dist="38100" dir="2700000" algn="tl">
                            <a:srgbClr val="DDDDDD"/>
                          </a:outerShdw>
                        </a:effectLst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effectLst>
                          <a:outerShdw blurRad="38100" dist="38100" dir="2700000" algn="tl">
                            <a:srgbClr val="DDDDDD"/>
                          </a:outerShdw>
                        </a:effectLst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dirty="0"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 vectors are sampled, then the discriminant can be repurposed as a </a:t>
                </a:r>
                <a:r>
                  <a:rPr lang="en-US" b="1" dirty="0">
                    <a:solidFill>
                      <a:srgbClr val="0033CC"/>
                    </a:solidFill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probability density estimator</a:t>
                </a:r>
                <a:r>
                  <a:rPr lang="en-US" dirty="0">
                    <a:effectLst>
                      <a:outerShdw blurRad="38100" dist="38100" dir="2700000" algn="tl">
                        <a:srgbClr val="DDDDDD"/>
                      </a:outerShdw>
                    </a:effectLst>
                  </a:rPr>
                  <a:t>.</a:t>
                </a:r>
              </a:p>
              <a:p>
                <a:pPr marL="0" indent="0">
                  <a:buNone/>
                </a:pPr>
                <a:endParaRPr lang="en-US" dirty="0">
                  <a:effectLst>
                    <a:outerShdw blurRad="38100" dist="38100" dir="2700000" algn="tl">
                      <a:srgbClr val="DDDDDD"/>
                    </a:outerShdw>
                  </a:effectLst>
                </a:endParaRP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17AEFDB6-F50F-F8CA-6518-78625CBBA63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1309" t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itle 2">
            <a:extLst>
              <a:ext uri="{FF2B5EF4-FFF2-40B4-BE49-F238E27FC236}">
                <a16:creationId xmlns:a16="http://schemas.microsoft.com/office/drawing/2014/main" id="{B6BF1F42-9D07-58C2-7DEF-AAD977C156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Beyond Classification (1) </a:t>
            </a:r>
            <a:endParaRPr 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2697392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F85FAE-27C2-8BB3-6FEE-71FA98E040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00C65E00-5CA2-2EC7-8CDA-2FFC579399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Beyond Classification (2)</a:t>
            </a:r>
            <a:endParaRPr lang="en-US" dirty="0">
              <a:solidFill>
                <a:schemeClr val="accent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3BB4544E-B2F7-15C2-FEF0-91F9F534E11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Consider a dataset </a:t>
                </a:r>
                <a:r>
                  <a:rPr lang="en-US" dirty="0">
                    <a:solidFill>
                      <a:srgbClr val="0033CC"/>
                    </a:solidFill>
                  </a:rPr>
                  <a:t>U[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>
                    <a:solidFill>
                      <a:srgbClr val="0033CC"/>
                    </a:solidFill>
                  </a:rPr>
                  <a:t>]</a:t>
                </a:r>
                <a:r>
                  <a:rPr lang="en-US" dirty="0"/>
                  <a:t>, of size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dirty="0"/>
                  <a:t>, labeled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dirty="0"/>
                  <a:t>. The goal is to approximate its associated probability density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 </a:t>
                </a:r>
                <a:endParaRPr lang="en-US" b="1" dirty="0">
                  <a:solidFill>
                    <a:srgbClr val="0033CC"/>
                  </a:solidFill>
                </a:endParaRPr>
              </a:p>
              <a:p>
                <a:pPr marL="0" indent="0">
                  <a:buNone/>
                </a:pPr>
                <a:r>
                  <a:rPr lang="en-US" b="1" dirty="0">
                    <a:solidFill>
                      <a:srgbClr val="0033CC"/>
                    </a:solidFill>
                  </a:rPr>
                  <a:t>Algorithm</a:t>
                </a:r>
                <a:endParaRPr lang="en-US" dirty="0"/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dirty="0"/>
                  <a:t>Generate another dataset </a:t>
                </a:r>
                <a:r>
                  <a:rPr lang="en-US" dirty="0">
                    <a:solidFill>
                      <a:srgbClr val="0033CC"/>
                    </a:solidFill>
                  </a:rPr>
                  <a:t>K[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>
                    <a:solidFill>
                      <a:srgbClr val="0033CC"/>
                    </a:solidFill>
                  </a:rPr>
                  <a:t>]</a:t>
                </a:r>
                <a:r>
                  <a:rPr lang="en-US" dirty="0"/>
                  <a:t>, of size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dirty="0"/>
                  <a:t>, labeled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dirty="0"/>
                  <a:t>, where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∼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d>
                      <m:dPr>
                        <m:ctrlP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≡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</m:oMath>
                </a14:m>
                <a:r>
                  <a:rPr lang="en-US" dirty="0"/>
                  <a:t>, a </a:t>
                </a:r>
                <a:r>
                  <a:rPr lang="en-US" i="1" dirty="0"/>
                  <a:t>known</a:t>
                </a:r>
                <a:r>
                  <a:rPr lang="en-US" dirty="0"/>
                  <a:t> density*. </a:t>
                </a:r>
                <a:br>
                  <a:rPr lang="en-US" dirty="0">
                    <a:solidFill>
                      <a:srgbClr val="0033CC"/>
                    </a:solidFill>
                  </a:rPr>
                </a:br>
                <a:endParaRPr lang="en-US" dirty="0">
                  <a:solidFill>
                    <a:srgbClr val="0033CC"/>
                  </a:solidFill>
                </a:endParaRP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dirty="0"/>
                  <a:t>Train a classifier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𝐷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n-US" dirty="0">
                    <a:solidFill>
                      <a:srgbClr val="0033CC"/>
                    </a:solidFill>
                  </a:rPr>
                  <a:t> </a:t>
                </a:r>
                <a:r>
                  <a:rPr lang="en-US" dirty="0"/>
                  <a:t>using a randomized mixture of the datasets </a:t>
                </a:r>
                <a:r>
                  <a:rPr lang="en-US" dirty="0">
                    <a:solidFill>
                      <a:srgbClr val="0033CC"/>
                    </a:solidFill>
                  </a:rPr>
                  <a:t>U[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>
                    <a:solidFill>
                      <a:srgbClr val="0033CC"/>
                    </a:solidFill>
                  </a:rPr>
                  <a:t>] </a:t>
                </a:r>
                <a:r>
                  <a:rPr lang="en-US" dirty="0"/>
                  <a:t>and</a:t>
                </a:r>
                <a:r>
                  <a:rPr lang="en-US" dirty="0">
                    <a:solidFill>
                      <a:srgbClr val="0033CC"/>
                    </a:solidFill>
                  </a:rPr>
                  <a:t> K[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>
                    <a:solidFill>
                      <a:srgbClr val="0033CC"/>
                    </a:solidFill>
                  </a:rPr>
                  <a:t>].</a:t>
                </a:r>
                <a:endParaRPr lang="en-US" dirty="0"/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dirty="0"/>
                  <a:t>Approximate the unknown density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rgbClr val="0033CC"/>
                    </a:solidFill>
                  </a:rPr>
                  <a:t> </a:t>
                </a:r>
                <a:r>
                  <a:rPr lang="en-US" dirty="0"/>
                  <a:t>using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</m:den>
                          </m:f>
                        </m:e>
                      </m:d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* </a:t>
                </a:r>
                <a:r>
                  <a:rPr lang="en-US" sz="2000" dirty="0"/>
                  <a:t>The symbol “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∼</m:t>
                    </m:r>
                  </m:oMath>
                </a14:m>
                <a:r>
                  <a:rPr lang="en-US" sz="2000" dirty="0"/>
                  <a:t>” means “sampled from”.</a:t>
                </a:r>
                <a:endParaRPr lang="en-US" dirty="0"/>
              </a:p>
            </p:txBody>
          </p:sp>
        </mc:Choice>
        <mc:Fallback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3BB4544E-B2F7-15C2-FEF0-91F9F534E11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05" t="-1316" r="-1142" b="-5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677767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44BB75-C7FD-A545-2D7F-9AF91FEA95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1D720821-06F8-57AE-7CC4-75963BB05D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Beyond Classification (3)</a:t>
            </a:r>
            <a:endParaRPr lang="en-US" dirty="0">
              <a:solidFill>
                <a:schemeClr val="accent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3A5C1975-8E13-2BA1-7AC2-66CBFD887B5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But we can go further*. 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Suppose our dataset U is from a simulation that depends on a set of parameters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dirty="0"/>
                  <a:t>. 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Let’s sample these parameters from a </a:t>
                </a:r>
                <a:r>
                  <a:rPr lang="en-US" i="1" dirty="0">
                    <a:solidFill>
                      <a:srgbClr val="0033CC"/>
                    </a:solidFill>
                  </a:rPr>
                  <a:t>known</a:t>
                </a:r>
                <a:r>
                  <a:rPr lang="en-US" dirty="0"/>
                  <a:t> prior,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𝜋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</m:oMath>
                </a14:m>
                <a:r>
                  <a:rPr lang="en-US" dirty="0"/>
                  <a:t>.  For each sampled point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 is sampled from the </a:t>
                </a:r>
                <a:r>
                  <a:rPr lang="en-US" i="1" dirty="0">
                    <a:solidFill>
                      <a:srgbClr val="0033CC"/>
                    </a:solidFill>
                  </a:rPr>
                  <a:t>unknown</a:t>
                </a:r>
                <a:r>
                  <a:rPr lang="en-US" dirty="0"/>
                  <a:t> density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</m:oMath>
                </a14:m>
                <a:r>
                  <a:rPr lang="en-US" dirty="0"/>
                  <a:t> using the simulator. 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The dataset, labeled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dirty="0"/>
                  <a:t>,  comprises </a:t>
                </a:r>
                <a:r>
                  <a:rPr lang="en-US" i="1" dirty="0">
                    <a:solidFill>
                      <a:srgbClr val="0033CC"/>
                    </a:solidFill>
                  </a:rPr>
                  <a:t>N</a:t>
                </a:r>
                <a:r>
                  <a:rPr lang="en-US" dirty="0"/>
                  <a:t> pairs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</m:oMath>
                </a14:m>
                <a:r>
                  <a:rPr lang="en-US" dirty="0"/>
                  <a:t> that constitute a </a:t>
                </a:r>
                <a:r>
                  <a:rPr lang="en-US" b="1" dirty="0">
                    <a:solidFill>
                      <a:srgbClr val="0033CC"/>
                    </a:solidFill>
                  </a:rPr>
                  <a:t>point cloud </a:t>
                </a:r>
                <a:r>
                  <a:rPr lang="en-US" dirty="0"/>
                  <a:t>representation of the joint density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 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3A5C1975-8E13-2BA1-7AC2-66CBFD887B5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05" t="-1316" r="-1631" b="-5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1000067B-73D2-8C50-C0A1-8A38ED301FC6}"/>
              </a:ext>
            </a:extLst>
          </p:cNvPr>
          <p:cNvSpPr txBox="1"/>
          <p:nvPr/>
        </p:nvSpPr>
        <p:spPr>
          <a:xfrm>
            <a:off x="3352800" y="5831740"/>
            <a:ext cx="483767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* </a:t>
            </a:r>
            <a:r>
              <a:rPr lang="en-US" sz="1600" dirty="0" err="1"/>
              <a:t>Baldi</a:t>
            </a:r>
            <a:r>
              <a:rPr lang="en-US" sz="1600" dirty="0"/>
              <a:t>, P., Cranmer, K., </a:t>
            </a:r>
            <a:r>
              <a:rPr lang="en-US" sz="1600" dirty="0" err="1"/>
              <a:t>Faucett</a:t>
            </a:r>
            <a:r>
              <a:rPr lang="en-US" sz="1600" dirty="0"/>
              <a:t>, T. </a:t>
            </a:r>
            <a:r>
              <a:rPr lang="en-US" sz="1600" i="1" dirty="0"/>
              <a:t>et al.</a:t>
            </a:r>
            <a:r>
              <a:rPr lang="en-US" sz="1600" dirty="0"/>
              <a:t> </a:t>
            </a:r>
          </a:p>
          <a:p>
            <a:r>
              <a:rPr lang="en-US" sz="1600" dirty="0"/>
              <a:t>Parameterized neural networks for high-energy physics. </a:t>
            </a:r>
          </a:p>
          <a:p>
            <a:r>
              <a:rPr lang="en-US" sz="1600" i="1" dirty="0"/>
              <a:t>Eur. Phys. J. C</a:t>
            </a:r>
            <a:r>
              <a:rPr lang="en-US" sz="1600" dirty="0"/>
              <a:t> </a:t>
            </a:r>
            <a:r>
              <a:rPr lang="en-US" sz="1600" b="1" dirty="0"/>
              <a:t>76</a:t>
            </a:r>
            <a:r>
              <a:rPr lang="en-US" sz="1600" dirty="0"/>
              <a:t>, 235 (2016). </a:t>
            </a:r>
          </a:p>
        </p:txBody>
      </p:sp>
    </p:spTree>
    <p:extLst>
      <p:ext uri="{BB962C8B-B14F-4D97-AF65-F5344CB8AC3E}">
        <p14:creationId xmlns:p14="http://schemas.microsoft.com/office/powerpoint/2010/main" val="35290003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C71CF8-6391-B492-D4D6-F4F481B919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82AFA258-15BA-73B2-A895-6F0D47DD62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Beyond Classification (4)</a:t>
            </a:r>
            <a:endParaRPr lang="en-US" dirty="0">
              <a:solidFill>
                <a:schemeClr val="accent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18A0F1CB-A47B-70E4-E81D-4D20BEC8258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11200" y="1295400"/>
                <a:ext cx="7899400" cy="4819650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b="1" dirty="0">
                    <a:solidFill>
                      <a:srgbClr val="0033CC"/>
                    </a:solidFill>
                  </a:rPr>
                  <a:t>Algorithm</a:t>
                </a:r>
                <a:endParaRPr lang="en-US" dirty="0"/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dirty="0"/>
                  <a:t>Generate a dataset K of size </a:t>
                </a:r>
                <a:r>
                  <a:rPr lang="en-US" i="1" dirty="0">
                    <a:solidFill>
                      <a:srgbClr val="0033CC"/>
                    </a:solidFill>
                  </a:rPr>
                  <a:t>N</a:t>
                </a:r>
                <a:r>
                  <a:rPr lang="en-US" dirty="0"/>
                  <a:t>, labeled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dirty="0"/>
                  <a:t>, where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dirty="0">
                    <a:solidFill>
                      <a:srgbClr val="0033CC"/>
                    </a:solidFill>
                  </a:rPr>
                  <a:t> </a:t>
                </a:r>
                <a:r>
                  <a:rPr lang="en-US" dirty="0"/>
                  <a:t>is sampled from the </a:t>
                </a:r>
                <a:r>
                  <a:rPr lang="en-US" i="1" u="sng" dirty="0"/>
                  <a:t>same</a:t>
                </a:r>
                <a:r>
                  <a:rPr lang="en-US" dirty="0"/>
                  <a:t> prior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 For each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dirty="0"/>
                  <a:t>, </a:t>
                </a:r>
                <a:r>
                  <a:rPr lang="en-US" dirty="0">
                    <a:solidFill>
                      <a:srgbClr val="0033CC"/>
                    </a:solidFill>
                  </a:rPr>
                  <a:t> sample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∼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</m:oMath>
                </a14:m>
                <a:r>
                  <a:rPr lang="en-US" dirty="0">
                    <a:solidFill>
                      <a:srgbClr val="0033CC"/>
                    </a:solidFill>
                  </a:rPr>
                  <a:t>, </a:t>
                </a:r>
                <a:r>
                  <a:rPr lang="en-US" dirty="0"/>
                  <a:t>where</a:t>
                </a:r>
                <a:r>
                  <a:rPr lang="en-US" dirty="0">
                    <a:solidFill>
                      <a:srgbClr val="0033CC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</m:oMath>
                </a14:m>
                <a:r>
                  <a:rPr lang="en-US" dirty="0">
                    <a:solidFill>
                      <a:srgbClr val="0033CC"/>
                    </a:solidFill>
                  </a:rPr>
                  <a:t> </a:t>
                </a:r>
                <a:r>
                  <a:rPr lang="en-US" dirty="0"/>
                  <a:t>is a </a:t>
                </a:r>
                <a:r>
                  <a:rPr lang="en-US" i="1" u="sng" dirty="0"/>
                  <a:t>known</a:t>
                </a:r>
                <a:r>
                  <a:rPr lang="en-US" dirty="0">
                    <a:solidFill>
                      <a:srgbClr val="0033CC"/>
                    </a:solidFill>
                  </a:rPr>
                  <a:t> </a:t>
                </a:r>
                <a:r>
                  <a:rPr lang="en-US" dirty="0"/>
                  <a:t>conditional</a:t>
                </a:r>
                <a:r>
                  <a:rPr lang="en-US" dirty="0">
                    <a:solidFill>
                      <a:srgbClr val="0033CC"/>
                    </a:solidFill>
                  </a:rPr>
                  <a:t> </a:t>
                </a:r>
                <a:r>
                  <a:rPr lang="en-US" dirty="0"/>
                  <a:t>density</a:t>
                </a:r>
                <a:r>
                  <a:rPr lang="en-US" dirty="0">
                    <a:solidFill>
                      <a:srgbClr val="0033CC"/>
                    </a:solidFill>
                  </a:rPr>
                  <a:t>.</a:t>
                </a:r>
                <a:br>
                  <a:rPr lang="en-US" dirty="0">
                    <a:solidFill>
                      <a:srgbClr val="0033CC"/>
                    </a:solidFill>
                  </a:rPr>
                </a:br>
                <a:endParaRPr lang="en-US" dirty="0">
                  <a:solidFill>
                    <a:srgbClr val="0033CC"/>
                  </a:solidFill>
                </a:endParaRP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dirty="0"/>
                  <a:t>Train a classifier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</m:d>
                  </m:oMath>
                </a14:m>
                <a:r>
                  <a:rPr lang="en-US" dirty="0"/>
                  <a:t> with an admixture of U and K.</a:t>
                </a:r>
                <a:br>
                  <a:rPr lang="en-US" dirty="0"/>
                </a:br>
                <a:endParaRPr lang="en-US" dirty="0"/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dirty="0"/>
                  <a:t>Compute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𝑘</m:t>
                    </m:r>
                    <m:d>
                      <m:dPr>
                        <m:ctrlP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  <m:r>
                      <a:rPr lang="en-US" b="0" i="1" smtClean="0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𝜋</m:t>
                    </m:r>
                    <m:d>
                      <m:dPr>
                        <m:ctrlP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𝐷</m:t>
                            </m:r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, 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</m:d>
                          </m:num>
                          <m:den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1−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𝐷</m:t>
                            </m:r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, 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</m:d>
                          </m:den>
                        </m:f>
                      </m:e>
                    </m:d>
                  </m:oMath>
                </a14:m>
                <a:r>
                  <a:rPr lang="en-US" dirty="0"/>
                  <a:t>. 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dirty="0"/>
                  <a:t>Divide by </a:t>
                </a:r>
                <a14:m>
                  <m:oMath xmlns:m="http://schemas.openxmlformats.org/officeDocument/2006/math">
                    <m:r>
                      <a:rPr lang="en-US" i="1">
                        <a:solidFill>
                          <a:srgbClr val="0033CC"/>
                        </a:solidFill>
                        <a:latin typeface="Cambria Math" panose="02040503050406030204" pitchFamily="18" charset="0"/>
                      </a:rPr>
                      <m:t>𝜋</m:t>
                    </m:r>
                    <m:d>
                      <m:dPr>
                        <m:ctrlP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solidFill>
                              <a:srgbClr val="0033CC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</m:oMath>
                </a14:m>
                <a:r>
                  <a:rPr lang="en-US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|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lang="en-US" b="0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b="0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b="0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|</m:t>
                      </m:r>
                      <m:r>
                        <a:rPr lang="en-US" b="0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𝜃</m:t>
                      </m:r>
                      <m:r>
                        <a:rPr lang="en-US" b="0" i="1" smtClean="0">
                          <a:solidFill>
                            <a:srgbClr val="0033CC"/>
                          </a:solidFill>
                          <a:latin typeface="Cambria Math" panose="02040503050406030204" pitchFamily="18" charset="0"/>
                        </a:rPr>
                        <m:t>) 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d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1−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d>
                            </m:den>
                          </m:f>
                        </m:e>
                      </m:d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18A0F1CB-A47B-70E4-E81D-4D20BEC8258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11200" y="1295400"/>
                <a:ext cx="7899400" cy="4819650"/>
              </a:xfrm>
              <a:blipFill>
                <a:blip r:embed="rId2"/>
                <a:stretch>
                  <a:fillRect l="-1284" t="-13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914394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A0730A-77BF-1B8D-5376-F6DCE604B7B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addition to the ROC curve and the AUC, the performance of a classifier can be characterized with several other numbers including:</a:t>
            </a:r>
          </a:p>
          <a:p>
            <a:pPr lvl="1"/>
            <a:r>
              <a:rPr lang="en-US" dirty="0"/>
              <a:t>False Negatives (FN)</a:t>
            </a:r>
          </a:p>
          <a:p>
            <a:pPr lvl="1"/>
            <a:r>
              <a:rPr lang="en-US" dirty="0"/>
              <a:t>True Positives	(TP)</a:t>
            </a:r>
          </a:p>
          <a:p>
            <a:pPr lvl="1"/>
            <a:r>
              <a:rPr lang="en-US" dirty="0"/>
              <a:t>True Negatives 	(TN)</a:t>
            </a:r>
          </a:p>
          <a:p>
            <a:pPr lvl="1"/>
            <a:r>
              <a:rPr lang="en-US" dirty="0"/>
              <a:t>False Positives	(FP)</a:t>
            </a:r>
            <a:br>
              <a:rPr lang="en-US" dirty="0"/>
            </a:br>
            <a:endParaRPr lang="en-US" dirty="0"/>
          </a:p>
          <a:p>
            <a:r>
              <a:rPr lang="en-US" dirty="0"/>
              <a:t>A classifier can be repurposed in many ways, including as a probability density estimator.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B31FE53-CCD3-2FB4-0B9D-BDDBD7ADB3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</p:spTree>
    <p:extLst>
      <p:ext uri="{BB962C8B-B14F-4D97-AF65-F5344CB8AC3E}">
        <p14:creationId xmlns:p14="http://schemas.microsoft.com/office/powerpoint/2010/main" val="11909403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Default Design">
  <a:themeElements>
    <a:clrScheme name="Default Design 7">
      <a:dk1>
        <a:srgbClr val="000000"/>
      </a:dk1>
      <a:lt1>
        <a:srgbClr val="FFFFFF"/>
      </a:lt1>
      <a:dk2>
        <a:srgbClr val="000000"/>
      </a:dk2>
      <a:lt2>
        <a:srgbClr val="969696"/>
      </a:lt2>
      <a:accent1>
        <a:srgbClr val="3399FF"/>
      </a:accent1>
      <a:accent2>
        <a:srgbClr val="99FFCC"/>
      </a:accent2>
      <a:accent3>
        <a:srgbClr val="FFFFFF"/>
      </a:accent3>
      <a:accent4>
        <a:srgbClr val="000000"/>
      </a:accent4>
      <a:accent5>
        <a:srgbClr val="ADCAFF"/>
      </a:accent5>
      <a:accent6>
        <a:srgbClr val="8AE7B9"/>
      </a:accent6>
      <a:hlink>
        <a:srgbClr val="CC00CC"/>
      </a:hlink>
      <a:folHlink>
        <a:srgbClr val="B2B2B2"/>
      </a:folHlink>
    </a:clrScheme>
    <a:fontScheme name="Default Design">
      <a:majorFont>
        <a:latin typeface="Times New Roman"/>
        <a:ea typeface=""/>
        <a:cs typeface=""/>
      </a:majorFont>
      <a:minorFont>
        <a:latin typeface="Times New Roman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2700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t" anchorCtr="0" compatLnSpc="1">
        <a:prstTxWarp prst="textNoShape">
          <a:avLst/>
        </a:prstTxWarp>
        <a:spAutoFit/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4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Times New Roman" pitchFamily="-65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2700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t" anchorCtr="0" compatLnSpc="1">
        <a:prstTxWarp prst="textNoShape">
          <a:avLst/>
        </a:prstTxWarp>
        <a:spAutoFit/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4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Times New Roman" pitchFamily="-65" charset="0"/>
          </a:defRPr>
        </a:defPPr>
      </a:lstStyle>
    </a:lnDef>
  </a:objectDefaults>
  <a:extraClrSchemeLst>
    <a:extraClrScheme>
      <a:clrScheme name="Default Design 1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33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3">
        <a:dk1>
          <a:srgbClr val="000000"/>
        </a:dk1>
        <a:lt1>
          <a:srgbClr val="FFFFCC"/>
        </a:lt1>
        <a:dk2>
          <a:srgbClr val="999933"/>
        </a:dk2>
        <a:lt2>
          <a:srgbClr val="808000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4">
        <a:dk1>
          <a:srgbClr val="000000"/>
        </a:dk1>
        <a:lt1>
          <a:srgbClr val="FFFFFF"/>
        </a:lt1>
        <a:dk2>
          <a:srgbClr val="000000"/>
        </a:dk2>
        <a:lt2>
          <a:srgbClr val="393939"/>
        </a:lt2>
        <a:accent1>
          <a:srgbClr val="CBCBCB"/>
        </a:accent1>
        <a:accent2>
          <a:srgbClr val="868686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797979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5">
        <a:dk1>
          <a:srgbClr val="000000"/>
        </a:dk1>
        <a:lt1>
          <a:srgbClr val="FFFFFF"/>
        </a:lt1>
        <a:dk2>
          <a:srgbClr val="000000"/>
        </a:dk2>
        <a:lt2>
          <a:srgbClr val="9F9F9F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6">
        <a:dk1>
          <a:srgbClr val="000000"/>
        </a:dk1>
        <a:lt1>
          <a:srgbClr val="FFFFFF"/>
        </a:lt1>
        <a:dk2>
          <a:srgbClr val="000000"/>
        </a:dk2>
        <a:lt2>
          <a:srgbClr val="868686"/>
        </a:lt2>
        <a:accent1>
          <a:srgbClr val="CBCBCB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005CE7"/>
        </a:accent6>
        <a:hlink>
          <a:srgbClr val="FF0033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7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Presentation11" id="{C3F3F02C-A0EA-B24E-929C-A6C346386062}" vid="{27EB58C2-21AD-A141-B9F0-987C112EF1EC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969696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8C64F51-4645-064B-ACDC-0DE76AF412F6}">
  <we:reference id="wa200000729" version="3.19.222.0" store="en-US" storeType="OMEX"/>
  <we:alternateReferences>
    <we:reference id="wa200000729" version="3.19.222.0" store="wa200000729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Default Design</Template>
  <TotalTime>5777</TotalTime>
  <Words>1446</Words>
  <Application>Microsoft Macintosh PowerPoint</Application>
  <PresentationFormat>Letter Paper (8.5x11 in)</PresentationFormat>
  <Paragraphs>160</Paragraphs>
  <Slides>25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1" baseType="lpstr">
      <vt:lpstr>Arial</vt:lpstr>
      <vt:lpstr>Cambria Math</vt:lpstr>
      <vt:lpstr>Marlett</vt:lpstr>
      <vt:lpstr>Times New Roman</vt:lpstr>
      <vt:lpstr>Wingdings</vt:lpstr>
      <vt:lpstr>Default Design</vt:lpstr>
      <vt:lpstr>Machine learning in physics Foundations 3</vt:lpstr>
      <vt:lpstr>Recap</vt:lpstr>
      <vt:lpstr>Recap</vt:lpstr>
      <vt:lpstr>Empirical RISK Minimization</vt:lpstr>
      <vt:lpstr>Empirical Risk Minimization (1)</vt:lpstr>
      <vt:lpstr>Empirical Risk Minimization (2)</vt:lpstr>
      <vt:lpstr>BINARY Classifiers</vt:lpstr>
      <vt:lpstr>Binary Classifiers (1)</vt:lpstr>
      <vt:lpstr>Binary Classifiers (2)</vt:lpstr>
      <vt:lpstr>Binary Classifiers (3)</vt:lpstr>
      <vt:lpstr>Binary Classifiers (4)</vt:lpstr>
      <vt:lpstr>Binary Classifiers (4)</vt:lpstr>
      <vt:lpstr>Classifier Performance</vt:lpstr>
      <vt:lpstr>Classifier Performance (1)</vt:lpstr>
      <vt:lpstr>Classifier Performance (2)</vt:lpstr>
      <vt:lpstr>Confusion Matrix</vt:lpstr>
      <vt:lpstr>Confusion Matrix (t=0.9)</vt:lpstr>
      <vt:lpstr>Accuracy, Precision, Recall</vt:lpstr>
      <vt:lpstr>ROC and AUC</vt:lpstr>
      <vt:lpstr>Beyond Classification</vt:lpstr>
      <vt:lpstr>Beyond Classification (1) </vt:lpstr>
      <vt:lpstr>Beyond Classification (2)</vt:lpstr>
      <vt:lpstr>Beyond Classification (3)</vt:lpstr>
      <vt:lpstr>Beyond Classification (4)</vt:lpstr>
      <vt:lpstr>Summary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Harrison Prosper</dc:creator>
  <cp:lastModifiedBy>Harrison Prosper</cp:lastModifiedBy>
  <cp:revision>25</cp:revision>
  <cp:lastPrinted>2019-01-07T00:35:58Z</cp:lastPrinted>
  <dcterms:created xsi:type="dcterms:W3CDTF">2024-08-29T20:46:20Z</dcterms:created>
  <dcterms:modified xsi:type="dcterms:W3CDTF">2025-09-05T03:16:49Z</dcterms:modified>
</cp:coreProperties>
</file>