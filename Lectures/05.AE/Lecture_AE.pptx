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1055" r:id="rId3"/>
    <p:sldId id="1083" r:id="rId4"/>
    <p:sldId id="1084" r:id="rId5"/>
    <p:sldId id="1081" r:id="rId6"/>
    <p:sldId id="1057" r:id="rId7"/>
    <p:sldId id="1092" r:id="rId8"/>
    <p:sldId id="1067" r:id="rId9"/>
    <p:sldId id="1056" r:id="rId10"/>
    <p:sldId id="1085" r:id="rId11"/>
    <p:sldId id="1093" r:id="rId12"/>
    <p:sldId id="1091" r:id="rId13"/>
    <p:sldId id="1094" r:id="rId14"/>
    <p:sldId id="1096" r:id="rId15"/>
    <p:sldId id="1097" r:id="rId16"/>
    <p:sldId id="1098" r:id="rId17"/>
    <p:sldId id="1088" r:id="rId18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98"/>
    <p:restoredTop sz="86551"/>
  </p:normalViewPr>
  <p:slideViewPr>
    <p:cSldViewPr>
      <p:cViewPr varScale="1">
        <p:scale>
          <a:sx n="89" d="100"/>
          <a:sy n="89" d="100"/>
        </p:scale>
        <p:origin x="109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13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sdss.org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cas.sdss.org/dr18/SearchTools/sql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Autoencoders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1C89-C4F2-0E3A-F67B-2E4908AE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EC485A2-F006-5EC0-1B90-76BE2EC2C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</a:t>
                </a:r>
                <a:r>
                  <a:rPr lang="en-US" dirty="0">
                    <a:solidFill>
                      <a:srgbClr val="0033CC"/>
                    </a:solidFill>
                  </a:rPr>
                  <a:t>autoencoder</a:t>
                </a:r>
                <a:r>
                  <a:rPr lang="en-US" dirty="0"/>
                  <a:t> approximates the identity map </a:t>
                </a:r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But there is an important twist: the map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a composition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)=(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  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or		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encoder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dirty="0">
                    <a:solidFill>
                      <a:srgbClr val="0033CC"/>
                    </a:solidFill>
                  </a:rPr>
                  <a:t>decoder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D2186FE-1E2B-6592-388A-54086719EE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96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17B76-A6DD-525A-EA3C-730568287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819400"/>
            <a:ext cx="6095999" cy="3429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</p:spPr>
            <p:txBody>
              <a:bodyPr/>
              <a:lstStyle/>
              <a:p>
                <a:r>
                  <a:rPr lang="en-US" dirty="0"/>
                  <a:t>The space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is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</a:t>
                </a:r>
                <a:r>
                  <a:rPr lang="en-US" dirty="0"/>
                  <a:t>.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Typically,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encoder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compresses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 input data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endParaRPr lang="en-US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	       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	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	     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28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800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    </a:t>
                </a:r>
                <a:r>
                  <a:rPr lang="en-US" dirty="0"/>
                  <a:t>in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unsupervised</a:t>
                </a:r>
                <a:r>
                  <a:rPr lang="en-US" dirty="0"/>
                  <a:t> manner, that is,</a:t>
                </a:r>
                <a:r>
                  <a:rPr lang="en-US" i="1" dirty="0"/>
                  <a:t> </a:t>
                </a:r>
                <a:r>
                  <a:rPr lang="en-US" dirty="0"/>
                  <a:t>the </a:t>
                </a:r>
                <a:r>
                  <a:rPr lang="en-US" i="1" dirty="0">
                    <a:solidFill>
                      <a:srgbClr val="0033CC"/>
                    </a:solidFill>
                  </a:rPr>
                  <a:t>labels</a:t>
                </a:r>
                <a:r>
                  <a:rPr lang="en-US" dirty="0"/>
                  <a:t> are the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DDD0A48-ACAE-4C5E-CE0A-305701317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975600" cy="4819650"/>
              </a:xfrm>
              <a:blipFill>
                <a:blip r:embed="rId3"/>
                <a:stretch>
                  <a:fillRect l="-1115" t="-1316" b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(2)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6D9C6-A999-8044-A345-2D7D07BF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6F9F9A-6E4C-03B9-8810-2DE5F9FA0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Autoencoders have multiple applications including: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Data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Lossy compression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Structure detection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Anomaly detection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Noise removal</a:t>
            </a:r>
            <a:br>
              <a:rPr lang="en-US" sz="2000" dirty="0"/>
            </a:br>
            <a:endParaRPr lang="en-US" sz="2000" dirty="0"/>
          </a:p>
          <a:p>
            <a:pPr marL="0" indent="0">
              <a:buNone/>
            </a:pPr>
            <a:r>
              <a:rPr lang="en-US" dirty="0"/>
              <a:t>Our example this week focuses on </a:t>
            </a:r>
            <a:r>
              <a:rPr lang="en-US" dirty="0">
                <a:solidFill>
                  <a:srgbClr val="0033CC"/>
                </a:solidFill>
              </a:rPr>
              <a:t>structure detection</a:t>
            </a:r>
            <a:r>
              <a:rPr lang="en-US" dirty="0"/>
              <a:t>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E08A9A4-A41D-A4A2-E2AA-95292A137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(3)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7304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(4)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0A18EE-490E-A176-D2EC-4715A9944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use an autoencoder </a:t>
            </a:r>
          </a:p>
          <a:p>
            <a:pPr marL="0" indent="0">
              <a:buNone/>
            </a:pPr>
            <a:r>
              <a:rPr lang="en-US" dirty="0"/>
              <a:t>     to search for structure in</a:t>
            </a:r>
          </a:p>
          <a:p>
            <a:pPr marL="0" indent="0">
              <a:buNone/>
            </a:pPr>
            <a:r>
              <a:rPr lang="en-US" dirty="0"/>
              <a:t>     stellar color data from the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     Sloan Digital Sky Survey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(SDSS)*.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 are fluxes </a:t>
            </a:r>
            <a:br>
              <a:rPr lang="en-US" dirty="0"/>
            </a:br>
            <a:r>
              <a:rPr lang="en-US" dirty="0"/>
              <a:t>measured in five filters: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*</a:t>
            </a:r>
            <a:r>
              <a:rPr lang="en-US" dirty="0">
                <a:hlinkClick r:id="rId2"/>
              </a:rPr>
              <a:t>https://www.sdss.org/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F6DA818B-5A8E-3E38-D4E2-3759431F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350" y="990600"/>
            <a:ext cx="3886200" cy="2590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table with numbers and letters&#10;&#10;Description automatically generated">
            <a:extLst>
              <a:ext uri="{FF2B5EF4-FFF2-40B4-BE49-F238E27FC236}">
                <a16:creationId xmlns:a16="http://schemas.microsoft.com/office/drawing/2014/main" id="{580D55D1-8F3F-B2B8-0089-43BB4F012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536950"/>
            <a:ext cx="3721100" cy="28067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5916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9C3DA-9A08-64E3-0E07-59723028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9EC33A-50BA-E6E2-8666-32CD6A41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(5)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52DC20-149F-4F7D-392D-CECD85A09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0" y="1295400"/>
            <a:ext cx="8128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SDSS Dataset (</a:t>
            </a:r>
            <a:r>
              <a:rPr lang="en-US" dirty="0">
                <a:solidFill>
                  <a:srgbClr val="0033CC"/>
                </a:solidFill>
                <a:hlinkClick r:id="rId2"/>
              </a:rPr>
              <a:t>https://cas.sdss.org/dr18/SearchTools/sql</a:t>
            </a:r>
            <a:r>
              <a:rPr lang="en-US" dirty="0">
                <a:solidFill>
                  <a:srgbClr val="0033CC"/>
                </a:solidFill>
              </a:rPr>
              <a:t>) </a:t>
            </a:r>
          </a:p>
          <a:p>
            <a:pPr marL="0" indent="0">
              <a:buNone/>
            </a:pPr>
            <a:r>
              <a:rPr lang="en-US" dirty="0"/>
              <a:t>We use data from </a:t>
            </a:r>
            <a:r>
              <a:rPr lang="en-US" dirty="0">
                <a:solidFill>
                  <a:srgbClr val="0033CC"/>
                </a:solidFill>
              </a:rPr>
              <a:t>255,000</a:t>
            </a:r>
            <a:r>
              <a:rPr lang="en-US" dirty="0"/>
              <a:t> stars extracted using the SQL command: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C136126-D85F-ABF4-3D7E-35D07E942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367" y="2514600"/>
            <a:ext cx="7253833" cy="33718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72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1E74-81A9-5052-F699-835321EE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30CB107-DAF6-9843-34B0-2F5BEC6DF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(6)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BEE8A40-D7E6-3AAC-E92D-22BE2DE08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556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Beyond correlations, the plots show no obvious structure.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the hope is that the latent space of the autoencoder will reveal any structure that may be present in the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	</a:t>
            </a:r>
          </a:p>
        </p:txBody>
      </p:sp>
      <p:pic>
        <p:nvPicPr>
          <p:cNvPr id="5" name="Picture 4" descr="A graph of a graph of a number of objects&#10;&#10;AI-generated content may be incorrect.">
            <a:extLst>
              <a:ext uri="{FF2B5EF4-FFF2-40B4-BE49-F238E27FC236}">
                <a16:creationId xmlns:a16="http://schemas.microsoft.com/office/drawing/2014/main" id="{6861D6D0-E5DD-9F17-C7B9-724DFEE9B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409" y="1438275"/>
            <a:ext cx="4533900" cy="45339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357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63AD-3EC9-612C-DEDC-FE624437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7EC2CE-5B10-7A14-5C25-5E8833307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42647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key feature of an autoencoder is the </a:t>
                </a:r>
                <a:r>
                  <a:rPr lang="en-US" dirty="0">
                    <a:solidFill>
                      <a:srgbClr val="0033CC"/>
                    </a:solidFill>
                  </a:rPr>
                  <a:t>bottleneck</a:t>
                </a:r>
                <a:r>
                  <a:rPr lang="en-US" dirty="0"/>
                  <a:t> between the encoder and the decoder. This forces the model to construct a lower-dimensional representation in the latent space, which we take to be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of the input data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Since the goal is to model the mapping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</a:t>
                </a:r>
                <a:r>
                  <a:rPr lang="en-US" i="1" dirty="0">
                    <a:solidFill>
                      <a:srgbClr val="0033CC"/>
                    </a:solidFill>
                  </a:rPr>
                  <a:t>quadratic</a:t>
                </a:r>
                <a:r>
                  <a:rPr lang="en-US" dirty="0"/>
                  <a:t> loss,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is typically used. Revisiting our derivation of the functional derivative, but specializing to the current case, we arrive at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directly the loss rather than a functional of it.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00A18EE-490E-A176-D2EC-4715A99445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b="-3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26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59C08-41B8-A2D2-647E-DE2B2B9B8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ACFEAEC-5075-C633-6D8C-1AEC17C0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Autoencoders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Since, by assumption, the function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arbitrary in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Then, 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&gt;0 ∀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the equality will hold </a:t>
                </a:r>
                <a:r>
                  <a:rPr lang="en-US" i="1" dirty="0"/>
                  <a:t>if and only if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which,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charset="0"/>
                              </a:rPr>
                              <m:t>𝑓</m:t>
                            </m:r>
                          </m:e>
                        </m:d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implies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principle, we have an </a:t>
                </a:r>
                <a:r>
                  <a:rPr lang="en-US" i="1" dirty="0">
                    <a:solidFill>
                      <a:srgbClr val="0033CC"/>
                    </a:solidFill>
                  </a:rPr>
                  <a:t>unbiased</a:t>
                </a:r>
                <a:r>
                  <a:rPr lang="en-US" dirty="0"/>
                  <a:t> estimate of the input data.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43F5EAD-1EF0-251F-2946-991C2C879F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2980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6A98C-9E5F-DED6-3109-3C443CB4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48DC92-84ED-8472-F279-467D4C446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AE </a:t>
            </a:r>
            <a:r>
              <a:rPr lang="en-US" dirty="0" err="1"/>
              <a:t>TuTorial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12109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726B9-ECEF-7B95-FDD5-FB33AC50D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734B52D-985C-D7BF-6D72-845126E21CE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1B73AA5-9BAF-09A1-3A3D-4EA760DD777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1F1570-6943-2355-BD40-28131CAEDD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8641ECDD-779A-6EB1-6534-3CF77F8D8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Autoencoder: </a:t>
            </a:r>
            <a:r>
              <a:rPr lang="en-US" dirty="0">
                <a:solidFill>
                  <a:schemeClr val="accent1"/>
                </a:solidFill>
              </a:rPr>
              <a:t>Encoder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821315-0BD4-648C-D4F5-545775EF5979}"/>
              </a:ext>
            </a:extLst>
          </p:cNvPr>
          <p:cNvGrpSpPr/>
          <p:nvPr/>
        </p:nvGrpSpPr>
        <p:grpSpPr>
          <a:xfrm>
            <a:off x="2057400" y="2309156"/>
            <a:ext cx="6700837" cy="4167844"/>
            <a:chOff x="1295400" y="2237926"/>
            <a:chExt cx="6700837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4B7770-FE73-4002-2717-C8C43905739F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9947711-B36C-0D2E-935C-0BB0DB59AE05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Linear(5,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9954B83-8EEB-87FD-996D-C9EF4EE9A498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2BE54C-F495-D3F1-AAF5-5AA6F4BD67AA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2)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23633C1-C875-6F27-3D2D-0C34DAB4B2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687ED85-64A1-7CCB-4B42-B2041BC7D9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C6B266A-BEF2-3E70-5A24-72CF3637390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C5E7E71-B3F4-365E-C1FD-70A14AAEFF2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C6271E8-4192-4538-6719-8B9108DC400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9808DDC3-EA72-8121-4E2F-AF189B4C2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54FC26-E17D-BC3B-DA28-D944E07FD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25000" r="-50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90F35F4-D62C-DE43-B944-ABE06A0E1E53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42ECD67-A87F-5CDA-F5F3-152EF00A1FB3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660CC31-D1B4-C0DD-EDFF-1BEC6EA00796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EE622C8-36CB-D8B1-DD07-332B1F024BDA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07498B4-3CA2-932F-A5C4-FAAAF4DFFAF9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3294D09-ED63-E1BB-B3C4-01CE486E1208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8F4DD66-380F-172E-A167-DE672A21359D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C281553-7AC0-CE76-B4D4-6B6F9FDB235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A9DEAEE-CF06-1AC0-1317-86D42EF22A01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/>
              <p:nvPr/>
            </p:nvSpPr>
            <p:spPr>
              <a:xfrm>
                <a:off x="7015167" y="3134380"/>
                <a:ext cx="14066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en-US" sz="2800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rgbClr val="0033CC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104293E-8B77-804B-9E9D-D955C4EAF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67" y="3134380"/>
                <a:ext cx="1406667" cy="523220"/>
              </a:xfrm>
              <a:prstGeom prst="rect">
                <a:avLst/>
              </a:prstGeom>
              <a:blipFill>
                <a:blip r:embed="rId5"/>
                <a:stretch>
                  <a:fillRect r="-178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639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E780-2777-1070-9858-D0EAEC68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0456C1-5D2F-AC66-71F3-4A30CCDC9414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3150591" y="2365769"/>
            <a:ext cx="17318" cy="3660522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/>
          </a:ln>
          <a:effectLst/>
        </p:spPr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C1F4BB-260C-0AE4-55EE-0A7565A6A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710268" y="3776425"/>
            <a:ext cx="8826" cy="2203274"/>
          </a:xfrm>
          <a:prstGeom prst="straightConnector1">
            <a:avLst/>
          </a:prstGeom>
          <a:noFill/>
          <a:ln w="66675" cap="flat" cmpd="sng" algn="ctr">
            <a:solidFill>
              <a:schemeClr val="tx1"/>
            </a:solidFill>
            <a:prstDash val="solid"/>
            <a:round/>
            <a:headEnd type="none" w="med" len="med"/>
            <a:tailEnd type="stealth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 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AADD1-158D-B96B-AC94-C69F286138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995A6A88-655B-7857-E6F7-6F140B95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Autoencoder: </a:t>
            </a:r>
            <a:r>
              <a:rPr lang="en-US" dirty="0">
                <a:solidFill>
                  <a:srgbClr val="C00000"/>
                </a:solidFill>
              </a:rPr>
              <a:t>Decoder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D6549CC-EDDE-DC5E-C6A3-F16DCD81818D}"/>
              </a:ext>
            </a:extLst>
          </p:cNvPr>
          <p:cNvGrpSpPr/>
          <p:nvPr/>
        </p:nvGrpSpPr>
        <p:grpSpPr>
          <a:xfrm>
            <a:off x="2057400" y="2309156"/>
            <a:ext cx="6700837" cy="4167844"/>
            <a:chOff x="1295400" y="2237926"/>
            <a:chExt cx="6700837" cy="416784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C9C4923-9A7C-98B0-BBF9-0EBAA37CBD5A}"/>
                </a:ext>
              </a:extLst>
            </p:cNvPr>
            <p:cNvGrpSpPr/>
            <p:nvPr/>
          </p:nvGrpSpPr>
          <p:grpSpPr>
            <a:xfrm>
              <a:off x="1295400" y="5017623"/>
              <a:ext cx="2286000" cy="880825"/>
              <a:chOff x="5410200" y="4620220"/>
              <a:chExt cx="2286000" cy="880825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7DDEEA0-A61A-1304-52EE-C7CCB93E953D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b="1" dirty="0">
                    <a:solidFill>
                      <a:srgbClr val="0033CC"/>
                    </a:solidFill>
                    <a:latin typeface="Times New Roman" pitchFamily="-65" charset="0"/>
                  </a:rPr>
                  <a:t>Linear(2, 24)</a:t>
                </a:r>
                <a:endParaRPr kumimoji="0" lang="en-US" sz="2000" b="1" i="0" u="none" strike="noStrike" cap="none" normalizeH="0" baseline="0" dirty="0">
                  <a:ln>
                    <a:noFill/>
                  </a:ln>
                  <a:solidFill>
                    <a:srgbClr val="0033CC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EEA566E-5D69-D7DC-3610-B689859C39D6}"/>
                  </a:ext>
                </a:extLst>
              </p:cNvPr>
              <p:cNvSpPr/>
              <p:nvPr/>
            </p:nvSpPr>
            <p:spPr bwMode="auto">
              <a:xfrm>
                <a:off x="5410200" y="462022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Sin()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5D87FDA-0376-4D19-6768-2BB8D67E11A9}"/>
                </a:ext>
              </a:extLst>
            </p:cNvPr>
            <p:cNvSpPr/>
            <p:nvPr/>
          </p:nvSpPr>
          <p:spPr bwMode="auto">
            <a:xfrm>
              <a:off x="5710237" y="417686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b="1" dirty="0">
                  <a:solidFill>
                    <a:srgbClr val="C00000"/>
                  </a:solidFill>
                  <a:latin typeface="Times New Roman" pitchFamily="-65" charset="0"/>
                </a:rPr>
                <a:t>Linear(24, 5)</a:t>
              </a:r>
              <a:endParaRPr kumimoji="0" lang="en-US" sz="2000" b="1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2C47C5A-1CE9-CE92-00DE-E9E4A20FB4F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6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707A23B-611B-C3CB-6927-EAFF31CB045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B90BE39-98AE-E697-1BC9-D65B8729C5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3BEB10B-78E8-F7E2-C321-D64DE1425613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E7E0BED-1DCC-F51B-7220-5B25E9D3AC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8A32C57-D092-7445-8789-1730D6532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/>
                <p:nvPr/>
              </p:nvSpPr>
              <p:spPr>
                <a:xfrm>
                  <a:off x="6235326" y="3052970"/>
                  <a:ext cx="144353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𝝎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A547DE7-1B6D-5290-F543-D55F35C5FD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5326" y="3052970"/>
                  <a:ext cx="1443537" cy="523220"/>
                </a:xfrm>
                <a:prstGeom prst="rect">
                  <a:avLst/>
                </a:prstGeom>
                <a:blipFill>
                  <a:blip r:embed="rId4"/>
                  <a:stretch>
                    <a:fillRect r="-1754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72483-53A9-5045-09D4-54CDAE291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5000" r="-47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C92F38-B173-C266-0730-F551DDE89CE8}"/>
              </a:ext>
            </a:extLst>
          </p:cNvPr>
          <p:cNvGrpSpPr/>
          <p:nvPr/>
        </p:nvGrpSpPr>
        <p:grpSpPr>
          <a:xfrm>
            <a:off x="2057400" y="3995975"/>
            <a:ext cx="2286000" cy="880825"/>
            <a:chOff x="2057400" y="3438705"/>
            <a:chExt cx="2286000" cy="88082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65273EB-A465-86BD-38DF-0513053225F1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E3A528C-5E96-7178-0089-DE82FC3ACF83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120DB59-2442-CB55-BA1C-0FD14E63A4D9}"/>
              </a:ext>
            </a:extLst>
          </p:cNvPr>
          <p:cNvGrpSpPr/>
          <p:nvPr/>
        </p:nvGrpSpPr>
        <p:grpSpPr>
          <a:xfrm>
            <a:off x="6508505" y="4784014"/>
            <a:ext cx="2286000" cy="852689"/>
            <a:chOff x="2057400" y="3466841"/>
            <a:chExt cx="2286000" cy="8526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E4F47E8-9953-8824-B8F7-106B80CD63DE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07A62DE-EFE0-386B-E155-5C5A02F0BEEB}"/>
                </a:ext>
              </a:extLst>
            </p:cNvPr>
            <p:cNvSpPr/>
            <p:nvPr/>
          </p:nvSpPr>
          <p:spPr bwMode="auto">
            <a:xfrm>
              <a:off x="2057400" y="3466841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62492-7392-A0AD-14ED-8437F8D8D839}"/>
              </a:ext>
            </a:extLst>
          </p:cNvPr>
          <p:cNvGrpSpPr/>
          <p:nvPr/>
        </p:nvGrpSpPr>
        <p:grpSpPr>
          <a:xfrm>
            <a:off x="2057400" y="2895600"/>
            <a:ext cx="2286000" cy="880825"/>
            <a:chOff x="2057400" y="3438705"/>
            <a:chExt cx="2286000" cy="88082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E5495EB-6DB2-F4A8-B191-F072896CEF2D}"/>
                </a:ext>
              </a:extLst>
            </p:cNvPr>
            <p:cNvSpPr/>
            <p:nvPr/>
          </p:nvSpPr>
          <p:spPr bwMode="auto">
            <a:xfrm>
              <a:off x="2057400" y="391942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Linear(24, 24)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CD8D9CD-140E-D123-E1B1-809A3C34318D}"/>
                </a:ext>
              </a:extLst>
            </p:cNvPr>
            <p:cNvSpPr/>
            <p:nvPr/>
          </p:nvSpPr>
          <p:spPr bwMode="auto">
            <a:xfrm>
              <a:off x="2057400" y="3438705"/>
              <a:ext cx="2286000" cy="40011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Sin()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14486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1014BC-1C94-C94D-355D-684DBB2689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Configuration</a:t>
            </a:r>
            <a:r>
              <a:rPr lang="en-US" dirty="0"/>
              <a:t>: </a:t>
            </a:r>
            <a:r>
              <a:rPr lang="en-US" dirty="0" err="1"/>
              <a:t>AE_config.yaml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train_size</a:t>
            </a:r>
            <a:r>
              <a:rPr lang="en-US" dirty="0"/>
              <a:t>: 	150_000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batch_size</a:t>
            </a:r>
            <a:r>
              <a:rPr lang="en-US" dirty="0"/>
              <a:t>: 	128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n_epochs</a:t>
            </a:r>
            <a:r>
              <a:rPr lang="en-US" dirty="0"/>
              <a:t>: 	1000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test_size</a:t>
            </a:r>
            <a:r>
              <a:rPr lang="en-US" dirty="0"/>
              <a:t>: 	100_000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val_size</a:t>
            </a:r>
            <a:r>
              <a:rPr lang="en-US" dirty="0"/>
              <a:t>: 	5000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n_steps</a:t>
            </a:r>
            <a:r>
              <a:rPr lang="en-US" dirty="0"/>
              <a:t>: 	4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n_iters_per_step</a:t>
            </a:r>
            <a:r>
              <a:rPr lang="en-US" dirty="0"/>
              <a:t>: 293_000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n_iterations</a:t>
            </a:r>
            <a:r>
              <a:rPr lang="en-US" dirty="0"/>
              <a:t>: 	1_172_000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base_lr</a:t>
            </a:r>
            <a:r>
              <a:rPr lang="en-US" dirty="0"/>
              <a:t>: 	0.002</a:t>
            </a:r>
          </a:p>
          <a:p>
            <a:pPr marL="0" indent="0">
              <a:buNone/>
            </a:pPr>
            <a:r>
              <a:rPr lang="en-US" dirty="0"/>
              <a:t>	gamma: 	0.8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9E47F4-BF30-5CA7-EEB3-1555367B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Autoencoder: </a:t>
            </a:r>
            <a:r>
              <a:rPr lang="en-US" dirty="0">
                <a:solidFill>
                  <a:schemeClr val="accent1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3269571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B423-401E-8C7A-0551-66AB01A79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pot on a white background&#10;&#10;AI-generated content may be incorrect.">
            <a:extLst>
              <a:ext uri="{FF2B5EF4-FFF2-40B4-BE49-F238E27FC236}">
                <a16:creationId xmlns:a16="http://schemas.microsoft.com/office/drawing/2014/main" id="{44B0F395-F8A0-191E-CAD7-8B5651407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295400"/>
            <a:ext cx="4572000" cy="4572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D2C8D1E-B4BF-2AC5-3D3C-ED81906A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Autoencoder: </a:t>
            </a:r>
            <a:r>
              <a:rPr lang="en-US" dirty="0">
                <a:solidFill>
                  <a:schemeClr val="accent1"/>
                </a:solidFill>
              </a:rPr>
              <a:t>Latent Space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C0D8CC-47F1-A6C8-FE14-E4BB9E852B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784600" cy="4819650"/>
          </a:xfrm>
        </p:spPr>
        <p:txBody>
          <a:bodyPr/>
          <a:lstStyle/>
          <a:p>
            <a:r>
              <a:rPr lang="en-US" dirty="0"/>
              <a:t>There is clearly structure in the latent space, suggesting (as expected) that the color data pertains to different classes of stars.</a:t>
            </a:r>
          </a:p>
          <a:p>
            <a:r>
              <a:rPr lang="en-US" dirty="0"/>
              <a:t>The next step would be to identify the clusters and determine whether they  correspond to stars with physically distinct characteristics.</a:t>
            </a:r>
          </a:p>
        </p:txBody>
      </p:sp>
    </p:spTree>
    <p:extLst>
      <p:ext uri="{BB962C8B-B14F-4D97-AF65-F5344CB8AC3E}">
        <p14:creationId xmlns:p14="http://schemas.microsoft.com/office/powerpoint/2010/main" val="4282643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5FEE-3C3D-822D-A8CB-738D4931E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In the plots below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the measured flux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𝑝𝑟𝑒𝑑</m:t>
                        </m:r>
                      </m:sub>
                    </m:sSub>
                  </m:oMath>
                </a14:m>
                <a:r>
                  <a:rPr lang="en-US" dirty="0"/>
                  <a:t> the predicted flux. As anticipated, the autoencoder seems to provide an unbiased estimate of the flux.</a:t>
                </a:r>
              </a:p>
            </p:txBody>
          </p:sp>
        </mc:Choice>
        <mc:Fallback>
          <p:sp>
            <p:nvSpPr>
              <p:cNvPr id="2" name="Content Placeholder 1" descr="xxx">
                <a:extLst>
                  <a:ext uri="{FF2B5EF4-FFF2-40B4-BE49-F238E27FC236}">
                    <a16:creationId xmlns:a16="http://schemas.microsoft.com/office/drawing/2014/main" id="{9712F97C-5D91-ED58-A4FC-F1A7B5836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517C27D-1502-00B0-E33E-E77CC39A4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Autoencoder: </a:t>
            </a:r>
            <a:r>
              <a:rPr lang="en-US" dirty="0">
                <a:solidFill>
                  <a:schemeClr val="accent1"/>
                </a:solidFill>
              </a:rPr>
              <a:t>Predictions</a:t>
            </a:r>
          </a:p>
        </p:txBody>
      </p:sp>
      <p:pic>
        <p:nvPicPr>
          <p:cNvPr id="6" name="Picture 5" descr="A graph of a function&#10;&#10;AI-generated content may be incorrect.">
            <a:extLst>
              <a:ext uri="{FF2B5EF4-FFF2-40B4-BE49-F238E27FC236}">
                <a16:creationId xmlns:a16="http://schemas.microsoft.com/office/drawing/2014/main" id="{27BBABC7-2218-A389-9CE8-0939AA080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457450"/>
            <a:ext cx="73152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11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7CE1E-C644-828C-8BB5-30BF147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5556444-88BA-CD4E-25CE-6F7C7AA9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An autoencoder is a model that implements the map </a:t>
                </a:r>
                <a:br>
                  <a:rPr lang="en-US" b="0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via a bottleneck called the </a:t>
                </a:r>
                <a:r>
                  <a:rPr lang="en-US" dirty="0">
                    <a:solidFill>
                      <a:srgbClr val="0033CC"/>
                    </a:solidFill>
                  </a:rPr>
                  <a:t>latent space </a:t>
                </a:r>
                <a:r>
                  <a:rPr lang="en-US" dirty="0"/>
                  <a:t>whose dimensionality is (usually) much smaller than that of the input space.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The applications include: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Data compression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Anomaly detection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Noise removal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32B846A-7F3C-5809-5D05-66B4BFACE1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93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1342</TotalTime>
  <Words>851</Words>
  <Application>Microsoft Macintosh PowerPoint</Application>
  <PresentationFormat>Letter Paper (8.5x11 in)</PresentationFormat>
  <Paragraphs>127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Cambria Math</vt:lpstr>
      <vt:lpstr>Times New Roman</vt:lpstr>
      <vt:lpstr>Wingdings</vt:lpstr>
      <vt:lpstr>Default Design</vt:lpstr>
      <vt:lpstr>Machine Learning In Physics Autoencoders</vt:lpstr>
      <vt:lpstr>Introduction (1)</vt:lpstr>
      <vt:lpstr>Introduction (2)</vt:lpstr>
      <vt:lpstr>Introduction (3)</vt:lpstr>
      <vt:lpstr>Introduction (4)</vt:lpstr>
      <vt:lpstr>Introduction (5)</vt:lpstr>
      <vt:lpstr>Introduction (6)</vt:lpstr>
      <vt:lpstr>AUtoencoders</vt:lpstr>
      <vt:lpstr>Autoencoders (1)</vt:lpstr>
      <vt:lpstr>Autoencoders (2)</vt:lpstr>
      <vt:lpstr>AE TuTorial</vt:lpstr>
      <vt:lpstr>Autoencoder: Encoder</vt:lpstr>
      <vt:lpstr>Autoencoder: Decoder</vt:lpstr>
      <vt:lpstr>Autoencoder: Training</vt:lpstr>
      <vt:lpstr>Autoencoder: Latent Space</vt:lpstr>
      <vt:lpstr>Autoencoder: Predictions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7</cp:revision>
  <cp:lastPrinted>2019-01-07T00:35:58Z</cp:lastPrinted>
  <dcterms:created xsi:type="dcterms:W3CDTF">2025-10-13T02:25:54Z</dcterms:created>
  <dcterms:modified xsi:type="dcterms:W3CDTF">2025-10-14T02:30:06Z</dcterms:modified>
</cp:coreProperties>
</file>