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1055" r:id="rId3"/>
    <p:sldId id="1083" r:id="rId4"/>
    <p:sldId id="1084" r:id="rId5"/>
    <p:sldId id="1056" r:id="rId6"/>
    <p:sldId id="1085" r:id="rId7"/>
    <p:sldId id="1099" r:id="rId8"/>
    <p:sldId id="1067" r:id="rId9"/>
    <p:sldId id="1081" r:id="rId10"/>
    <p:sldId id="1057" r:id="rId11"/>
    <p:sldId id="1092" r:id="rId12"/>
    <p:sldId id="1091" r:id="rId13"/>
    <p:sldId id="1094" r:id="rId14"/>
    <p:sldId id="1096" r:id="rId15"/>
    <p:sldId id="1097" r:id="rId16"/>
    <p:sldId id="1098" r:id="rId17"/>
    <p:sldId id="1100" r:id="rId18"/>
    <p:sldId id="1101" r:id="rId19"/>
    <p:sldId id="1102" r:id="rId20"/>
    <p:sldId id="1103" r:id="rId21"/>
    <p:sldId id="1104" r:id="rId22"/>
    <p:sldId id="1088" r:id="rId23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4"/>
    <p:restoredTop sz="86557"/>
  </p:normalViewPr>
  <p:slideViewPr>
    <p:cSldViewPr>
      <p:cViewPr varScale="1">
        <p:scale>
          <a:sx n="85" d="100"/>
          <a:sy n="85" d="100"/>
        </p:scale>
        <p:origin x="18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1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sdss.org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kyserver.sdss.org/dr20/SearchTools/sql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Autoencoders</a:t>
            </a:r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1C89-C4F2-0E3A-F67B-2E4908AE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C485A2-F006-5EC0-1B90-76BE2EC2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(1)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D2186FE-1E2B-6592-388A-54086719EE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</a:t>
                </a:r>
                <a:r>
                  <a:rPr lang="en-US" dirty="0">
                    <a:solidFill>
                      <a:srgbClr val="0033CC"/>
                    </a:solidFill>
                  </a:rPr>
                  <a:t>autoencoder</a:t>
                </a:r>
                <a:r>
                  <a:rPr lang="en-US" dirty="0"/>
                  <a:t> approximates the identity map 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But there is an important twist: the map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 composition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followed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	that is, 		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followed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0033CC"/>
                    </a:solidFill>
                  </a:rPr>
                  <a:t>encoder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0033CC"/>
                    </a:solidFill>
                  </a:rPr>
                  <a:t>decoder</a:t>
                </a:r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D2186FE-1E2B-6592-388A-54086719EE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9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7ADB-845B-6879-DE22-3B0BC6BE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17B76-A6DD-525A-EA3C-730568287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19400"/>
            <a:ext cx="6095999" cy="3429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DDD0A48-ACAE-4C5E-CE0A-305701317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</p:spPr>
            <p:txBody>
              <a:bodyPr/>
              <a:lstStyle/>
              <a:p>
                <a:r>
                  <a:rPr lang="en-US" dirty="0"/>
                  <a:t>The space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0033CC"/>
                    </a:solidFill>
                  </a:rPr>
                  <a:t>latent space</a:t>
                </a:r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Typically,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encoder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compresses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input data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  <a:t>	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	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     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8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</a:t>
                </a:r>
                <a:r>
                  <a:rPr lang="en-US" dirty="0"/>
                  <a:t>in an </a:t>
                </a:r>
                <a:r>
                  <a:rPr lang="en-US" i="1" dirty="0">
                    <a:solidFill>
                      <a:srgbClr val="0033CC"/>
                    </a:solidFill>
                  </a:rPr>
                  <a:t>unsupervised</a:t>
                </a:r>
                <a:r>
                  <a:rPr lang="en-US" dirty="0"/>
                  <a:t> manner, that is,</a:t>
                </a:r>
                <a:r>
                  <a:rPr lang="en-US" i="1" dirty="0"/>
                  <a:t> </a:t>
                </a:r>
                <a:r>
                  <a:rPr lang="en-US" dirty="0"/>
                  <a:t>the </a:t>
                </a:r>
                <a:r>
                  <a:rPr lang="en-US" i="1" dirty="0">
                    <a:solidFill>
                      <a:srgbClr val="0033CC"/>
                    </a:solidFill>
                  </a:rPr>
                  <a:t>labels</a:t>
                </a:r>
                <a:r>
                  <a:rPr lang="en-US" dirty="0"/>
                  <a:t> are the data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DDD0A48-ACAE-4C5E-CE0A-305701317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  <a:blipFill>
                <a:blip r:embed="rId3"/>
                <a:stretch>
                  <a:fillRect l="-1115" t="-1316" b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935633B1-E622-7DC1-C9B6-A5017700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(2)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6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D9C6-A999-8044-A345-2D7D07BF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6F9F9A-6E4C-03B9-8810-2DE5F9FA0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Autoencoders have multiple applications including: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compression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Lossy compression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Structure detection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Anomaly detection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Noise removal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dirty="0"/>
              <a:t>Our example focuses on </a:t>
            </a:r>
            <a:r>
              <a:rPr lang="en-US" dirty="0">
                <a:solidFill>
                  <a:srgbClr val="0033CC"/>
                </a:solidFill>
              </a:rPr>
              <a:t>structure detection</a:t>
            </a:r>
            <a:r>
              <a:rPr lang="en-US" dirty="0"/>
              <a:t>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E08A9A4-A41D-A4A2-E2AA-95292A13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(3)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30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F93D-FDD3-43DB-4570-580903FD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279E5A-1E8E-574A-DDCD-07B1AAE3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(4)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00A18EE-490E-A176-D2EC-4715A9944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key feature of an autoencoder is the </a:t>
                </a:r>
                <a:r>
                  <a:rPr lang="en-US" dirty="0">
                    <a:solidFill>
                      <a:srgbClr val="0033CC"/>
                    </a:solidFill>
                  </a:rPr>
                  <a:t>bottleneck</a:t>
                </a:r>
                <a:r>
                  <a:rPr lang="en-US" dirty="0"/>
                  <a:t> between the encoder and the decoder. This forces the model to construct a lower-dimensional representation in the latent space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of the input data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Since the goal is to model the mapping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</a:t>
                </a:r>
                <a:r>
                  <a:rPr lang="en-US" i="1" dirty="0">
                    <a:solidFill>
                      <a:srgbClr val="0033CC"/>
                    </a:solidFill>
                  </a:rPr>
                  <a:t>quadratic</a:t>
                </a:r>
                <a:r>
                  <a:rPr lang="en-US" dirty="0"/>
                  <a:t> loss,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is typically used. Revisiting our derivation of the functional derivative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but specializing to the current case, leads to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directly the loss rather than a functional of it.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00A18EE-490E-A176-D2EC-4715A9944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63" b="-3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2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9C08-41B8-A2D2-647E-DE2B2B9B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ACFEAEC-5075-C633-6D8C-1AEC17C0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(5)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43F5EAD-1EF0-251F-2946-991C2C879F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Since, by assumption, the function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arbitrary (and assuming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&gt;0 ∀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 the above will hold </a:t>
                </a:r>
                <a:r>
                  <a:rPr lang="en-US" i="1" dirty="0"/>
                  <a:t>if and only if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which,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implies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principle, the autoencoder provides an </a:t>
                </a:r>
                <a:r>
                  <a:rPr lang="en-US" i="1" dirty="0">
                    <a:solidFill>
                      <a:srgbClr val="0033CC"/>
                    </a:solidFill>
                  </a:rPr>
                  <a:t>unbiased</a:t>
                </a:r>
                <a:r>
                  <a:rPr lang="en-US" dirty="0"/>
                  <a:t> estimate of the input data.</a:t>
                </a: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43F5EAD-1EF0-251F-2946-991C2C879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31053" r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98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1BC51-E2D2-460E-B4DF-2D6E81BE4C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are many kinds of autoencoders, but we’ll consider two of the simplest:</a:t>
            </a:r>
          </a:p>
          <a:p>
            <a:pPr lvl="1"/>
            <a:r>
              <a:rPr lang="en-US" dirty="0"/>
              <a:t>(Standard) </a:t>
            </a:r>
            <a:r>
              <a:rPr lang="en-US" dirty="0">
                <a:solidFill>
                  <a:srgbClr val="0033CC"/>
                </a:solidFill>
              </a:rPr>
              <a:t>Autoencoder</a:t>
            </a:r>
            <a:r>
              <a:rPr lang="en-US" dirty="0"/>
              <a:t> (AE)</a:t>
            </a:r>
          </a:p>
          <a:p>
            <a:pPr lvl="1"/>
            <a:r>
              <a:rPr lang="en-US" dirty="0">
                <a:solidFill>
                  <a:srgbClr val="0033CC"/>
                </a:solidFill>
              </a:rPr>
              <a:t>Convolutional Autoencoder </a:t>
            </a:r>
            <a:r>
              <a:rPr lang="en-US" dirty="0"/>
              <a:t>(CAE)</a:t>
            </a:r>
          </a:p>
          <a:p>
            <a:pPr lvl="1"/>
            <a:endParaRPr lang="en-US" dirty="0"/>
          </a:p>
          <a:p>
            <a:r>
              <a:rPr lang="en-US" dirty="0"/>
              <a:t>An important class of autoencoders that we shall not discuss is </a:t>
            </a:r>
            <a:r>
              <a:rPr lang="en-US" dirty="0">
                <a:solidFill>
                  <a:srgbClr val="0033CC"/>
                </a:solidFill>
              </a:rPr>
              <a:t>Variational Autoencoders </a:t>
            </a:r>
            <a:r>
              <a:rPr lang="en-US" dirty="0"/>
              <a:t>(VAE).</a:t>
            </a:r>
          </a:p>
          <a:p>
            <a:endParaRPr lang="en-US" dirty="0"/>
          </a:p>
          <a:p>
            <a:r>
              <a:rPr lang="en-US" dirty="0"/>
              <a:t>We’ll discuss AE and CAE using simple examples.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B80657-73AD-89AF-0E67-034D2850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(6) </a:t>
            </a:r>
          </a:p>
        </p:txBody>
      </p:sp>
    </p:spTree>
    <p:extLst>
      <p:ext uri="{BB962C8B-B14F-4D97-AF65-F5344CB8AC3E}">
        <p14:creationId xmlns:p14="http://schemas.microsoft.com/office/powerpoint/2010/main" val="332691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63AD-3EC9-612C-DEDC-FE624437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7EC2CE-5B10-7A14-5C25-5E8833307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Autoencoders (AE)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4264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F93D-FDD3-43DB-4570-580903FD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279E5A-1E8E-574A-DDCD-07B1AAE3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(1)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0A18EE-490E-A176-D2EC-4715A9944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autoencoder will be</a:t>
            </a:r>
          </a:p>
          <a:p>
            <a:pPr marL="0" indent="0">
              <a:buNone/>
            </a:pPr>
            <a:r>
              <a:rPr lang="en-US" dirty="0"/>
              <a:t>     used to search for structure in</a:t>
            </a:r>
          </a:p>
          <a:p>
            <a:pPr marL="0" indent="0">
              <a:buNone/>
            </a:pPr>
            <a:r>
              <a:rPr lang="en-US" dirty="0"/>
              <a:t>     stellar color data from the </a:t>
            </a:r>
          </a:p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     Sloan Digital Sky Survey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(SDSS)*.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 are fluxes </a:t>
            </a:r>
            <a:br>
              <a:rPr lang="en-US" dirty="0"/>
            </a:br>
            <a:r>
              <a:rPr lang="en-US" dirty="0"/>
              <a:t>measured in five filters: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</a:t>
            </a:r>
            <a:r>
              <a:rPr lang="en-US" dirty="0">
                <a:hlinkClick r:id="rId2"/>
              </a:rPr>
              <a:t>https://www.sdss.org/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F6DA818B-5A8E-3E38-D4E2-3759431F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350" y="990600"/>
            <a:ext cx="3886200" cy="2590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580D55D1-8F3F-B2B8-0089-43BB4F012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3536950"/>
            <a:ext cx="3721100" cy="2806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591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C3DA-9A08-64E3-0E07-59723028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B9EC33A-50BA-E6E2-8666-32CD6A41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(2)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52DC20-149F-4F7D-392D-CECD85A09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8128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SDSS Dataset (</a:t>
            </a:r>
            <a:r>
              <a:rPr lang="en-US" dirty="0">
                <a:solidFill>
                  <a:srgbClr val="0033CC"/>
                </a:solidFill>
                <a:hlinkClick r:id="rId2"/>
              </a:rPr>
              <a:t>https://skyserver.sdss.org/dr20/SearchTools/sql</a:t>
            </a:r>
            <a:r>
              <a:rPr lang="en-US" dirty="0">
                <a:solidFill>
                  <a:srgbClr val="0033CC"/>
                </a:solidFill>
              </a:rPr>
              <a:t>) </a:t>
            </a:r>
          </a:p>
          <a:p>
            <a:pPr marL="0" indent="0">
              <a:buNone/>
            </a:pPr>
            <a:r>
              <a:rPr lang="en-US" dirty="0"/>
              <a:t>We use data from </a:t>
            </a:r>
            <a:r>
              <a:rPr lang="en-US" dirty="0">
                <a:solidFill>
                  <a:srgbClr val="0033CC"/>
                </a:solidFill>
              </a:rPr>
              <a:t>255,000</a:t>
            </a:r>
            <a:r>
              <a:rPr lang="en-US" dirty="0"/>
              <a:t> stars extracted using the SQL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C136126-D85F-ABF4-3D7E-35D07E942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367" y="2514600"/>
            <a:ext cx="7253833" cy="33718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072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1E74-81A9-5052-F699-835321EE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30CB107-DAF6-9843-34B0-2F5BEC6D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(3)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BEE8A40-D7E6-3AAC-E92D-22BE2DE08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556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Beyond correlations, the plots show no obvious structure.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the hope is that the latent space of the autoencoder will reveal any structure that may be present in the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</a:p>
        </p:txBody>
      </p:sp>
      <p:pic>
        <p:nvPicPr>
          <p:cNvPr id="5" name="Picture 4" descr="A graph of a graph of a number of objects&#10;&#10;AI-generated content may be incorrect.">
            <a:extLst>
              <a:ext uri="{FF2B5EF4-FFF2-40B4-BE49-F238E27FC236}">
                <a16:creationId xmlns:a16="http://schemas.microsoft.com/office/drawing/2014/main" id="{6861D6D0-E5DD-9F17-C7B9-724DFEE9B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409" y="1438275"/>
            <a:ext cx="4533900" cy="4533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35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726B9-ECEF-7B95-FDD5-FB33AC50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34B52D-985C-D7BF-6D72-845126E21CE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150591" y="2365769"/>
            <a:ext cx="17318" cy="3660522"/>
          </a:xfrm>
          <a:prstGeom prst="straightConnector1">
            <a:avLst/>
          </a:prstGeom>
          <a:noFill/>
          <a:ln w="666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1B73AA5-9BAF-09A1-3A3D-4EA760DD7778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0268" y="3776425"/>
            <a:ext cx="8826" cy="2203274"/>
          </a:xfrm>
          <a:prstGeom prst="straightConnector1">
            <a:avLst/>
          </a:prstGeom>
          <a:noFill/>
          <a:ln w="666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F1570-6943-2355-BD40-28131CAEDD6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1F1570-6943-2355-BD40-28131CAED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8641ECDD-779A-6EB1-6534-3CF77F8D8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(4):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821315-0BD4-648C-D4F5-545775EF5979}"/>
              </a:ext>
            </a:extLst>
          </p:cNvPr>
          <p:cNvGrpSpPr/>
          <p:nvPr/>
        </p:nvGrpSpPr>
        <p:grpSpPr>
          <a:xfrm>
            <a:off x="2057400" y="2309156"/>
            <a:ext cx="6700837" cy="4167844"/>
            <a:chOff x="1295400" y="2237926"/>
            <a:chExt cx="6700837" cy="41678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4B7770-FE73-4002-2717-C8C43905739F}"/>
                </a:ext>
              </a:extLst>
            </p:cNvPr>
            <p:cNvGrpSpPr/>
            <p:nvPr/>
          </p:nvGrpSpPr>
          <p:grpSpPr>
            <a:xfrm>
              <a:off x="1295400" y="5017623"/>
              <a:ext cx="2286000" cy="880825"/>
              <a:chOff x="5410200" y="4620220"/>
              <a:chExt cx="2286000" cy="880825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9947711-B36C-0D2E-935C-0BB0DB59AE05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b="1" dirty="0">
                    <a:solidFill>
                      <a:srgbClr val="0033CC"/>
                    </a:solidFill>
                    <a:latin typeface="Times New Roman" pitchFamily="-65" charset="0"/>
                  </a:rPr>
                  <a:t>Linear(5, 24)</a:t>
                </a:r>
                <a:endParaRPr kumimoji="0" lang="en-US" sz="2000" b="1" i="0" u="none" strike="noStrike" cap="none" normalizeH="0" baseline="0" dirty="0">
                  <a:ln>
                    <a:noFill/>
                  </a:ln>
                  <a:solidFill>
                    <a:srgbClr val="0033CC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954B83-8EEB-87FD-996D-C9EF4EE9A498}"/>
                  </a:ext>
                </a:extLst>
              </p:cNvPr>
              <p:cNvSpPr/>
              <p:nvPr/>
            </p:nvSpPr>
            <p:spPr bwMode="auto">
              <a:xfrm>
                <a:off x="5410200" y="4620220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Sin()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2BE54C-F495-D3F1-AAF5-5AA6F4BD67AA}"/>
                </a:ext>
              </a:extLst>
            </p:cNvPr>
            <p:cNvSpPr/>
            <p:nvPr/>
          </p:nvSpPr>
          <p:spPr bwMode="auto">
            <a:xfrm>
              <a:off x="5710237" y="417686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solidFill>
                    <a:srgbClr val="C00000"/>
                  </a:solidFill>
                  <a:latin typeface="Times New Roman" pitchFamily="-65" charset="0"/>
                </a:rPr>
                <a:t>Linear(24, 2)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-65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23633C1-C875-6F27-3D2D-0C34DAB4B23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6" y="5898448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687ED85-64A1-7CCB-4B42-B2041BC7D9F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7" y="2237926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C6B266A-BEF2-3E70-5A24-72CF3637390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95537" y="2271712"/>
              <a:ext cx="2176463" cy="0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C5E7E71-B3F4-365E-C1FD-70A14AAEFF2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552950" y="2237926"/>
              <a:ext cx="19050" cy="3660522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C6271E8-4192-4538-6719-8B9108DC400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52950" y="5893685"/>
              <a:ext cx="2381250" cy="4763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808DDC3-EA72-8121-4E2F-AF189B4C2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9412" y="5249699"/>
              <a:ext cx="431800" cy="695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54FC26-E17D-BC3B-DA28-D944E07FD5A0}"/>
                    </a:ext>
                  </a:extLst>
                </p:cNvPr>
                <p:cNvSpPr txBox="1"/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254FC26-E17D-BC3B-DA28-D944E07FD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125000" r="-50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0F35F4-D62C-DE43-B944-ABE06A0E1E53}"/>
              </a:ext>
            </a:extLst>
          </p:cNvPr>
          <p:cNvGrpSpPr/>
          <p:nvPr/>
        </p:nvGrpSpPr>
        <p:grpSpPr>
          <a:xfrm>
            <a:off x="2057400" y="3995975"/>
            <a:ext cx="2286000" cy="880825"/>
            <a:chOff x="2057400" y="3438705"/>
            <a:chExt cx="2286000" cy="880825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42ECD67-A87F-5CDA-F5F3-152EF00A1FB3}"/>
                </a:ext>
              </a:extLst>
            </p:cNvPr>
            <p:cNvSpPr/>
            <p:nvPr/>
          </p:nvSpPr>
          <p:spPr bwMode="auto">
            <a:xfrm>
              <a:off x="2057400" y="391942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Linear(24, 24)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660CC31-D1B4-C0DD-EDFF-1BEC6EA00796}"/>
                </a:ext>
              </a:extLst>
            </p:cNvPr>
            <p:cNvSpPr/>
            <p:nvPr/>
          </p:nvSpPr>
          <p:spPr bwMode="auto">
            <a:xfrm>
              <a:off x="2057400" y="3438705"/>
              <a:ext cx="22860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Sin()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EE622C8-36CB-D8B1-DD07-332B1F024BDA}"/>
              </a:ext>
            </a:extLst>
          </p:cNvPr>
          <p:cNvGrpSpPr/>
          <p:nvPr/>
        </p:nvGrpSpPr>
        <p:grpSpPr>
          <a:xfrm>
            <a:off x="6508505" y="4784014"/>
            <a:ext cx="2286000" cy="852689"/>
            <a:chOff x="2057400" y="3466841"/>
            <a:chExt cx="2286000" cy="85268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07498B4-3CA2-932F-A5C4-FAAAF4DFFAF9}"/>
                </a:ext>
              </a:extLst>
            </p:cNvPr>
            <p:cNvSpPr/>
            <p:nvPr/>
          </p:nvSpPr>
          <p:spPr bwMode="auto">
            <a:xfrm>
              <a:off x="2057400" y="391942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Linear(24, 24)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294D09-ED63-E1BB-B3C4-01CE486E1208}"/>
                </a:ext>
              </a:extLst>
            </p:cNvPr>
            <p:cNvSpPr/>
            <p:nvPr/>
          </p:nvSpPr>
          <p:spPr bwMode="auto">
            <a:xfrm>
              <a:off x="2057400" y="3466841"/>
              <a:ext cx="22860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Sin()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8F4DD66-380F-172E-A167-DE672A21359D}"/>
              </a:ext>
            </a:extLst>
          </p:cNvPr>
          <p:cNvGrpSpPr/>
          <p:nvPr/>
        </p:nvGrpSpPr>
        <p:grpSpPr>
          <a:xfrm>
            <a:off x="2057400" y="2895600"/>
            <a:ext cx="2286000" cy="880825"/>
            <a:chOff x="2057400" y="3438705"/>
            <a:chExt cx="2286000" cy="88082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281553-7AC0-CE76-B4D4-6B6F9FDB2351}"/>
                </a:ext>
              </a:extLst>
            </p:cNvPr>
            <p:cNvSpPr/>
            <p:nvPr/>
          </p:nvSpPr>
          <p:spPr bwMode="auto">
            <a:xfrm>
              <a:off x="2057400" y="391942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Linear(24, 24)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9DEAEE-CF06-1AC0-1317-86D42EF22A01}"/>
                </a:ext>
              </a:extLst>
            </p:cNvPr>
            <p:cNvSpPr/>
            <p:nvPr/>
          </p:nvSpPr>
          <p:spPr bwMode="auto">
            <a:xfrm>
              <a:off x="2057400" y="3438705"/>
              <a:ext cx="22860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Sin()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04293E-8B77-804B-9E9D-D955C4EAFDC4}"/>
                  </a:ext>
                </a:extLst>
              </p:cNvPr>
              <p:cNvSpPr txBox="1"/>
              <p:nvPr/>
            </p:nvSpPr>
            <p:spPr>
              <a:xfrm>
                <a:off x="6629400" y="3134380"/>
                <a:ext cx="18850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sz="28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33CC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104293E-8B77-804B-9E9D-D955C4EAF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134380"/>
                <a:ext cx="1885068" cy="523220"/>
              </a:xfrm>
              <a:prstGeom prst="rect">
                <a:avLst/>
              </a:prstGeom>
              <a:blipFill>
                <a:blip r:embed="rId5"/>
                <a:stretch>
                  <a:fillRect r="-6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63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E780-2777-1070-9858-D0EAEC68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0456C1-5D2F-AC66-71F3-4A30CCDC941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150591" y="2365769"/>
            <a:ext cx="17318" cy="3660522"/>
          </a:xfrm>
          <a:prstGeom prst="straightConnector1">
            <a:avLst/>
          </a:prstGeom>
          <a:noFill/>
          <a:ln w="666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C1F4BB-260C-0AE4-55EE-0A7565A6A768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0268" y="3776425"/>
            <a:ext cx="8826" cy="2203274"/>
          </a:xfrm>
          <a:prstGeom prst="straightConnector1">
            <a:avLst/>
          </a:prstGeom>
          <a:noFill/>
          <a:ln w="6667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2AADD1-158D-B96B-AC94-C69F286138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2AADD1-158D-B96B-AC94-C69F28613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995A6A88-655B-7857-E6F7-6F140B95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(5): </a:t>
            </a:r>
            <a:r>
              <a:rPr lang="en-US" dirty="0">
                <a:solidFill>
                  <a:srgbClr val="C00000"/>
                </a:solidFill>
              </a:rPr>
              <a:t>Decoder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6549CC-EDDE-DC5E-C6A3-F16DCD81818D}"/>
              </a:ext>
            </a:extLst>
          </p:cNvPr>
          <p:cNvGrpSpPr/>
          <p:nvPr/>
        </p:nvGrpSpPr>
        <p:grpSpPr>
          <a:xfrm>
            <a:off x="2057400" y="2309156"/>
            <a:ext cx="6841024" cy="4167844"/>
            <a:chOff x="1295400" y="2237926"/>
            <a:chExt cx="6841024" cy="41678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C9C4923-9A7C-98B0-BBF9-0EBAA37CBD5A}"/>
                </a:ext>
              </a:extLst>
            </p:cNvPr>
            <p:cNvGrpSpPr/>
            <p:nvPr/>
          </p:nvGrpSpPr>
          <p:grpSpPr>
            <a:xfrm>
              <a:off x="1295400" y="5017623"/>
              <a:ext cx="2286000" cy="880825"/>
              <a:chOff x="5410200" y="4620220"/>
              <a:chExt cx="2286000" cy="880825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7DDEEA0-A61A-1304-52EE-C7CCB93E953D}"/>
                  </a:ext>
                </a:extLst>
              </p:cNvPr>
              <p:cNvSpPr/>
              <p:nvPr/>
            </p:nvSpPr>
            <p:spPr bwMode="auto">
              <a:xfrm>
                <a:off x="5410200" y="5100935"/>
                <a:ext cx="2286000" cy="400110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b="1" dirty="0">
                    <a:solidFill>
                      <a:srgbClr val="0033CC"/>
                    </a:solidFill>
                    <a:latin typeface="Times New Roman" pitchFamily="-65" charset="0"/>
                  </a:rPr>
                  <a:t>Linear(2, 24)</a:t>
                </a:r>
                <a:endParaRPr kumimoji="0" lang="en-US" sz="2000" b="1" i="0" u="none" strike="noStrike" cap="none" normalizeH="0" baseline="0" dirty="0">
                  <a:ln>
                    <a:noFill/>
                  </a:ln>
                  <a:solidFill>
                    <a:srgbClr val="0033CC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EEA566E-5D69-D7DC-3610-B689859C39D6}"/>
                  </a:ext>
                </a:extLst>
              </p:cNvPr>
              <p:cNvSpPr/>
              <p:nvPr/>
            </p:nvSpPr>
            <p:spPr bwMode="auto">
              <a:xfrm>
                <a:off x="5410200" y="4620220"/>
                <a:ext cx="2286000" cy="40011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Sin()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D87FDA-0376-4D19-6768-2BB8D67E11A9}"/>
                </a:ext>
              </a:extLst>
            </p:cNvPr>
            <p:cNvSpPr/>
            <p:nvPr/>
          </p:nvSpPr>
          <p:spPr bwMode="auto">
            <a:xfrm>
              <a:off x="5710237" y="417686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solidFill>
                    <a:srgbClr val="C00000"/>
                  </a:solidFill>
                  <a:latin typeface="Times New Roman" pitchFamily="-65" charset="0"/>
                </a:rPr>
                <a:t>Linear(24, 5)</a:t>
              </a:r>
              <a:endParaRPr kumimoji="0" 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-65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2C47C5A-1CE9-CE92-00DE-E9E4A20FB4F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6" y="5898448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707A23B-611B-C3CB-6927-EAFF31CB045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95537" y="2237926"/>
              <a:ext cx="0" cy="356896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B90BE39-98AE-E697-1BC9-D65B8729C5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95537" y="2271712"/>
              <a:ext cx="2176463" cy="0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3BEB10B-78E8-F7E2-C321-D64DE1425613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552950" y="2237926"/>
              <a:ext cx="19050" cy="3660522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E7E0BED-1DCC-F51B-7220-5B25E9D3AC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52950" y="5893685"/>
              <a:ext cx="2381250" cy="4763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8A32C57-D092-7445-8789-1730D6532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9412" y="5249699"/>
              <a:ext cx="431800" cy="6958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547DE7-1B6D-5290-F543-D55F35C5FD5C}"/>
                    </a:ext>
                  </a:extLst>
                </p:cNvPr>
                <p:cNvSpPr txBox="1"/>
                <p:nvPr/>
              </p:nvSpPr>
              <p:spPr>
                <a:xfrm>
                  <a:off x="6235326" y="3052970"/>
                  <a:ext cx="19010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sub>
                        </m:s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A547DE7-1B6D-5290-F543-D55F35C5F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326" y="3052970"/>
                  <a:ext cx="1901098" cy="523220"/>
                </a:xfrm>
                <a:prstGeom prst="rect">
                  <a:avLst/>
                </a:prstGeom>
                <a:blipFill>
                  <a:blip r:embed="rId4"/>
                  <a:stretch>
                    <a:fillRect r="-133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872483-53A9-5045-09D4-54CDAE291478}"/>
                    </a:ext>
                  </a:extLst>
                </p:cNvPr>
                <p:cNvSpPr txBox="1"/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872483-53A9-5045-09D4-54CDAE291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1122" y="5882550"/>
                  <a:ext cx="45719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25000" r="-47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EC92F38-B173-C266-0730-F551DDE89CE8}"/>
              </a:ext>
            </a:extLst>
          </p:cNvPr>
          <p:cNvGrpSpPr/>
          <p:nvPr/>
        </p:nvGrpSpPr>
        <p:grpSpPr>
          <a:xfrm>
            <a:off x="2057400" y="3995975"/>
            <a:ext cx="2286000" cy="880825"/>
            <a:chOff x="2057400" y="3438705"/>
            <a:chExt cx="2286000" cy="880825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65273EB-A465-86BD-38DF-0513053225F1}"/>
                </a:ext>
              </a:extLst>
            </p:cNvPr>
            <p:cNvSpPr/>
            <p:nvPr/>
          </p:nvSpPr>
          <p:spPr bwMode="auto">
            <a:xfrm>
              <a:off x="2057400" y="391942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Linear(24, 24)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E3A528C-5E96-7178-0089-DE82FC3ACF83}"/>
                </a:ext>
              </a:extLst>
            </p:cNvPr>
            <p:cNvSpPr/>
            <p:nvPr/>
          </p:nvSpPr>
          <p:spPr bwMode="auto">
            <a:xfrm>
              <a:off x="2057400" y="3438705"/>
              <a:ext cx="22860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Sin()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120DB59-2442-CB55-BA1C-0FD14E63A4D9}"/>
              </a:ext>
            </a:extLst>
          </p:cNvPr>
          <p:cNvGrpSpPr/>
          <p:nvPr/>
        </p:nvGrpSpPr>
        <p:grpSpPr>
          <a:xfrm>
            <a:off x="6508505" y="4784014"/>
            <a:ext cx="2286000" cy="852689"/>
            <a:chOff x="2057400" y="3466841"/>
            <a:chExt cx="2286000" cy="85268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4F47E8-9953-8824-B8F7-106B80CD63DE}"/>
                </a:ext>
              </a:extLst>
            </p:cNvPr>
            <p:cNvSpPr/>
            <p:nvPr/>
          </p:nvSpPr>
          <p:spPr bwMode="auto">
            <a:xfrm>
              <a:off x="2057400" y="391942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Linear(24, 24)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07A62DE-EFE0-386B-E155-5C5A02F0BEEB}"/>
                </a:ext>
              </a:extLst>
            </p:cNvPr>
            <p:cNvSpPr/>
            <p:nvPr/>
          </p:nvSpPr>
          <p:spPr bwMode="auto">
            <a:xfrm>
              <a:off x="2057400" y="3466841"/>
              <a:ext cx="22860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Sin()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EC62492-7392-A0AD-14ED-8437F8D8D839}"/>
              </a:ext>
            </a:extLst>
          </p:cNvPr>
          <p:cNvGrpSpPr/>
          <p:nvPr/>
        </p:nvGrpSpPr>
        <p:grpSpPr>
          <a:xfrm>
            <a:off x="2057400" y="2895600"/>
            <a:ext cx="2286000" cy="880825"/>
            <a:chOff x="2057400" y="3438705"/>
            <a:chExt cx="2286000" cy="88082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5495EB-6DB2-F4A8-B191-F072896CEF2D}"/>
                </a:ext>
              </a:extLst>
            </p:cNvPr>
            <p:cNvSpPr/>
            <p:nvPr/>
          </p:nvSpPr>
          <p:spPr bwMode="auto">
            <a:xfrm>
              <a:off x="2057400" y="3919420"/>
              <a:ext cx="2286000" cy="40011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Linear(24, 24)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D8D9CD-140E-D123-E1B1-809A3C34318D}"/>
                </a:ext>
              </a:extLst>
            </p:cNvPr>
            <p:cNvSpPr/>
            <p:nvPr/>
          </p:nvSpPr>
          <p:spPr bwMode="auto">
            <a:xfrm>
              <a:off x="2057400" y="3438705"/>
              <a:ext cx="2286000" cy="4001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pitchFamily="-65" charset="0"/>
                </a:rPr>
                <a:t>Sin()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144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1014BC-1C94-C94D-355D-684DBB2689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33CC"/>
                </a:solidFill>
              </a:rPr>
              <a:t>Configuration</a:t>
            </a:r>
            <a:r>
              <a:rPr lang="en-US" dirty="0"/>
              <a:t>: </a:t>
            </a:r>
            <a:r>
              <a:rPr lang="en-US" dirty="0" err="1"/>
              <a:t>AE_config.yaml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train_size</a:t>
            </a:r>
            <a:r>
              <a:rPr lang="en-US" dirty="0"/>
              <a:t>: 	150_000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batch_size</a:t>
            </a:r>
            <a:r>
              <a:rPr lang="en-US" dirty="0"/>
              <a:t>: 	128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n_epochs</a:t>
            </a:r>
            <a:r>
              <a:rPr lang="en-US" dirty="0"/>
              <a:t>: 	1000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test_size</a:t>
            </a:r>
            <a:r>
              <a:rPr lang="en-US" dirty="0"/>
              <a:t>: 	100_000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val_size</a:t>
            </a:r>
            <a:r>
              <a:rPr lang="en-US" dirty="0"/>
              <a:t>: 	5000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n_steps</a:t>
            </a:r>
            <a:r>
              <a:rPr lang="en-US" dirty="0"/>
              <a:t>: 	4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n_iters_per_step</a:t>
            </a:r>
            <a:r>
              <a:rPr lang="en-US" dirty="0"/>
              <a:t>: 293_000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n_iterations</a:t>
            </a:r>
            <a:r>
              <a:rPr lang="en-US" dirty="0"/>
              <a:t>: 	1_172_000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base_lr</a:t>
            </a:r>
            <a:r>
              <a:rPr lang="en-US" dirty="0"/>
              <a:t>: 	0.002</a:t>
            </a:r>
          </a:p>
          <a:p>
            <a:pPr marL="0" indent="0">
              <a:buNone/>
            </a:pPr>
            <a:r>
              <a:rPr lang="en-US" dirty="0"/>
              <a:t>	gamma: 	0.8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9E47F4-BF30-5CA7-EEB3-1555367B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(6):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269571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B423-401E-8C7A-0551-66AB01A7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pot on a white background&#10;&#10;AI-generated content may be incorrect.">
            <a:extLst>
              <a:ext uri="{FF2B5EF4-FFF2-40B4-BE49-F238E27FC236}">
                <a16:creationId xmlns:a16="http://schemas.microsoft.com/office/drawing/2014/main" id="{44B0F395-F8A0-191E-CAD7-8B5651407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295400"/>
            <a:ext cx="4572000" cy="457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D2C8D1E-B4BF-2AC5-3D3C-ED81906A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(7):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Latent Space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C0D8CC-47F1-A6C8-FE14-E4BB9E852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784600" cy="4819650"/>
          </a:xfrm>
        </p:spPr>
        <p:txBody>
          <a:bodyPr/>
          <a:lstStyle/>
          <a:p>
            <a:r>
              <a:rPr lang="en-US" dirty="0"/>
              <a:t>There is clearly structure in the latent space, suggesting (as expected) that the color data pertains to different classes of stars.</a:t>
            </a:r>
          </a:p>
          <a:p>
            <a:r>
              <a:rPr lang="en-US" dirty="0"/>
              <a:t>The next step would be to identify the clusters and determine whether they  correspond to stars with physically distinct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428264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5FEE-3C3D-822D-A8CB-738D4931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 descr="xxx">
                <a:extLst>
                  <a:ext uri="{FF2B5EF4-FFF2-40B4-BE49-F238E27FC236}">
                    <a16:creationId xmlns:a16="http://schemas.microsoft.com/office/drawing/2014/main" id="{9712F97C-5D91-ED58-A4FC-F1A7B583686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plots below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the measured flux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dirty="0"/>
                  <a:t> the predicted flux. As anticipated, the bias in the autoencoder is small.</a:t>
                </a:r>
              </a:p>
            </p:txBody>
          </p:sp>
        </mc:Choice>
        <mc:Fallback>
          <p:sp>
            <p:nvSpPr>
              <p:cNvPr id="2" name="Content Placeholder 1" descr="xxx">
                <a:extLst>
                  <a:ext uri="{FF2B5EF4-FFF2-40B4-BE49-F238E27FC236}">
                    <a16:creationId xmlns:a16="http://schemas.microsoft.com/office/drawing/2014/main" id="{9712F97C-5D91-ED58-A4FC-F1A7B5836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14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517C27D-1502-00B0-E33E-E77CC39A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 (8):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Predictions</a:t>
            </a: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27BBABC7-2218-A389-9CE8-0939AA08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57450"/>
            <a:ext cx="73152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11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4D95-95BC-B8F1-D149-F57736D2C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DF852E-4060-2F42-00FC-1CCEDC6EA3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Convolutional Autoencoders (CAE)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55196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B97BE-B712-7756-FCD5-A227691F50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33CC"/>
                </a:solidFill>
              </a:rPr>
              <a:t>C</a:t>
            </a:r>
            <a:r>
              <a:rPr lang="en-US" dirty="0"/>
              <a:t>onvolutional </a:t>
            </a:r>
            <a:r>
              <a:rPr lang="en-US" b="1" dirty="0" err="1">
                <a:solidFill>
                  <a:srgbClr val="0033CC"/>
                </a:solidFill>
              </a:rPr>
              <a:t>A</a:t>
            </a:r>
            <a:r>
              <a:rPr lang="en-US" dirty="0" err="1"/>
              <a:t>uto</a:t>
            </a:r>
            <a:r>
              <a:rPr lang="en-US" b="1" dirty="0" err="1">
                <a:solidFill>
                  <a:srgbClr val="0033CC"/>
                </a:solidFill>
              </a:rPr>
              <a:t>E</a:t>
            </a:r>
            <a:r>
              <a:rPr lang="en-US" dirty="0" err="1"/>
              <a:t>ncoder</a:t>
            </a:r>
            <a:r>
              <a:rPr lang="en-US" dirty="0"/>
              <a:t> is an autoencoder that operates on 2-dimensional data, such as images.</a:t>
            </a:r>
          </a:p>
          <a:p>
            <a:endParaRPr lang="en-US" dirty="0"/>
          </a:p>
          <a:p>
            <a:r>
              <a:rPr lang="en-US" dirty="0"/>
              <a:t>Suppose our goal is to create a compressed representation of galaxy images.</a:t>
            </a:r>
          </a:p>
          <a:p>
            <a:endParaRPr lang="en-US" dirty="0"/>
          </a:p>
          <a:p>
            <a:r>
              <a:rPr lang="en-US" dirty="0"/>
              <a:t>This can be done using a CAE</a:t>
            </a:r>
            <a:br>
              <a:rPr lang="en-US" dirty="0"/>
            </a:br>
            <a:r>
              <a:rPr lang="en-US" dirty="0"/>
              <a:t>with an encoder and a decoder</a:t>
            </a:r>
            <a:br>
              <a:rPr lang="en-US" dirty="0"/>
            </a:br>
            <a:r>
              <a:rPr lang="en-US" dirty="0"/>
              <a:t>which, conceptually, are mirror</a:t>
            </a:r>
            <a:br>
              <a:rPr lang="en-US" dirty="0"/>
            </a:br>
            <a:r>
              <a:rPr lang="en-US" dirty="0"/>
              <a:t>images of each other.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A9A9B9-352C-4121-40A0-55500636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Autoencoders 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FFC9F-148F-3450-8675-749BB65C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84525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8569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47ED-C40F-9FDC-CF72-652A7415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dirty="0"/>
              <a:t>Convolutional Autoencoders (2)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7F3E21-3FC8-B922-4F69-B6DFC7D4D26A}"/>
              </a:ext>
            </a:extLst>
          </p:cNvPr>
          <p:cNvGrpSpPr/>
          <p:nvPr/>
        </p:nvGrpSpPr>
        <p:grpSpPr>
          <a:xfrm>
            <a:off x="660828" y="2554605"/>
            <a:ext cx="4413114" cy="2877953"/>
            <a:chOff x="581100" y="1850531"/>
            <a:chExt cx="6382671" cy="4162372"/>
          </a:xfrm>
        </p:grpSpPr>
        <p:sp>
          <p:nvSpPr>
            <p:cNvPr id="65" name="Data 64">
              <a:extLst>
                <a:ext uri="{FF2B5EF4-FFF2-40B4-BE49-F238E27FC236}">
                  <a16:creationId xmlns:a16="http://schemas.microsoft.com/office/drawing/2014/main" id="{3B7D1B51-2E30-5A5F-10EF-EF559132EE80}"/>
                </a:ext>
              </a:extLst>
            </p:cNvPr>
            <p:cNvSpPr/>
            <p:nvPr/>
          </p:nvSpPr>
          <p:spPr>
            <a:xfrm rot="16200000">
              <a:off x="2033934" y="3398033"/>
              <a:ext cx="1749791" cy="1147575"/>
            </a:xfrm>
            <a:prstGeom prst="flowChartInputOutput">
              <a:avLst/>
            </a:prstGeom>
            <a:solidFill>
              <a:srgbClr val="C00000">
                <a:alpha val="51184"/>
              </a:srgb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Data 58">
              <a:extLst>
                <a:ext uri="{FF2B5EF4-FFF2-40B4-BE49-F238E27FC236}">
                  <a16:creationId xmlns:a16="http://schemas.microsoft.com/office/drawing/2014/main" id="{33E62BC1-68C2-E765-4C74-0FF9A67042C2}"/>
                </a:ext>
              </a:extLst>
            </p:cNvPr>
            <p:cNvSpPr/>
            <p:nvPr/>
          </p:nvSpPr>
          <p:spPr>
            <a:xfrm rot="16200000">
              <a:off x="250193" y="3662139"/>
              <a:ext cx="2681671" cy="2019857"/>
            </a:xfrm>
            <a:prstGeom prst="flowChartInputOutput">
              <a:avLst/>
            </a:prstGeom>
            <a:solidFill>
              <a:schemeClr val="accent2">
                <a:lumMod val="50000"/>
                <a:alpha val="5118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Data 56">
              <a:extLst>
                <a:ext uri="{FF2B5EF4-FFF2-40B4-BE49-F238E27FC236}">
                  <a16:creationId xmlns:a16="http://schemas.microsoft.com/office/drawing/2014/main" id="{995DCE3E-14D5-F288-4C93-1DA3D99C8F87}"/>
                </a:ext>
              </a:extLst>
            </p:cNvPr>
            <p:cNvSpPr/>
            <p:nvPr/>
          </p:nvSpPr>
          <p:spPr>
            <a:xfrm rot="16200000">
              <a:off x="4055944" y="2565472"/>
              <a:ext cx="788544" cy="489376"/>
            </a:xfrm>
            <a:prstGeom prst="flowChartInputOutput">
              <a:avLst/>
            </a:prstGeom>
            <a:solidFill>
              <a:srgbClr val="C00000">
                <a:alpha val="51184"/>
              </a:srgb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Data 46">
              <a:extLst>
                <a:ext uri="{FF2B5EF4-FFF2-40B4-BE49-F238E27FC236}">
                  <a16:creationId xmlns:a16="http://schemas.microsoft.com/office/drawing/2014/main" id="{95344A39-68C2-3CF2-7A92-675DE23DE72E}"/>
                </a:ext>
              </a:extLst>
            </p:cNvPr>
            <p:cNvSpPr/>
            <p:nvPr/>
          </p:nvSpPr>
          <p:spPr>
            <a:xfrm rot="16200000">
              <a:off x="2998797" y="2918649"/>
              <a:ext cx="1210437" cy="683624"/>
            </a:xfrm>
            <a:prstGeom prst="flowChartInputOutput">
              <a:avLst/>
            </a:prstGeom>
            <a:solidFill>
              <a:schemeClr val="accent1">
                <a:lumMod val="75000"/>
                <a:alpha val="51184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0" name="Data 39">
              <a:extLst>
                <a:ext uri="{FF2B5EF4-FFF2-40B4-BE49-F238E27FC236}">
                  <a16:creationId xmlns:a16="http://schemas.microsoft.com/office/drawing/2014/main" id="{73D2C67A-8A83-90C5-FD68-5E934C1D7F6D}"/>
                </a:ext>
              </a:extLst>
            </p:cNvPr>
            <p:cNvSpPr/>
            <p:nvPr/>
          </p:nvSpPr>
          <p:spPr>
            <a:xfrm rot="16200000">
              <a:off x="4778518" y="1987333"/>
              <a:ext cx="582448" cy="308844"/>
            </a:xfrm>
            <a:prstGeom prst="flowChartInputOutput">
              <a:avLst/>
            </a:prstGeom>
            <a:solidFill>
              <a:schemeClr val="accent1">
                <a:lumMod val="75000"/>
                <a:alpha val="51184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8AC778-198E-D24E-27E6-2D00202DB2AA}"/>
                </a:ext>
              </a:extLst>
            </p:cNvPr>
            <p:cNvSpPr txBox="1"/>
            <p:nvPr/>
          </p:nvSpPr>
          <p:spPr>
            <a:xfrm>
              <a:off x="2614389" y="5471257"/>
              <a:ext cx="130676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(3, 96, 96)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544DD86-DDC7-9C25-4131-6E5A7F04ABF2}"/>
                </a:ext>
              </a:extLst>
            </p:cNvPr>
            <p:cNvSpPr txBox="1"/>
            <p:nvPr/>
          </p:nvSpPr>
          <p:spPr>
            <a:xfrm>
              <a:off x="3482618" y="4293875"/>
              <a:ext cx="1889974" cy="6009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(6, 48, 48)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639917-AF79-FDD2-7DB8-860679299320}"/>
                </a:ext>
              </a:extLst>
            </p:cNvPr>
            <p:cNvSpPr txBox="1"/>
            <p:nvPr/>
          </p:nvSpPr>
          <p:spPr>
            <a:xfrm>
              <a:off x="3927488" y="3324325"/>
              <a:ext cx="2084720" cy="6009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(12, 24, 24)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B3E995-95AC-1B63-D12F-97E804C33D83}"/>
                </a:ext>
              </a:extLst>
            </p:cNvPr>
            <p:cNvSpPr txBox="1"/>
            <p:nvPr/>
          </p:nvSpPr>
          <p:spPr>
            <a:xfrm>
              <a:off x="4734059" y="2685400"/>
              <a:ext cx="2084720" cy="6009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(24, 12, 12)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60710B-C7FC-7F07-146F-668EC338DCBF}"/>
                </a:ext>
              </a:extLst>
            </p:cNvPr>
            <p:cNvSpPr txBox="1"/>
            <p:nvPr/>
          </p:nvSpPr>
          <p:spPr>
            <a:xfrm>
              <a:off x="5268544" y="2054310"/>
              <a:ext cx="1695227" cy="6009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(16, 6, 6)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007FC06-E61D-30D8-1545-66B644D48D54}"/>
                </a:ext>
              </a:extLst>
            </p:cNvPr>
            <p:cNvSpPr/>
            <p:nvPr/>
          </p:nvSpPr>
          <p:spPr>
            <a:xfrm>
              <a:off x="2629227" y="3755472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0C04F78-9B16-14A0-D6C8-EF753D9C5A52}"/>
                </a:ext>
              </a:extLst>
            </p:cNvPr>
            <p:cNvSpPr/>
            <p:nvPr/>
          </p:nvSpPr>
          <p:spPr>
            <a:xfrm>
              <a:off x="3397734" y="3058817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321C1A1-F48D-B5C4-D684-39999012B4AA}"/>
                </a:ext>
              </a:extLst>
            </p:cNvPr>
            <p:cNvSpPr/>
            <p:nvPr/>
          </p:nvSpPr>
          <p:spPr>
            <a:xfrm>
              <a:off x="3974789" y="2645462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8DF2EFC-B78B-5F21-E224-52A6D18FD962}"/>
                </a:ext>
              </a:extLst>
            </p:cNvPr>
            <p:cNvSpPr/>
            <p:nvPr/>
          </p:nvSpPr>
          <p:spPr>
            <a:xfrm>
              <a:off x="4635570" y="2106231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1A2EBAE2-F78D-F68E-ABFD-80372FDDEFC6}"/>
              </a:ext>
            </a:extLst>
          </p:cNvPr>
          <p:cNvSpPr txBox="1"/>
          <p:nvPr/>
        </p:nvSpPr>
        <p:spPr>
          <a:xfrm>
            <a:off x="951890" y="2571570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33CC"/>
                </a:solidFill>
              </a:rPr>
              <a:t>Encoder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739420-5EA3-73B3-B5DE-CA41963EC4AB}"/>
              </a:ext>
            </a:extLst>
          </p:cNvPr>
          <p:cNvSpPr txBox="1"/>
          <p:nvPr/>
        </p:nvSpPr>
        <p:spPr>
          <a:xfrm>
            <a:off x="6909854" y="4198542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33CC"/>
                </a:solidFill>
              </a:rPr>
              <a:t>Decoder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6153096-9EA7-ACAE-5289-118D7E8EFA1B}"/>
                  </a:ext>
                </a:extLst>
              </p:cNvPr>
              <p:cNvSpPr txBox="1"/>
              <p:nvPr/>
            </p:nvSpPr>
            <p:spPr>
              <a:xfrm>
                <a:off x="4018431" y="2209800"/>
                <a:ext cx="30807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33CC"/>
                    </a:solidFill>
                  </a:rPr>
                  <a:t>Latent space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𝟓𝟕𝟔</m:t>
                    </m:r>
                  </m:oMath>
                </a14:m>
                <a:endParaRPr lang="en-US" b="1" dirty="0">
                  <a:solidFill>
                    <a:srgbClr val="0033CC"/>
                  </a:solidFill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6153096-9EA7-ACAE-5289-118D7E8EF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431" y="2209800"/>
                <a:ext cx="3080715" cy="461665"/>
              </a:xfrm>
              <a:prstGeom prst="rect">
                <a:avLst/>
              </a:prstGeom>
              <a:blipFill>
                <a:blip r:embed="rId2"/>
                <a:stretch>
                  <a:fillRect l="-3279" t="-1351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6E70ECF9-C6F0-092C-0EA1-7AC7647A50A7}"/>
              </a:ext>
            </a:extLst>
          </p:cNvPr>
          <p:cNvGrpSpPr/>
          <p:nvPr/>
        </p:nvGrpSpPr>
        <p:grpSpPr>
          <a:xfrm>
            <a:off x="705193" y="1447800"/>
            <a:ext cx="4809076" cy="436955"/>
            <a:chOff x="705193" y="1589668"/>
            <a:chExt cx="4809076" cy="436955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D8EB524-DD64-FFF4-FF7B-989EB6F52297}"/>
                </a:ext>
              </a:extLst>
            </p:cNvPr>
            <p:cNvSpPr/>
            <p:nvPr/>
          </p:nvSpPr>
          <p:spPr>
            <a:xfrm>
              <a:off x="705193" y="1589668"/>
              <a:ext cx="412560" cy="436955"/>
            </a:xfrm>
            <a:prstGeom prst="ellipse">
              <a:avLst/>
            </a:pr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E1925D2-6EC5-AB91-E652-EE7627611CEF}"/>
                </a:ext>
              </a:extLst>
            </p:cNvPr>
            <p:cNvSpPr txBox="1"/>
            <p:nvPr/>
          </p:nvSpPr>
          <p:spPr>
            <a:xfrm>
              <a:off x="1148971" y="1589668"/>
              <a:ext cx="436529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MaxPool2d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sz="21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ReLU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sz="21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Conv2d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) )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2CA904A-BF27-5386-8664-99A83106C3FE}"/>
              </a:ext>
            </a:extLst>
          </p:cNvPr>
          <p:cNvGrpSpPr/>
          <p:nvPr/>
        </p:nvGrpSpPr>
        <p:grpSpPr>
          <a:xfrm>
            <a:off x="4114800" y="1837710"/>
            <a:ext cx="4921576" cy="4334490"/>
            <a:chOff x="4114800" y="1837710"/>
            <a:chExt cx="4921576" cy="433449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F5BC9FB-731F-2AB6-FF12-71FEEC23F0E1}"/>
                </a:ext>
              </a:extLst>
            </p:cNvPr>
            <p:cNvGrpSpPr/>
            <p:nvPr/>
          </p:nvGrpSpPr>
          <p:grpSpPr>
            <a:xfrm rot="10800000">
              <a:off x="5585475" y="1837710"/>
              <a:ext cx="3210313" cy="2877953"/>
              <a:chOff x="581100" y="1850531"/>
              <a:chExt cx="4643064" cy="4162372"/>
            </a:xfrm>
          </p:grpSpPr>
          <p:sp>
            <p:nvSpPr>
              <p:cNvPr id="67" name="Data 66">
                <a:extLst>
                  <a:ext uri="{FF2B5EF4-FFF2-40B4-BE49-F238E27FC236}">
                    <a16:creationId xmlns:a16="http://schemas.microsoft.com/office/drawing/2014/main" id="{96C6028A-02ED-FDBF-88B4-A1973522D670}"/>
                  </a:ext>
                </a:extLst>
              </p:cNvPr>
              <p:cNvSpPr/>
              <p:nvPr/>
            </p:nvSpPr>
            <p:spPr>
              <a:xfrm rot="16200000">
                <a:off x="2033934" y="3398033"/>
                <a:ext cx="1749791" cy="1147575"/>
              </a:xfrm>
              <a:prstGeom prst="flowChartInputOutput">
                <a:avLst/>
              </a:prstGeom>
              <a:solidFill>
                <a:srgbClr val="C00000">
                  <a:alpha val="51184"/>
                </a:srgb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Data 67">
                <a:extLst>
                  <a:ext uri="{FF2B5EF4-FFF2-40B4-BE49-F238E27FC236}">
                    <a16:creationId xmlns:a16="http://schemas.microsoft.com/office/drawing/2014/main" id="{E86F45AF-4FDC-4E89-FF23-B15A949E2462}"/>
                  </a:ext>
                </a:extLst>
              </p:cNvPr>
              <p:cNvSpPr/>
              <p:nvPr/>
            </p:nvSpPr>
            <p:spPr>
              <a:xfrm rot="16200000">
                <a:off x="250193" y="3662139"/>
                <a:ext cx="2681671" cy="2019857"/>
              </a:xfrm>
              <a:prstGeom prst="flowChartInputOutput">
                <a:avLst/>
              </a:prstGeom>
              <a:solidFill>
                <a:schemeClr val="accent2">
                  <a:lumMod val="50000"/>
                  <a:alpha val="51184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Data 68">
                <a:extLst>
                  <a:ext uri="{FF2B5EF4-FFF2-40B4-BE49-F238E27FC236}">
                    <a16:creationId xmlns:a16="http://schemas.microsoft.com/office/drawing/2014/main" id="{BCBB4787-FF05-34DA-E265-748A5890C8B0}"/>
                  </a:ext>
                </a:extLst>
              </p:cNvPr>
              <p:cNvSpPr/>
              <p:nvPr/>
            </p:nvSpPr>
            <p:spPr>
              <a:xfrm rot="16200000">
                <a:off x="4055944" y="2565472"/>
                <a:ext cx="788544" cy="489376"/>
              </a:xfrm>
              <a:prstGeom prst="flowChartInputOutput">
                <a:avLst/>
              </a:prstGeom>
              <a:solidFill>
                <a:srgbClr val="C00000">
                  <a:alpha val="51184"/>
                </a:srgb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0" name="Data 69">
                <a:extLst>
                  <a:ext uri="{FF2B5EF4-FFF2-40B4-BE49-F238E27FC236}">
                    <a16:creationId xmlns:a16="http://schemas.microsoft.com/office/drawing/2014/main" id="{D130F803-CD16-2D29-FD7E-EE994DD7C658}"/>
                  </a:ext>
                </a:extLst>
              </p:cNvPr>
              <p:cNvSpPr/>
              <p:nvPr/>
            </p:nvSpPr>
            <p:spPr>
              <a:xfrm rot="16200000">
                <a:off x="2998797" y="2918649"/>
                <a:ext cx="1210437" cy="683624"/>
              </a:xfrm>
              <a:prstGeom prst="flowChartInputOutput">
                <a:avLst/>
              </a:prstGeom>
              <a:solidFill>
                <a:schemeClr val="accent1">
                  <a:lumMod val="75000"/>
                  <a:alpha val="51184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Data 70">
                <a:extLst>
                  <a:ext uri="{FF2B5EF4-FFF2-40B4-BE49-F238E27FC236}">
                    <a16:creationId xmlns:a16="http://schemas.microsoft.com/office/drawing/2014/main" id="{842413DC-AB1D-8A9F-6FFA-21394DAC1E31}"/>
                  </a:ext>
                </a:extLst>
              </p:cNvPr>
              <p:cNvSpPr/>
              <p:nvPr/>
            </p:nvSpPr>
            <p:spPr>
              <a:xfrm rot="16200000">
                <a:off x="4778518" y="1987333"/>
                <a:ext cx="582448" cy="308844"/>
              </a:xfrm>
              <a:prstGeom prst="flowChartInputOutput">
                <a:avLst/>
              </a:prstGeom>
              <a:solidFill>
                <a:schemeClr val="accent1">
                  <a:lumMod val="75000"/>
                  <a:alpha val="51184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AB5539B1-B054-E34B-C846-71EB5BCF1CBF}"/>
                  </a:ext>
                </a:extLst>
              </p:cNvPr>
              <p:cNvSpPr/>
              <p:nvPr/>
            </p:nvSpPr>
            <p:spPr>
              <a:xfrm>
                <a:off x="1591028" y="4409762"/>
                <a:ext cx="412560" cy="436955"/>
              </a:xfrm>
              <a:prstGeom prst="ellipse">
                <a:avLst/>
              </a:prstGeom>
              <a:solidFill>
                <a:schemeClr val="accent5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9DFBEF5B-E722-9C6F-B664-C877854B4D59}"/>
                  </a:ext>
                </a:extLst>
              </p:cNvPr>
              <p:cNvSpPr/>
              <p:nvPr/>
            </p:nvSpPr>
            <p:spPr>
              <a:xfrm>
                <a:off x="2750740" y="3647202"/>
                <a:ext cx="412560" cy="436955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71E1C012-7C8A-8810-EC9E-8EB0548055C1}"/>
                  </a:ext>
                </a:extLst>
              </p:cNvPr>
              <p:cNvSpPr/>
              <p:nvPr/>
            </p:nvSpPr>
            <p:spPr>
              <a:xfrm>
                <a:off x="3604016" y="2965676"/>
                <a:ext cx="412560" cy="436955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37948605-43A4-61B2-3B3B-1EC93AA7B39D}"/>
                  </a:ext>
                </a:extLst>
              </p:cNvPr>
              <p:cNvSpPr/>
              <p:nvPr/>
            </p:nvSpPr>
            <p:spPr>
              <a:xfrm>
                <a:off x="4488625" y="2301136"/>
                <a:ext cx="412560" cy="436955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C4DE694-1AF1-47FB-ECDC-EB97B1ACF460}"/>
                </a:ext>
              </a:extLst>
            </p:cNvPr>
            <p:cNvGrpSpPr/>
            <p:nvPr/>
          </p:nvGrpSpPr>
          <p:grpSpPr>
            <a:xfrm>
              <a:off x="4114800" y="5057612"/>
              <a:ext cx="4490079" cy="436955"/>
              <a:chOff x="705193" y="1589668"/>
              <a:chExt cx="4490079" cy="436955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E5FABCD-CAEC-DD5C-4426-A1C54749C95E}"/>
                  </a:ext>
                </a:extLst>
              </p:cNvPr>
              <p:cNvSpPr/>
              <p:nvPr/>
            </p:nvSpPr>
            <p:spPr>
              <a:xfrm>
                <a:off x="705193" y="1589668"/>
                <a:ext cx="412560" cy="436955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5B3D280-8EC0-6262-262B-C1010EF723CE}"/>
                  </a:ext>
                </a:extLst>
              </p:cNvPr>
              <p:cNvSpPr txBox="1"/>
              <p:nvPr/>
            </p:nvSpPr>
            <p:spPr>
              <a:xfrm>
                <a:off x="1148971" y="1589668"/>
                <a:ext cx="4046301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ReLU</a:t>
                </a: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:r>
                  <a:rPr lang="en-US" sz="21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Conv2dTranspose</a:t>
                </a: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))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9EBCEDD-2824-4FC1-6028-52D9CCC36C04}"/>
                </a:ext>
              </a:extLst>
            </p:cNvPr>
            <p:cNvGrpSpPr/>
            <p:nvPr/>
          </p:nvGrpSpPr>
          <p:grpSpPr>
            <a:xfrm>
              <a:off x="4127914" y="5735245"/>
              <a:ext cx="4908462" cy="436955"/>
              <a:chOff x="705193" y="1589668"/>
              <a:chExt cx="4908462" cy="436955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78E8253-98A2-B4E4-5E63-ABAB9920EAA4}"/>
                  </a:ext>
                </a:extLst>
              </p:cNvPr>
              <p:cNvSpPr/>
              <p:nvPr/>
            </p:nvSpPr>
            <p:spPr>
              <a:xfrm>
                <a:off x="705193" y="1589668"/>
                <a:ext cx="412560" cy="436955"/>
              </a:xfrm>
              <a:prstGeom prst="ellipse">
                <a:avLst/>
              </a:prstGeom>
              <a:solidFill>
                <a:schemeClr val="accent5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B1CF010-7BE5-9692-7E37-283E5CDFC8F3}"/>
                  </a:ext>
                </a:extLst>
              </p:cNvPr>
              <p:cNvSpPr txBox="1"/>
              <p:nvPr/>
            </p:nvSpPr>
            <p:spPr>
              <a:xfrm>
                <a:off x="1148971" y="1589668"/>
                <a:ext cx="4464684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Sigmoid</a:t>
                </a: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</a:t>
                </a:r>
                <a:r>
                  <a:rPr lang="en-US" sz="21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Conv2dTranspose</a:t>
                </a: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))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176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A736-353D-4D4D-849D-E5B36B5E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Autoencoders (3)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BAA16BA-AE10-0589-6552-A8BE168E6D3E}"/>
              </a:ext>
            </a:extLst>
          </p:cNvPr>
          <p:cNvGrpSpPr/>
          <p:nvPr/>
        </p:nvGrpSpPr>
        <p:grpSpPr>
          <a:xfrm>
            <a:off x="342900" y="1447800"/>
            <a:ext cx="8458200" cy="3733800"/>
            <a:chOff x="685800" y="1828800"/>
            <a:chExt cx="7686675" cy="292576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5A779B9-0917-9CD7-3A4D-407E72736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28800"/>
              <a:ext cx="3657600" cy="2921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1110B69-E59A-3B39-DDB4-95F9301C6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4875" y="1833562"/>
              <a:ext cx="3657600" cy="2921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9A9DE06-4FB8-A09A-109A-1569ED3828E3}"/>
              </a:ext>
            </a:extLst>
          </p:cNvPr>
          <p:cNvSpPr txBox="1"/>
          <p:nvPr/>
        </p:nvSpPr>
        <p:spPr>
          <a:xfrm>
            <a:off x="1066800" y="5325690"/>
            <a:ext cx="2156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5B59D-D13A-E221-05E0-1D7489E5A355}"/>
              </a:ext>
            </a:extLst>
          </p:cNvPr>
          <p:cNvSpPr txBox="1"/>
          <p:nvPr/>
        </p:nvSpPr>
        <p:spPr>
          <a:xfrm>
            <a:off x="5638800" y="5337844"/>
            <a:ext cx="2890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Reconstructed images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7811C-50E0-5DD7-90ED-E72A4AADD5EA}"/>
              </a:ext>
            </a:extLst>
          </p:cNvPr>
          <p:cNvSpPr txBox="1"/>
          <p:nvPr/>
        </p:nvSpPr>
        <p:spPr>
          <a:xfrm>
            <a:off x="2929019" y="5786735"/>
            <a:ext cx="2618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33CC"/>
                </a:solidFill>
              </a:rPr>
              <a:t>tutorial_CAE.ipynb</a:t>
            </a:r>
            <a:endParaRPr lang="en-US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122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EAC2F-9954-9009-66F5-71B7AAC85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4AEF2-5CF0-A0DC-7C31-93A9383F6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250" y="1295399"/>
            <a:ext cx="5037349" cy="40228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8DA83-EE2F-4FF7-546D-B2F6490D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Autoencoders (4)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96A3F2-A628-50B6-FF7B-55B609A716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013200" cy="4819650"/>
          </a:xfrm>
        </p:spPr>
        <p:txBody>
          <a:bodyPr/>
          <a:lstStyle/>
          <a:p>
            <a:r>
              <a:rPr lang="en-US" dirty="0"/>
              <a:t>The latent space consists of images of shape (</a:t>
            </a:r>
            <a:r>
              <a:rPr lang="en-US" dirty="0">
                <a:solidFill>
                  <a:srgbClr val="0033CC"/>
                </a:solidFill>
              </a:rPr>
              <a:t>16, 6, 6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which we have mapped to</a:t>
            </a:r>
            <a:br>
              <a:rPr lang="en-US" dirty="0"/>
            </a:br>
            <a:r>
              <a:rPr lang="en-US" dirty="0"/>
              <a:t>single-channel images of</a:t>
            </a:r>
            <a:br>
              <a:rPr lang="en-US" dirty="0"/>
            </a:br>
            <a:r>
              <a:rPr lang="en-US" dirty="0"/>
              <a:t>shape (</a:t>
            </a:r>
            <a:r>
              <a:rPr lang="en-US" dirty="0">
                <a:solidFill>
                  <a:srgbClr val="0033CC"/>
                </a:solidFill>
              </a:rPr>
              <a:t>1, 24, 24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Despite claims to the contrary in the literature, it seems exceedingly unlikely to me that we can ever fully interpret what we see in the latent space!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E8282B-3459-9B61-0563-7CDED6749823}"/>
              </a:ext>
            </a:extLst>
          </p:cNvPr>
          <p:cNvSpPr txBox="1"/>
          <p:nvPr/>
        </p:nvSpPr>
        <p:spPr>
          <a:xfrm>
            <a:off x="5257800" y="5476309"/>
            <a:ext cx="267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Latent space images</a:t>
            </a:r>
          </a:p>
        </p:txBody>
      </p:sp>
    </p:spTree>
    <p:extLst>
      <p:ext uri="{BB962C8B-B14F-4D97-AF65-F5344CB8AC3E}">
        <p14:creationId xmlns:p14="http://schemas.microsoft.com/office/powerpoint/2010/main" val="4252351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E1E-C644-828C-8BB5-30BF147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556444-88BA-CD4E-25CE-6F7C7AA9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32B846A-7F3C-5809-5D05-66B4BFACE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autoencoder is a model that implements the map </a:t>
                </a:r>
                <a:br>
                  <a:rPr lang="en-US" b="0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via a bottleneck called the </a:t>
                </a:r>
                <a:r>
                  <a:rPr lang="en-US" dirty="0">
                    <a:solidFill>
                      <a:srgbClr val="0033CC"/>
                    </a:solidFill>
                  </a:rPr>
                  <a:t>latent space </a:t>
                </a:r>
                <a:r>
                  <a:rPr lang="en-US" dirty="0"/>
                  <a:t>whose dimensionality is (usually) much smaller than that of the input space.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The applications include: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Data compression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Anomaly detection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Noise removal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32B846A-7F3C-5809-5D05-66B4BFACE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93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1729</TotalTime>
  <Words>1135</Words>
  <Application>Microsoft Macintosh PowerPoint</Application>
  <PresentationFormat>Letter Paper (8.5x11 in)</PresentationFormat>
  <Paragraphs>161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Cambria Math</vt:lpstr>
      <vt:lpstr>Courier New</vt:lpstr>
      <vt:lpstr>Times New Roman</vt:lpstr>
      <vt:lpstr>Wingdings</vt:lpstr>
      <vt:lpstr>Default Design</vt:lpstr>
      <vt:lpstr>Machine Learning In Physics Autoencoders</vt:lpstr>
      <vt:lpstr>Introduction (1)</vt:lpstr>
      <vt:lpstr>Introduction (2)</vt:lpstr>
      <vt:lpstr>Introduction (3)</vt:lpstr>
      <vt:lpstr>Introduction (4)</vt:lpstr>
      <vt:lpstr>Introduction (5)</vt:lpstr>
      <vt:lpstr>Introduction (6) </vt:lpstr>
      <vt:lpstr>Autoencoders (AE)</vt:lpstr>
      <vt:lpstr>Autoencoders (1)</vt:lpstr>
      <vt:lpstr>Autoencoders (2)</vt:lpstr>
      <vt:lpstr>Autoencoders (3)</vt:lpstr>
      <vt:lpstr>Autoencoders (4): Encoder</vt:lpstr>
      <vt:lpstr>Autoencoders (5): Decoder</vt:lpstr>
      <vt:lpstr>Autoencoders (6): Training</vt:lpstr>
      <vt:lpstr>Autoencoders (7): Latent Space</vt:lpstr>
      <vt:lpstr>Autoencoders (8): Predictions</vt:lpstr>
      <vt:lpstr>Convolutional Autoencoders (CAE)</vt:lpstr>
      <vt:lpstr>Convolutional Autoencoders (1)</vt:lpstr>
      <vt:lpstr>Convolutional Autoencoders (2)</vt:lpstr>
      <vt:lpstr>Convolutional Autoencoders (3)</vt:lpstr>
      <vt:lpstr>Convolutional Autoencoders (4)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14</cp:revision>
  <cp:lastPrinted>2019-01-07T00:35:58Z</cp:lastPrinted>
  <dcterms:created xsi:type="dcterms:W3CDTF">2025-10-13T02:25:54Z</dcterms:created>
  <dcterms:modified xsi:type="dcterms:W3CDTF">2026-10-04T17:47:21Z</dcterms:modified>
</cp:coreProperties>
</file>