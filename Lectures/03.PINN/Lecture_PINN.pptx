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1090" r:id="rId3"/>
    <p:sldId id="1093" r:id="rId4"/>
    <p:sldId id="1092" r:id="rId5"/>
    <p:sldId id="1094" r:id="rId6"/>
    <p:sldId id="1095" r:id="rId7"/>
    <p:sldId id="1067" r:id="rId8"/>
    <p:sldId id="1091" r:id="rId9"/>
    <p:sldId id="1096" r:id="rId10"/>
    <p:sldId id="1097" r:id="rId11"/>
    <p:sldId id="1098" r:id="rId12"/>
    <p:sldId id="1099" r:id="rId13"/>
    <p:sldId id="1100" r:id="rId14"/>
    <p:sldId id="1101" r:id="rId15"/>
    <p:sldId id="1102" r:id="rId16"/>
    <p:sldId id="1088" r:id="rId17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86557"/>
  </p:normalViewPr>
  <p:slideViewPr>
    <p:cSldViewPr>
      <p:cViewPr varScale="1">
        <p:scale>
          <a:sx n="90" d="100"/>
          <a:sy n="90" d="100"/>
        </p:scale>
        <p:origin x="24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7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10915-022-01939-z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mathwarehouse.com/harmonic-motion/interactive-damped-oscillator.php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PHYSICS Informed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neural networks (PINN)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790D-88AE-A73C-F5FA-15084DB1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185AD44-D925-119E-72D1-4C1CF699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038FDA-6B3A-07F1-3A09-711E327B1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method of </a:t>
            </a:r>
            <a:r>
              <a:rPr lang="en-US" dirty="0">
                <a:solidFill>
                  <a:srgbClr val="0033CC"/>
                </a:solidFill>
              </a:rPr>
              <a:t>physics-informed neural networks </a:t>
            </a:r>
            <a:r>
              <a:rPr lang="en-US" dirty="0"/>
              <a:t>(PINN) is a way</a:t>
            </a:r>
            <a:r>
              <a:rPr lang="en-US" baseline="30000" dirty="0"/>
              <a:t>1,2</a:t>
            </a:r>
            <a:r>
              <a:rPr lang="en-US" dirty="0"/>
              <a:t> to solve ordinary and partial differential equations (ODE, PDE) using neural networks.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method leverages the modeling flexibility of neural networks and the computational tools that have been developed to fit enormously complicated functions.</a:t>
            </a:r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Raissi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, M., </a:t>
            </a: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Perdikaris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, P., </a:t>
            </a: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Karniadakis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, G.E., Physics-informed neural networks: A deep learning frame-work for solving forward and inverse problems involving nonlinear partial differential equations. J. </a:t>
            </a:r>
            <a:r>
              <a:rPr lang="en-US" sz="1800" dirty="0" err="1">
                <a:solidFill>
                  <a:srgbClr val="111111"/>
                </a:solidFill>
                <a:effectLst/>
                <a:latin typeface="+mn-lt"/>
              </a:rPr>
              <a:t>Comput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. Phys. 378, 686–707 (2019).</a:t>
            </a:r>
            <a:endParaRPr lang="en-US" sz="1800" dirty="0">
              <a:latin typeface="+mn-lt"/>
            </a:endParaRPr>
          </a:p>
          <a:p>
            <a:pPr>
              <a:buAutoNum type="arabicPeriod"/>
            </a:pP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Cuomo, S </a:t>
            </a:r>
            <a:r>
              <a:rPr lang="en-US" sz="1800" i="1" dirty="0">
                <a:solidFill>
                  <a:srgbClr val="111111"/>
                </a:solidFill>
                <a:effectLst/>
                <a:latin typeface="+mn-lt"/>
              </a:rPr>
              <a:t>et al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.  Journal of Scientific Computing (2022) 92:88 </a:t>
            </a:r>
            <a:r>
              <a:rPr lang="en-US" sz="1800" dirty="0">
                <a:solidFill>
                  <a:srgbClr val="111111"/>
                </a:solidFill>
                <a:effectLst/>
                <a:latin typeface="+mn-lt"/>
                <a:hlinkClick r:id="rId2"/>
              </a:rPr>
              <a:t>https://doi.org/10.1007/s10915-022-01939-z</a:t>
            </a:r>
            <a:endParaRPr lang="en-US" sz="1800" dirty="0">
              <a:solidFill>
                <a:srgbClr val="111111"/>
              </a:solidFill>
              <a:effectLst/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effectLst/>
                <a:latin typeface="+mn-lt"/>
              </a:rPr>
              <a:t> </a:t>
            </a: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12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FBF4F-9FFC-09C7-891D-F5EC1DE5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9389FB-795F-6F68-20C4-91E6D48F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CEA569-1824-8BF2-7D0C-D47358D7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Advantages of the PINN method</a:t>
            </a:r>
          </a:p>
          <a:p>
            <a:r>
              <a:rPr lang="en-US" dirty="0"/>
              <a:t>Provides mesh-free solutions.</a:t>
            </a:r>
          </a:p>
          <a:p>
            <a:r>
              <a:rPr lang="en-US" dirty="0"/>
              <a:t>Can incorporate data to guide solutions.</a:t>
            </a:r>
          </a:p>
          <a:p>
            <a:r>
              <a:rPr lang="en-US" dirty="0"/>
              <a:t>Scales well with the dimensionality of the space.</a:t>
            </a:r>
          </a:p>
          <a:p>
            <a:r>
              <a:rPr lang="en-US" dirty="0"/>
              <a:t>Can find solutions conditioned on initial/boundary conditions. In effect, solutions can be found for </a:t>
            </a:r>
            <a:r>
              <a:rPr lang="en-US" i="1" dirty="0"/>
              <a:t>infinitely</a:t>
            </a:r>
            <a:r>
              <a:rPr lang="en-US" dirty="0"/>
              <a:t> many initial/boundary conditions simultaneously.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Disadvantages of PINNs</a:t>
            </a:r>
          </a:p>
          <a:p>
            <a:r>
              <a:rPr lang="en-US" dirty="0"/>
              <a:t>For a given set of initial/boundary conditions, much slower than traditional numerical methods. </a:t>
            </a:r>
          </a:p>
          <a:p>
            <a:r>
              <a:rPr lang="en-US" dirty="0"/>
              <a:t>Convergence is sensitive to the details of the average loss.</a:t>
            </a:r>
          </a:p>
        </p:txBody>
      </p:sp>
    </p:spTree>
    <p:extLst>
      <p:ext uri="{BB962C8B-B14F-4D97-AF65-F5344CB8AC3E}">
        <p14:creationId xmlns:p14="http://schemas.microsoft.com/office/powerpoint/2010/main" val="151185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163E-89FB-CDD0-2F15-7B18661A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0847F5-65A4-110D-8433-7A5D0CF7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25F439A-44B9-11BB-927F-F244302C5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essential ideas of PINNs will be explained using the well-known problem of the </a:t>
                </a:r>
                <a:r>
                  <a:rPr lang="en-US" dirty="0">
                    <a:solidFill>
                      <a:srgbClr val="0033CC"/>
                    </a:solidFill>
                  </a:rPr>
                  <a:t>damped harmonic oscillator</a:t>
                </a:r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displacement of an object of mass </a:t>
                </a:r>
                <a:r>
                  <a:rPr lang="en-US" i="1" dirty="0">
                    <a:solidFill>
                      <a:srgbClr val="0033CC"/>
                    </a:solidFill>
                  </a:rPr>
                  <a:t>m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33CC"/>
                    </a:solidFill>
                  </a:rPr>
                  <a:t>k</a:t>
                </a:r>
                <a:r>
                  <a:rPr lang="en-US" dirty="0"/>
                  <a:t> is the spring constant,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the viscous damping coefficient,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the natural frequency of the</a:t>
                </a:r>
              </a:p>
              <a:p>
                <a:pPr marL="0" indent="0">
                  <a:buNone/>
                </a:pPr>
                <a:r>
                  <a:rPr lang="en-US" dirty="0"/>
                  <a:t>spring.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600" dirty="0">
                    <a:hlinkClick r:id="rId2"/>
                  </a:rPr>
                  <a:t>https://www.mathwarehouse.com/harmonic-motion/interactive-damped-oscillator.php</a:t>
                </a:r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25F439A-44B9-11BB-927F-F244302C5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purple background with black text&#10;&#10;Description automatically generated">
            <a:extLst>
              <a:ext uri="{FF2B5EF4-FFF2-40B4-BE49-F238E27FC236}">
                <a16:creationId xmlns:a16="http://schemas.microsoft.com/office/drawing/2014/main" id="{4082DD6B-6F67-A0F1-B8D1-7F01A9AE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14800"/>
            <a:ext cx="4241800" cy="1676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619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E9A1-C178-3EC5-2DDB-E09B0E4B5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4F1F84-0AE0-FD5B-83D1-CA23AE52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C1483B0-BA2C-11DA-100F-040FC15B7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dynamics of the damped harmonic oscillator can be described with a single free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the damping ratio, which allows us to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the dimensional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This is a 2</a:t>
                </a:r>
                <a:r>
                  <a:rPr lang="en-US" baseline="30000" dirty="0"/>
                  <a:t>nd</a:t>
                </a:r>
                <a:r>
                  <a:rPr lang="en-US" dirty="0"/>
                  <a:t> order ODE, therefore, to get a particular solution we need to specify initial conditions: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C1483B0-BA2C-11DA-100F-040FC15B7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816" b="-4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9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51EB-EF97-D7C1-725A-DD1E74AC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5CF48A-A62F-8FBA-B02F-6F4EA326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57C0EFF-605F-1792-1C5A-9D8D797F7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damped harmonic oscillator can be solved exactly. </a:t>
                </a:r>
              </a:p>
              <a:p>
                <a:pPr marL="0" indent="0">
                  <a:buNone/>
                </a:pPr>
                <a:r>
                  <a:rPr lang="en-US" dirty="0"/>
                  <a:t>We’ll consider the underdamped case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for which the solution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r>
                  <a:rPr lang="en-US" dirty="0"/>
                  <a:t>The exact solution can be used to check the accuracy of the neural network solutions.  </a:t>
                </a:r>
              </a:p>
              <a:p>
                <a:r>
                  <a:rPr lang="en-US" dirty="0"/>
                  <a:t>We’ll compute solutions </a:t>
                </a:r>
                <a:r>
                  <a:rPr lang="en-US" i="1" dirty="0">
                    <a:solidFill>
                      <a:srgbClr val="0033CC"/>
                    </a:solidFill>
                  </a:rPr>
                  <a:t>conditioned</a:t>
                </a:r>
                <a:r>
                  <a:rPr lang="en-US" dirty="0"/>
                  <a:t> on the triplet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57C0EFF-605F-1792-1C5A-9D8D797F7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958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79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63AD-3EC9-612C-DEDC-FE624437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7EC2CE-5B10-7A14-5C25-5E8833307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Physics-informed </a:t>
            </a:r>
            <a:br>
              <a:rPr lang="en-US" dirty="0"/>
            </a:br>
            <a:r>
              <a:rPr lang="en-US" dirty="0"/>
              <a:t>neural networks (PINN)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76035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714E-E401-DCCA-CCD2-8EC4976DE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68E062-13EB-56E2-44AD-F5B2B412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Basic Idea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17B8D8-5CFC-CC87-19C8-6E4E9EC0C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Model the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with a neural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are the network parameters. How?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By minimizing an empirical risk (aka objective, or cost, function) comprising a </a:t>
                </a:r>
                <a:r>
                  <a:rPr lang="en-US" i="1" dirty="0">
                    <a:solidFill>
                      <a:srgbClr val="0033CC"/>
                    </a:solidFill>
                  </a:rPr>
                  <a:t>weighted sum </a:t>
                </a:r>
                <a:r>
                  <a:rPr lang="en-US" dirty="0"/>
                  <a:t>of three components: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𝑜𝑑𝑒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	imposes physics constraint, via ODE;</a:t>
                </a:r>
                <a:br>
                  <a:rPr lang="en-US" dirty="0"/>
                </a:br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𝑖𝑛𝑖𝑡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	imposes initial/boundary conditions,</a:t>
                </a:r>
                <a:br>
                  <a:rPr lang="en-US" dirty="0"/>
                </a:br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	imposes constraints provided by data.</a:t>
                </a:r>
              </a:p>
              <a:p>
                <a:pPr marL="85725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17B8D8-5CFC-CC87-19C8-6E4E9EC0C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124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30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0AE91-A770-D5B6-EE28-12E7017D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854D54-AB50-6D50-CE1E-7CC435E5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Basic Idea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D1F738-71FC-C04C-B399-B74C6FD8D5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overall average loss function is a weighted sum of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𝑜𝑑𝑒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𝑜𝑑𝑒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𝑜𝑑𝑒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𝑖𝑛𝑖𝑡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𝑖𝑛𝑖𝑡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0,  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𝑑𝑧</m:t>
                                          </m:r>
                                        </m:den>
                                      </m:f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the ODE and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0005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D1F738-71FC-C04C-B399-B74C6FD8D5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6579" b="-2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56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EEC-6827-D527-A2A2-4D17FA07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8D93DB-571C-E3B6-E370-3235A6E2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Problem of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A73F27F-950D-31F9-8191-37FA1A30F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problem with the average loss (aka objective function)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𝑜𝑑𝑒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𝑜𝑑𝑒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𝑖𝑛𝑖𝑡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is that minimization can be sensitive to the relative weights of the three components.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Moreover, since the different terms are in competition the accuracy of the solution also depends on the choice of weights.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A73F27F-950D-31F9-8191-37FA1A30F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37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58CA-3B89-CB86-DA3D-31106D18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D52706-6CE0-4338-789B-1AF43842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Solution Ansatz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B808D6A-5FDC-0840-2823-DAE6AE04F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way to reduce the sensitivity to the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𝑜𝑑𝑒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𝑖𝑛𝑖𝑡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to eliminate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𝑖𝑛𝑖𝑡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by incorporating the initial conditions into the solution explicitly. </a:t>
                </a:r>
              </a:p>
              <a:p>
                <a:pPr marL="0" indent="0">
                  <a:buNone/>
                </a:pPr>
                <a:r>
                  <a:rPr lang="en-US" dirty="0"/>
                  <a:t>For example, we could model the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using the </a:t>
                </a:r>
                <a:r>
                  <a:rPr lang="en-US" i="1" dirty="0"/>
                  <a:t>ansatz</a:t>
                </a:r>
                <a:r>
                  <a:rPr lang="en-US" baseline="30000" dirty="0"/>
                  <a:t>1</a:t>
                </a:r>
              </a:p>
              <a:p>
                <a:pPr marL="0" indent="0">
                  <a:buNone/>
                </a:pPr>
                <a:endParaRPr lang="en-US" b="0" i="1" baseline="300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𝑑𝑧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800" dirty="0"/>
                  <a:t>1. D. </a:t>
                </a:r>
                <a:r>
                  <a:rPr lang="en-US" sz="1800" dirty="0" err="1"/>
                  <a:t>Mortari</a:t>
                </a:r>
                <a:r>
                  <a:rPr lang="en-US" sz="1800" dirty="0"/>
                  <a:t>, The Theory of Connections: Connecting Points, Mathematics, vol. 5, no. 57, 2017.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B808D6A-5FDC-0840-2823-DAE6AE04F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DFB3-3C49-D8B4-05BD-DB6020DA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FB7221-CE20-7F6B-BEB8-1815F0E6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Automatic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ED84F79-F6E4-B242-81AC-4BC202715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key technology that makes the PINN method feasible is </a:t>
                </a:r>
                <a:r>
                  <a:rPr lang="en-US" dirty="0">
                    <a:solidFill>
                      <a:srgbClr val="0033CC"/>
                    </a:solidFill>
                  </a:rPr>
                  <a:t>automatic differentiation </a:t>
                </a:r>
                <a:r>
                  <a:rPr lang="en-US" dirty="0"/>
                  <a:t>(</a:t>
                </a:r>
                <a:r>
                  <a:rPr lang="en-US" dirty="0" err="1"/>
                  <a:t>autodiff</a:t>
                </a:r>
                <a:r>
                  <a:rPr lang="en-US" dirty="0"/>
                  <a:t>).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the technology that is used to compute the gradients, </a:t>
                </a:r>
                <a:r>
                  <a:rPr lang="en-US" i="1" u="sng" dirty="0">
                    <a:solidFill>
                      <a:srgbClr val="0033CC"/>
                    </a:solidFill>
                  </a:rPr>
                  <a:t>exactly</a:t>
                </a:r>
                <a:r>
                  <a:rPr lang="en-US" dirty="0"/>
                  <a:t>, of the average loss with respect to the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latin typeface="+mn-lt"/>
                  </a:rPr>
                  <a:t> of a neural network.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We can use </a:t>
                </a:r>
                <a:r>
                  <a:rPr lang="en-US" dirty="0" err="1"/>
                  <a:t>autodiff</a:t>
                </a:r>
                <a:r>
                  <a:rPr lang="en-US" dirty="0"/>
                  <a:t> to compute the derivatives with respect to </a:t>
                </a:r>
                <a:r>
                  <a:rPr lang="en-US" dirty="0">
                    <a:solidFill>
                      <a:srgbClr val="0033CC"/>
                    </a:solidFill>
                  </a:rPr>
                  <a:t>z</a:t>
                </a:r>
                <a:r>
                  <a:rPr lang="en-US" dirty="0"/>
                  <a:t> that appear in the average loss functions.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ED84F79-F6E4-B242-81AC-4BC202715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07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83CD-CB57-9B7A-51A0-D6246588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F2A9D6-6096-7371-3165-28BBCC2C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Autodiff</a:t>
            </a:r>
            <a:r>
              <a:rPr lang="en-US" dirty="0">
                <a:solidFill>
                  <a:srgbClr val="0033CC"/>
                </a:solidFill>
              </a:rPr>
              <a:t>: </a:t>
            </a:r>
            <a:r>
              <a:rPr lang="en-US" dirty="0">
                <a:solidFill>
                  <a:schemeClr val="accent1"/>
                </a:solidFill>
              </a:rPr>
              <a:t>Example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A89FDE2-1D8B-4F26-2981-6E5926355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compute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using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torch.autograd.grad</a:t>
                </a:r>
                <a:endParaRPr 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(x, z,                                 		 	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torch.ones_like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(x),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	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create_graph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=True)[0</a:t>
                </a:r>
                <a:r>
                  <a:rPr lang="en-US" dirty="0">
                    <a:solidFill>
                      <a:srgbClr val="0033CC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A89FDE2-1D8B-4F26-2981-6E5926355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30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45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72AB-BDDF-9A1C-E151-1937F84E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E52C04-69DF-EE0B-D9B1-68ED29EB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Autodiff</a:t>
            </a:r>
            <a:r>
              <a:rPr lang="en-US" dirty="0">
                <a:solidFill>
                  <a:srgbClr val="0033CC"/>
                </a:solidFill>
              </a:rPr>
              <a:t>: </a:t>
            </a:r>
            <a:r>
              <a:rPr lang="en-US" dirty="0">
                <a:solidFill>
                  <a:schemeClr val="accent1"/>
                </a:solidFill>
              </a:rPr>
              <a:t>Example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18C726-FD92-1274-DA25-9DAB79081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compute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do     </a:t>
                </a:r>
              </a:p>
              <a:p>
                <a:pPr marL="0" indent="0">
                  <a:buNone/>
                </a:pPr>
                <a:r>
                  <a:rPr lang="en-US" dirty="0"/>
                  <a:t>       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d2xdz2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torch.autograd.grad</a:t>
                </a:r>
                <a:endParaRPr 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 	(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z,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torch.ones_like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),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create_graph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=True)[0]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18C726-FD92-1274-DA25-9DAB79081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96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1A4F-592B-3406-ACFD-DFD29159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6070FC-C7AD-3457-DD64-41665953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PINNs: </a:t>
            </a:r>
            <a:r>
              <a:rPr lang="en-US" dirty="0">
                <a:solidFill>
                  <a:schemeClr val="accent1"/>
                </a:solidFill>
              </a:rPr>
              <a:t>Average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7F5F227-E5F8-DE39-30ED-F5068689C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Compute average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pick off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change its shape, </a:t>
                </a:r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zeta = p[:,-1].view(-1, 1)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	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 = d2xdz2 + 2*zeta*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dxdz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+ x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R = </a:t>
                </a:r>
                <a:r>
                  <a:rPr lang="en-US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torch.mean</a:t>
                </a:r>
                <a:r>
                  <a:rPr lang="en-US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(F**2)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7F5F227-E5F8-DE39-30ED-F5068689C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3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E1E-C644-828C-8BB5-30BF147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556444-88BA-CD4E-25CE-6F7C7AA9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2B846A-7F3C-5809-5D05-66B4BFAC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Physics-informed neural networks offer a new way to solve differential equations in many scientific and engineering domains.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Finding solutions with PINNs is typically more computationally demanding than with traditional numerical methods and convergence to solutions can be difficult.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However, when the method </a:t>
            </a:r>
            <a:r>
              <a:rPr lang="en-US"/>
              <a:t>is successful an </a:t>
            </a:r>
            <a:r>
              <a:rPr lang="en-US" dirty="0"/>
              <a:t>infinite number of solutions can be found at the same time, each corresponding to a different set of initial/boundary conditions and problem parameters.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1219</TotalTime>
  <Words>1102</Words>
  <Application>Microsoft Macintosh PowerPoint</Application>
  <PresentationFormat>Letter Paper (8.5x11 in)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Cambria Math</vt:lpstr>
      <vt:lpstr>Courier New</vt:lpstr>
      <vt:lpstr>Times New Roman</vt:lpstr>
      <vt:lpstr>Wingdings</vt:lpstr>
      <vt:lpstr>Default Design</vt:lpstr>
      <vt:lpstr>Machine learning in physics PHYSICS Informed  neural networks (PINN)</vt:lpstr>
      <vt:lpstr>Introduction</vt:lpstr>
      <vt:lpstr>Introduction</vt:lpstr>
      <vt:lpstr>Introduction</vt:lpstr>
      <vt:lpstr>Introduction</vt:lpstr>
      <vt:lpstr>Introduction</vt:lpstr>
      <vt:lpstr>Physics-informed  neural networks (PINN)</vt:lpstr>
      <vt:lpstr>Basic Idea (1)</vt:lpstr>
      <vt:lpstr>Basic Idea (2)</vt:lpstr>
      <vt:lpstr>Problem of Weights</vt:lpstr>
      <vt:lpstr>Solution Ansatz</vt:lpstr>
      <vt:lpstr>Automatic Differentiation</vt:lpstr>
      <vt:lpstr>Autodiff: Example (1)</vt:lpstr>
      <vt:lpstr>Autodiff: Example (2)</vt:lpstr>
      <vt:lpstr>PINNs: Average Loss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11</cp:revision>
  <cp:lastPrinted>2019-01-07T00:35:58Z</cp:lastPrinted>
  <dcterms:created xsi:type="dcterms:W3CDTF">2025-10-07T00:56:55Z</dcterms:created>
  <dcterms:modified xsi:type="dcterms:W3CDTF">2025-10-08T20:08:08Z</dcterms:modified>
</cp:coreProperties>
</file>