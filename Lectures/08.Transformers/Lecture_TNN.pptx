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7" r:id="rId2"/>
    <p:sldId id="1135" r:id="rId3"/>
    <p:sldId id="1000" r:id="rId4"/>
    <p:sldId id="1055" r:id="rId5"/>
    <p:sldId id="1142" r:id="rId6"/>
    <p:sldId id="1143" r:id="rId7"/>
    <p:sldId id="1145" r:id="rId8"/>
    <p:sldId id="1144" r:id="rId9"/>
    <p:sldId id="1140" r:id="rId10"/>
    <p:sldId id="1151" r:id="rId11"/>
    <p:sldId id="1137" r:id="rId12"/>
    <p:sldId id="1132" r:id="rId13"/>
    <p:sldId id="1152" r:id="rId14"/>
    <p:sldId id="1153" r:id="rId15"/>
    <p:sldId id="1149" r:id="rId16"/>
    <p:sldId id="1136" r:id="rId17"/>
    <p:sldId id="1146" r:id="rId18"/>
    <p:sldId id="1148" r:id="rId19"/>
    <p:sldId id="1147" r:id="rId20"/>
    <p:sldId id="1139" r:id="rId21"/>
    <p:sldId id="1150" r:id="rId22"/>
    <p:sldId id="782" r:id="rId23"/>
    <p:sldId id="780" r:id="rId24"/>
    <p:sldId id="1088" r:id="rId25"/>
  </p:sldIdLst>
  <p:sldSz cx="9144000" cy="6858000" type="letter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58" userDrawn="1">
          <p15:clr>
            <a:srgbClr val="A4A3A4"/>
          </p15:clr>
        </p15:guide>
        <p15:guide id="2" pos="295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FC8F"/>
    <a:srgbClr val="FF0000"/>
    <a:srgbClr val="98CA00"/>
    <a:srgbClr val="4032A1"/>
    <a:srgbClr val="6BEEE1"/>
    <a:srgbClr val="99CA00"/>
    <a:srgbClr val="A0CA5B"/>
    <a:srgbClr val="4734A0"/>
    <a:srgbClr val="4B3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52"/>
    <p:restoredTop sz="86514"/>
  </p:normalViewPr>
  <p:slideViewPr>
    <p:cSldViewPr>
      <p:cViewPr varScale="1">
        <p:scale>
          <a:sx n="89" d="100"/>
          <a:sy n="89" d="100"/>
        </p:scale>
        <p:origin x="2528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4536"/>
    </p:cViewPr>
  </p:sorterViewPr>
  <p:notesViewPr>
    <p:cSldViewPr>
      <p:cViewPr varScale="1">
        <p:scale>
          <a:sx n="44" d="100"/>
          <a:sy n="44" d="100"/>
        </p:scale>
        <p:origin x="-1392" y="-72"/>
      </p:cViewPr>
      <p:guideLst>
        <p:guide orient="horz" pos="2258"/>
        <p:guide pos="295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210"/>
            <a:ext cx="4160937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65" y="-1210"/>
            <a:ext cx="4160936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81325" y="560388"/>
            <a:ext cx="3635375" cy="27257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3494" y="3473753"/>
            <a:ext cx="7034213" cy="329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042" tIns="51377" rIns="101042" bIns="51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5086"/>
            <a:ext cx="4160937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65" y="6945086"/>
            <a:ext cx="4160936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fld id="{887413D6-4D90-094B-878C-C9B479C8F2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109" charset="-128"/>
        <a:cs typeface="ＭＳ Ｐゴシック" pitchFamily="-109" charset="-128"/>
      </a:defRPr>
    </a:lvl1pPr>
    <a:lvl2pPr marL="46831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2pPr>
    <a:lvl3pPr marL="935038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3pPr>
    <a:lvl4pPr marL="140176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4pPr>
    <a:lvl5pPr marL="1870075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740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B9CF6-CBE9-7482-480C-9F812D1FB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CB98A7-AE06-4E9E-1D60-07EF72CF0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F91F3B-1AB6-0DDA-01F7-3F38B334D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E505A-8090-5CE7-6BAB-8140DB950B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A37AD-D791-73F4-5D7D-EF503B9A01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6443B50-C219-2D4B-99A1-EBCE7B69699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54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3AE29-28CF-7AA6-3B58-8DC26EA00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888B4-9DD4-060B-1A66-667FE1FE9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3447E1-7BE6-7702-9D25-376B082765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497084-FF4A-E525-6B43-71772BD8FC5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E5714B-5BDD-F046-7C10-0D239DDE26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06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47B9C-BB3E-C002-A101-D7104EDF6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A4C3D0-E8C2-8814-7915-AF28CDE05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2A1849-7199-0E61-1186-A5E6BBE7F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02D7F1-1FB2-B414-5C77-2E18E3534CE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B4482-1E3F-B2B5-DEF2-23C5B3AEA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92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435D3-285C-8400-72D1-803B82361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69FF61-7BA8-23E7-E019-71E71559E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6BA1C-C74B-EFCB-B5B4-18A129824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96DEDE-704E-E309-493A-2AA1AE39325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840590-8BE2-FEF0-74EE-8E3692FF03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9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36ABA-9BAC-9AEA-4E5C-9DE6629BC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F5BF2-A937-E590-D617-E3E026DD8E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5B3E08-CFF0-BC4D-6D80-FCC08C809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876D73-93FD-21D4-A547-B11576C3310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A20C3A-4F6A-C4B3-623C-C023049B3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594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6961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7AABD-27DB-9894-1900-E4C3D3C97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E4429E-BB35-0B58-012D-A015F76AAE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4583C5-09D3-A96B-BA6D-7CAD4DF10B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AFC85F-BE80-5FF5-3881-1B2E846E645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E31C43-4B97-8AFA-D06D-0A28A3D250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725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7747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C301C-9EF7-E355-B6C7-84328963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4F67-D0EA-C8DB-1288-825F84C1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256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36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48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51562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4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28254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CF78B-6BF1-F401-D2E4-0AA44F61548A}"/>
              </a:ext>
            </a:extLst>
          </p:cNvPr>
          <p:cNvSpPr/>
          <p:nvPr userDrawn="1"/>
        </p:nvSpPr>
        <p:spPr bwMode="auto">
          <a:xfrm>
            <a:off x="6705600" y="5867400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E472BB36-DE68-CDFF-8FB2-4944562CAFD5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22409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 hasCustomPrompt="1"/>
          </p:nvPr>
        </p:nvSpPr>
        <p:spPr>
          <a:xfrm>
            <a:off x="914400" y="13776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 dirty="0"/>
              <a:t>Machine Learning in physics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D9514EB4-1C3F-7203-17FC-7424F799880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400" y="3511296"/>
            <a:ext cx="7772400" cy="197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marR="9144" algn="l" rtl="0" eaLnBrk="0" fontAlgn="base" hangingPunct="0">
              <a:spcBef>
                <a:spcPct val="0"/>
              </a:spcBef>
              <a:spcAft>
                <a:spcPct val="0"/>
              </a:spcAft>
              <a:defRPr sz="3600" b="1" cap="all" spc="0" baseline="0">
                <a:solidFill>
                  <a:srgbClr val="0000CC"/>
                </a:solidFill>
                <a:effectLst>
                  <a:reflection blurRad="12700" stA="34000" endA="740" endPos="53000" dir="5400000" sy="-100000" algn="bl" rotWithShape="0"/>
                </a:effectLst>
                <a:latin typeface="Arial"/>
                <a:ea typeface="ＭＳ Ｐゴシック" pitchFamily="-109" charset="-128"/>
                <a:cs typeface="Arial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9pPr>
          </a:lstStyle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Harrison B. prosper</a:t>
            </a:r>
          </a:p>
          <a:p>
            <a:endParaRPr lang="en-US" sz="2400" b="0" i="0" kern="0" cap="small" baseline="0" dirty="0">
              <a:solidFill>
                <a:schemeClr val="tx1"/>
              </a:solidFill>
              <a:latin typeface="+mn-lt"/>
            </a:endParaRPr>
          </a:p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PHY6937 / PHY4936</a:t>
            </a:r>
            <a:endParaRPr lang="en-US" sz="2800" b="0" i="0" kern="0" cap="sm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C9E5B-8A28-1B6B-D3E7-3E9521354FBE}"/>
              </a:ext>
            </a:extLst>
          </p:cNvPr>
          <p:cNvSpPr/>
          <p:nvPr userDrawn="1"/>
        </p:nvSpPr>
        <p:spPr bwMode="auto">
          <a:xfrm>
            <a:off x="762000" y="3511296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DF16E033-80B5-2ADB-62C6-C637CCE38381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06962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FSU: Machine Learning in Physics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6487E0-6C48-9842-89A3-09BD27C705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141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7772400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0F15DE-6B04-7264-D863-843F42C0E0E9}"/>
              </a:ext>
            </a:extLst>
          </p:cNvPr>
          <p:cNvCxnSpPr/>
          <p:nvPr userDrawn="1"/>
        </p:nvCxnSpPr>
        <p:spPr bwMode="auto">
          <a:xfrm>
            <a:off x="0" y="6400800"/>
            <a:ext cx="9144000" cy="0"/>
          </a:xfrm>
          <a:prstGeom prst="line">
            <a:avLst/>
          </a:prstGeom>
          <a:noFill/>
          <a:ln w="1270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220806-BEE9-EFFE-0921-DFEF6BB8FA1D}"/>
              </a:ext>
            </a:extLst>
          </p:cNvPr>
          <p:cNvSpPr txBox="1"/>
          <p:nvPr userDrawn="1"/>
        </p:nvSpPr>
        <p:spPr>
          <a:xfrm>
            <a:off x="11474" y="6474023"/>
            <a:ext cx="27093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FSU: Machine Learning in Physics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4AF15-DD31-995A-6565-3F133A45E1D8}"/>
              </a:ext>
            </a:extLst>
          </p:cNvPr>
          <p:cNvSpPr txBox="1"/>
          <p:nvPr userDrawn="1"/>
        </p:nvSpPr>
        <p:spPr>
          <a:xfrm>
            <a:off x="8642684" y="644324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9503ECA-0FA0-C844-BE1C-9E0ADD6C9254}" type="slidenum">
              <a:rPr lang="en-US" sz="1600" smtClean="0"/>
              <a:t>‹#›</a:t>
            </a:fld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90" r:id="rId2"/>
    <p:sldLayoutId id="2147483889" r:id="rId3"/>
    <p:sldLayoutId id="2147483891" r:id="rId4"/>
    <p:sldLayoutId id="2147483885" r:id="rId5"/>
    <p:sldLayoutId id="2147483886" r:id="rId6"/>
    <p:sldLayoutId id="2147483892" r:id="rId7"/>
    <p:sldLayoutId id="2147483893" r:id="rId8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/>
          <a:ea typeface="ＭＳ Ｐゴシック" pitchFamily="-109" charset="-128"/>
          <a:cs typeface="Times New Roman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109" charset="-128"/>
          <a:cs typeface="Times New Roman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arxiv.org/abs/1706.03762" TargetMode="Externa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5" Type="http://schemas.openxmlformats.org/officeDocument/2006/relationships/image" Target="../media/image11.png"/><Relationship Id="rId4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arxiv.org/abs/1706.03762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openai.com/c/6ac10f83-6693-43c9-9825-8f143f7006bc" TargetMode="External"/><Relationship Id="rId2" Type="http://schemas.openxmlformats.org/officeDocument/2006/relationships/hyperlink" Target="https://steveomohundro.com/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openai.com/c/6ac10f83-6693-43c9-9825-8f143f7006bc" TargetMode="External"/><Relationship Id="rId2" Type="http://schemas.openxmlformats.org/officeDocument/2006/relationships/hyperlink" Target="https://steveomohundro.com/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E000CB-EC61-7DFA-0258-19D3DFAC49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in physics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Transformers</a:t>
            </a:r>
            <a:endParaRPr lang="en-US" sz="24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33709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1AB41-358A-A152-53C9-BD8D356C2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A14254-53A4-3773-E9C8-CD37D298E1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Sequence to Sequence (Seq2Seq) Models</a:t>
            </a:r>
            <a:b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</a:br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  <a:p>
            <a: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Transformers</a:t>
            </a:r>
            <a:b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</a:br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  <a:p>
            <a:r>
              <a:rPr lang="en-US" dirty="0">
                <a:latin typeface="Times New Roman" pitchFamily="35" charset="0"/>
                <a:ea typeface="ＭＳ Ｐゴシック" pitchFamily="35" charset="-128"/>
                <a:cs typeface="ＭＳ Ｐゴシック" pitchFamily="35" charset="-128"/>
              </a:rPr>
              <a:t>Summary</a:t>
            </a:r>
          </a:p>
          <a:p>
            <a:pPr marL="457200" lvl="1" indent="0">
              <a:buNone/>
            </a:pPr>
            <a:endParaRPr lang="en-US" dirty="0">
              <a:latin typeface="Times New Roman" pitchFamily="35" charset="0"/>
              <a:ea typeface="ＭＳ Ｐゴシック" pitchFamily="35" charset="-128"/>
              <a:cs typeface="ＭＳ Ｐゴシック" pitchFamily="35" charset="-128"/>
            </a:endParaRPr>
          </a:p>
        </p:txBody>
      </p:sp>
      <p:sp>
        <p:nvSpPr>
          <p:cNvPr id="655362" name="Rectangle 2">
            <a:extLst>
              <a:ext uri="{FF2B5EF4-FFF2-40B4-BE49-F238E27FC236}">
                <a16:creationId xmlns:a16="http://schemas.microsoft.com/office/drawing/2014/main" id="{0259532A-1DCE-93FF-36CC-7CDC01DD83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124526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31EE84E5-CB2A-2AFE-11EA-A954791E311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sequence to sequence (seq2seq)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 maps one 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tokens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another. A word, part of a word, or a symbol are examples of tokens.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white house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 </a:t>
                </a:r>
                <a:r>
                  <a:rPr lang="en-US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maison</a:t>
                </a:r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blanche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cosh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</m:fName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𝑎𝑥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tanh</m:t>
                        </m:r>
                      </m:fName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𝑏𝑥</m:t>
                        </m:r>
                      </m:e>
                    </m:func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Tokens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the, white, house, la, maison, blanches,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tanh,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… etc.</a:t>
                </a:r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31EE84E5-CB2A-2AFE-11EA-A954791E31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 r="-1964"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BB14369-3312-E2E6-0EE5-58C834672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to Sequence Models (1)</a:t>
            </a:r>
          </a:p>
        </p:txBody>
      </p:sp>
    </p:spTree>
    <p:extLst>
      <p:ext uri="{BB962C8B-B14F-4D97-AF65-F5344CB8AC3E}">
        <p14:creationId xmlns:p14="http://schemas.microsoft.com/office/powerpoint/2010/main" val="1262027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15CE4-96D6-7327-018C-69E663A8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to Sequence Models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04CE9282-6642-E3BE-8F22-0B73797DEDB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711199" y="1295400"/>
                <a:ext cx="5410713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what a model needs to do to solve the translation task: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The white house 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La maison blanche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model must pay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attention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the order of “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house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 and “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white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 and of “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blanche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 and “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maison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”.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must also pay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attention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the association between “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white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  and “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blanche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 and “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house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 and “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maison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04CE9282-6642-E3BE-8F22-0B73797DED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11199" y="1295400"/>
                <a:ext cx="5410713" cy="4819650"/>
              </a:xfrm>
              <a:blipFill>
                <a:blip r:embed="rId2"/>
                <a:stretch>
                  <a:fillRect l="-1878" t="-1316" b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125489D-A53F-4F9B-84B0-124A9E55C48F}"/>
              </a:ext>
            </a:extLst>
          </p:cNvPr>
          <p:cNvSpPr txBox="1"/>
          <p:nvPr/>
        </p:nvSpPr>
        <p:spPr>
          <a:xfrm>
            <a:off x="6233962" y="1926503"/>
            <a:ext cx="2217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white house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5C0021-4138-9F11-AC27-470D3B15BD53}"/>
              </a:ext>
            </a:extLst>
          </p:cNvPr>
          <p:cNvSpPr txBox="1"/>
          <p:nvPr/>
        </p:nvSpPr>
        <p:spPr>
          <a:xfrm>
            <a:off x="6175008" y="3804954"/>
            <a:ext cx="2505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 </a:t>
            </a:r>
            <a:r>
              <a:rPr lang="en-US" dirty="0" err="1"/>
              <a:t>maison</a:t>
            </a:r>
            <a:r>
              <a:rPr lang="en-US" dirty="0"/>
              <a:t> blanche</a:t>
            </a: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3DAE24B2-B734-C414-484B-C08C675277DA}"/>
              </a:ext>
            </a:extLst>
          </p:cNvPr>
          <p:cNvSpPr/>
          <p:nvPr/>
        </p:nvSpPr>
        <p:spPr>
          <a:xfrm rot="19176625">
            <a:off x="6045133" y="1773468"/>
            <a:ext cx="1742958" cy="1366382"/>
          </a:xfrm>
          <a:prstGeom prst="arc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1AB3CCC8-FB94-C022-80F7-3AC8A442EBBB}"/>
              </a:ext>
            </a:extLst>
          </p:cNvPr>
          <p:cNvSpPr/>
          <p:nvPr/>
        </p:nvSpPr>
        <p:spPr>
          <a:xfrm rot="19176625">
            <a:off x="6785058" y="1789153"/>
            <a:ext cx="1742958" cy="1366382"/>
          </a:xfrm>
          <a:prstGeom prst="arc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C1D60B7A-BFA6-024A-2647-84B600BE0B14}"/>
              </a:ext>
            </a:extLst>
          </p:cNvPr>
          <p:cNvSpPr/>
          <p:nvPr/>
        </p:nvSpPr>
        <p:spPr>
          <a:xfrm rot="19176625">
            <a:off x="6020849" y="3685034"/>
            <a:ext cx="1742958" cy="1366382"/>
          </a:xfrm>
          <a:prstGeom prst="arc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44D2CD9F-3252-8F51-D3FD-9E2B24EC4B5F}"/>
              </a:ext>
            </a:extLst>
          </p:cNvPr>
          <p:cNvSpPr/>
          <p:nvPr/>
        </p:nvSpPr>
        <p:spPr>
          <a:xfrm rot="19176625">
            <a:off x="6785058" y="3641950"/>
            <a:ext cx="1742958" cy="1366382"/>
          </a:xfrm>
          <a:prstGeom prst="arc">
            <a:avLst/>
          </a:prstGeom>
          <a:ln w="38100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97D0193-74FB-2DA2-AEAF-1433D772DD8C}"/>
              </a:ext>
            </a:extLst>
          </p:cNvPr>
          <p:cNvCxnSpPr>
            <a:cxnSpLocks/>
          </p:cNvCxnSpPr>
          <p:nvPr/>
        </p:nvCxnSpPr>
        <p:spPr>
          <a:xfrm>
            <a:off x="7300762" y="2383703"/>
            <a:ext cx="783110" cy="138661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4AC3F56-9D5B-2338-92CB-250BBDC32253}"/>
              </a:ext>
            </a:extLst>
          </p:cNvPr>
          <p:cNvCxnSpPr>
            <a:cxnSpLocks/>
          </p:cNvCxnSpPr>
          <p:nvPr/>
        </p:nvCxnSpPr>
        <p:spPr>
          <a:xfrm flipH="1">
            <a:off x="6953092" y="2393187"/>
            <a:ext cx="1021033" cy="1438316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980059A-0F1F-EEEC-2FD1-F19D95C3B0F0}"/>
              </a:ext>
            </a:extLst>
          </p:cNvPr>
          <p:cNvCxnSpPr>
            <a:cxnSpLocks/>
          </p:cNvCxnSpPr>
          <p:nvPr/>
        </p:nvCxnSpPr>
        <p:spPr>
          <a:xfrm>
            <a:off x="6406145" y="2608885"/>
            <a:ext cx="15133" cy="118185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89585F8-E5AF-EA12-F9B4-C62A58189552}"/>
              </a:ext>
            </a:extLst>
          </p:cNvPr>
          <p:cNvSpPr txBox="1"/>
          <p:nvPr/>
        </p:nvSpPr>
        <p:spPr>
          <a:xfrm>
            <a:off x="6438839" y="4343400"/>
            <a:ext cx="19431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33CC"/>
                </a:solidFill>
              </a:rPr>
              <a:t>Self-Attention</a:t>
            </a:r>
          </a:p>
          <a:p>
            <a:r>
              <a:rPr lang="en-US" dirty="0">
                <a:solidFill>
                  <a:srgbClr val="C00000"/>
                </a:solidFill>
              </a:rPr>
              <a:t>Attention</a:t>
            </a:r>
          </a:p>
        </p:txBody>
      </p:sp>
    </p:spTree>
    <p:extLst>
      <p:ext uri="{BB962C8B-B14F-4D97-AF65-F5344CB8AC3E}">
        <p14:creationId xmlns:p14="http://schemas.microsoft.com/office/powerpoint/2010/main" val="3395764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6ABB6-F642-9C5A-31D9-BBC98CE6C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8D3E75-14D9-6FEC-9992-71C03E9CC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Seq2Seq Models: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Steps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42349B2-D64D-BF9C-33B8-6B59BA39A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seq2seq model generally implements the following steps.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splitting a sequence into tokens.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assigning a unique integer to each unique token.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representing each token by a vector.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analyzing the input (source) sequence.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constructing the output (target) sequence.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825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FE406-19F0-5160-CA74-1E9207D17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F4A47D3-4AB5-2487-7944-DAA1F87BF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Seq2Seq: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Tokenization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AAC2AC4A-5024-44DF-EFD0-86C966C3E7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sequence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h𝑥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sinh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𝑔𝑥</m:t>
                            </m:r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be split into the tokens 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tan, (, </a:t>
                </a:r>
                <a:r>
                  <a:rPr lang="en-US" i="1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i="1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), +, </a:t>
                </a:r>
                <a:r>
                  <a:rPr lang="en-US" dirty="0" err="1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sinh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i="1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set of unique tokens is called a 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vocabulary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</p:txBody>
          </p:sp>
        </mc:Choice>
        <mc:Fallback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AAC2AC4A-5024-44DF-EFD0-86C966C3E7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05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math equations and numbers&#10;&#10;Description automatically generated">
            <a:extLst>
              <a:ext uri="{FF2B5EF4-FFF2-40B4-BE49-F238E27FC236}">
                <a16:creationId xmlns:a16="http://schemas.microsoft.com/office/drawing/2014/main" id="{857DA93F-1595-5EC3-28F2-B7FF8A879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3037884"/>
            <a:ext cx="8686800" cy="31343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49927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9166B-589B-AA91-280A-C93A28F18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502EDB-EB5D-3C64-3D51-12454B4FF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Seq2Seq: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Coding/Padding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A38893B4-26E4-C5CF-7FC0-82C4EF065B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machines work with numbers it is necessary to map every token to a number (e.g., an integer).</a:t>
                </a: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h𝑥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sinh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𝑔𝑥</m:t>
                            </m:r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mapped to</a:t>
                </a:r>
              </a:p>
              <a:p>
                <a:pPr marL="0" indent="0">
                  <a:buNone/>
                </a:pPr>
                <a:r>
                  <a:rPr lang="en-US" b="0" dirty="0">
                    <a:solidFill>
                      <a:srgbClr val="0033CC"/>
                    </a:solidFill>
                    <a:cs typeface="Times New Roman" panose="02020603050405020304" pitchFamily="18" charset="0"/>
                  </a:rPr>
                  <a:t>	  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=34, 3, 29, 36, 4, 7, 33, 3, 28, 36, 4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A38893B4-26E4-C5CF-7FC0-82C4EF065B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05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math equations and numbers&#10;&#10;Description automatically generated">
            <a:extLst>
              <a:ext uri="{FF2B5EF4-FFF2-40B4-BE49-F238E27FC236}">
                <a16:creationId xmlns:a16="http://schemas.microsoft.com/office/drawing/2014/main" id="{BBBB43F0-12D6-A0D7-1DF9-06643F0F0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3037884"/>
            <a:ext cx="8686800" cy="31343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3822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FFE00-021E-2CD5-66BD-36300D810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80CAB2-A94E-D00D-8A9A-7BB1C6171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Seq2Seq: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Coding/Padding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9CA2EB44-79A5-CA1C-0502-6A8BEAA563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78994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sequence length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=34, 3, 29,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36,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4, 7,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33,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3,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28,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36,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tokens. But for many models, sequences must be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equal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length, which requires </a:t>
                </a:r>
                <a:r>
                  <a:rPr lang="en-US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padding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must be </a:t>
                </a:r>
                <a:r>
                  <a:rPr lang="en-US" b="1" i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delimited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b="0" dirty="0">
                    <a:solidFill>
                      <a:srgbClr val="0033CC"/>
                    </a:solidFill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34, 3, 29,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36,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4, 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7,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33,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3,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28,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36,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9CA2EB44-79A5-CA1C-0502-6A8BEAA563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7899400" cy="4819650"/>
              </a:xfrm>
              <a:blipFill>
                <a:blip r:embed="rId3"/>
                <a:stretch>
                  <a:fillRect l="-1284" t="-1316" r="-1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math equations and numbers&#10;&#10;Description automatically generated">
            <a:extLst>
              <a:ext uri="{FF2B5EF4-FFF2-40B4-BE49-F238E27FC236}">
                <a16:creationId xmlns:a16="http://schemas.microsoft.com/office/drawing/2014/main" id="{20C66CFA-934F-D033-384C-72154263C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3037884"/>
            <a:ext cx="8686800" cy="31343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6882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8BE75-4DD5-EFB2-310C-3F285C965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A83B3A5-68B7-8C8C-1556-A62907EBC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Seq2Seq: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Embedding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23CDE6E4-3F7F-E745-42DD-00C5A370C1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embedding space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 key idea in many machine learning models, is a vector space in which data elements, here tokens, are represented as vectors.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1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In our GNN implementation (Labs/06.GNN), each point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mapped to a vector in a 40-dimensional vector space, where the mapping is determined during training.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2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In our seq2seq tutorial (Labs/10.Transformer), each token and its ordinal position is mapped to a 64-dimensional vector space.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23CDE6E4-3F7F-E745-42DD-00C5A370C1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05" t="-1316" r="-1468" b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8383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D8094-1415-9AB9-1833-AC860DC06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360436-4AAF-BBFB-73B0-329570CF8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Seq2Seq: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Analysis/Synthesis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0AC98D2-799B-5DA9-8B3D-486E40796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Seq2seq models, like </a:t>
            </a:r>
            <a:r>
              <a:rPr lang="en-US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recurrent  neural networks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(RNN), </a:t>
            </a:r>
            <a:r>
              <a:rPr lang="en-US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 short-term memories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(LSTM), </a:t>
            </a:r>
            <a:r>
              <a:rPr lang="en-US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transformer neural network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(TNN) – the subject of today’s lecture – analyze and synthesize sequences in different ways.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Moreover, some classes of seq2seq models (e.g., RNN, LSTM) analyze sequences one token at a time.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were a breakthrough, in part, because tokens are analyzed in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4998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CB1A0-42D7-C589-36DA-2326866286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Transformer 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341877007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4B4D3-F1CC-4DFF-2521-FD19B22CE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8CF4809-219A-B327-8E9D-874ADC25F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Is All You Need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92344B9-64EC-B8D5-C107-064B4D6B2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295400"/>
            <a:ext cx="8280400" cy="481965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2017, in a seminal paper: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https://arxiv.org/abs/1706.03762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researchers introduced a </a:t>
            </a:r>
            <a:r>
              <a:rPr lang="en-US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neural network (TNN) with a highly successful </a:t>
            </a:r>
            <a:r>
              <a:rPr lang="en-US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synthesis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method.</a:t>
            </a:r>
          </a:p>
        </p:txBody>
      </p:sp>
      <p:pic>
        <p:nvPicPr>
          <p:cNvPr id="6" name="Picture 5" descr="A close-up of a list of information&#10;&#10;Description automatically generated">
            <a:extLst>
              <a:ext uri="{FF2B5EF4-FFF2-40B4-BE49-F238E27FC236}">
                <a16:creationId xmlns:a16="http://schemas.microsoft.com/office/drawing/2014/main" id="{5E3FA7C3-8047-1FCC-CD07-BB1FE72A1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452159"/>
            <a:ext cx="6629400" cy="38057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99354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A6D3F-4354-F615-D52D-8C1D7DC91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9A96A3-1550-68D3-B8F2-D6F2F4D0B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Transformer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66D6006A-E08B-E2E7-DFE3-1B8A2ABC06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8051800" cy="4819650"/>
              </a:xfrm>
            </p:spPr>
            <p:txBody>
              <a:bodyPr/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Transformers are 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encoder-decoder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models that map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⟹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During training,  each source sequence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encoded and sent to the decoder together with the associated target sequence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decoder predicts the probabilities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the next token for every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sub-sequence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the mean cross-entropy loss, computed from these probabilities, is minimized.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66D6006A-E08B-E2E7-DFE3-1B8A2ABC06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8051800" cy="4819650"/>
              </a:xfrm>
              <a:blipFill>
                <a:blip r:embed="rId2"/>
                <a:stretch>
                  <a:fillRect l="-1102" t="-1316" r="-1890" b="-6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FF087FE7-4924-381E-4F84-43AAE35BFC8A}"/>
              </a:ext>
            </a:extLst>
          </p:cNvPr>
          <p:cNvGrpSpPr/>
          <p:nvPr/>
        </p:nvGrpSpPr>
        <p:grpSpPr>
          <a:xfrm>
            <a:off x="1990226" y="1981200"/>
            <a:ext cx="5163548" cy="1569660"/>
            <a:chOff x="762000" y="2819400"/>
            <a:chExt cx="5163548" cy="156966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87E8DF0-3398-3564-4035-F91FABDD4276}"/>
                </a:ext>
              </a:extLst>
            </p:cNvPr>
            <p:cNvSpPr/>
            <p:nvPr/>
          </p:nvSpPr>
          <p:spPr bwMode="auto">
            <a:xfrm>
              <a:off x="1828800" y="2819400"/>
              <a:ext cx="1208985" cy="83099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  <a:latin typeface="Times New Roman" pitchFamily="-65" charset="0"/>
                </a:rPr>
                <a:t>Encoder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-65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9747420-C098-F294-09A0-9C1CCAEA0A17}"/>
                </a:ext>
              </a:extLst>
            </p:cNvPr>
            <p:cNvSpPr/>
            <p:nvPr/>
          </p:nvSpPr>
          <p:spPr bwMode="auto">
            <a:xfrm>
              <a:off x="3581400" y="2819400"/>
              <a:ext cx="1226618" cy="156966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  <a:latin typeface="Times New Roman" pitchFamily="-65" charset="0"/>
                </a:rPr>
                <a:t>Decoder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dirty="0">
                <a:solidFill>
                  <a:srgbClr val="C00000"/>
                </a:solidFill>
                <a:latin typeface="Times New Roman" pitchFamily="-65" charset="0"/>
              </a:endParaRP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-65" charset="0"/>
              </a:endParaRP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-65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82541995-8E2C-7FD2-007A-7ACA2DCC8ACB}"/>
                    </a:ext>
                  </a:extLst>
                </p:cNvPr>
                <p:cNvSpPr txBox="1"/>
                <p:nvPr/>
              </p:nvSpPr>
              <p:spPr>
                <a:xfrm>
                  <a:off x="762000" y="2865597"/>
                  <a:ext cx="47609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3135B91-E0D2-0AAF-ADA9-DF5422E851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00" y="2865597"/>
                  <a:ext cx="476092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14429F2-F752-BC0C-EC75-D40E508F71FD}"/>
                    </a:ext>
                  </a:extLst>
                </p:cNvPr>
                <p:cNvSpPr txBox="1"/>
                <p:nvPr/>
              </p:nvSpPr>
              <p:spPr>
                <a:xfrm>
                  <a:off x="799100" y="3804285"/>
                  <a:ext cx="43914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5D000D8-D76C-A655-AA25-56404FA3D9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100" y="3804285"/>
                  <a:ext cx="439148" cy="523220"/>
                </a:xfrm>
                <a:prstGeom prst="rect">
                  <a:avLst/>
                </a:prstGeom>
                <a:blipFill>
                  <a:blip r:embed="rId4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4A7D62B-5DAB-8415-5518-658D1A6D8D8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79706" y="3200400"/>
              <a:ext cx="549094" cy="0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6F9A9DE4-3926-46E2-D49B-4EEA70343E9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048000" y="3124200"/>
              <a:ext cx="549094" cy="0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46AE49A2-3EFC-D284-F162-6968C448EE5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279706" y="4114800"/>
              <a:ext cx="2301694" cy="0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593EF3BC-3711-BF5E-BD63-884958C801E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861106" y="3581400"/>
              <a:ext cx="549094" cy="0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6C77CC53-1EC7-76AB-9C16-6F74635806AA}"/>
                    </a:ext>
                  </a:extLst>
                </p:cNvPr>
                <p:cNvSpPr txBox="1"/>
                <p:nvPr/>
              </p:nvSpPr>
              <p:spPr>
                <a:xfrm>
                  <a:off x="5486400" y="3237695"/>
                  <a:ext cx="43914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C9C5787-1F3B-204A-7EC5-804A71A231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6400" y="3237695"/>
                  <a:ext cx="439148" cy="523220"/>
                </a:xfrm>
                <a:prstGeom prst="rect">
                  <a:avLst/>
                </a:prstGeom>
                <a:blipFill>
                  <a:blip r:embed="rId5"/>
                  <a:stretch>
                    <a:fillRect l="-2857" b="-1162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57164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58351-2D2A-E142-BA4D-2EF57BFB0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38CD54-02FA-83B2-D334-E2705CDD02E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After training, the model is used </a:t>
                </a:r>
                <a:r>
                  <a:rPr lang="en-US" i="1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autoregressively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source sequence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analyzed by the encoder and the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predicted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sequence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initialized to the 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start-of-sequence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token 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(&lt;</a:t>
                </a:r>
                <a:r>
                  <a:rPr lang="en-US" dirty="0" err="1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sos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analyzed sequence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together 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passed to the decoder, which predicts probabilities for the next token for each sub-sequence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These probabilities are used to select the next token, which 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appended to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cycle repeats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until the next token is either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end-of-sequence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 a token count limit is reached.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038CD54-02FA-83B2-D334-E2705CDD02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 r="-1309" b="-8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66E4294-3CFF-1082-708A-5973FBC53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Transformer (2)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493C26C-0D8F-C396-2390-7D7BCCCAA68F}"/>
              </a:ext>
            </a:extLst>
          </p:cNvPr>
          <p:cNvGrpSpPr/>
          <p:nvPr/>
        </p:nvGrpSpPr>
        <p:grpSpPr>
          <a:xfrm>
            <a:off x="3840752" y="4419600"/>
            <a:ext cx="5074648" cy="1821596"/>
            <a:chOff x="3581400" y="4419600"/>
            <a:chExt cx="5074648" cy="182159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710BDAC-03B5-8F79-3934-24E89741EAFA}"/>
                </a:ext>
              </a:extLst>
            </p:cNvPr>
            <p:cNvGrpSpPr/>
            <p:nvPr/>
          </p:nvGrpSpPr>
          <p:grpSpPr>
            <a:xfrm>
              <a:off x="3581400" y="4419600"/>
              <a:ext cx="5074648" cy="1821596"/>
              <a:chOff x="1074149" y="4375754"/>
              <a:chExt cx="5074648" cy="1821596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E9CF7BA-1967-7085-C1E5-174CFD4BE5F1}"/>
                  </a:ext>
                </a:extLst>
              </p:cNvPr>
              <p:cNvGrpSpPr/>
              <p:nvPr/>
            </p:nvGrpSpPr>
            <p:grpSpPr>
              <a:xfrm>
                <a:off x="1074149" y="4375754"/>
                <a:ext cx="5074648" cy="1569660"/>
                <a:chOff x="762000" y="2819400"/>
                <a:chExt cx="5074648" cy="1569660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7212A435-440A-1383-4B85-3C1FE4AF7A6E}"/>
                    </a:ext>
                  </a:extLst>
                </p:cNvPr>
                <p:cNvSpPr/>
                <p:nvPr/>
              </p:nvSpPr>
              <p:spPr bwMode="auto">
                <a:xfrm>
                  <a:off x="1828800" y="2819400"/>
                  <a:ext cx="1208985" cy="830997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latin typeface="Times New Roman" pitchFamily="-65" charset="0"/>
                    </a:rPr>
                    <a:t>Encoder</a:t>
                  </a:r>
                </a:p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latin typeface="Times New Roman" pitchFamily="-65" charset="0"/>
                  </a:endParaRP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171490B0-F7D4-BC70-E885-1C3BABE36970}"/>
                    </a:ext>
                  </a:extLst>
                </p:cNvPr>
                <p:cNvSpPr/>
                <p:nvPr/>
              </p:nvSpPr>
              <p:spPr bwMode="auto">
                <a:xfrm>
                  <a:off x="3581400" y="2819400"/>
                  <a:ext cx="1226618" cy="156966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2400" b="0" i="0" u="none" strike="noStrike" cap="none" normalizeH="0" baseline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latin typeface="Times New Roman" pitchFamily="-65" charset="0"/>
                    </a:rPr>
                    <a:t>Decoder</a:t>
                  </a:r>
                </a:p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lang="en-US" dirty="0">
                    <a:solidFill>
                      <a:srgbClr val="C00000"/>
                    </a:solidFill>
                    <a:latin typeface="Times New Roman" pitchFamily="-65" charset="0"/>
                  </a:endParaRPr>
                </a:p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latin typeface="Times New Roman" pitchFamily="-65" charset="0"/>
                  </a:endParaRPr>
                </a:p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latin typeface="Times New Roman" pitchFamily="-65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TextBox 12">
                      <a:extLst>
                        <a:ext uri="{FF2B5EF4-FFF2-40B4-BE49-F238E27FC236}">
                          <a16:creationId xmlns:a16="http://schemas.microsoft.com/office/drawing/2014/main" id="{136BCB37-8A04-47AB-B079-9725F20B0B8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62000" y="2865597"/>
                      <a:ext cx="476092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929F3811-7470-CDCE-F2E8-7F48E92006C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2000" y="2865597"/>
                      <a:ext cx="476092" cy="523220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TextBox 13">
                      <a:extLst>
                        <a:ext uri="{FF2B5EF4-FFF2-40B4-BE49-F238E27FC236}">
                          <a16:creationId xmlns:a16="http://schemas.microsoft.com/office/drawing/2014/main" id="{8136F733-AA0E-1791-7AEC-BCE89308C53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99100" y="3804285"/>
                      <a:ext cx="439148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000" dirty="0"/>
                    </a:p>
                  </p:txBody>
                </p:sp>
              </mc:Choice>
              <mc:Fallback xmlns="">
                <p:sp>
                  <p:nvSpPr>
                    <p:cNvPr id="38" name="TextBox 37">
                      <a:extLst>
                        <a:ext uri="{FF2B5EF4-FFF2-40B4-BE49-F238E27FC236}">
                          <a16:creationId xmlns:a16="http://schemas.microsoft.com/office/drawing/2014/main" id="{4F7FC404-BCFF-F632-A4B4-8909F7A64C1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99100" y="3804285"/>
                      <a:ext cx="439148" cy="52322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5556" t="-4762" r="-5556" b="-1190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2F0469AB-BA43-7942-28AA-26C6F8957D40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279706" y="3200400"/>
                  <a:ext cx="549094" cy="0"/>
                </a:xfrm>
                <a:prstGeom prst="straightConnector1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  <a:effectLst/>
              </p:spPr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D8A05C7F-0C46-FAA4-3517-5FC8AE30B8A6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3048000" y="3124200"/>
                  <a:ext cx="549094" cy="0"/>
                </a:xfrm>
                <a:prstGeom prst="straightConnector1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  <a:effectLst/>
              </p:spPr>
            </p:cxnSp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09138744-0F2D-EC31-FD6E-3B4D5A06E8F8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279706" y="4114800"/>
                  <a:ext cx="2301694" cy="0"/>
                </a:xfrm>
                <a:prstGeom prst="straightConnector1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  <a:effectLst/>
              </p:spPr>
            </p:cxn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DE5B4959-3C80-7E3A-16A4-9FB971579FD2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4861106" y="3581400"/>
                  <a:ext cx="549094" cy="0"/>
                </a:xfrm>
                <a:prstGeom prst="straightConnector1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  <a:effectLst/>
              </p:spPr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3A993699-4874-776D-E7AE-DFEE1B53397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97500" y="3302000"/>
                      <a:ext cx="439148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3A993699-4874-776D-E7AE-DFEE1B53397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97500" y="3302000"/>
                      <a:ext cx="439148" cy="46166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b="-789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943462C0-8398-B5A1-50DA-856C092A36B6}"/>
                  </a:ext>
                </a:extLst>
              </p:cNvPr>
              <p:cNvCxnSpPr>
                <a:cxnSpLocks/>
                <a:stCxn id="20" idx="4"/>
              </p:cNvCxnSpPr>
              <p:nvPr/>
            </p:nvCxnSpPr>
            <p:spPr bwMode="auto">
              <a:xfrm>
                <a:off x="5929223" y="5360639"/>
                <a:ext cx="0" cy="836711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144DDD24-108C-72C6-AC7C-EAD9EB838A1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971800" y="5671154"/>
                <a:ext cx="0" cy="526196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FD8874B1-78D8-5A3F-B5E9-13B6584B4A2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2961778" y="6197350"/>
                <a:ext cx="2967445" cy="0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AE9BFD64-6EA2-C1F0-D077-CC5FBE52A4C5}"/>
                      </a:ext>
                    </a:extLst>
                  </p:cNvPr>
                  <p:cNvSpPr txBox="1"/>
                  <p:nvPr/>
                </p:nvSpPr>
                <p:spPr>
                  <a:xfrm>
                    <a:off x="2707265" y="5435351"/>
                    <a:ext cx="567784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⊕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087A2376-FEB9-105F-9DA6-AE4B04F401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07265" y="5435351"/>
                    <a:ext cx="567784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810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AF654766-25E5-B57A-D149-8ED491DA587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>
                <a:off x="3929188" y="6197350"/>
                <a:ext cx="570321" cy="0"/>
              </a:xfrm>
              <a:prstGeom prst="straightConnector1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  <a:effectLst/>
            </p:spPr>
          </p:cxnSp>
        </p:grp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2F2BA97-6866-CF51-8696-0313C107251C}"/>
                </a:ext>
              </a:extLst>
            </p:cNvPr>
            <p:cNvSpPr/>
            <p:nvPr/>
          </p:nvSpPr>
          <p:spPr bwMode="auto">
            <a:xfrm>
              <a:off x="8216900" y="4965337"/>
              <a:ext cx="439148" cy="439148"/>
            </a:xfrm>
            <a:prstGeom prst="ellipse">
              <a:avLst/>
            </a:prstGeom>
            <a:noFill/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-65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0685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36BA1-B34E-8E83-5258-3794BF43A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product&#10;&#10;Description automatically generated">
            <a:extLst>
              <a:ext uri="{FF2B5EF4-FFF2-40B4-BE49-F238E27FC236}">
                <a16:creationId xmlns:a16="http://schemas.microsoft.com/office/drawing/2014/main" id="{95E877B1-BD05-308E-A28B-CEDC08488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300" y="2057400"/>
            <a:ext cx="3416300" cy="381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FE0D44F2-FCFF-6DEE-ED55-F0A124171A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the heart of Google’s breakthrough 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transformer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model is the following expression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Attention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which captures some notion of a token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“paying attention to” other tokens.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i="1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query, </a:t>
                </a:r>
                <a:r>
                  <a:rPr lang="en-US" i="1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key, </a:t>
                </a:r>
                <a:r>
                  <a:rPr lang="en-US" i="1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value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FE0D44F2-FCFF-6DEE-ED55-F0A124171A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05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3B92B17-F69E-ED27-563D-2EB8BCB48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(1)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4A88C-830E-EA70-E45C-4307462DD420}"/>
              </a:ext>
            </a:extLst>
          </p:cNvPr>
          <p:cNvSpPr txBox="1"/>
          <p:nvPr/>
        </p:nvSpPr>
        <p:spPr>
          <a:xfrm>
            <a:off x="5279060" y="5930384"/>
            <a:ext cx="3179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https://arxiv.org/abs/1706.03762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55937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B518A-2FEC-0410-EEFA-D975F0B71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B7B21BF0-BFD5-7876-D93C-9E5A65EFFFE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Attention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Source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target 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self attention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	</a:t>
                </a:r>
                <a:r>
                  <a:rPr lang="en-US" b="0" dirty="0"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dirty="0">
                    <a:cs typeface="Times New Roman" panose="02020603050405020304" pitchFamily="18" charset="0"/>
                  </a:rPr>
                  <a:t>	</a:t>
                </a:r>
                <a:r>
                  <a:rPr lang="en-US" i="1" dirty="0">
                    <a:cs typeface="Times New Roman" panose="02020603050405020304" pitchFamily="18" charset="0"/>
                  </a:rPr>
                  <a:t>Q</a:t>
                </a:r>
                <a:r>
                  <a:rPr lang="en-US" dirty="0">
                    <a:cs typeface="Times New Roman" panose="02020603050405020304" pitchFamily="18" charset="0"/>
                  </a:rPr>
                  <a:t>, </a:t>
                </a:r>
                <a:r>
                  <a:rPr lang="en-US" i="1" dirty="0">
                    <a:cs typeface="Times New Roman" panose="02020603050405020304" pitchFamily="18" charset="0"/>
                  </a:rPr>
                  <a:t>K</a:t>
                </a:r>
                <a:r>
                  <a:rPr lang="en-US" dirty="0">
                    <a:cs typeface="Times New Roman" panose="02020603050405020304" pitchFamily="18" charset="0"/>
                  </a:rPr>
                  <a:t>, and </a:t>
                </a:r>
                <a:r>
                  <a:rPr lang="en-US" i="1" dirty="0">
                    <a:cs typeface="Times New Roman" panose="02020603050405020304" pitchFamily="18" charset="0"/>
                  </a:rPr>
                  <a:t>V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the same matrix of tokens 	(represented by vectors in the embedding space)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Source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target 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attention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models the target tokens.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model the source tokens.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B7B21BF0-BFD5-7876-D93C-9E5A65EFFF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D291B85-CDA5-56DE-F377-6D7784685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(2)</a:t>
            </a:r>
          </a:p>
        </p:txBody>
      </p:sp>
    </p:spTree>
    <p:extLst>
      <p:ext uri="{BB962C8B-B14F-4D97-AF65-F5344CB8AC3E}">
        <p14:creationId xmlns:p14="http://schemas.microsoft.com/office/powerpoint/2010/main" val="331899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737EA-FAB5-0E2A-4AC0-9885DFE87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5347E8E8-272A-4E1E-1165-1C8172D6C28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711200" y="1295400"/>
                <a:ext cx="78994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in what sense does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Attention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capture the notion of a token “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paying attention to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 other tokens?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a sequence of 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tokens, each represented by a vector.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matrices can be viewed as a columns of vectors, each associated with a token: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5347E8E8-272A-4E1E-1165-1C8172D6C2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11200" y="1295400"/>
                <a:ext cx="7899400" cy="4819650"/>
              </a:xfrm>
              <a:blipFill>
                <a:blip r:embed="rId2"/>
                <a:stretch>
                  <a:fillRect l="-1284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3620769-56E2-04E9-EE81-2B91DCB61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(3):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Token Vectors</a:t>
            </a:r>
          </a:p>
        </p:txBody>
      </p:sp>
    </p:spTree>
    <p:extLst>
      <p:ext uri="{BB962C8B-B14F-4D97-AF65-F5344CB8AC3E}">
        <p14:creationId xmlns:p14="http://schemas.microsoft.com/office/powerpoint/2010/main" val="2304355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BEB98-826C-F843-B184-AD998668D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A016AE16-202D-87C6-3360-8A999151E7E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matrix (outer) product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given by</a:t>
                </a:r>
              </a:p>
              <a:p>
                <a:pPr marL="0" indent="0">
                  <a:buNone/>
                </a:pPr>
                <a:endParaRPr lang="en-US" b="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𝑄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00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Self-attention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 matrix of dot products between source tokens or between target tokens.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Attention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 matrix of dot products between source and target tokens.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key idea is that the dot product is a measure the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degree of alignment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association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between any pair of tokens.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A016AE16-202D-87C6-3360-8A999151E7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309" t="-1316" r="-1964" b="-4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289BD67-ED11-CF3B-ECD3-6B0FACC5F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(4):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Dot Products</a:t>
            </a:r>
          </a:p>
        </p:txBody>
      </p:sp>
    </p:spTree>
    <p:extLst>
      <p:ext uri="{BB962C8B-B14F-4D97-AF65-F5344CB8AC3E}">
        <p14:creationId xmlns:p14="http://schemas.microsoft.com/office/powerpoint/2010/main" val="736407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D50B3-1748-BAD2-28FA-DAD1C627E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F8486C-0E71-3E7D-6717-2F396C2C1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(5):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Scaled Dot Products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B5E458F1-5D89-9F2A-8D4F-C4EAE670F4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79756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matrix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scaled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dot products, after </a:t>
                </a:r>
                <a:r>
                  <a:rPr lang="en-US" dirty="0" err="1">
                    <a:solidFill>
                      <a:srgbClr val="0033CC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softmax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is given by</a:t>
                </a:r>
                <a:endParaRPr lang="en-US" b="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e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𝑞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∙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𝑘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ad>
                                              <m:radPr>
                                                <m:degHide m:val="on"/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radPr>
                                              <m:deg/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𝑑</m:t>
                                                </m:r>
                                              </m:e>
                                            </m:rad>
                                          </m:den>
                                        </m:f>
                                      </m:e>
                                    </m:d>
                                  </m:e>
                                </m:func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𝑞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∙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𝑘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ad>
                                              <m:radPr>
                                                <m:degHide m:val="on"/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radPr>
                                              <m:deg/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𝑑</m:t>
                                                </m:r>
                                              </m:e>
                                            </m:rad>
                                          </m:den>
                                        </m:f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/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𝑞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∙</m:t>
                                                </m:r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𝑘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ad>
                                              <m:radPr>
                                                <m:degHide m:val="on"/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radPr>
                                              <m:deg/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𝑑</m:t>
                                                </m:r>
                                              </m:e>
                                            </m:rad>
                                          </m:den>
                                        </m:f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/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m:rPr>
                                                        <m:brk m:alnAt="7"/>
                                                      </m:rP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𝑞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i="1">
                                                        <a:latin typeface="Cambria Math" panose="02040503050406030204" pitchFamily="18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∙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𝑘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ad>
                                              <m:radPr>
                                                <m:degHide m:val="on"/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radPr>
                                              <m:deg/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𝑑</m:t>
                                                </m:r>
                                              </m:e>
                                            </m:rad>
                                          </m:den>
                                        </m:f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/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normalization factors that ensure each row sums to one.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above matrix of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normalized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weights is then multiplied by the matrix </a:t>
                </a:r>
                <a:r>
                  <a:rPr lang="en-US" i="1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 upshot is that each token is associated with a weighted sum of token vectors, presumably, the ones to which a given token “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pays attention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”.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B5E458F1-5D89-9F2A-8D4F-C4EAE670F4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7975600" cy="4819650"/>
              </a:xfrm>
              <a:blipFill>
                <a:blip r:embed="rId2"/>
                <a:stretch>
                  <a:fillRect l="-1274" t="-1579" r="-1592" b="-2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9132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7724B-2ACA-F9A8-3B18-64D9433E7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process&#10;&#10;Description automatically generated">
            <a:extLst>
              <a:ext uri="{FF2B5EF4-FFF2-40B4-BE49-F238E27FC236}">
                <a16:creationId xmlns:a16="http://schemas.microsoft.com/office/drawing/2014/main" id="{72F953FF-F525-DE60-F803-E7E35A4D8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339" y="76200"/>
            <a:ext cx="4723461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ABE3ECA-5AE3-374E-43EB-922D00083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Transformer: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Some Details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D98D007-F3AB-FC10-1CEA-49166442D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transformer is a rather complicated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as is evident from this figure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2017 Google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let’s work through it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by step.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(Details can be found in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Labs/10.Transformer)</a:t>
            </a:r>
          </a:p>
        </p:txBody>
      </p:sp>
    </p:spTree>
    <p:extLst>
      <p:ext uri="{BB962C8B-B14F-4D97-AF65-F5344CB8AC3E}">
        <p14:creationId xmlns:p14="http://schemas.microsoft.com/office/powerpoint/2010/main" val="4158944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04291-7AE7-2299-0DDD-6AD958228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process&#10;&#10;Description automatically generated">
            <a:extLst>
              <a:ext uri="{FF2B5EF4-FFF2-40B4-BE49-F238E27FC236}">
                <a16:creationId xmlns:a16="http://schemas.microsoft.com/office/drawing/2014/main" id="{E4E1F503-ACFB-3AD9-515E-5ABCA578A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339" y="76200"/>
            <a:ext cx="4723461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D4D8779-00A0-498D-E9A7-2AD298BA3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Transformer: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Some Details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1E4E8E4-B15E-54A7-0586-564BC8B78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component of this function is the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so-called </a:t>
            </a:r>
            <a:r>
              <a:rPr lang="en-US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multi-head attention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diagram of a multi-head attention&#10;&#10;Description automatically generated">
            <a:extLst>
              <a:ext uri="{FF2B5EF4-FFF2-40B4-BE49-F238E27FC236}">
                <a16:creationId xmlns:a16="http://schemas.microsoft.com/office/drawing/2014/main" id="{8327AEE8-2E4F-F1F0-199B-419878D29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2209800"/>
            <a:ext cx="3416300" cy="40259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000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B8EC3-08FA-64DF-21BC-A50D4B6D2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E4A4F5-8FDE-A099-E48B-403B743CE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dirty="0"/>
              <a:t>The GPT version 3 Training Data</a:t>
            </a: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dirty="0"/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dirty="0"/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dirty="0"/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dirty="0"/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dirty="0"/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dirty="0"/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dirty="0"/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dirty="0"/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dirty="0"/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dirty="0"/>
          </a:p>
          <a:p>
            <a:pPr marL="0" indent="0">
              <a:buNone/>
            </a:pPr>
            <a:r>
              <a:rPr lang="en-US" sz="1600" dirty="0"/>
              <a:t>Credit: Steve </a:t>
            </a:r>
            <a:r>
              <a:rPr lang="en-US" sz="1600" dirty="0" err="1"/>
              <a:t>Omohundro</a:t>
            </a:r>
            <a:r>
              <a:rPr lang="en-US" sz="1600" dirty="0"/>
              <a:t> / </a:t>
            </a:r>
            <a:r>
              <a:rPr lang="en-US" sz="1600" dirty="0" err="1"/>
              <a:t>OpenAI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hlinkClick r:id="rId2"/>
              </a:rPr>
              <a:t>https://steveomohundro.com/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hlinkClick r:id="rId3"/>
              </a:rPr>
              <a:t>https://chat.openai.com/c/6ac10f83-6693-43c9-9825-8f143f7006bc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dirty="0"/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sz="2000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3A813C-A361-CD29-7946-E357768C7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Transformer: </a:t>
            </a:r>
            <a:r>
              <a:rPr lang="en-US" dirty="0">
                <a:solidFill>
                  <a:schemeClr val="accent1"/>
                </a:solidFill>
              </a:rPr>
              <a:t>ChatGPT</a:t>
            </a:r>
          </a:p>
        </p:txBody>
      </p:sp>
      <p:pic>
        <p:nvPicPr>
          <p:cNvPr id="9" name="Picture 8" descr="A screenshot of a graph&#10;&#10;Description automatically generated">
            <a:extLst>
              <a:ext uri="{FF2B5EF4-FFF2-40B4-BE49-F238E27FC236}">
                <a16:creationId xmlns:a16="http://schemas.microsoft.com/office/drawing/2014/main" id="{86B5014B-F933-FFDF-62AD-347033EB6D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828800"/>
            <a:ext cx="6504310" cy="35592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49904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dirty="0"/>
              <a:t>The GPT version 3 model that underlies the chatbot ChatGPT is a function with </a:t>
            </a:r>
            <a:r>
              <a:rPr lang="en-US" dirty="0">
                <a:solidFill>
                  <a:srgbClr val="0033CC"/>
                </a:solidFill>
              </a:rPr>
              <a:t>175 billion parameters!</a:t>
            </a:r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dirty="0"/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dirty="0"/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dirty="0"/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dirty="0"/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dirty="0"/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dirty="0"/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dirty="0"/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dirty="0"/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dirty="0"/>
          </a:p>
          <a:p>
            <a:pPr marL="0" indent="0">
              <a:buNone/>
            </a:pPr>
            <a:r>
              <a:rPr lang="en-US" sz="1600" dirty="0"/>
              <a:t>Credit: Steve </a:t>
            </a:r>
            <a:r>
              <a:rPr lang="en-US" sz="1600" dirty="0" err="1"/>
              <a:t>Omohundro</a:t>
            </a:r>
            <a:r>
              <a:rPr lang="en-US" sz="1600" dirty="0"/>
              <a:t> / </a:t>
            </a:r>
            <a:r>
              <a:rPr lang="en-US" sz="1600" dirty="0" err="1"/>
              <a:t>OpenAI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hlinkClick r:id="rId2"/>
              </a:rPr>
              <a:t>https://steveomohundro.com/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hlinkClick r:id="rId3"/>
              </a:rPr>
              <a:t>https://chat.openai.com/c/6ac10f83-6693-43c9-9825-8f143f7006bc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dirty="0"/>
          </a:p>
          <a:p>
            <a:pPr marL="0" indent="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en-US" sz="2000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Transformer: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ChatGPT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9ECF55-1B9F-6398-B842-481708B8BC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590800"/>
            <a:ext cx="7772400" cy="235549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796773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7CE1E-C644-828C-8BB5-30BF14713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5556444-88BA-CD4E-25CE-6F7C7AA9F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2B846A-7F3C-5809-5D05-66B4BFACE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transformer neural network has revolutionized large-language models (LLM), such as the one that underpins the chatbot ChatGPT.</a:t>
            </a:r>
            <a:br>
              <a:rPr lang="en-US" dirty="0"/>
            </a:br>
            <a:endParaRPr lang="en-US" dirty="0"/>
          </a:p>
          <a:p>
            <a:r>
              <a:rPr lang="en-US" dirty="0">
                <a:solidFill>
                  <a:srgbClr val="0033CC"/>
                </a:solidFill>
              </a:rPr>
              <a:t>Advantages</a:t>
            </a:r>
          </a:p>
          <a:p>
            <a:pPr lvl="1"/>
            <a:r>
              <a:rPr lang="en-US" dirty="0"/>
              <a:t>All tokens processed simultaneously during training.  </a:t>
            </a:r>
          </a:p>
          <a:p>
            <a:pPr lvl="1"/>
            <a:r>
              <a:rPr lang="en-US" dirty="0"/>
              <a:t>Attention makes it possible to handle much longer sequences than was possible in previous models.</a:t>
            </a:r>
          </a:p>
          <a:p>
            <a:r>
              <a:rPr lang="en-US" dirty="0">
                <a:solidFill>
                  <a:srgbClr val="0033CC"/>
                </a:solidFill>
              </a:rPr>
              <a:t>Disadvantages</a:t>
            </a:r>
          </a:p>
          <a:p>
            <a:pPr lvl="1"/>
            <a:r>
              <a:rPr lang="en-US" dirty="0"/>
              <a:t>Complexity</a:t>
            </a:r>
          </a:p>
          <a:p>
            <a:pPr lvl="1"/>
            <a:r>
              <a:rPr lang="en-US" dirty="0"/>
              <a:t>Training time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372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7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SUML" id="{613EE9AE-404D-B44A-8379-18A65839E42D}" vid="{6F3B3403-6EF1-2147-8245-ED1F0091AC9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64F51-4645-064B-ACDC-0DE76AF412F6}">
  <we:reference id="wa200000729" version="3.19.222.0" store="en-US" storeType="OMEX"/>
  <we:alternateReferences>
    <we:reference id="wa200000729" version="3.19.222.0" store="wa20000072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Default Design</Template>
  <TotalTime>496</TotalTime>
  <Words>1494</Words>
  <Application>Microsoft Macintosh PowerPoint</Application>
  <PresentationFormat>Letter Paper (8.5x11 in)</PresentationFormat>
  <Paragraphs>206</Paragraphs>
  <Slides>24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Cambria Math</vt:lpstr>
      <vt:lpstr>Courier New</vt:lpstr>
      <vt:lpstr>Times New Roman</vt:lpstr>
      <vt:lpstr>Wingdings</vt:lpstr>
      <vt:lpstr>Default Design</vt:lpstr>
      <vt:lpstr>Machine learning in physics Transformers</vt:lpstr>
      <vt:lpstr>Outline</vt:lpstr>
      <vt:lpstr>Sequence to Sequence Models (1)</vt:lpstr>
      <vt:lpstr>Sequence to Sequence Models (2)</vt:lpstr>
      <vt:lpstr>Seq2Seq Models: Steps</vt:lpstr>
      <vt:lpstr>Seq2Seq: Tokenization</vt:lpstr>
      <vt:lpstr>Seq2Seq: Coding/Padding</vt:lpstr>
      <vt:lpstr>Seq2Seq: Coding/Padding</vt:lpstr>
      <vt:lpstr>Seq2Seq: Embedding</vt:lpstr>
      <vt:lpstr>Seq2Seq: Analysis/Synthesis</vt:lpstr>
      <vt:lpstr>Transformer  Neural networks</vt:lpstr>
      <vt:lpstr>Attention Is All You Need</vt:lpstr>
      <vt:lpstr>The Transformer (1)</vt:lpstr>
      <vt:lpstr>The Transformer (2)</vt:lpstr>
      <vt:lpstr>Attention (1)</vt:lpstr>
      <vt:lpstr>Attention (2)</vt:lpstr>
      <vt:lpstr>Attention (3): Token Vectors</vt:lpstr>
      <vt:lpstr>Attention (4): Dot Products</vt:lpstr>
      <vt:lpstr>Attention (5): Scaled Dot Products</vt:lpstr>
      <vt:lpstr>Transformer: Some Details</vt:lpstr>
      <vt:lpstr>Transformer: Some Details</vt:lpstr>
      <vt:lpstr>Transformer: ChatGPT</vt:lpstr>
      <vt:lpstr>Transformer: ChatGPT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Prosper</dc:creator>
  <cp:lastModifiedBy>Harrison Prosper</cp:lastModifiedBy>
  <cp:revision>9</cp:revision>
  <cp:lastPrinted>2019-01-07T00:35:58Z</cp:lastPrinted>
  <dcterms:created xsi:type="dcterms:W3CDTF">2025-10-28T00:27:11Z</dcterms:created>
  <dcterms:modified xsi:type="dcterms:W3CDTF">2025-10-28T19:31:11Z</dcterms:modified>
</cp:coreProperties>
</file>