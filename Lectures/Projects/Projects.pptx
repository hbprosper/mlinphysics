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7" r:id="rId2"/>
    <p:sldId id="1084" r:id="rId3"/>
    <p:sldId id="1083" r:id="rId4"/>
    <p:sldId id="1088" r:id="rId5"/>
    <p:sldId id="1087" r:id="rId6"/>
    <p:sldId id="1092" r:id="rId7"/>
    <p:sldId id="1090" r:id="rId8"/>
    <p:sldId id="1089" r:id="rId9"/>
    <p:sldId id="1085" r:id="rId10"/>
    <p:sldId id="1086" r:id="rId11"/>
  </p:sldIdLst>
  <p:sldSz cx="9144000" cy="6858000" type="letter"/>
  <p:notesSz cx="9601200" cy="7315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58" userDrawn="1">
          <p15:clr>
            <a:srgbClr val="A4A3A4"/>
          </p15:clr>
        </p15:guide>
        <p15:guide id="2" pos="295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CC"/>
    <a:srgbClr val="FFFC8F"/>
    <a:srgbClr val="FF0000"/>
    <a:srgbClr val="98CA00"/>
    <a:srgbClr val="4032A1"/>
    <a:srgbClr val="6BEEE1"/>
    <a:srgbClr val="99CA00"/>
    <a:srgbClr val="A0CA5B"/>
    <a:srgbClr val="4734A0"/>
    <a:srgbClr val="4B36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683"/>
    <p:restoredTop sz="86557"/>
  </p:normalViewPr>
  <p:slideViewPr>
    <p:cSldViewPr>
      <p:cViewPr varScale="1">
        <p:scale>
          <a:sx n="90" d="100"/>
          <a:sy n="90" d="100"/>
        </p:scale>
        <p:origin x="2528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4536"/>
    </p:cViewPr>
  </p:sorterViewPr>
  <p:notesViewPr>
    <p:cSldViewPr>
      <p:cViewPr varScale="1">
        <p:scale>
          <a:sx n="44" d="100"/>
          <a:sy n="44" d="100"/>
        </p:scale>
        <p:origin x="-1392" y="-72"/>
      </p:cViewPr>
      <p:guideLst>
        <p:guide orient="horz" pos="2258"/>
        <p:guide pos="295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-1210"/>
            <a:ext cx="4160937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440265" y="-1210"/>
            <a:ext cx="4160936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8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981325" y="560388"/>
            <a:ext cx="3635375" cy="272573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83494" y="3473753"/>
            <a:ext cx="7034213" cy="3292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01042" tIns="51377" rIns="101042" bIns="513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945086"/>
            <a:ext cx="4160937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40265" y="6945086"/>
            <a:ext cx="4160936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fld id="{887413D6-4D90-094B-878C-C9B479C8F2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109" charset="-128"/>
        <a:cs typeface="ＭＳ Ｐゴシック" pitchFamily="-109" charset="-128"/>
      </a:defRPr>
    </a:lvl1pPr>
    <a:lvl2pPr marL="46831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2pPr>
    <a:lvl3pPr marL="935038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3pPr>
    <a:lvl4pPr marL="140176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4pPr>
    <a:lvl5pPr marL="1870075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7662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7747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C301C-9EF7-E355-B6C7-843289630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84F67-D0EA-C8DB-1288-825F84C1E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32568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36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480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51562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041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914400" y="28254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8CF78B-6BF1-F401-D2E4-0AA44F61548A}"/>
              </a:ext>
            </a:extLst>
          </p:cNvPr>
          <p:cNvSpPr/>
          <p:nvPr userDrawn="1"/>
        </p:nvSpPr>
        <p:spPr bwMode="auto">
          <a:xfrm>
            <a:off x="6705600" y="5867400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E472BB36-DE68-CDFF-8FB2-4944562CAFD5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422409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 hasCustomPrompt="1"/>
          </p:nvPr>
        </p:nvSpPr>
        <p:spPr>
          <a:xfrm>
            <a:off x="914400" y="13776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 dirty="0"/>
              <a:t>Machine Learning in physics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" name="Title 7">
            <a:extLst>
              <a:ext uri="{FF2B5EF4-FFF2-40B4-BE49-F238E27FC236}">
                <a16:creationId xmlns:a16="http://schemas.microsoft.com/office/drawing/2014/main" id="{D9514EB4-1C3F-7203-17FC-7424F799880C}"/>
              </a:ext>
            </a:extLst>
          </p:cNvPr>
          <p:cNvSpPr txBox="1">
            <a:spLocks/>
          </p:cNvSpPr>
          <p:nvPr userDrawn="1"/>
        </p:nvSpPr>
        <p:spPr bwMode="auto">
          <a:xfrm>
            <a:off x="914400" y="3511296"/>
            <a:ext cx="7772400" cy="1975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>
            <a:lvl1pPr marR="9144" algn="l" rtl="0" eaLnBrk="0" fontAlgn="base" hangingPunct="0">
              <a:spcBef>
                <a:spcPct val="0"/>
              </a:spcBef>
              <a:spcAft>
                <a:spcPct val="0"/>
              </a:spcAft>
              <a:defRPr sz="3600" b="1" cap="all" spc="0" baseline="0">
                <a:solidFill>
                  <a:srgbClr val="0000CC"/>
                </a:solidFill>
                <a:effectLst>
                  <a:reflection blurRad="12700" stA="34000" endA="740" endPos="53000" dir="5400000" sy="-100000" algn="bl" rotWithShape="0"/>
                </a:effectLst>
                <a:latin typeface="Arial"/>
                <a:ea typeface="ＭＳ Ｐゴシック" pitchFamily="-109" charset="-128"/>
                <a:cs typeface="Arial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5pPr>
            <a:lvl6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6pPr>
            <a:lvl7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7pPr>
            <a:lvl8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8pPr>
            <a:lvl9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9pPr>
          </a:lstStyle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Harrison B. prosper</a:t>
            </a:r>
          </a:p>
          <a:p>
            <a:endParaRPr lang="en-US" sz="2400" b="0" i="0" kern="0" cap="small" baseline="0" dirty="0">
              <a:solidFill>
                <a:schemeClr val="tx1"/>
              </a:solidFill>
              <a:latin typeface="+mn-lt"/>
            </a:endParaRPr>
          </a:p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PHY6937 / PHY4936</a:t>
            </a:r>
            <a:endParaRPr lang="en-US" sz="2800" b="0" i="0" kern="0" cap="small" baseline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C9E5B-8A28-1B6B-D3E7-3E9521354FBE}"/>
              </a:ext>
            </a:extLst>
          </p:cNvPr>
          <p:cNvSpPr/>
          <p:nvPr userDrawn="1"/>
        </p:nvSpPr>
        <p:spPr bwMode="auto">
          <a:xfrm>
            <a:off x="762000" y="3511296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DF16E033-80B5-2ADB-62C6-C637CCE38381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069620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r>
              <a:rPr lang="en-US"/>
              <a:t>FSU: Machine Learning in Physics</a:t>
            </a:r>
            <a:endParaRPr lang="en-US" dirty="0"/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6487E0-6C48-9842-89A3-09BD27C7057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9372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1295400"/>
            <a:ext cx="7772400" cy="4819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0F15DE-6B04-7264-D863-843F42C0E0E9}"/>
              </a:ext>
            </a:extLst>
          </p:cNvPr>
          <p:cNvCxnSpPr/>
          <p:nvPr userDrawn="1"/>
        </p:nvCxnSpPr>
        <p:spPr bwMode="auto">
          <a:xfrm>
            <a:off x="0" y="6400800"/>
            <a:ext cx="9144000" cy="0"/>
          </a:xfrm>
          <a:prstGeom prst="line">
            <a:avLst/>
          </a:prstGeom>
          <a:noFill/>
          <a:ln w="12700" cap="flat" cmpd="sng" algn="ctr">
            <a:solidFill>
              <a:srgbClr val="0033CC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2220806-BEE9-EFFE-0921-DFEF6BB8FA1D}"/>
              </a:ext>
            </a:extLst>
          </p:cNvPr>
          <p:cNvSpPr txBox="1"/>
          <p:nvPr userDrawn="1"/>
        </p:nvSpPr>
        <p:spPr>
          <a:xfrm>
            <a:off x="11474" y="6474023"/>
            <a:ext cx="27093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FSU: Machine Learning in Physics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AF15-DD31-995A-6565-3F133A45E1D8}"/>
              </a:ext>
            </a:extLst>
          </p:cNvPr>
          <p:cNvSpPr txBox="1"/>
          <p:nvPr userDrawn="1"/>
        </p:nvSpPr>
        <p:spPr>
          <a:xfrm>
            <a:off x="8642684" y="64432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79503ECA-0FA0-C844-BE1C-9E0ADD6C9254}" type="slidenum">
              <a:rPr lang="en-US" sz="1600" smtClean="0"/>
              <a:t>‹#›</a:t>
            </a:fld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2" r:id="rId1"/>
    <p:sldLayoutId id="2147483890" r:id="rId2"/>
    <p:sldLayoutId id="2147483889" r:id="rId3"/>
    <p:sldLayoutId id="2147483891" r:id="rId4"/>
    <p:sldLayoutId id="2147483885" r:id="rId5"/>
    <p:sldLayoutId id="2147483886" r:id="rId6"/>
    <p:sldLayoutId id="2147483892" r:id="rId7"/>
    <p:sldLayoutId id="2147483893" r:id="rId8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/>
          <a:ea typeface="ＭＳ Ｐゴシック" pitchFamily="-109" charset="-128"/>
          <a:cs typeface="Times New Roman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C00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109" charset="-128"/>
          <a:cs typeface="Times New Roman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99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E000CB-EC61-7DFA-0258-19D3DFAC49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Machine learning in physics</a:t>
            </a:r>
            <a:br>
              <a:rPr lang="en-US" dirty="0"/>
            </a:br>
            <a:br>
              <a:rPr lang="en-US" dirty="0">
                <a:solidFill>
                  <a:schemeClr val="accent1"/>
                </a:solidFill>
              </a:rPr>
            </a:br>
            <a:r>
              <a:rPr lang="en-US" dirty="0">
                <a:solidFill>
                  <a:schemeClr val="accent1"/>
                </a:solidFill>
              </a:rPr>
              <a:t>Projects</a:t>
            </a:r>
            <a:endParaRPr lang="en-US" sz="2400" dirty="0">
              <a:solidFill>
                <a:srgbClr val="0033C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2429302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8D570-35C0-085A-82B5-A15CAE9CD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C70F183-CAEC-340C-62FE-DC0706536C5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project has 2 parts: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Use a machine-learning model to solve one of the following classes of problem: </a:t>
            </a:r>
            <a:r>
              <a:rPr lang="en-US" dirty="0">
                <a:solidFill>
                  <a:srgbClr val="0033CC"/>
                </a:solidFill>
              </a:rPr>
              <a:t>classification</a:t>
            </a:r>
            <a:r>
              <a:rPr lang="en-US" dirty="0"/>
              <a:t>, </a:t>
            </a:r>
            <a:r>
              <a:rPr lang="en-US" dirty="0">
                <a:solidFill>
                  <a:srgbClr val="0033CC"/>
                </a:solidFill>
              </a:rPr>
              <a:t>regression</a:t>
            </a:r>
            <a:r>
              <a:rPr lang="en-US" dirty="0"/>
              <a:t>, </a:t>
            </a:r>
            <a:r>
              <a:rPr lang="en-US" dirty="0">
                <a:solidFill>
                  <a:srgbClr val="0033CC"/>
                </a:solidFill>
              </a:rPr>
              <a:t>anomaly detection</a:t>
            </a:r>
            <a:r>
              <a:rPr lang="en-US" dirty="0"/>
              <a:t>, or an </a:t>
            </a:r>
            <a:r>
              <a:rPr lang="en-US" dirty="0">
                <a:solidFill>
                  <a:srgbClr val="0033CC"/>
                </a:solidFill>
              </a:rPr>
              <a:t>ordinary differential equation</a:t>
            </a:r>
            <a:r>
              <a:rPr lang="en-US" dirty="0"/>
              <a:t>. </a:t>
            </a:r>
            <a:br>
              <a:rPr lang="en-US" dirty="0"/>
            </a:br>
            <a:r>
              <a:rPr lang="en-US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Document the project in a short paper using the </a:t>
            </a:r>
            <a:r>
              <a:rPr lang="en-US" dirty="0" err="1">
                <a:solidFill>
                  <a:srgbClr val="0033CC"/>
                </a:solidFill>
              </a:rPr>
              <a:t>cernrep</a:t>
            </a:r>
            <a:r>
              <a:rPr lang="en-US" dirty="0"/>
              <a:t> LaTeX package.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28DD676-75FE-0D9F-2768-0894B599E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Description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5075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37ADB-845B-6879-DE22-3B0BC6BE9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4DDD0A48-ACAE-4C5E-CE0A-3057013172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79756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Problem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Choose a problem from your field or tackle one of the following problems.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Jet image classification.</a:t>
                </a:r>
                <a:br>
                  <a:rPr lang="en-US" dirty="0"/>
                </a:b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Nuclear properties modeling </a:t>
                </a:r>
                <a:r>
                  <a:rPr lang="en-US" dirty="0">
                    <a:latin typeface="+mn-lt"/>
                  </a:rPr>
                  <a:t>(AME 2020).</a:t>
                </a:r>
                <a:br>
                  <a:rPr lang="en-US" dirty="0">
                    <a:latin typeface="+mn-lt"/>
                  </a:rPr>
                </a:br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Solve the Friedmann equation for the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Λ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CDM</m:t>
                    </m:r>
                  </m:oMath>
                </a14:m>
                <a:r>
                  <a:rPr lang="en-US" dirty="0">
                    <a:latin typeface="+mn-lt"/>
                  </a:rPr>
                  <a:t> model.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Anomaly detection.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4DDD0A48-ACAE-4C5E-CE0A-3057013172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7975600" cy="4819650"/>
              </a:xfrm>
              <a:blipFill>
                <a:blip r:embed="rId2"/>
                <a:stretch>
                  <a:fillRect l="-1274" t="-1316" r="-19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935633B1-E622-7DC1-C9B6-A50177003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Description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1009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13FDC-E4AD-724D-0315-AFD499D44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generated image&#10;&#10;Description automatically generated">
            <a:extLst>
              <a:ext uri="{FF2B5EF4-FFF2-40B4-BE49-F238E27FC236}">
                <a16:creationId xmlns:a16="http://schemas.microsoft.com/office/drawing/2014/main" id="{1D0E549C-4A2E-A406-EF02-425BB60C8D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5692"/>
            <a:ext cx="3810000" cy="304270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BEAC5B-5DDB-97B7-B36F-1AF501089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200" y="1295400"/>
            <a:ext cx="7975600" cy="4819650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33CC"/>
                </a:solidFill>
              </a:rPr>
              <a:t>Problem</a:t>
            </a:r>
            <a:r>
              <a:rPr lang="en-US" dirty="0">
                <a:solidFill>
                  <a:srgbClr val="0033CC"/>
                </a:solidFill>
                <a:latin typeface="+mn-lt"/>
              </a:rPr>
              <a:t>: </a:t>
            </a:r>
            <a:r>
              <a:rPr lang="en-US" dirty="0">
                <a:latin typeface="+mn-lt"/>
              </a:rPr>
              <a:t>Using 2D images of jets of particles, classify them into two classes: jets initiated by gluons or by quarks.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>
                <a:solidFill>
                  <a:srgbClr val="0033CC"/>
                </a:solidFill>
                <a:latin typeface="+mn-lt"/>
              </a:rPr>
              <a:t>Dataset</a:t>
            </a:r>
            <a:r>
              <a:rPr lang="en-US" dirty="0">
                <a:latin typeface="+mn-lt"/>
              </a:rPr>
              <a:t>: Images of shape (1, 16, 16), which have been divided into: </a:t>
            </a:r>
            <a:r>
              <a:rPr lang="en-US" dirty="0"/>
              <a:t>['</a:t>
            </a:r>
            <a:r>
              <a:rPr lang="en-US" dirty="0" err="1"/>
              <a:t>test_x</a:t>
            </a:r>
            <a:r>
              <a:rPr lang="en-US" dirty="0"/>
              <a:t>', '</a:t>
            </a:r>
            <a:r>
              <a:rPr lang="en-US" dirty="0" err="1"/>
              <a:t>test_y</a:t>
            </a:r>
            <a:r>
              <a:rPr lang="en-US" dirty="0"/>
              <a:t>', '</a:t>
            </a:r>
            <a:r>
              <a:rPr lang="en-US" dirty="0" err="1"/>
              <a:t>train_x</a:t>
            </a:r>
            <a:r>
              <a:rPr lang="en-US" dirty="0"/>
              <a:t>', '</a:t>
            </a:r>
            <a:r>
              <a:rPr lang="en-US" dirty="0" err="1"/>
              <a:t>train_y</a:t>
            </a:r>
            <a:r>
              <a:rPr lang="en-US" dirty="0"/>
              <a:t>', '</a:t>
            </a:r>
            <a:r>
              <a:rPr lang="en-US" dirty="0" err="1"/>
              <a:t>valid_x</a:t>
            </a:r>
            <a:r>
              <a:rPr lang="en-US" dirty="0"/>
              <a:t>', '</a:t>
            </a:r>
            <a:r>
              <a:rPr lang="en-US" dirty="0" err="1"/>
              <a:t>valid_y</a:t>
            </a:r>
            <a:r>
              <a:rPr lang="en-US" dirty="0"/>
              <a:t>’]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>
                <a:solidFill>
                  <a:srgbClr val="0033CC"/>
                </a:solidFill>
                <a:latin typeface="+mn-lt"/>
              </a:rPr>
              <a:t>Filename:	</a:t>
            </a:r>
            <a:r>
              <a:rPr lang="en-US" dirty="0">
                <a:latin typeface="+mn-lt"/>
              </a:rPr>
              <a:t>jets.h5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 err="1">
                <a:latin typeface="+mn-lt"/>
              </a:rPr>
              <a:t>len</a:t>
            </a:r>
            <a:r>
              <a:rPr lang="en-US" dirty="0">
                <a:latin typeface="+mn-lt"/>
              </a:rPr>
              <a:t>(</a:t>
            </a:r>
            <a:r>
              <a:rPr lang="en-US" dirty="0" err="1">
                <a:latin typeface="+mn-lt"/>
              </a:rPr>
              <a:t>train_x</a:t>
            </a:r>
            <a:r>
              <a:rPr lang="en-US" dirty="0">
                <a:latin typeface="+mn-lt"/>
              </a:rPr>
              <a:t>):	50,000</a:t>
            </a:r>
          </a:p>
          <a:p>
            <a:pPr marL="0" indent="0">
              <a:buNone/>
            </a:pPr>
            <a:r>
              <a:rPr lang="en-US" dirty="0" err="1">
                <a:latin typeface="+mn-lt"/>
              </a:rPr>
              <a:t>len</a:t>
            </a:r>
            <a:r>
              <a:rPr lang="en-US" dirty="0">
                <a:latin typeface="+mn-lt"/>
              </a:rPr>
              <a:t>(</a:t>
            </a:r>
            <a:r>
              <a:rPr lang="en-US" dirty="0" err="1">
                <a:latin typeface="+mn-lt"/>
              </a:rPr>
              <a:t>valid_x</a:t>
            </a:r>
            <a:r>
              <a:rPr lang="en-US" dirty="0">
                <a:latin typeface="+mn-lt"/>
              </a:rPr>
              <a:t>):	5000</a:t>
            </a:r>
          </a:p>
          <a:p>
            <a:pPr marL="0" indent="0">
              <a:buNone/>
            </a:pPr>
            <a:r>
              <a:rPr lang="en-US" dirty="0" err="1">
                <a:latin typeface="+mn-lt"/>
              </a:rPr>
              <a:t>len</a:t>
            </a:r>
            <a:r>
              <a:rPr lang="en-US" dirty="0">
                <a:latin typeface="+mn-lt"/>
              </a:rPr>
              <a:t>(</a:t>
            </a:r>
            <a:r>
              <a:rPr lang="en-US" dirty="0" err="1">
                <a:latin typeface="+mn-lt"/>
              </a:rPr>
              <a:t>test_x</a:t>
            </a:r>
            <a:r>
              <a:rPr lang="en-US" dirty="0">
                <a:latin typeface="+mn-lt"/>
              </a:rPr>
              <a:t>):	5000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6D215FD5-FB8E-890A-9D9F-D36967A4F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Jet Classification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90372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88CAF-0593-796F-C29C-7AAEAAD24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F3B5DDC-4EAF-2F56-8954-3FA3073718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200" y="1295400"/>
            <a:ext cx="7975600" cy="4819650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33CC"/>
                </a:solidFill>
              </a:rPr>
              <a:t>Problem</a:t>
            </a:r>
            <a:r>
              <a:rPr lang="en-US" dirty="0">
                <a:solidFill>
                  <a:srgbClr val="0033CC"/>
                </a:solidFill>
                <a:latin typeface="+mn-lt"/>
              </a:rPr>
              <a:t>: 	</a:t>
            </a:r>
            <a:r>
              <a:rPr lang="en-US" dirty="0">
                <a:latin typeface="+mn-lt"/>
              </a:rPr>
              <a:t>Predict</a:t>
            </a:r>
            <a:r>
              <a:rPr lang="en-US" dirty="0">
                <a:solidFill>
                  <a:srgbClr val="0033CC"/>
                </a:solidFill>
                <a:latin typeface="+mn-lt"/>
              </a:rPr>
              <a:t> </a:t>
            </a:r>
            <a:r>
              <a:rPr lang="en-US" dirty="0">
                <a:latin typeface="+mn-lt"/>
              </a:rPr>
              <a:t>a nuclear property given N, Z, and A. </a:t>
            </a:r>
          </a:p>
          <a:p>
            <a:pPr marL="0" indent="0">
              <a:buNone/>
            </a:pPr>
            <a:r>
              <a:rPr lang="en-US" dirty="0">
                <a:solidFill>
                  <a:srgbClr val="0033CC"/>
                </a:solidFill>
                <a:latin typeface="+mn-lt"/>
              </a:rPr>
              <a:t>Dataset</a:t>
            </a:r>
            <a:r>
              <a:rPr lang="en-US" dirty="0">
                <a:latin typeface="+mn-lt"/>
              </a:rPr>
              <a:t>: 	3,558 nuclei from the AME 2020 mass data</a:t>
            </a:r>
            <a:r>
              <a:rPr lang="en-US" baseline="30000" dirty="0">
                <a:latin typeface="+mn-lt"/>
              </a:rPr>
              <a:t>1</a:t>
            </a:r>
            <a:r>
              <a:rPr lang="en-US" dirty="0">
                <a:latin typeface="+mn-lt"/>
              </a:rPr>
              <a:t>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33CC"/>
                </a:solidFill>
              </a:rPr>
              <a:t>Filename</a:t>
            </a:r>
            <a:r>
              <a:rPr lang="en-US" dirty="0"/>
              <a:t>: 	AME2020.csv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1. The AME 2020 atomic mass evaluation, Chinese Phys. C </a:t>
            </a:r>
            <a:r>
              <a:rPr lang="en-US" sz="1400" b="1" dirty="0"/>
              <a:t>45</a:t>
            </a:r>
            <a:r>
              <a:rPr lang="en-US" sz="1400" dirty="0"/>
              <a:t>, 030002 (2021) and Chinese Phys. C </a:t>
            </a:r>
            <a:r>
              <a:rPr lang="en-US" sz="1400" b="1" dirty="0"/>
              <a:t>45</a:t>
            </a:r>
            <a:r>
              <a:rPr lang="en-US" sz="1400" dirty="0"/>
              <a:t>, 030003 (2021). 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E6F885E-C0EE-4CFF-672F-6992BE540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Nuclear Properties</a:t>
            </a:r>
            <a:endParaRPr lang="en-US" dirty="0">
              <a:solidFill>
                <a:schemeClr val="accent1"/>
              </a:solidFill>
            </a:endParaRPr>
          </a:p>
        </p:txBody>
      </p:sp>
      <p:pic>
        <p:nvPicPr>
          <p:cNvPr id="6" name="Picture 5" descr="A table with numbers and letters&#10;&#10;Description automatically generated">
            <a:extLst>
              <a:ext uri="{FF2B5EF4-FFF2-40B4-BE49-F238E27FC236}">
                <a16:creationId xmlns:a16="http://schemas.microsoft.com/office/drawing/2014/main" id="{1D503261-3538-F1EE-C86F-0E32BCE6C6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2286000"/>
            <a:ext cx="6857383" cy="29166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23336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FAFF5-5F67-8B2F-F2FE-E86A398DC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298E133-CBB9-10E2-E659-3228502021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200" y="1295400"/>
            <a:ext cx="7975600" cy="4819650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33CC"/>
                </a:solidFill>
              </a:rPr>
              <a:t>Problem</a:t>
            </a:r>
            <a:r>
              <a:rPr lang="en-US" dirty="0">
                <a:solidFill>
                  <a:srgbClr val="0033CC"/>
                </a:solidFill>
                <a:latin typeface="+mn-lt"/>
              </a:rPr>
              <a:t>: </a:t>
            </a:r>
            <a:r>
              <a:rPr lang="en-US" dirty="0">
                <a:latin typeface="+mn-lt"/>
              </a:rPr>
              <a:t>Predict</a:t>
            </a:r>
            <a:r>
              <a:rPr lang="en-US" dirty="0">
                <a:solidFill>
                  <a:srgbClr val="0033CC"/>
                </a:solidFill>
                <a:latin typeface="+mn-lt"/>
              </a:rPr>
              <a:t> </a:t>
            </a:r>
            <a:r>
              <a:rPr lang="en-US" dirty="0">
                <a:latin typeface="+mn-lt"/>
              </a:rPr>
              <a:t>a nuclear property given N, Z, and A.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>
                <a:solidFill>
                  <a:srgbClr val="0033CC"/>
                </a:solidFill>
                <a:latin typeface="+mn-lt"/>
              </a:rPr>
              <a:t>Dataset</a:t>
            </a:r>
            <a:r>
              <a:rPr lang="en-US" dirty="0">
                <a:latin typeface="+mn-lt"/>
              </a:rPr>
              <a:t>: 3,558 nuclei from the AME 2020 mass data</a:t>
            </a:r>
            <a:r>
              <a:rPr lang="en-US" baseline="30000" dirty="0">
                <a:latin typeface="+mn-lt"/>
              </a:rPr>
              <a:t>1</a:t>
            </a:r>
            <a:r>
              <a:rPr lang="en-US" dirty="0">
                <a:latin typeface="+mn-lt"/>
              </a:rPr>
              <a:t>.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>
                <a:solidFill>
                  <a:srgbClr val="0033CC"/>
                </a:solidFill>
                <a:latin typeface="+mn-lt"/>
              </a:rPr>
              <a:t>Energy Variables</a:t>
            </a:r>
            <a:r>
              <a:rPr lang="en-US" dirty="0">
                <a:latin typeface="+mn-lt"/>
              </a:rPr>
              <a:t>:</a:t>
            </a:r>
          </a:p>
          <a:p>
            <a:pPr marL="0" indent="0">
              <a:buNone/>
            </a:pPr>
            <a:r>
              <a:rPr lang="en-US" dirty="0" err="1">
                <a:latin typeface="+mn-lt"/>
              </a:rPr>
              <a:t>Mexcess</a:t>
            </a:r>
            <a:r>
              <a:rPr lang="en-US" dirty="0">
                <a:latin typeface="+mn-lt"/>
              </a:rPr>
              <a:t>, </a:t>
            </a:r>
            <a:r>
              <a:rPr lang="en-US" dirty="0" err="1">
                <a:latin typeface="+mn-lt"/>
              </a:rPr>
              <a:t>bindingE</a:t>
            </a:r>
            <a:r>
              <a:rPr lang="en-US" dirty="0">
                <a:latin typeface="+mn-lt"/>
              </a:rPr>
              <a:t>, </a:t>
            </a:r>
            <a:r>
              <a:rPr lang="en-US" dirty="0" err="1">
                <a:latin typeface="+mn-lt"/>
              </a:rPr>
              <a:t>betaE</a:t>
            </a:r>
            <a:r>
              <a:rPr lang="en-US" dirty="0">
                <a:latin typeface="+mn-lt"/>
              </a:rPr>
              <a:t>:	in MeV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 err="1">
                <a:latin typeface="+mn-lt"/>
              </a:rPr>
              <a:t>atomicM</a:t>
            </a:r>
            <a:r>
              <a:rPr lang="en-US" dirty="0">
                <a:latin typeface="+mn-lt"/>
              </a:rPr>
              <a:t>:			relative atomic mass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>
                <a:latin typeface="+mn-lt"/>
              </a:rPr>
              <a:t>Note: entries in the CSV file with -999 implies missing data.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72E3FC76-399A-6308-853A-984300C56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Nuclear Properties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8828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98226-2C67-CB76-C0F2-E0DD1BC78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EB98235D-89F5-65CF-1F3C-36CAF28E36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79756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Problem</a:t>
                </a:r>
                <a:r>
                  <a:rPr lang="en-US" dirty="0">
                    <a:solidFill>
                      <a:srgbClr val="0033CC"/>
                    </a:solidFill>
                    <a:latin typeface="+mn-lt"/>
                  </a:rPr>
                  <a:t>: </a:t>
                </a:r>
                <a:r>
                  <a:rPr lang="en-US" dirty="0">
                    <a:latin typeface="+mn-lt"/>
                  </a:rPr>
                  <a:t>Solve the Friedmann equation using a PINN.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  <a:latin typeface="+mn-lt"/>
                  </a:rPr>
                  <a:t>Data set</a:t>
                </a:r>
                <a:r>
                  <a:rPr lang="en-US" dirty="0">
                    <a:latin typeface="+mn-lt"/>
                  </a:rPr>
                  <a:t>: To be generated by you! </a:t>
                </a:r>
                <a:br>
                  <a:rPr lang="en-US" dirty="0">
                    <a:latin typeface="+mn-lt"/>
                  </a:rPr>
                </a:br>
                <a:r>
                  <a:rPr lang="en-US" dirty="0">
                    <a:solidFill>
                      <a:srgbClr val="0033CC"/>
                    </a:solidFill>
                    <a:latin typeface="+mn-lt"/>
                  </a:rPr>
                  <a:t>Equation</a:t>
                </a:r>
                <a:r>
                  <a:rPr lang="en-US" dirty="0">
                    <a:latin typeface="+mn-lt"/>
                  </a:rPr>
                  <a:t>: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𝑑𝑎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Ω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 for the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Λ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CDM</m:t>
                    </m:r>
                  </m:oMath>
                </a14:m>
                <a:r>
                  <a:rPr lang="en-US" dirty="0"/>
                  <a:t> model,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Ω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Λ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Λ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Initial condition</a:t>
                </a:r>
                <a:r>
                  <a:rPr lang="en-US" dirty="0"/>
                  <a:t>: 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  <a:latin typeface="+mn-lt"/>
                  </a:rPr>
                  <a:t>Suggested domain</a:t>
                </a:r>
                <a:r>
                  <a:rPr lang="en-US" dirty="0">
                    <a:latin typeface="+mn-lt"/>
                  </a:rPr>
                  <a:t>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Λ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=(0, 1.5)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⨂(0, 1)⨂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with the constraint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>
                    <a:latin typeface="+mn-lt"/>
                  </a:rPr>
                  <a:t>.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EB98235D-89F5-65CF-1F3C-36CAF28E36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7975600" cy="4819650"/>
              </a:xfrm>
              <a:blipFill>
                <a:blip r:embed="rId2"/>
                <a:stretch>
                  <a:fillRect l="-1274" t="-1316" r="-14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45B34CB2-E444-0692-5E01-381511748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Friedmann Equation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0604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B80A5-04AD-FE51-8D0E-BDEA20C2D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8D840D64-988A-B2AF-C8A3-9D1A470291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79756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Problem</a:t>
                </a:r>
                <a:r>
                  <a:rPr lang="en-US" dirty="0">
                    <a:solidFill>
                      <a:srgbClr val="0033CC"/>
                    </a:solidFill>
                    <a:latin typeface="+mn-lt"/>
                  </a:rPr>
                  <a:t>: </a:t>
                </a:r>
                <a:r>
                  <a:rPr lang="en-US" dirty="0">
                    <a:latin typeface="+mn-lt"/>
                  </a:rPr>
                  <a:t>Detect an unknown signal in a dataset.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  <a:latin typeface="+mn-lt"/>
                  </a:rPr>
                  <a:t>Dataset</a:t>
                </a:r>
                <a:r>
                  <a:rPr lang="en-US" dirty="0">
                    <a:latin typeface="+mn-lt"/>
                  </a:rPr>
                  <a:t>: Data comprising a mixture of mostly background plus a small signal and another containing background only.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  <a:latin typeface="+mn-lt"/>
                  </a:rPr>
                  <a:t>Anomaly Detector</a:t>
                </a:r>
                <a:r>
                  <a:rPr lang="en-US" dirty="0">
                    <a:latin typeface="+mn-lt"/>
                  </a:rPr>
                  <a:t>: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𝑏𝑘𝑔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is the threshold above which you declare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to be a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signal. You can assume that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𝑑𝑎𝑡𝑎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𝑠𝑖𝑔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𝑏𝑘𝑔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8D840D64-988A-B2AF-C8A3-9D1A470291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7975600" cy="4819650"/>
              </a:xfrm>
              <a:blipFill>
                <a:blip r:embed="rId2"/>
                <a:stretch>
                  <a:fillRect l="-1274" t="-1316" r="-6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7B8D65E0-9012-74C2-B560-CF6F4601D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Anomaly Detection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0012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ADE53-32C9-6F16-DF12-A31D61876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B4B20E2-2ABC-3126-8344-358F433913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200" y="1295400"/>
            <a:ext cx="7975600" cy="481965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Your Paper, which should be </a:t>
            </a:r>
            <a:r>
              <a:rPr lang="en-US" dirty="0">
                <a:solidFill>
                  <a:srgbClr val="0033CC"/>
                </a:solidFill>
              </a:rPr>
              <a:t>between 5 and 8 pages</a:t>
            </a:r>
            <a:r>
              <a:rPr lang="en-US" dirty="0"/>
              <a:t>, excluding references, must include the following elements and sections: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Title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An Abstract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Introduction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Dataset Description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Model Description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Experiments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Summary</a:t>
            </a:r>
            <a:br>
              <a:rPr lang="en-US" dirty="0"/>
            </a:br>
            <a:r>
              <a:rPr lang="en-US" dirty="0"/>
              <a:t> </a:t>
            </a:r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ACB54B4-DCC5-8FEA-4E35-54EFE4A19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Writeup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7337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8A5AF-461D-C51D-EF42-F91E6FE33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6EBA238-9761-443C-E110-F9D0F75D0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200" y="1295400"/>
            <a:ext cx="7975600" cy="4819650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Class time (both Tuesdays and Thursdays) will be devoted your project. You’re strongly advised to show up!</a:t>
            </a:r>
            <a:br>
              <a:rPr lang="en-US" dirty="0"/>
            </a:b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You are free to help each other, but your paper must be your own.</a:t>
            </a:r>
            <a:br>
              <a:rPr lang="en-US" dirty="0"/>
            </a:b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You are free to use any resources, but you must cite all of them.</a:t>
            </a:r>
            <a:br>
              <a:rPr lang="en-US" dirty="0"/>
            </a:b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You must document the data used, the architecture of your model, the training protocol and the results.</a:t>
            </a:r>
            <a:br>
              <a:rPr lang="en-US" dirty="0"/>
            </a:br>
            <a:r>
              <a:rPr lang="en-US" dirty="0"/>
              <a:t> </a:t>
            </a:r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0C0FF786-FAA9-F3FC-5433-937C3E994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Ground Rules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2763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Default Design">
  <a:themeElements>
    <a:clrScheme name="Default Design 7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3399FF"/>
      </a:accent1>
      <a:accent2>
        <a:srgbClr val="99FFCC"/>
      </a:accent2>
      <a:accent3>
        <a:srgbClr val="FFFFFF"/>
      </a:accent3>
      <a:accent4>
        <a:srgbClr val="000000"/>
      </a:accent4>
      <a:accent5>
        <a:srgbClr val="ADCAFF"/>
      </a:accent5>
      <a:accent6>
        <a:srgbClr val="8AE7B9"/>
      </a:accent6>
      <a:hlink>
        <a:srgbClr val="CC00CC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FSUML" id="{613EE9AE-404D-B44A-8379-18A65839E42D}" vid="{6F3B3403-6EF1-2147-8245-ED1F0091AC9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64F51-4645-064B-ACDC-0DE76AF412F6}">
  <we:reference id="wa200000729" version="3.19.222.0" store="en-US" storeType="OMEX"/>
  <we:alternateReferences>
    <we:reference id="wa200000729" version="3.19.222.0" store="wa200000729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Default Design</Template>
  <TotalTime>6</TotalTime>
  <Words>602</Words>
  <Application>Microsoft Macintosh PowerPoint</Application>
  <PresentationFormat>Letter Paper (8.5x11 in)</PresentationFormat>
  <Paragraphs>89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Cambria Math</vt:lpstr>
      <vt:lpstr>Times New Roman</vt:lpstr>
      <vt:lpstr>Wingdings</vt:lpstr>
      <vt:lpstr>Default Design</vt:lpstr>
      <vt:lpstr>Machine learning in physics  Projects</vt:lpstr>
      <vt:lpstr>Project Description</vt:lpstr>
      <vt:lpstr>Project Description</vt:lpstr>
      <vt:lpstr>Jet Classification</vt:lpstr>
      <vt:lpstr>Nuclear Properties</vt:lpstr>
      <vt:lpstr>Nuclear Properties</vt:lpstr>
      <vt:lpstr>Friedmann Equation</vt:lpstr>
      <vt:lpstr>Anomaly Detection</vt:lpstr>
      <vt:lpstr>Writeup</vt:lpstr>
      <vt:lpstr>Ground Rules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Harrison Prosper</dc:creator>
  <cp:lastModifiedBy>Harrison Prosper</cp:lastModifiedBy>
  <cp:revision>1</cp:revision>
  <cp:lastPrinted>2019-01-07T00:35:58Z</cp:lastPrinted>
  <dcterms:created xsi:type="dcterms:W3CDTF">2025-10-28T02:06:25Z</dcterms:created>
  <dcterms:modified xsi:type="dcterms:W3CDTF">2025-10-28T02:12:35Z</dcterms:modified>
</cp:coreProperties>
</file>