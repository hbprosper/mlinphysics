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1027" r:id="rId3"/>
    <p:sldId id="1043" r:id="rId4"/>
    <p:sldId id="918" r:id="rId5"/>
    <p:sldId id="1091" r:id="rId6"/>
    <p:sldId id="1056" r:id="rId7"/>
    <p:sldId id="1057" r:id="rId8"/>
    <p:sldId id="1058" r:id="rId9"/>
    <p:sldId id="1117" r:id="rId10"/>
    <p:sldId id="1022" r:id="rId11"/>
    <p:sldId id="1116" r:id="rId12"/>
    <p:sldId id="1115" r:id="rId13"/>
    <p:sldId id="1119" r:id="rId14"/>
    <p:sldId id="1086" r:id="rId15"/>
    <p:sldId id="1070" r:id="rId16"/>
    <p:sldId id="1090" r:id="rId17"/>
    <p:sldId id="1072" r:id="rId18"/>
    <p:sldId id="1108" r:id="rId19"/>
    <p:sldId id="1109" r:id="rId20"/>
    <p:sldId id="1111" r:id="rId21"/>
    <p:sldId id="1112" r:id="rId22"/>
    <p:sldId id="1076" r:id="rId23"/>
    <p:sldId id="1113" r:id="rId24"/>
    <p:sldId id="1074" r:id="rId25"/>
    <p:sldId id="1118" r:id="rId26"/>
    <p:sldId id="1088" r:id="rId27"/>
    <p:sldId id="1082" r:id="rId28"/>
    <p:sldId id="1042" r:id="rId29"/>
    <p:sldId id="1105" r:id="rId30"/>
    <p:sldId id="1098" r:id="rId31"/>
    <p:sldId id="1102" r:id="rId32"/>
    <p:sldId id="1103" r:id="rId33"/>
    <p:sldId id="1104" r:id="rId34"/>
    <p:sldId id="1114" r:id="rId35"/>
    <p:sldId id="1095" r:id="rId36"/>
    <p:sldId id="1096" r:id="rId37"/>
    <p:sldId id="1101" r:id="rId38"/>
    <p:sldId id="1097" r:id="rId39"/>
    <p:sldId id="1099" r:id="rId40"/>
    <p:sldId id="1100" r:id="rId41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2"/>
    <p:restoredTop sz="86573"/>
  </p:normalViewPr>
  <p:slideViewPr>
    <p:cSldViewPr>
      <p:cViewPr varScale="1">
        <p:scale>
          <a:sx n="85" d="100"/>
          <a:sy n="85" d="100"/>
        </p:scale>
        <p:origin x="251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443B50-C219-2D4B-99A1-EBCE7B69699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0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9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E8F00-04F5-5CD0-9932-DBD543C75833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B5112CB-3C62-F745-B70F-3473086D4FC8}" type="slidenum">
              <a:rPr lang="en-US" sz="1600" smtClean="0"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003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  <p:sldLayoutId id="2147483894" r:id="rId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stronn.readthedocs.io/en/stable/galaxy10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convolutional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72B-CBF3-BA89-4F7A-266EE54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422737-B0BC-5667-4514-0BB23334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86472"/>
                <a:ext cx="7772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used the simplest machine learning model, </a:t>
                </a:r>
                <a:br>
                  <a:rPr lang="en-US" dirty="0"/>
                </a:br>
                <a:r>
                  <a:rPr lang="en-US" dirty="0"/>
                  <a:t>namely a feed-forward neural network (FFNN), </a:t>
                </a:r>
              </a:p>
              <a:p>
                <a:pPr marL="0" indent="0">
                  <a:buNone/>
                </a:pPr>
                <a:r>
                  <a:rPr lang="en-US" dirty="0"/>
                  <a:t>such as the one shown here, to review a few key </a:t>
                </a:r>
              </a:p>
              <a:p>
                <a:pPr marL="0" indent="0">
                  <a:buNone/>
                </a:pPr>
                <a:r>
                  <a:rPr lang="en-US" dirty="0"/>
                  <a:t>concepts in ML, including 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the loss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the empirical risk (i.e., average loss),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 risk functional,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the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and empirical risk minimization via</a:t>
                </a:r>
                <a:br>
                  <a:rPr lang="en-US" dirty="0"/>
                </a:br>
                <a:r>
                  <a:rPr lang="en-US" dirty="0"/>
                  <a:t>stochastic gradient descent.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86472"/>
                <a:ext cx="7772400" cy="4819650"/>
              </a:xfrm>
              <a:blipFill>
                <a:blip r:embed="rId2"/>
                <a:stretch>
                  <a:fillRect l="-1305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3B3E4FE-B1E3-5584-E05A-72A3277159E8}"/>
              </a:ext>
            </a:extLst>
          </p:cNvPr>
          <p:cNvGrpSpPr/>
          <p:nvPr/>
        </p:nvGrpSpPr>
        <p:grpSpPr>
          <a:xfrm>
            <a:off x="7090259" y="1371599"/>
            <a:ext cx="1825141" cy="3082566"/>
            <a:chOff x="6801989" y="3048000"/>
            <a:chExt cx="1825141" cy="3082566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8CDD7F4-772F-A368-6A8D-AC3056CC6471}"/>
                </a:ext>
              </a:extLst>
            </p:cNvPr>
            <p:cNvGrpSpPr/>
            <p:nvPr/>
          </p:nvGrpSpPr>
          <p:grpSpPr>
            <a:xfrm>
              <a:off x="6801989" y="3048000"/>
              <a:ext cx="1808613" cy="3082566"/>
              <a:chOff x="6355238" y="3259319"/>
              <a:chExt cx="1808613" cy="308256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52CCE89-9A67-AF95-ABFE-6CDA000AE087}"/>
                  </a:ext>
                </a:extLst>
              </p:cNvPr>
              <p:cNvGrpSpPr/>
              <p:nvPr/>
            </p:nvGrpSpPr>
            <p:grpSpPr>
              <a:xfrm>
                <a:off x="6355238" y="3259319"/>
                <a:ext cx="1808613" cy="3082566"/>
                <a:chOff x="6734628" y="2976778"/>
                <a:chExt cx="2133600" cy="3503264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760FCEA-8E4E-5078-6B43-EA773172B9AC}"/>
                    </a:ext>
                  </a:extLst>
                </p:cNvPr>
                <p:cNvSpPr txBox="1"/>
                <p:nvPr/>
              </p:nvSpPr>
              <p:spPr>
                <a:xfrm>
                  <a:off x="7335780" y="2976778"/>
                  <a:ext cx="784969" cy="3997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output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30066B35-3501-71C3-B087-28D647ECDCDB}"/>
                    </a:ext>
                  </a:extLst>
                </p:cNvPr>
                <p:cNvGrpSpPr/>
                <p:nvPr/>
              </p:nvGrpSpPr>
              <p:grpSpPr>
                <a:xfrm>
                  <a:off x="6734628" y="3764021"/>
                  <a:ext cx="2133600" cy="2716021"/>
                  <a:chOff x="6734628" y="3539886"/>
                  <a:chExt cx="2133600" cy="271602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7B12B24A-39B9-2EFF-F335-EF6F9470842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45528" y="5756235"/>
                        <a:ext cx="512473" cy="4996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F61E0493-379B-9865-FFD6-B71928F3D03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545528" y="5756235"/>
                        <a:ext cx="512473" cy="49967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F12D8FE5-7CA3-F731-6BFF-8EF989D7B469}"/>
                      </a:ext>
                    </a:extLst>
                  </p:cNvPr>
                  <p:cNvGrpSpPr/>
                  <p:nvPr/>
                </p:nvGrpSpPr>
                <p:grpSpPr>
                  <a:xfrm>
                    <a:off x="6734628" y="3539886"/>
                    <a:ext cx="2133600" cy="2330342"/>
                    <a:chOff x="6734628" y="3424066"/>
                    <a:chExt cx="2133600" cy="2330342"/>
                  </a:xfrm>
                </p:grpSpPr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CDF87712-C5C3-55EB-200D-E494BC9164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V="1">
                      <a:off x="7781469" y="5408563"/>
                      <a:ext cx="0" cy="345845"/>
                    </a:xfrm>
                    <a:prstGeom prst="straightConnector1">
                      <a:avLst/>
                    </a:prstGeom>
                    <a:noFill/>
                    <a:ln w="412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5FDB2033-E865-06DF-1FEF-2750EDA53F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34628" y="4588237"/>
                      <a:ext cx="2133600" cy="820008"/>
                      <a:chOff x="6734628" y="4566213"/>
                      <a:chExt cx="2133600" cy="902009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7" name="Rectangle 36">
                            <a:extLst>
                              <a:ext uri="{FF2B5EF4-FFF2-40B4-BE49-F238E27FC236}">
                                <a16:creationId xmlns:a16="http://schemas.microsoft.com/office/drawing/2014/main" id="{DD84ADB6-46F6-AC56-7199-B421A60B88B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086600" y="4566213"/>
                            <a:ext cx="1447800" cy="372409"/>
                          </a:xfrm>
                          <a:prstGeom prst="rect">
                            <a:avLst/>
                          </a:prstGeom>
                          <a:solidFill>
                            <a:srgbClr val="FFC000"/>
                          </a:solidFill>
                          <a:ln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txBody>
                          <a:bodyPr vert="horz" wrap="square" lIns="91440" tIns="45720" rIns="91440" bIns="45720" numCol="1" rtlCol="0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/>
                          <a:p>
                            <a:pPr marL="0" marR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14:m>
                              <m:oMathPara xmlns:m="http://schemas.openxmlformats.org/officeDocument/2006/math">
                                <m:oMath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kumimoji="0" lang="en-US" sz="1600" b="0" i="0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lu</m:t>
                                  </m:r>
                                  <m:r>
                                    <a:rPr kumimoji="0" lang="en-US" sz="16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()</m:t>
                                  </m:r>
                                </m:oMath>
                              </m:oMathPara>
                            </a14:m>
                            <a:endPara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-65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7" name="Rectangle 36">
                            <a:extLst>
                              <a:ext uri="{FF2B5EF4-FFF2-40B4-BE49-F238E27FC236}">
                                <a16:creationId xmlns:a16="http://schemas.microsoft.com/office/drawing/2014/main" id="{DD84ADB6-46F6-AC56-7199-B421A60B88B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 bwMode="auto">
                          <a:xfrm>
                            <a:off x="7086600" y="4566213"/>
                            <a:ext cx="1447800" cy="372409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/>
                            </a:stretch>
                          </a:blipFill>
                          <a:ln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6E9FEBF8-7898-8E29-58AE-9564F27894C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34628" y="5044987"/>
                        <a:ext cx="2133600" cy="423235"/>
                      </a:xfrm>
                      <a:prstGeom prst="rect">
                        <a:avLst/>
                      </a:prstGeom>
                      <a:solidFill>
                        <a:srgbClr val="FFFC8F"/>
                      </a:solidFill>
                      <a:ln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rPr>
                          <a:t>Linear(2, </a:t>
                        </a:r>
                        <a:r>
                          <a:rPr lang="en-US" sz="1600" dirty="0">
                            <a:latin typeface="Times New Roman" pitchFamily="-65" charset="0"/>
                          </a:rPr>
                          <a:t>H</a:t>
                        </a:r>
                        <a:r>
                          <a: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rPr>
                          <a:t>)</a:t>
                        </a:r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9" name="Rectangle 28">
                          <a:extLst>
                            <a:ext uri="{FF2B5EF4-FFF2-40B4-BE49-F238E27FC236}">
                              <a16:creationId xmlns:a16="http://schemas.microsoft.com/office/drawing/2014/main" id="{8CE7116C-FC7A-0D3A-1C18-1AA0D865C14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061199" y="3424066"/>
                          <a:ext cx="1447799" cy="338554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9" name="Rectangle 28">
                          <a:extLst>
                            <a:ext uri="{FF2B5EF4-FFF2-40B4-BE49-F238E27FC236}">
                              <a16:creationId xmlns:a16="http://schemas.microsoft.com/office/drawing/2014/main" id="{8CE7116C-FC7A-0D3A-1C18-1AA0D865C14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061199" y="3424066"/>
                          <a:ext cx="1447799" cy="338554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</p:grp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E0020A4-B613-2EA4-EB4A-9CF76925F5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239548" y="3693622"/>
                <a:ext cx="0" cy="251498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B6FBF6-F62C-D0D1-1697-0B58D0CED5B5}"/>
                </a:ext>
              </a:extLst>
            </p:cNvPr>
            <p:cNvSpPr/>
            <p:nvPr/>
          </p:nvSpPr>
          <p:spPr bwMode="auto">
            <a:xfrm>
              <a:off x="6818517" y="4135817"/>
              <a:ext cx="1808613" cy="338554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Linear(H, </a:t>
              </a:r>
              <a:r>
                <a:rPr lang="en-US" sz="1600" dirty="0">
                  <a:latin typeface="Times New Roman" pitchFamily="-65" charset="0"/>
                </a:rPr>
                <a:t>1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)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4DDABED-8D3D-3C9D-C67D-73A8682D558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696200" y="4496287"/>
              <a:ext cx="0" cy="304313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8938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B631-CC40-84E0-9D60-34127FF2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1A1B08-1158-8B28-BD0C-D1A7508A79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plan for the next few lectures is to introduce a few models and methods from the following list: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Convolutional neural networks (CNN)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Physics-informed neural networks (PINN)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Graph neural networks (GNN)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Autoencoders (AE)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Flow and diffusion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Transformer neural networks (TNN</a:t>
            </a:r>
            <a:r>
              <a:rPr lang="en-US" dirty="0">
                <a:solidFill>
                  <a:srgbClr val="0033CC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LLM-based agentic AI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Bayesian neural networks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Simulation-based inference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A1785-51EC-C4BF-228A-B8FFB74E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171746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Outline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177C88-58AE-03AF-42F5-74B1415BE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 Galaxy Classifier: Part 1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lvl="1"/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Multi-Class Classification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lvl="1"/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Convolutional Neural Networks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 Galaxy Classifier: Part 2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Summary 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Appendix A, B</a:t>
            </a: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6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C38A7-FED5-19A7-684C-54A750EE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975E42-4737-A29C-3901-B78F12E51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A galaxy classifier: part 1</a:t>
            </a:r>
          </a:p>
        </p:txBody>
      </p:sp>
    </p:spTree>
    <p:extLst>
      <p:ext uri="{BB962C8B-B14F-4D97-AF65-F5344CB8AC3E}">
        <p14:creationId xmlns:p14="http://schemas.microsoft.com/office/powerpoint/2010/main" val="112520923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F93D-FDD3-43DB-4570-580903FD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0A18EE-490E-A176-D2EC-4715A99445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Goal</a:t>
            </a:r>
            <a:r>
              <a:rPr lang="en-US" dirty="0"/>
              <a:t>: classify galaxies </a:t>
            </a:r>
            <a:br>
              <a:rPr lang="en-US" dirty="0"/>
            </a:br>
            <a:r>
              <a:rPr lang="en-US" dirty="0"/>
              <a:t>using images like these.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images are from the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Galaxy 10 </a:t>
            </a:r>
            <a:r>
              <a:rPr lang="en-US" dirty="0" err="1">
                <a:solidFill>
                  <a:srgbClr val="0033CC"/>
                </a:solidFill>
              </a:rPr>
              <a:t>DECals</a:t>
            </a:r>
            <a:r>
              <a:rPr lang="en-US" dirty="0">
                <a:solidFill>
                  <a:srgbClr val="0033CC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Dataset</a:t>
            </a:r>
            <a:r>
              <a:rPr lang="en-US" dirty="0"/>
              <a:t> at the</a:t>
            </a:r>
          </a:p>
          <a:p>
            <a:pPr marL="0" indent="0">
              <a:buNone/>
            </a:pPr>
            <a:r>
              <a:rPr lang="en-US" dirty="0" err="1"/>
              <a:t>astroNN</a:t>
            </a:r>
            <a:r>
              <a:rPr lang="en-US" dirty="0"/>
              <a:t> website.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https://astronn.readthedocs.io/en/stable/galaxy10.html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279E5A-1E8E-574A-DDCD-07B1AAE3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(1)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99F440BB-BE62-7FBE-05C0-A5F04D13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656" y="1168400"/>
            <a:ext cx="5175643" cy="4394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502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C3DA-9A08-64E3-0E07-59723028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52DC20-149F-4F7D-392D-CECD85A09A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Dataset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dataset comprises </a:t>
            </a:r>
            <a:r>
              <a:rPr lang="en-US" dirty="0">
                <a:solidFill>
                  <a:srgbClr val="0033CC"/>
                </a:solidFill>
              </a:rPr>
              <a:t>12,600</a:t>
            </a:r>
            <a:r>
              <a:rPr lang="en-US" dirty="0"/>
              <a:t> images divided into </a:t>
            </a:r>
            <a:r>
              <a:rPr lang="en-US" dirty="0">
                <a:solidFill>
                  <a:srgbClr val="0033CC"/>
                </a:solidFill>
              </a:rPr>
              <a:t>7</a:t>
            </a:r>
            <a:r>
              <a:rPr lang="en-US" dirty="0"/>
              <a:t> galaxy morphology classes with </a:t>
            </a:r>
            <a:r>
              <a:rPr lang="en-US" dirty="0">
                <a:solidFill>
                  <a:srgbClr val="0033CC"/>
                </a:solidFill>
              </a:rPr>
              <a:t>1800</a:t>
            </a:r>
            <a:r>
              <a:rPr lang="en-US" dirty="0"/>
              <a:t> galaxies per class.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Each </a:t>
            </a:r>
            <a:r>
              <a:rPr lang="en-US" dirty="0">
                <a:solidFill>
                  <a:srgbClr val="0033CC"/>
                </a:solidFill>
              </a:rPr>
              <a:t>3-channel </a:t>
            </a:r>
            <a:r>
              <a:rPr lang="en-US" dirty="0"/>
              <a:t>image is cropped to </a:t>
            </a:r>
            <a:r>
              <a:rPr lang="en-US" dirty="0">
                <a:solidFill>
                  <a:srgbClr val="0033CC"/>
                </a:solidFill>
              </a:rPr>
              <a:t>96 x 96 </a:t>
            </a:r>
            <a:r>
              <a:rPr lang="en-US" dirty="0"/>
              <a:t>pixels.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9EC33A-50BA-E6E2-8666-32CD6A41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(2)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CD87C846-FD56-5072-7FC9-6E4D6ABA6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556" y="3204269"/>
            <a:ext cx="3650743" cy="3099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111A497-3A1A-7E2E-BDB3-72A52EF36223}"/>
              </a:ext>
            </a:extLst>
          </p:cNvPr>
          <p:cNvGrpSpPr/>
          <p:nvPr/>
        </p:nvGrpSpPr>
        <p:grpSpPr>
          <a:xfrm>
            <a:off x="1371600" y="3132240"/>
            <a:ext cx="2775857" cy="3077187"/>
            <a:chOff x="2840300" y="3624290"/>
            <a:chExt cx="1252657" cy="1851950"/>
          </a:xfrm>
        </p:grpSpPr>
        <p:sp>
          <p:nvSpPr>
            <p:cNvPr id="3" name="Data 2">
              <a:extLst>
                <a:ext uri="{FF2B5EF4-FFF2-40B4-BE49-F238E27FC236}">
                  <a16:creationId xmlns:a16="http://schemas.microsoft.com/office/drawing/2014/main" id="{6C2955CC-CA59-618B-1DEE-16DE54AD9AD9}"/>
                </a:ext>
              </a:extLst>
            </p:cNvPr>
            <p:cNvSpPr/>
            <p:nvPr/>
          </p:nvSpPr>
          <p:spPr>
            <a:xfrm rot="16200000">
              <a:off x="2830250" y="3975499"/>
              <a:ext cx="1613916" cy="911498"/>
            </a:xfrm>
            <a:prstGeom prst="flowChartInputOutput">
              <a:avLst/>
            </a:prstGeom>
            <a:solidFill>
              <a:schemeClr val="accent1">
                <a:lumMod val="75000"/>
                <a:alpha val="51184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Data 3">
              <a:extLst>
                <a:ext uri="{FF2B5EF4-FFF2-40B4-BE49-F238E27FC236}">
                  <a16:creationId xmlns:a16="http://schemas.microsoft.com/office/drawing/2014/main" id="{2A8CC964-79B1-B134-6B3F-2B3E8C55CC9D}"/>
                </a:ext>
              </a:extLst>
            </p:cNvPr>
            <p:cNvSpPr/>
            <p:nvPr/>
          </p:nvSpPr>
          <p:spPr>
            <a:xfrm rot="16200000">
              <a:off x="2669142" y="4101773"/>
              <a:ext cx="1613916" cy="911498"/>
            </a:xfrm>
            <a:prstGeom prst="flowChartInputOutput">
              <a:avLst/>
            </a:prstGeom>
            <a:solidFill>
              <a:schemeClr val="accent2">
                <a:lumMod val="50000"/>
                <a:alpha val="5118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Data 5">
              <a:extLst>
                <a:ext uri="{FF2B5EF4-FFF2-40B4-BE49-F238E27FC236}">
                  <a16:creationId xmlns:a16="http://schemas.microsoft.com/office/drawing/2014/main" id="{54E15151-4CF0-80EB-B9CE-56755C5BE6CC}"/>
                </a:ext>
              </a:extLst>
            </p:cNvPr>
            <p:cNvSpPr/>
            <p:nvPr/>
          </p:nvSpPr>
          <p:spPr>
            <a:xfrm rot="16200000">
              <a:off x="2489091" y="4213533"/>
              <a:ext cx="1613916" cy="911498"/>
            </a:xfrm>
            <a:prstGeom prst="flowChartInputOutput">
              <a:avLst/>
            </a:prstGeom>
            <a:solidFill>
              <a:srgbClr val="C00000">
                <a:alpha val="51184"/>
              </a:srgb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6502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5F1D-93FF-9FCC-5489-BA367703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513B44A-E9AA-74BA-747E-2EF01A7774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a </a:t>
            </a:r>
            <a:r>
              <a:rPr lang="en-US" b="1" dirty="0">
                <a:solidFill>
                  <a:srgbClr val="0033CC"/>
                </a:solidFill>
              </a:rPr>
              <a:t>multi-class</a:t>
            </a:r>
            <a:r>
              <a:rPr lang="en-US" dirty="0"/>
              <a:t> problem, so we need a generalization of binary classification which reduces to the latter when there are 2 classes.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DCD2A3-125D-1A54-677B-4BC9C708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(3)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82CBF7-1E79-DF65-C4AA-3D8497DAD253}"/>
              </a:ext>
            </a:extLst>
          </p:cNvPr>
          <p:cNvGrpSpPr/>
          <p:nvPr/>
        </p:nvGrpSpPr>
        <p:grpSpPr>
          <a:xfrm>
            <a:off x="1371600" y="3132240"/>
            <a:ext cx="2775857" cy="3077187"/>
            <a:chOff x="2840300" y="3624290"/>
            <a:chExt cx="1252657" cy="1851950"/>
          </a:xfrm>
        </p:grpSpPr>
        <p:sp>
          <p:nvSpPr>
            <p:cNvPr id="3" name="Data 2">
              <a:extLst>
                <a:ext uri="{FF2B5EF4-FFF2-40B4-BE49-F238E27FC236}">
                  <a16:creationId xmlns:a16="http://schemas.microsoft.com/office/drawing/2014/main" id="{492674B7-6082-5A9B-EEC1-36010E7E53E0}"/>
                </a:ext>
              </a:extLst>
            </p:cNvPr>
            <p:cNvSpPr/>
            <p:nvPr/>
          </p:nvSpPr>
          <p:spPr>
            <a:xfrm rot="16200000">
              <a:off x="2830250" y="3975499"/>
              <a:ext cx="1613916" cy="911498"/>
            </a:xfrm>
            <a:prstGeom prst="flowChartInputOutput">
              <a:avLst/>
            </a:prstGeom>
            <a:solidFill>
              <a:schemeClr val="accent1">
                <a:lumMod val="75000"/>
                <a:alpha val="51184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Data 3">
              <a:extLst>
                <a:ext uri="{FF2B5EF4-FFF2-40B4-BE49-F238E27FC236}">
                  <a16:creationId xmlns:a16="http://schemas.microsoft.com/office/drawing/2014/main" id="{DABD8AF7-60FF-92DB-9768-64FA7256A8CC}"/>
                </a:ext>
              </a:extLst>
            </p:cNvPr>
            <p:cNvSpPr/>
            <p:nvPr/>
          </p:nvSpPr>
          <p:spPr>
            <a:xfrm rot="16200000">
              <a:off x="2669142" y="4101773"/>
              <a:ext cx="1613916" cy="911498"/>
            </a:xfrm>
            <a:prstGeom prst="flowChartInputOutput">
              <a:avLst/>
            </a:prstGeom>
            <a:solidFill>
              <a:schemeClr val="accent2">
                <a:lumMod val="50000"/>
                <a:alpha val="5118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Data 5">
              <a:extLst>
                <a:ext uri="{FF2B5EF4-FFF2-40B4-BE49-F238E27FC236}">
                  <a16:creationId xmlns:a16="http://schemas.microsoft.com/office/drawing/2014/main" id="{4D6DEDD7-EA39-B0DC-1B2F-A72FD59762D0}"/>
                </a:ext>
              </a:extLst>
            </p:cNvPr>
            <p:cNvSpPr/>
            <p:nvPr/>
          </p:nvSpPr>
          <p:spPr>
            <a:xfrm rot="16200000">
              <a:off x="2489091" y="4213533"/>
              <a:ext cx="1613916" cy="911498"/>
            </a:xfrm>
            <a:prstGeom prst="flowChartInputOutput">
              <a:avLst/>
            </a:prstGeom>
            <a:solidFill>
              <a:srgbClr val="C00000">
                <a:alpha val="51184"/>
              </a:srgb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9" name="Picture 8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06971728-1AA6-0111-9167-C29ED881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556" y="3204269"/>
            <a:ext cx="3650743" cy="3099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590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A2614-6797-292B-B788-9E57D93E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6AA2E1-518F-5ED9-0DD0-3CAF8EF55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Multi-class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2962228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2694-6337-6A28-FDFB-B31D8D002C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galaxy classification problem,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classes</a:t>
                </a:r>
                <a:r>
                  <a:rPr lang="en-US" dirty="0">
                    <a:solidFill>
                      <a:srgbClr val="0033CC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Therefore,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functions</a:t>
                </a:r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/>
                  <a:t>that</a:t>
                </a:r>
                <a:r>
                  <a:rPr lang="en-US" dirty="0">
                    <a:solidFill>
                      <a:schemeClr val="tx1"/>
                    </a:solidFill>
                  </a:rPr>
                  <a:t> satisfy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 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br>
                  <a:rPr lang="en-US" dirty="0">
                    <a:solidFill>
                      <a:srgbClr val="0033CC"/>
                    </a:solidFill>
                  </a:rPr>
                </a:br>
                <a:r>
                  <a:rPr lang="en-US" dirty="0"/>
                  <a:t>These functions should approximate the class probabilities, 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2694-6337-6A28-FDFB-B31D8D002C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E8432F4-C927-BA01-B1A8-23BE5EEE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(1)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84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9DDE-C437-2486-B9E2-F1E82C73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BFCC05-A754-B52C-829B-B7A1F1480B1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7670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a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can, in principle, determine what a trained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approximates. </a:t>
                </a:r>
              </a:p>
              <a:p>
                <a:pPr marL="0" indent="0">
                  <a:buNone/>
                </a:pPr>
                <a:r>
                  <a:rPr lang="en-US" dirty="0"/>
                  <a:t>But now we wish to go in the reverse direction: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</a:t>
                </a:r>
                <a:r>
                  <a:rPr lang="en-US" dirty="0">
                    <a:solidFill>
                      <a:schemeClr val="tx1"/>
                    </a:solidFill>
                  </a:rPr>
                  <a:t>hat loss function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should one use?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question can be answered by minimizing the risk functional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but this time we must impose the constraint: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BFCC05-A754-B52C-829B-B7A1F1480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7670800" cy="4819650"/>
              </a:xfrm>
              <a:blipFill>
                <a:blip r:embed="rId2"/>
                <a:stretch>
                  <a:fillRect l="-1325" t="-1316" r="-1325" b="-3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BA6B79F-DC3F-1ACA-BBCF-FAAA2692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(2)</a:t>
            </a:r>
          </a:p>
        </p:txBody>
      </p:sp>
    </p:spTree>
    <p:extLst>
      <p:ext uri="{BB962C8B-B14F-4D97-AF65-F5344CB8AC3E}">
        <p14:creationId xmlns:p14="http://schemas.microsoft.com/office/powerpoint/2010/main" val="185542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D6C9-1682-ADC8-D0F3-7EABAE7F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86352-16C6-26D2-9F42-586C47319D9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that the risk functional can be written as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since  the values of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discrete: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=0,⋯,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>
                    <a:latin typeface="+mn-lt"/>
                  </a:rPr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86352-16C6-26D2-9F42-586C47319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2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FF2C12E-A7F8-E078-3F6B-F0BEE9D0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(3)</a:t>
            </a:r>
          </a:p>
        </p:txBody>
      </p:sp>
    </p:spTree>
    <p:extLst>
      <p:ext uri="{BB962C8B-B14F-4D97-AF65-F5344CB8AC3E}">
        <p14:creationId xmlns:p14="http://schemas.microsoft.com/office/powerpoint/2010/main" val="10481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5153-439F-2A57-0A50-F1BCE64A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ADA2F6-FDB3-D4DC-3AF5-DBF59EA3356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want to minimize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subject to the constraint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is, subject to </a:t>
                </a: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ADA2F6-FDB3-D4DC-3AF5-DBF59EA335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 b="-2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81BC683-83A5-941D-A419-708228B1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(4)</a:t>
            </a:r>
          </a:p>
        </p:txBody>
      </p:sp>
    </p:spTree>
    <p:extLst>
      <p:ext uri="{BB962C8B-B14F-4D97-AF65-F5344CB8AC3E}">
        <p14:creationId xmlns:p14="http://schemas.microsoft.com/office/powerpoint/2010/main" val="4142854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E379-D416-2824-BED1-8C525208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F0C7-F7AE-8409-F60E-100BDA18A20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solution (see Appendix B) is the </a:t>
                </a:r>
                <a:r>
                  <a:rPr lang="en-US" dirty="0">
                    <a:solidFill>
                      <a:srgbClr val="0033CC"/>
                    </a:solidFill>
                  </a:rPr>
                  <a:t>cross-entropy loss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we can solve the</a:t>
                </a:r>
              </a:p>
              <a:p>
                <a:pPr marL="0" indent="0">
                  <a:buNone/>
                </a:pPr>
                <a:r>
                  <a:rPr lang="en-US" dirty="0"/>
                  <a:t>multi-class problem by minimizing </a:t>
                </a:r>
              </a:p>
              <a:p>
                <a:pPr marL="0" indent="0">
                  <a:buNone/>
                </a:pPr>
                <a:r>
                  <a:rPr lang="en-US" dirty="0"/>
                  <a:t>the following empirical risk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[−</m:t>
                          </m:r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the known class index of image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dirty="0"/>
                  <a:t>, is a model that we hope is flexible enough to approximate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probabilities that sum to one. 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F0C7-F7AE-8409-F60E-100BDA18A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1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DC80DFF-7B9A-B7B5-836F-23084C61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(5)</a:t>
            </a:r>
          </a:p>
        </p:txBody>
      </p:sp>
      <p:pic>
        <p:nvPicPr>
          <p:cNvPr id="4" name="Picture 3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2F413ED9-0C20-619B-EC47-682C80C43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828800"/>
            <a:ext cx="3650743" cy="3099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756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9851-6FB6-9345-2799-310F9B85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308A7-BEDA-F160-1904-D5ACCB214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Convolutional </a:t>
            </a:r>
            <a:br>
              <a:rPr lang="en-US" dirty="0"/>
            </a:br>
            <a:r>
              <a:rPr lang="en-US" dirty="0"/>
              <a:t>neural networks (CNN)</a:t>
            </a:r>
            <a:br>
              <a:rPr lang="en-US" dirty="0"/>
            </a:b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302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BF8D-3045-6D6A-2C9A-92784A78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312111-1509-250D-AC14-72610629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(1)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20033A-C9BF-FCDB-A315-83B27A5A3D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Convolutional neural networks</a:t>
            </a:r>
            <a:r>
              <a:rPr lang="en-US" dirty="0"/>
              <a:t> (CNN) are functions that extract features from 1, 2 or 3D data, and then process them with another neural network.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insight that underpins CNNs is that many data sets, for example images, have similar patterns in different parts of the data sets. </a:t>
            </a:r>
          </a:p>
          <a:p>
            <a:endParaRPr lang="en-US" dirty="0"/>
          </a:p>
        </p:txBody>
      </p:sp>
      <p:pic>
        <p:nvPicPr>
          <p:cNvPr id="6" name="Picture 5" descr="A city with trees and buildings&#10;&#10;AI-generated content may be incorrect.">
            <a:extLst>
              <a:ext uri="{FF2B5EF4-FFF2-40B4-BE49-F238E27FC236}">
                <a16:creationId xmlns:a16="http://schemas.microsoft.com/office/drawing/2014/main" id="{B95F7738-1C35-B3A4-B9FB-1523D924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219200"/>
            <a:ext cx="3638550" cy="4851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32CD6-DF24-9468-AB5A-A7C64DBC6AE0}"/>
              </a:ext>
            </a:extLst>
          </p:cNvPr>
          <p:cNvSpPr txBox="1"/>
          <p:nvPr/>
        </p:nvSpPr>
        <p:spPr>
          <a:xfrm>
            <a:off x="5257800" y="6038334"/>
            <a:ext cx="374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Harrison Prosper, Dinan, France, 2025</a:t>
            </a:r>
          </a:p>
        </p:txBody>
      </p:sp>
    </p:spTree>
    <p:extLst>
      <p:ext uri="{BB962C8B-B14F-4D97-AF65-F5344CB8AC3E}">
        <p14:creationId xmlns:p14="http://schemas.microsoft.com/office/powerpoint/2010/main" val="2483127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A8FB-6DC4-BA80-C403-D381FC6A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45C6-DBC2-C6D1-11AF-1179B2A618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dirty="0"/>
              <a:t>A standard </a:t>
            </a:r>
            <a:r>
              <a:rPr lang="en-US" dirty="0">
                <a:solidFill>
                  <a:srgbClr val="0033CC"/>
                </a:solidFill>
              </a:rPr>
              <a:t>CNN </a:t>
            </a:r>
            <a:r>
              <a:rPr lang="en-US" dirty="0"/>
              <a:t>comprises three types of processing layers: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b="1" dirty="0">
              <a:solidFill>
                <a:srgbClr val="0033CC"/>
              </a:solidFill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  <a:br>
              <a:rPr lang="en-US" dirty="0"/>
            </a:br>
            <a:r>
              <a:rPr lang="en-US" dirty="0"/>
              <a:t>The data, e.g., an image, is </a:t>
            </a:r>
            <a:r>
              <a:rPr lang="en-US" i="1" dirty="0">
                <a:solidFill>
                  <a:srgbClr val="0033CC"/>
                </a:solidFill>
              </a:rPr>
              <a:t>convolved</a:t>
            </a:r>
            <a:r>
              <a:rPr lang="en-US" dirty="0"/>
              <a:t> with one or more </a:t>
            </a:r>
            <a:r>
              <a:rPr lang="en-US" dirty="0">
                <a:solidFill>
                  <a:srgbClr val="0033CC"/>
                </a:solidFill>
              </a:rPr>
              <a:t>filters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b="1" dirty="0">
                <a:solidFill>
                  <a:srgbClr val="0033CC"/>
                </a:solidFill>
              </a:rPr>
              <a:t>Down-sampling</a:t>
            </a:r>
            <a:br>
              <a:rPr lang="en-US" dirty="0"/>
            </a:br>
            <a:r>
              <a:rPr lang="en-US" dirty="0"/>
              <a:t>After applying a nonlinear map to the convolved data, the latter are down-sampled.</a:t>
            </a:r>
            <a:br>
              <a:rPr lang="en-US" dirty="0"/>
            </a:br>
            <a:endParaRPr lang="en-US" dirty="0"/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b="1" dirty="0">
                <a:solidFill>
                  <a:srgbClr val="0033CC"/>
                </a:solidFill>
              </a:rPr>
              <a:t>Classification</a:t>
            </a:r>
            <a:br>
              <a:rPr lang="en-US" dirty="0"/>
            </a:br>
            <a:r>
              <a:rPr lang="en-US" dirty="0"/>
              <a:t>A feed-forward neural network classifies the convolved data.</a:t>
            </a:r>
            <a:br>
              <a:rPr lang="en-US" dirty="0"/>
            </a:br>
            <a:r>
              <a:rPr lang="en-US" dirty="0"/>
              <a:t>	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BE74E-DBAF-17F7-E3F2-455FA228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(2)</a:t>
            </a:r>
          </a:p>
        </p:txBody>
      </p:sp>
    </p:spTree>
    <p:extLst>
      <p:ext uri="{BB962C8B-B14F-4D97-AF65-F5344CB8AC3E}">
        <p14:creationId xmlns:p14="http://schemas.microsoft.com/office/powerpoint/2010/main" val="376575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60A9-68E7-8C74-A682-518D517A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AEC8AE-87EA-2095-0A20-A764610C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(3)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DE796-267D-22F1-3B20-3BE27976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9576CC9D-207B-7030-1569-D2667B60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FE7C0487-D006-2BD2-72A4-8D3865705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12" name="Picture 11" descr="A grid of white squares&#10;&#10;AI-generated content may be incorrect.">
            <a:extLst>
              <a:ext uri="{FF2B5EF4-FFF2-40B4-BE49-F238E27FC236}">
                <a16:creationId xmlns:a16="http://schemas.microsoft.com/office/drawing/2014/main" id="{79B6488A-D705-3C4F-5BF8-6F6C82EE6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612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854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2629-3342-8FDD-BB73-4EB4A360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A41A3C-C6F6-3894-8C0B-721FE5B2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(4)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11F3-2C88-606F-C2F8-16EC5F808EDA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convolved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stride = 1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7F86BE62-4711-A49B-B159-04150BD1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150833B-B810-9867-B868-A6CECB5BCD4D}"/>
                  </a:ext>
                </a:extLst>
              </p:cNvPr>
              <p:cNvSpPr txBox="1"/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150833B-B810-9867-B868-A6CECB5B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04610EE2-EF56-4158-4403-B4261B36F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4D134829-2D6A-1ED3-5FD1-57EABCC61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066925"/>
            <a:ext cx="1638300" cy="1638300"/>
          </a:xfrm>
          <a:prstGeom prst="rect">
            <a:avLst/>
          </a:prstGeom>
        </p:spPr>
      </p:pic>
      <p:pic>
        <p:nvPicPr>
          <p:cNvPr id="13" name="Picture 12" descr="A grid of white squares with blue text&#10;&#10;AI-generated content may be incorrect.">
            <a:extLst>
              <a:ext uri="{FF2B5EF4-FFF2-40B4-BE49-F238E27FC236}">
                <a16:creationId xmlns:a16="http://schemas.microsoft.com/office/drawing/2014/main" id="{E6A59CA7-4A47-5636-1280-C337C51C8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954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6C1D-7AD0-EE03-81DE-AFB1D625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3F36EA-5BEA-A334-1D64-23E548AD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(5)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2CEA-07EA-B8AB-EB77-D87CB36D5925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convolved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C5E594F7-7D11-59B4-5C5D-A11962D0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D43D39-777B-B2F3-B963-4C9D6C78E4CC}"/>
                  </a:ext>
                </a:extLst>
              </p:cNvPr>
              <p:cNvSpPr txBox="1"/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.9×1.0+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D43D39-777B-B2F3-B963-4C9D6C78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C87C6CDF-980C-7B6C-A686-F3FE5889B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64805280-63B3-55D4-12C6-231A6C083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066925"/>
            <a:ext cx="1638300" cy="1638300"/>
          </a:xfrm>
          <a:prstGeom prst="rect">
            <a:avLst/>
          </a:prstGeom>
        </p:spPr>
      </p:pic>
      <p:pic>
        <p:nvPicPr>
          <p:cNvPr id="8" name="Picture 7" descr="A grid of white squares with blue text&#10;&#10;AI-generated content may be incorrect.">
            <a:extLst>
              <a:ext uri="{FF2B5EF4-FFF2-40B4-BE49-F238E27FC236}">
                <a16:creationId xmlns:a16="http://schemas.microsoft.com/office/drawing/2014/main" id="{6DCC1B73-FA4D-9E39-884E-71FBEB615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157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263A-FD53-65CC-163F-1258FD52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163B42-7CF5-F4AD-5849-851F0AF3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(6)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4D9AD-4263-2393-654F-27AA2E3FFE63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</a:t>
            </a:r>
            <a:r>
              <a:rPr lang="en-US" dirty="0"/>
              <a:t>(convolved)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BA78A57C-B721-17FE-12EF-2CC7F1F5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385486-3722-8EB1-622E-911C313A3668}"/>
                  </a:ext>
                </a:extLst>
              </p:cNvPr>
              <p:cNvSpPr txBox="1"/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1" dirty="0">
                    <a:solidFill>
                      <a:srgbClr val="0033CC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×1.0+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×2.0+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=7.2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385486-3722-8EB1-622E-911C313A3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C0C4AF7D-BE33-8DC5-F590-DB5254CA9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2A32C4BB-2F27-B5E2-4618-76817FE7D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2066925"/>
            <a:ext cx="1638300" cy="1638300"/>
          </a:xfrm>
          <a:prstGeom prst="rect">
            <a:avLst/>
          </a:prstGeom>
        </p:spPr>
      </p:pic>
      <p:pic>
        <p:nvPicPr>
          <p:cNvPr id="10" name="Picture 9" descr="A grid of white squares with blue text&#10;&#10;AI-generated content may be incorrect.">
            <a:extLst>
              <a:ext uri="{FF2B5EF4-FFF2-40B4-BE49-F238E27FC236}">
                <a16:creationId xmlns:a16="http://schemas.microsoft.com/office/drawing/2014/main" id="{EF0DCF95-36CF-B572-0776-DE1775151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279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72B-CBF3-BA89-4F7A-266EE54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422737-B0BC-5667-4514-0BB23334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(7)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67438-7A40-3517-7182-07EC02666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Padding 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dirty="0"/>
              <a:t>Wrapping the image with a 1–pixel border makes it possible, with a (3, 3)-filter, to maintain the image size.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D098D8DB-EDD0-C9AB-C96A-1AB69E316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4C35AD8E-C12E-9EF3-BB48-0D859D2E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87" y="1358900"/>
            <a:ext cx="3835400" cy="3835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051B8755-3EC7-43AE-5F31-F228B028A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987" y="1663700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2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793F-1847-5759-B3AE-470646EA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38E9AF-943B-98ED-D0B2-3B4B4B0A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(8)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E0B9-7906-AF89-8610-579A86E1148F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rgbClr val="0033CC"/>
                </a:solidFill>
              </a:rPr>
              <a:t>Down-sampling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Stride = 2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(2, 2,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</a:t>
            </a:r>
            <a:r>
              <a:rPr lang="en-US" dirty="0"/>
              <a:t>(down-sampled)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 </a:t>
            </a:r>
            <a:r>
              <a:rPr lang="en-US" dirty="0"/>
              <a:t>(convolved)</a:t>
            </a:r>
            <a:r>
              <a:rPr lang="en-US" b="1" dirty="0">
                <a:solidFill>
                  <a:srgbClr val="0033CC"/>
                </a:solidFill>
              </a:rPr>
              <a:t>			</a:t>
            </a:r>
          </a:p>
          <a:p>
            <a:pPr marL="0" indent="0">
              <a:buNone/>
            </a:pPr>
            <a:r>
              <a:rPr lang="en-US" dirty="0"/>
              <a:t>MaxPool2d	Return the largest value within window.</a:t>
            </a:r>
          </a:p>
          <a:p>
            <a:pPr marL="0" indent="0">
              <a:buNone/>
            </a:pPr>
            <a:r>
              <a:rPr lang="en-US" dirty="0"/>
              <a:t>AvgPool2d	Return the average value within window.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07C5EB65-49CB-93F5-786C-ADFB420D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0AA2D012-A190-FC3B-BB4C-801B80DE0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133600"/>
            <a:ext cx="1092200" cy="1092200"/>
          </a:xfrm>
          <a:prstGeom prst="rect">
            <a:avLst/>
          </a:prstGeom>
        </p:spPr>
      </p:pic>
      <p:pic>
        <p:nvPicPr>
          <p:cNvPr id="20" name="Picture 19" descr="A yellow and purple squares with white text&#10;&#10;AI-generated content may be incorrect.">
            <a:extLst>
              <a:ext uri="{FF2B5EF4-FFF2-40B4-BE49-F238E27FC236}">
                <a16:creationId xmlns:a16="http://schemas.microsoft.com/office/drawing/2014/main" id="{D5925A62-E4E3-8890-2EBF-26777F263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905000"/>
            <a:ext cx="1092200" cy="109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B341B052-F1CD-4678-F140-70EBB3B30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2130425"/>
            <a:ext cx="1092200" cy="1092200"/>
          </a:xfrm>
          <a:prstGeom prst="rect">
            <a:avLst/>
          </a:prstGeom>
        </p:spPr>
      </p:pic>
      <p:pic>
        <p:nvPicPr>
          <p:cNvPr id="22" name="Picture 21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DD5F7A98-A1B9-3FEE-213B-72074C9D2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971800"/>
            <a:ext cx="1092200" cy="1092200"/>
          </a:xfrm>
          <a:prstGeom prst="rect">
            <a:avLst/>
          </a:prstGeom>
        </p:spPr>
      </p:pic>
      <p:pic>
        <p:nvPicPr>
          <p:cNvPr id="23" name="Picture 22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A81412CD-D7BE-A11E-76FA-3EA824BC3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2960687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4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B0F3-D131-2365-DC3D-BF878513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A18BF-49FA-7D7A-19B3-F72C5E5A68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66174-C21A-0A20-E0DA-2F722F1D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6">
                <a:extLst>
                  <a:ext uri="{FF2B5EF4-FFF2-40B4-BE49-F238E27FC236}">
                    <a16:creationId xmlns:a16="http://schemas.microsoft.com/office/drawing/2014/main" id="{EF6C275D-7E0B-D136-0A47-F5C056E4795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11200" y="1295400"/>
                <a:ext cx="7772400" cy="4819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/>
                    <a:ea typeface="ＭＳ Ｐゴシック" pitchFamily="-109" charset="-128"/>
                    <a:cs typeface="Times New Roman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Font typeface="Wingdings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Font typeface="Wingdings" pitchFamily="2" charset="2"/>
                  <a:buChar char="Ø"/>
                  <a:defRPr sz="20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Ø"/>
                  <a:defRPr sz="18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Ø"/>
                  <a:defRPr sz="18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9pPr>
              </a:lstStyle>
              <a:p>
                <a:pPr marL="457200" indent="-45720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+mj-lt"/>
                  <a:buAutoNum type="arabicPeriod" startAt="3"/>
                  <a:defRPr/>
                </a:pPr>
                <a:r>
                  <a:rPr lang="en-US" b="1" dirty="0">
                    <a:solidFill>
                      <a:srgbClr val="0033CC"/>
                    </a:solidFill>
                  </a:rPr>
                  <a:t>Classification</a:t>
                </a:r>
                <a:br>
                  <a:rPr lang="en-US" dirty="0"/>
                </a:br>
                <a:r>
                  <a:rPr lang="en-US" dirty="0"/>
                  <a:t>The convolved data go to a feed-forward neural network whose outputs,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go through a </a:t>
                </a:r>
                <a:r>
                  <a:rPr lang="en-US" dirty="0" err="1">
                    <a:solidFill>
                      <a:srgbClr val="0033CC"/>
                    </a:solidFill>
                  </a:rPr>
                  <a:t>softmax</a:t>
                </a:r>
                <a:r>
                  <a:rPr lang="en-US" dirty="0"/>
                  <a:t> function</a:t>
                </a:r>
                <a:br>
                  <a:rPr lang="en-US" dirty="0"/>
                </a:br>
                <a:endParaRPr lang="en-US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None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indent="-45720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+mj-lt"/>
                  <a:buAutoNum type="arabicPeriod" startAt="3"/>
                  <a:defRPr/>
                </a:pPr>
                <a:endParaRPr lang="en-US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None/>
                  <a:defRPr/>
                </a:pPr>
                <a:r>
                  <a:rPr lang="en-US" dirty="0"/>
                  <a:t>       that enforces the sum rule</a:t>
                </a: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None/>
                  <a:defRPr/>
                </a:pPr>
                <a:endParaRPr lang="en-US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sz="2000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sz="2000" kern="0" dirty="0"/>
              </a:p>
            </p:txBody>
          </p:sp>
        </mc:Choice>
        <mc:Fallback>
          <p:sp>
            <p:nvSpPr>
              <p:cNvPr id="6" name="Content Placeholder 6">
                <a:extLst>
                  <a:ext uri="{FF2B5EF4-FFF2-40B4-BE49-F238E27FC236}">
                    <a16:creationId xmlns:a16="http://schemas.microsoft.com/office/drawing/2014/main" id="{EF6C275D-7E0B-D136-0A47-F5C056E4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200" y="1295400"/>
                <a:ext cx="7772400" cy="4819650"/>
              </a:xfrm>
              <a:prstGeom prst="rect">
                <a:avLst/>
              </a:prstGeom>
              <a:blipFill>
                <a:blip r:embed="rId2"/>
                <a:stretch>
                  <a:fillRect l="-1142" t="-1316" b="-3157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003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8770-1C8F-3897-E1DF-7F9D925C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693F1E-7D04-95D6-FA73-1607D5F45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A galaxy classifier: part 2</a:t>
            </a:r>
          </a:p>
        </p:txBody>
      </p:sp>
    </p:spTree>
    <p:extLst>
      <p:ext uri="{BB962C8B-B14F-4D97-AF65-F5344CB8AC3E}">
        <p14:creationId xmlns:p14="http://schemas.microsoft.com/office/powerpoint/2010/main" val="350574327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43B1-69E0-0397-877A-154870CB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270FFF3B-EC02-DAFA-88AD-A5DB90BB9B83}"/>
              </a:ext>
            </a:extLst>
          </p:cNvPr>
          <p:cNvGrpSpPr/>
          <p:nvPr/>
        </p:nvGrpSpPr>
        <p:grpSpPr>
          <a:xfrm>
            <a:off x="152400" y="990600"/>
            <a:ext cx="8763000" cy="5042033"/>
            <a:chOff x="152400" y="990600"/>
            <a:chExt cx="8763000" cy="50420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863D75A-0F40-545C-E83C-86C733A06115}"/>
                </a:ext>
              </a:extLst>
            </p:cNvPr>
            <p:cNvGrpSpPr/>
            <p:nvPr/>
          </p:nvGrpSpPr>
          <p:grpSpPr>
            <a:xfrm>
              <a:off x="152400" y="2514600"/>
              <a:ext cx="6326439" cy="3518033"/>
              <a:chOff x="-154239" y="1110485"/>
              <a:chExt cx="9149906" cy="508811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8C5C7AD-C586-E0BC-407D-211137D448CF}"/>
                  </a:ext>
                </a:extLst>
              </p:cNvPr>
              <p:cNvGrpSpPr/>
              <p:nvPr/>
            </p:nvGrpSpPr>
            <p:grpSpPr>
              <a:xfrm>
                <a:off x="2728436" y="2699429"/>
                <a:ext cx="1799462" cy="2147287"/>
                <a:chOff x="3404684" y="3189408"/>
                <a:chExt cx="1429278" cy="1980545"/>
              </a:xfrm>
            </p:grpSpPr>
            <p:sp>
              <p:nvSpPr>
                <p:cNvPr id="58" name="Data 57">
                  <a:extLst>
                    <a:ext uri="{FF2B5EF4-FFF2-40B4-BE49-F238E27FC236}">
                      <a16:creationId xmlns:a16="http://schemas.microsoft.com/office/drawing/2014/main" id="{8DB585E1-35AB-3C4E-DB92-665335587BCB}"/>
                    </a:ext>
                  </a:extLst>
                </p:cNvPr>
                <p:cNvSpPr/>
                <p:nvPr/>
              </p:nvSpPr>
              <p:spPr>
                <a:xfrm rot="16200000">
                  <a:off x="3571255" y="3540617"/>
                  <a:ext cx="1613916" cy="911498"/>
                </a:xfrm>
                <a:prstGeom prst="flowChartInputOutput">
                  <a:avLst/>
                </a:prstGeom>
                <a:solidFill>
                  <a:srgbClr val="C00000">
                    <a:alpha val="51184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313BEC93-309D-0BCC-E903-C748AF73E8AF}"/>
                    </a:ext>
                  </a:extLst>
                </p:cNvPr>
                <p:cNvGrpSpPr/>
                <p:nvPr/>
              </p:nvGrpSpPr>
              <p:grpSpPr>
                <a:xfrm>
                  <a:off x="3404684" y="3318003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14" name="Data 13">
                    <a:extLst>
                      <a:ext uri="{FF2B5EF4-FFF2-40B4-BE49-F238E27FC236}">
                        <a16:creationId xmlns:a16="http://schemas.microsoft.com/office/drawing/2014/main" id="{276BEEF2-607E-8BEB-C465-27FFA91BA94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5" name="Data 14">
                    <a:extLst>
                      <a:ext uri="{FF2B5EF4-FFF2-40B4-BE49-F238E27FC236}">
                        <a16:creationId xmlns:a16="http://schemas.microsoft.com/office/drawing/2014/main" id="{0B880C51-ADED-26A4-9FC1-506AA6939E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6" name="Data 15">
                    <a:extLst>
                      <a:ext uri="{FF2B5EF4-FFF2-40B4-BE49-F238E27FC236}">
                        <a16:creationId xmlns:a16="http://schemas.microsoft.com/office/drawing/2014/main" id="{45B3394E-B5A1-CDF6-271D-BE53DCD54CD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85F9637-86D4-1678-798B-55870C82928D}"/>
                  </a:ext>
                </a:extLst>
              </p:cNvPr>
              <p:cNvGrpSpPr/>
              <p:nvPr/>
            </p:nvGrpSpPr>
            <p:grpSpPr>
              <a:xfrm>
                <a:off x="-154239" y="3121416"/>
                <a:ext cx="2775857" cy="3077187"/>
                <a:chOff x="2840300" y="3624290"/>
                <a:chExt cx="1252657" cy="1851950"/>
              </a:xfrm>
            </p:grpSpPr>
            <p:sp>
              <p:nvSpPr>
                <p:cNvPr id="18" name="Data 17">
                  <a:extLst>
                    <a:ext uri="{FF2B5EF4-FFF2-40B4-BE49-F238E27FC236}">
                      <a16:creationId xmlns:a16="http://schemas.microsoft.com/office/drawing/2014/main" id="{3EB6EF7C-BAB7-5F3F-CB83-21924D8EC282}"/>
                    </a:ext>
                  </a:extLst>
                </p:cNvPr>
                <p:cNvSpPr/>
                <p:nvPr/>
              </p:nvSpPr>
              <p:spPr>
                <a:xfrm rot="16200000">
                  <a:off x="2830250" y="3975499"/>
                  <a:ext cx="1613916" cy="911498"/>
                </a:xfrm>
                <a:prstGeom prst="flowChartInputOutput">
                  <a:avLst/>
                </a:prstGeom>
                <a:solidFill>
                  <a:schemeClr val="accent1">
                    <a:lumMod val="75000"/>
                    <a:alpha val="51184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9" name="Data 18">
                  <a:extLst>
                    <a:ext uri="{FF2B5EF4-FFF2-40B4-BE49-F238E27FC236}">
                      <a16:creationId xmlns:a16="http://schemas.microsoft.com/office/drawing/2014/main" id="{8997DE93-CAC0-0590-F6CD-746F4D87BFBC}"/>
                    </a:ext>
                  </a:extLst>
                </p:cNvPr>
                <p:cNvSpPr/>
                <p:nvPr/>
              </p:nvSpPr>
              <p:spPr>
                <a:xfrm rot="16200000">
                  <a:off x="2669142" y="4101773"/>
                  <a:ext cx="1613916" cy="911498"/>
                </a:xfrm>
                <a:prstGeom prst="flowChartInputOutput">
                  <a:avLst/>
                </a:prstGeom>
                <a:solidFill>
                  <a:schemeClr val="accent2">
                    <a:lumMod val="50000"/>
                    <a:alpha val="51184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20" name="Data 19">
                  <a:extLst>
                    <a:ext uri="{FF2B5EF4-FFF2-40B4-BE49-F238E27FC236}">
                      <a16:creationId xmlns:a16="http://schemas.microsoft.com/office/drawing/2014/main" id="{54F66D45-E27E-BDA5-96E9-B98AE5D04A27}"/>
                    </a:ext>
                  </a:extLst>
                </p:cNvPr>
                <p:cNvSpPr/>
                <p:nvPr/>
              </p:nvSpPr>
              <p:spPr>
                <a:xfrm rot="16200000">
                  <a:off x="2489091" y="4213533"/>
                  <a:ext cx="1613916" cy="911498"/>
                </a:xfrm>
                <a:prstGeom prst="flowChartInputOutput">
                  <a:avLst/>
                </a:prstGeom>
                <a:solidFill>
                  <a:srgbClr val="C00000">
                    <a:alpha val="51184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736A331-404A-9B44-BE3D-72AF4A668C89}"/>
                  </a:ext>
                </a:extLst>
              </p:cNvPr>
              <p:cNvGrpSpPr/>
              <p:nvPr/>
            </p:nvGrpSpPr>
            <p:grpSpPr>
              <a:xfrm>
                <a:off x="6250543" y="1866709"/>
                <a:ext cx="930420" cy="1054460"/>
                <a:chOff x="7046809" y="1704950"/>
                <a:chExt cx="1240559" cy="1405946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A951013-C2F5-9F50-FFE0-9C3844C043A8}"/>
                    </a:ext>
                  </a:extLst>
                </p:cNvPr>
                <p:cNvGrpSpPr/>
                <p:nvPr/>
              </p:nvGrpSpPr>
              <p:grpSpPr>
                <a:xfrm>
                  <a:off x="7046809" y="1904436"/>
                  <a:ext cx="896722" cy="1206460"/>
                  <a:chOff x="2840300" y="3624290"/>
                  <a:chExt cx="1252657" cy="1851950"/>
                </a:xfrm>
              </p:grpSpPr>
              <p:sp>
                <p:nvSpPr>
                  <p:cNvPr id="5" name="Data 4">
                    <a:extLst>
                      <a:ext uri="{FF2B5EF4-FFF2-40B4-BE49-F238E27FC236}">
                        <a16:creationId xmlns:a16="http://schemas.microsoft.com/office/drawing/2014/main" id="{6380D0D8-484D-2F77-5FF3-5950FDD8A90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6" name="Data 5">
                    <a:extLst>
                      <a:ext uri="{FF2B5EF4-FFF2-40B4-BE49-F238E27FC236}">
                        <a16:creationId xmlns:a16="http://schemas.microsoft.com/office/drawing/2014/main" id="{53EA77D3-766A-2AAF-5BC2-DB8513F39A5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7" name="Data 6">
                    <a:extLst>
                      <a:ext uri="{FF2B5EF4-FFF2-40B4-BE49-F238E27FC236}">
                        <a16:creationId xmlns:a16="http://schemas.microsoft.com/office/drawing/2014/main" id="{6383ED5E-F23D-6613-CDC6-ED833577100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0C3F27B9-9EF0-4EDA-2EAA-D3BB51C69C75}"/>
                    </a:ext>
                  </a:extLst>
                </p:cNvPr>
                <p:cNvGrpSpPr/>
                <p:nvPr/>
              </p:nvGrpSpPr>
              <p:grpSpPr>
                <a:xfrm>
                  <a:off x="7390646" y="1704950"/>
                  <a:ext cx="896722" cy="1206460"/>
                  <a:chOff x="2840300" y="3624290"/>
                  <a:chExt cx="1252657" cy="1851950"/>
                </a:xfrm>
              </p:grpSpPr>
              <p:sp>
                <p:nvSpPr>
                  <p:cNvPr id="24" name="Data 23">
                    <a:extLst>
                      <a:ext uri="{FF2B5EF4-FFF2-40B4-BE49-F238E27FC236}">
                        <a16:creationId xmlns:a16="http://schemas.microsoft.com/office/drawing/2014/main" id="{3FF4BAD1-073C-88AD-B230-B29F79B9813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25" name="Data 24">
                    <a:extLst>
                      <a:ext uri="{FF2B5EF4-FFF2-40B4-BE49-F238E27FC236}">
                        <a16:creationId xmlns:a16="http://schemas.microsoft.com/office/drawing/2014/main" id="{DB0BEA45-F0B2-FAA7-56A5-627436156D5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23" name="Data 22">
                    <a:extLst>
                      <a:ext uri="{FF2B5EF4-FFF2-40B4-BE49-F238E27FC236}">
                        <a16:creationId xmlns:a16="http://schemas.microsoft.com/office/drawing/2014/main" id="{F9251066-952C-7FFC-C240-4FF8E259865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5A4982A7-8CB7-D543-B129-35652F12EFF2}"/>
                  </a:ext>
                </a:extLst>
              </p:cNvPr>
              <p:cNvGrpSpPr/>
              <p:nvPr/>
            </p:nvGrpSpPr>
            <p:grpSpPr>
              <a:xfrm>
                <a:off x="4769910" y="2256259"/>
                <a:ext cx="1167577" cy="1571243"/>
                <a:chOff x="4837392" y="2387022"/>
                <a:chExt cx="1556769" cy="209499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0AD661FA-B079-903F-D770-7B6FF1CA9932}"/>
                    </a:ext>
                  </a:extLst>
                </p:cNvPr>
                <p:cNvGrpSpPr/>
                <p:nvPr/>
              </p:nvGrpSpPr>
              <p:grpSpPr>
                <a:xfrm>
                  <a:off x="4837392" y="2630062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10" name="Data 9">
                    <a:extLst>
                      <a:ext uri="{FF2B5EF4-FFF2-40B4-BE49-F238E27FC236}">
                        <a16:creationId xmlns:a16="http://schemas.microsoft.com/office/drawing/2014/main" id="{586B211D-101F-3F6D-32B0-852B46119E8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1" name="Data 10">
                    <a:extLst>
                      <a:ext uri="{FF2B5EF4-FFF2-40B4-BE49-F238E27FC236}">
                        <a16:creationId xmlns:a16="http://schemas.microsoft.com/office/drawing/2014/main" id="{78CB0F74-3DBA-B59E-B11C-0ED2D3C7AFC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2" name="Data 11">
                    <a:extLst>
                      <a:ext uri="{FF2B5EF4-FFF2-40B4-BE49-F238E27FC236}">
                        <a16:creationId xmlns:a16="http://schemas.microsoft.com/office/drawing/2014/main" id="{AB32358D-68AD-F45B-F6E2-72EDDE833D8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7A2B41D-3343-23B2-560B-8F930D3BCD3B}"/>
                    </a:ext>
                  </a:extLst>
                </p:cNvPr>
                <p:cNvGrpSpPr/>
                <p:nvPr/>
              </p:nvGrpSpPr>
              <p:grpSpPr>
                <a:xfrm>
                  <a:off x="5302612" y="2387022"/>
                  <a:ext cx="1091549" cy="1725676"/>
                  <a:chOff x="2840300" y="3750564"/>
                  <a:chExt cx="1091549" cy="1725676"/>
                </a:xfrm>
              </p:grpSpPr>
              <p:sp>
                <p:nvSpPr>
                  <p:cNvPr id="33" name="Data 32">
                    <a:extLst>
                      <a:ext uri="{FF2B5EF4-FFF2-40B4-BE49-F238E27FC236}">
                        <a16:creationId xmlns:a16="http://schemas.microsoft.com/office/drawing/2014/main" id="{DFC01F2C-C51A-3A6B-54F4-B2BAB519481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rgbClr val="0033CC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34" name="Data 33">
                    <a:extLst>
                      <a:ext uri="{FF2B5EF4-FFF2-40B4-BE49-F238E27FC236}">
                        <a16:creationId xmlns:a16="http://schemas.microsoft.com/office/drawing/2014/main" id="{E8D5F09A-BDA5-CA26-3AF3-D748F798DE6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18746ADF-1277-8807-B54E-DC2BD4E060E7}"/>
                  </a:ext>
                </a:extLst>
              </p:cNvPr>
              <p:cNvGrpSpPr/>
              <p:nvPr/>
            </p:nvGrpSpPr>
            <p:grpSpPr>
              <a:xfrm>
                <a:off x="7645344" y="1110485"/>
                <a:ext cx="703234" cy="848505"/>
                <a:chOff x="6251157" y="1630135"/>
                <a:chExt cx="2075476" cy="2351134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977FE71-15E9-4B5A-1F9D-D2662DE539CF}"/>
                    </a:ext>
                  </a:extLst>
                </p:cNvPr>
                <p:cNvGrpSpPr/>
                <p:nvPr/>
              </p:nvGrpSpPr>
              <p:grpSpPr>
                <a:xfrm>
                  <a:off x="6251157" y="2129319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46" name="Data 45">
                    <a:extLst>
                      <a:ext uri="{FF2B5EF4-FFF2-40B4-BE49-F238E27FC236}">
                        <a16:creationId xmlns:a16="http://schemas.microsoft.com/office/drawing/2014/main" id="{7D51E789-51E4-299F-5BAE-3544FA24C5E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7" name="Data 46">
                    <a:extLst>
                      <a:ext uri="{FF2B5EF4-FFF2-40B4-BE49-F238E27FC236}">
                        <a16:creationId xmlns:a16="http://schemas.microsoft.com/office/drawing/2014/main" id="{F2BC20F0-01F3-8920-7562-6EF3035C065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8" name="Data 47">
                    <a:extLst>
                      <a:ext uri="{FF2B5EF4-FFF2-40B4-BE49-F238E27FC236}">
                        <a16:creationId xmlns:a16="http://schemas.microsoft.com/office/drawing/2014/main" id="{D6217D84-5013-F9CE-0BD9-8EB1C2EF440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167567D-D496-8FDA-48F2-195041C8222D}"/>
                    </a:ext>
                  </a:extLst>
                </p:cNvPr>
                <p:cNvGrpSpPr/>
                <p:nvPr/>
              </p:nvGrpSpPr>
              <p:grpSpPr>
                <a:xfrm>
                  <a:off x="6731473" y="1823103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43" name="Data 42">
                    <a:extLst>
                      <a:ext uri="{FF2B5EF4-FFF2-40B4-BE49-F238E27FC236}">
                        <a16:creationId xmlns:a16="http://schemas.microsoft.com/office/drawing/2014/main" id="{4C8957C6-2363-C12F-57D4-30828E9CC53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4" name="Data 43">
                    <a:extLst>
                      <a:ext uri="{FF2B5EF4-FFF2-40B4-BE49-F238E27FC236}">
                        <a16:creationId xmlns:a16="http://schemas.microsoft.com/office/drawing/2014/main" id="{68ECED7B-9A94-234A-C092-73B0EFC6C38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5" name="Data 44">
                    <a:extLst>
                      <a:ext uri="{FF2B5EF4-FFF2-40B4-BE49-F238E27FC236}">
                        <a16:creationId xmlns:a16="http://schemas.microsoft.com/office/drawing/2014/main" id="{450BFA4D-D238-F467-0F59-EB5EC5D44EC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0E818443-CF18-5A71-D4AA-D1D8CED3735B}"/>
                    </a:ext>
                  </a:extLst>
                </p:cNvPr>
                <p:cNvGrpSpPr/>
                <p:nvPr/>
              </p:nvGrpSpPr>
              <p:grpSpPr>
                <a:xfrm>
                  <a:off x="7235084" y="1630135"/>
                  <a:ext cx="1091549" cy="1725676"/>
                  <a:chOff x="2840300" y="3750564"/>
                  <a:chExt cx="1091549" cy="1725676"/>
                </a:xfrm>
              </p:grpSpPr>
              <p:sp>
                <p:nvSpPr>
                  <p:cNvPr id="41" name="Data 40">
                    <a:extLst>
                      <a:ext uri="{FF2B5EF4-FFF2-40B4-BE49-F238E27FC236}">
                        <a16:creationId xmlns:a16="http://schemas.microsoft.com/office/drawing/2014/main" id="{DF55E8E8-4497-91AA-0D98-F3DBE6F085A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2" name="Data 41">
                    <a:extLst>
                      <a:ext uri="{FF2B5EF4-FFF2-40B4-BE49-F238E27FC236}">
                        <a16:creationId xmlns:a16="http://schemas.microsoft.com/office/drawing/2014/main" id="{9F3406E7-A7D3-ADEC-9D43-1B2B27C2F7F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757B7B-EAF3-3951-F64E-A40E87104294}"/>
                  </a:ext>
                </a:extLst>
              </p:cNvPr>
              <p:cNvSpPr txBox="1"/>
              <p:nvPr/>
            </p:nvSpPr>
            <p:spPr>
              <a:xfrm>
                <a:off x="2614389" y="5471257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(3, 96, 96)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F6C0384-4D81-A485-3E42-9F4B597B43C7}"/>
                  </a:ext>
                </a:extLst>
              </p:cNvPr>
              <p:cNvSpPr txBox="1"/>
              <p:nvPr/>
            </p:nvSpPr>
            <p:spPr>
              <a:xfrm>
                <a:off x="3858849" y="4727985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(4, 48, 48)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4EB8EC2-E5BA-4EFD-4B7E-B8D7B868D535}"/>
                  </a:ext>
                </a:extLst>
              </p:cNvPr>
              <p:cNvSpPr txBox="1"/>
              <p:nvPr/>
            </p:nvSpPr>
            <p:spPr>
              <a:xfrm>
                <a:off x="5460636" y="3636963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(5, 24, 24)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D013B8E-95A8-75CA-47F7-DA4ECD6B534B}"/>
                  </a:ext>
                </a:extLst>
              </p:cNvPr>
              <p:cNvSpPr txBox="1"/>
              <p:nvPr/>
            </p:nvSpPr>
            <p:spPr>
              <a:xfrm>
                <a:off x="6941022" y="2729000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(6, 12, 12)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FE8EC25-55E5-F7F4-E747-39E132961E5B}"/>
                  </a:ext>
                </a:extLst>
              </p:cNvPr>
              <p:cNvSpPr txBox="1"/>
              <p:nvPr/>
            </p:nvSpPr>
            <p:spPr>
              <a:xfrm>
                <a:off x="7958204" y="1914643"/>
                <a:ext cx="103746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(7, 6, 6)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4DB8B72B-3371-648D-7D2E-E2C5F8869130}"/>
                  </a:ext>
                </a:extLst>
              </p:cNvPr>
              <p:cNvSpPr/>
              <p:nvPr/>
            </p:nvSpPr>
            <p:spPr>
              <a:xfrm>
                <a:off x="2745071" y="3859382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9FAF2F5-91FB-5A3E-0573-70D855822726}"/>
                  </a:ext>
                </a:extLst>
              </p:cNvPr>
              <p:cNvSpPr/>
              <p:nvPr/>
            </p:nvSpPr>
            <p:spPr>
              <a:xfrm>
                <a:off x="4577837" y="3065842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A773564-0CF0-FA86-6481-67AF7C56885B}"/>
                  </a:ext>
                </a:extLst>
              </p:cNvPr>
              <p:cNvSpPr/>
              <p:nvPr/>
            </p:nvSpPr>
            <p:spPr>
              <a:xfrm>
                <a:off x="6019800" y="2362200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43DE591-6514-1C9F-55C3-1D107C217D2F}"/>
                  </a:ext>
                </a:extLst>
              </p:cNvPr>
              <p:cNvSpPr/>
              <p:nvPr/>
            </p:nvSpPr>
            <p:spPr>
              <a:xfrm>
                <a:off x="7239000" y="1696645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841E966-E1C4-61C5-12CF-DDCC8159FF52}"/>
                </a:ext>
              </a:extLst>
            </p:cNvPr>
            <p:cNvGrpSpPr/>
            <p:nvPr/>
          </p:nvGrpSpPr>
          <p:grpSpPr>
            <a:xfrm>
              <a:off x="5562599" y="990600"/>
              <a:ext cx="3352801" cy="1489848"/>
              <a:chOff x="3969785" y="4052461"/>
              <a:chExt cx="5182263" cy="215149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EF198D3-0CD1-D5A9-DB39-B903D80E8E16}"/>
                  </a:ext>
                </a:extLst>
              </p:cNvPr>
              <p:cNvGrpSpPr/>
              <p:nvPr/>
            </p:nvGrpSpPr>
            <p:grpSpPr>
              <a:xfrm>
                <a:off x="3969785" y="4072426"/>
                <a:ext cx="5182263" cy="2131527"/>
                <a:chOff x="3289222" y="4281908"/>
                <a:chExt cx="5933409" cy="1937828"/>
              </a:xfrm>
            </p:grpSpPr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35B349B2-512B-EF00-2BCD-E79132F23EB2}"/>
                    </a:ext>
                  </a:extLst>
                </p:cNvPr>
                <p:cNvSpPr/>
                <p:nvPr/>
              </p:nvSpPr>
              <p:spPr bwMode="auto">
                <a:xfrm>
                  <a:off x="3289222" y="5567389"/>
                  <a:ext cx="3655940" cy="652347"/>
                </a:xfrm>
                <a:prstGeom prst="cub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Flatten()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5528B80B-07FE-D262-42AF-EA14834B8A9E}"/>
                    </a:ext>
                  </a:extLst>
                </p:cNvPr>
                <p:cNvSpPr/>
                <p:nvPr/>
              </p:nvSpPr>
              <p:spPr bwMode="auto">
                <a:xfrm>
                  <a:off x="4589438" y="4953000"/>
                  <a:ext cx="3655937" cy="652347"/>
                </a:xfrm>
                <a:prstGeom prst="cube">
                  <a:avLst/>
                </a:prstGeom>
                <a:solidFill>
                  <a:srgbClr val="FFFF00">
                    <a:alpha val="98000"/>
                  </a:srgb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Linear(252, 7)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6255E27E-14AD-FCF9-7E2C-92ADF71D7AD6}"/>
                    </a:ext>
                  </a:extLst>
                </p:cNvPr>
                <p:cNvSpPr/>
                <p:nvPr/>
              </p:nvSpPr>
              <p:spPr bwMode="auto">
                <a:xfrm>
                  <a:off x="6168452" y="4281908"/>
                  <a:ext cx="3054179" cy="652347"/>
                </a:xfrm>
                <a:prstGeom prst="cube">
                  <a:avLst/>
                </a:prstGeom>
                <a:solidFill>
                  <a:schemeClr val="accent6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 err="1">
                      <a:latin typeface="Times New Roman" pitchFamily="-65" charset="0"/>
                    </a:rPr>
                    <a:t>softmax</a:t>
                  </a:r>
                  <a:r>
                    <a:rPr lang="en-US" sz="2000" dirty="0">
                      <a:latin typeface="Times New Roman" pitchFamily="-65" charset="0"/>
                    </a:rPr>
                    <a:t>()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1CC1D02-6FB4-8DD7-9286-441449CB4295}"/>
                  </a:ext>
                </a:extLst>
              </p:cNvPr>
              <p:cNvSpPr/>
              <p:nvPr/>
            </p:nvSpPr>
            <p:spPr bwMode="auto">
              <a:xfrm>
                <a:off x="6641574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202EC69-0406-2D62-32D3-42B227261AF7}"/>
                  </a:ext>
                </a:extLst>
              </p:cNvPr>
              <p:cNvSpPr/>
              <p:nvPr/>
            </p:nvSpPr>
            <p:spPr bwMode="auto">
              <a:xfrm>
                <a:off x="7019070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7306E2-B7B9-0220-E078-104BB2D3BACB}"/>
                  </a:ext>
                </a:extLst>
              </p:cNvPr>
              <p:cNvSpPr/>
              <p:nvPr/>
            </p:nvSpPr>
            <p:spPr bwMode="auto">
              <a:xfrm>
                <a:off x="7368799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6AE9B6B-4074-92E3-A9ED-41BFA807B4AE}"/>
                  </a:ext>
                </a:extLst>
              </p:cNvPr>
              <p:cNvSpPr/>
              <p:nvPr/>
            </p:nvSpPr>
            <p:spPr bwMode="auto">
              <a:xfrm>
                <a:off x="7706772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A75812E-52F6-1875-A92E-686CA62ACBA9}"/>
                  </a:ext>
                </a:extLst>
              </p:cNvPr>
              <p:cNvSpPr/>
              <p:nvPr/>
            </p:nvSpPr>
            <p:spPr bwMode="auto">
              <a:xfrm>
                <a:off x="8025132" y="4052461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CB47CF5-C3BF-6E4A-3759-3C4660F8030A}"/>
                  </a:ext>
                </a:extLst>
              </p:cNvPr>
              <p:cNvSpPr/>
              <p:nvPr/>
            </p:nvSpPr>
            <p:spPr bwMode="auto">
              <a:xfrm>
                <a:off x="8374862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26A280F-FDBD-B90F-4725-DAE412525DC0}"/>
                  </a:ext>
                </a:extLst>
              </p:cNvPr>
              <p:cNvSpPr/>
              <p:nvPr/>
            </p:nvSpPr>
            <p:spPr bwMode="auto">
              <a:xfrm>
                <a:off x="8712834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312E9B1-2AFB-8231-6ADB-647B6B8AEDCF}"/>
              </a:ext>
            </a:extLst>
          </p:cNvPr>
          <p:cNvGrpSpPr/>
          <p:nvPr/>
        </p:nvGrpSpPr>
        <p:grpSpPr>
          <a:xfrm>
            <a:off x="705193" y="1589668"/>
            <a:ext cx="4839533" cy="461665"/>
            <a:chOff x="705193" y="1589668"/>
            <a:chExt cx="4839533" cy="461665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6B659CB-6190-D804-E06B-68A9072674D1}"/>
                </a:ext>
              </a:extLst>
            </p:cNvPr>
            <p:cNvSpPr/>
            <p:nvPr/>
          </p:nvSpPr>
          <p:spPr>
            <a:xfrm>
              <a:off x="705193" y="1589668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FD35278-1B83-6E56-9103-6BD2B5199607}"/>
                </a:ext>
              </a:extLst>
            </p:cNvPr>
            <p:cNvSpPr txBox="1"/>
            <p:nvPr/>
          </p:nvSpPr>
          <p:spPr>
            <a:xfrm>
              <a:off x="1148971" y="1589668"/>
              <a:ext cx="43957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maxpool</a:t>
              </a:r>
              <a:r>
                <a:rPr lang="en-US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relu</a:t>
              </a:r>
              <a:r>
                <a:rPr lang="en-US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conv2d</a:t>
              </a:r>
              <a:r>
                <a:rPr lang="en-US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b="1" i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) )</a:t>
              </a:r>
            </a:p>
          </p:txBody>
        </p:sp>
      </p:grpSp>
      <p:sp>
        <p:nvSpPr>
          <p:cNvPr id="70" name="Title 69">
            <a:extLst>
              <a:ext uri="{FF2B5EF4-FFF2-40B4-BE49-F238E27FC236}">
                <a16:creationId xmlns:a16="http://schemas.microsoft.com/office/drawing/2014/main" id="{B09AB2FD-48E0-906B-E12B-4E69CFCA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(4)</a:t>
            </a:r>
          </a:p>
        </p:txBody>
      </p:sp>
    </p:spTree>
    <p:extLst>
      <p:ext uri="{BB962C8B-B14F-4D97-AF65-F5344CB8AC3E}">
        <p14:creationId xmlns:p14="http://schemas.microsoft.com/office/powerpoint/2010/main" val="3227349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FCBD-4682-98B8-F60B-CA8EE6C0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0B29E-9D32-D97C-6240-C7D65878E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157243"/>
            <a:ext cx="7747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Here is a more standard representation of</a:t>
            </a:r>
          </a:p>
          <a:p>
            <a:pPr marL="0" indent="0">
              <a:buNone/>
            </a:pPr>
            <a:r>
              <a:rPr lang="en-US" dirty="0"/>
              <a:t>the proposed classifier.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C7FC795-5950-7267-B466-AC4F4C1D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(5)</a:t>
            </a:r>
            <a:endParaRPr lang="en-US" dirty="0">
              <a:solidFill>
                <a:srgbClr val="0033CC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FB6C271-C4CF-4897-0057-8A71B0752AA9}"/>
              </a:ext>
            </a:extLst>
          </p:cNvPr>
          <p:cNvGrpSpPr/>
          <p:nvPr/>
        </p:nvGrpSpPr>
        <p:grpSpPr>
          <a:xfrm>
            <a:off x="2057400" y="76200"/>
            <a:ext cx="6707981" cy="6400800"/>
            <a:chOff x="1293019" y="4970"/>
            <a:chExt cx="6707981" cy="64008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067E74C-F05D-A819-980C-B47EB19FF61E}"/>
                </a:ext>
              </a:extLst>
            </p:cNvPr>
            <p:cNvGrpSpPr/>
            <p:nvPr/>
          </p:nvGrpSpPr>
          <p:grpSpPr>
            <a:xfrm>
              <a:off x="1293019" y="4567416"/>
              <a:ext cx="2288381" cy="1331032"/>
              <a:chOff x="5407819" y="4170013"/>
              <a:chExt cx="2288381" cy="1331032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FB35590-D37C-B79B-1BFB-04FB5A0F03ED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Conv2d(3,4,3,1,1)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158474F-CA93-B897-A0A1-CCC06ECEA47F}"/>
                  </a:ext>
                </a:extLst>
              </p:cNvPr>
              <p:cNvSpPr/>
              <p:nvPr/>
            </p:nvSpPr>
            <p:spPr bwMode="auto">
              <a:xfrm>
                <a:off x="5407819" y="4170013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0BF15D95-624B-2113-BCEF-82236190AB27}"/>
                  </a:ext>
                </a:extLst>
              </p:cNvPr>
              <p:cNvSpPr/>
              <p:nvPr/>
            </p:nvSpPr>
            <p:spPr bwMode="auto">
              <a:xfrm>
                <a:off x="5407819" y="4627213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C41673A-AE98-3C89-C73D-4F452DF78012}"/>
                </a:ext>
              </a:extLst>
            </p:cNvPr>
            <p:cNvGrpSpPr/>
            <p:nvPr/>
          </p:nvGrpSpPr>
          <p:grpSpPr>
            <a:xfrm>
              <a:off x="1295400" y="2948106"/>
              <a:ext cx="2286000" cy="1290640"/>
              <a:chOff x="5410200" y="4210405"/>
              <a:chExt cx="2286000" cy="129064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9AEA7F0-9B98-0693-FAC8-0496F5D871B6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Conv2d(4,5,3,1,1)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50D3641-0436-2921-01A9-3A753CD39A09}"/>
                  </a:ext>
                </a:extLst>
              </p:cNvPr>
              <p:cNvSpPr/>
              <p:nvPr/>
            </p:nvSpPr>
            <p:spPr bwMode="auto">
              <a:xfrm>
                <a:off x="5410200" y="4210405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C7382C4-9DCA-3EDE-E24E-AFB6047020D9}"/>
                  </a:ext>
                </a:extLst>
              </p:cNvPr>
              <p:cNvSpPr/>
              <p:nvPr/>
            </p:nvSpPr>
            <p:spPr bwMode="auto">
              <a:xfrm>
                <a:off x="5410200" y="4667605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0E2FF53-926D-F42D-1373-D6302F5ABEF5}"/>
                </a:ext>
              </a:extLst>
            </p:cNvPr>
            <p:cNvGrpSpPr/>
            <p:nvPr/>
          </p:nvGrpSpPr>
          <p:grpSpPr>
            <a:xfrm>
              <a:off x="5715000" y="4262616"/>
              <a:ext cx="2286000" cy="1299984"/>
              <a:chOff x="5410200" y="4201061"/>
              <a:chExt cx="2286000" cy="1299984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FB7DAFC-0BA7-14F3-9369-1F1B3E7251B8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Conv2d(5,6,3,1,1)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8DCAF6D-63EC-8A68-9D12-A0998F45A22F}"/>
                  </a:ext>
                </a:extLst>
              </p:cNvPr>
              <p:cNvSpPr/>
              <p:nvPr/>
            </p:nvSpPr>
            <p:spPr bwMode="auto">
              <a:xfrm>
                <a:off x="5410200" y="4201061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62A6B8B-97C4-4D5B-6CE0-462EA15AD548}"/>
                  </a:ext>
                </a:extLst>
              </p:cNvPr>
              <p:cNvSpPr/>
              <p:nvPr/>
            </p:nvSpPr>
            <p:spPr bwMode="auto">
              <a:xfrm>
                <a:off x="5410200" y="4658261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47FF387-1491-35DB-B6FB-95FF6470B854}"/>
                </a:ext>
              </a:extLst>
            </p:cNvPr>
            <p:cNvGrpSpPr/>
            <p:nvPr/>
          </p:nvGrpSpPr>
          <p:grpSpPr>
            <a:xfrm>
              <a:off x="5712619" y="2604212"/>
              <a:ext cx="2288381" cy="1298686"/>
              <a:chOff x="5407819" y="4202359"/>
              <a:chExt cx="2288381" cy="129868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A73CDC6-04A0-D282-2296-0B955C92FDD3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Conv2d(6,7,3,1,1)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D98B855-1452-A9F6-401A-D076CF455473}"/>
                  </a:ext>
                </a:extLst>
              </p:cNvPr>
              <p:cNvSpPr/>
              <p:nvPr/>
            </p:nvSpPr>
            <p:spPr bwMode="auto">
              <a:xfrm>
                <a:off x="5407819" y="4202359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6B842EF-503D-03BE-8966-D27652324120}"/>
                  </a:ext>
                </a:extLst>
              </p:cNvPr>
              <p:cNvSpPr/>
              <p:nvPr/>
            </p:nvSpPr>
            <p:spPr bwMode="auto">
              <a:xfrm>
                <a:off x="5407819" y="4665330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5375E85-5DE7-48FB-C2BE-43F62C2BD048}"/>
                </a:ext>
              </a:extLst>
            </p:cNvPr>
            <p:cNvSpPr/>
            <p:nvPr/>
          </p:nvSpPr>
          <p:spPr bwMode="auto">
            <a:xfrm>
              <a:off x="5710237" y="145277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Linear(252,7)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C12315D-4F8B-8601-BF8D-F0D1AE04A5A9}"/>
                </a:ext>
              </a:extLst>
            </p:cNvPr>
            <p:cNvSpPr/>
            <p:nvPr/>
          </p:nvSpPr>
          <p:spPr bwMode="auto">
            <a:xfrm>
              <a:off x="5715000" y="919370"/>
              <a:ext cx="2286000" cy="4841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 err="1">
                  <a:latin typeface="Times New Roman" pitchFamily="-65" charset="0"/>
                </a:rPr>
                <a:t>Softmax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CD1DB5A-AF04-E321-D085-D4CF36E8EB7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34200" y="3876549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699F014-2876-4569-C9DF-7908333AEE5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38400" y="4233445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BF13726-6B70-43F4-692B-40F41FB6AF4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7" y="2552695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0C12B196-AB4D-D16D-C7CC-5F221A6FC3E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38400" y="5898448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BA10023-EDFF-4CB0-74E2-DB819678C0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34200" y="2237926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9237680-9AED-F785-F645-9F36A6871FC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34200" y="551149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2C47CCA-AED8-2449-E78D-9F8709B5CAA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7" y="2237926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BEC36B8-6013-33CE-0D56-1C3FB948EF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95537" y="2271712"/>
              <a:ext cx="2176463" cy="0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8BCB557-EDBC-65FB-2624-19C5475EEBD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552950" y="2237926"/>
              <a:ext cx="19050" cy="3660522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345CDAA-6218-2ACE-2E5B-8569C24B5AC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52950" y="5893685"/>
              <a:ext cx="2381250" cy="4763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453361B-C9D9-8D46-597F-F7F097FE2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9412" y="5249699"/>
              <a:ext cx="431800" cy="695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7554F2C-B269-CB4F-01C8-D2E6EF22780D}"/>
                    </a:ext>
                  </a:extLst>
                </p:cNvPr>
                <p:cNvSpPr txBox="1"/>
                <p:nvPr/>
              </p:nvSpPr>
              <p:spPr>
                <a:xfrm>
                  <a:off x="6235326" y="4970"/>
                  <a:ext cx="1370055" cy="5421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7554F2C-B269-CB4F-01C8-D2E6EF227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326" y="4970"/>
                  <a:ext cx="1370055" cy="542136"/>
                </a:xfrm>
                <a:prstGeom prst="rect">
                  <a:avLst/>
                </a:prstGeom>
                <a:blipFill>
                  <a:blip r:embed="rId3"/>
                  <a:stretch>
                    <a:fillRect l="-1835" r="-917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E62A06A-8252-EFC7-6E40-27E42CAA5098}"/>
                    </a:ext>
                  </a:extLst>
                </p:cNvPr>
                <p:cNvSpPr txBox="1"/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E62A06A-8252-EFC7-6E40-27E42CAA5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25000" r="-50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09F72E-EAD4-8D84-6237-8317FE08170B}"/>
              </a:ext>
            </a:extLst>
          </p:cNvPr>
          <p:cNvSpPr/>
          <p:nvPr/>
        </p:nvSpPr>
        <p:spPr bwMode="auto">
          <a:xfrm>
            <a:off x="6477000" y="1962090"/>
            <a:ext cx="22860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itchFamily="-65" charset="0"/>
              </a:rPr>
              <a:t>Flatten()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9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730A-77BF-1B8D-5376-F6DCE604B7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Convolutional neural networks have revolutionized image classification and interpretation and are now used in many applications. </a:t>
            </a:r>
          </a:p>
          <a:p>
            <a:endParaRPr lang="en-US" dirty="0"/>
          </a:p>
          <a:p>
            <a:r>
              <a:rPr lang="en-US" dirty="0"/>
              <a:t>The model exploits the fact that natural images are often locally approximately translation invariant.</a:t>
            </a:r>
          </a:p>
          <a:p>
            <a:endParaRPr lang="en-US" dirty="0"/>
          </a:p>
          <a:p>
            <a:r>
              <a:rPr lang="en-US" dirty="0"/>
              <a:t>The convolutions automatically extract features from images that can later be used to interpret them.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1FE53-CCD3-2FB4-0B9D-BDDBD7AD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8454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A2647A-5167-E713-3042-EA7284F88F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 A</a:t>
            </a:r>
          </a:p>
        </p:txBody>
      </p:sp>
    </p:spTree>
    <p:extLst>
      <p:ext uri="{BB962C8B-B14F-4D97-AF65-F5344CB8AC3E}">
        <p14:creationId xmlns:p14="http://schemas.microsoft.com/office/powerpoint/2010/main" val="152417514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4D65-88E2-473C-0969-8791FD4F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16C90-7CEE-B809-D687-D798CE2207D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An elegant way to account for a constraint in a minimization task is the method of </a:t>
                </a:r>
                <a:r>
                  <a:rPr lang="en-US" b="1" dirty="0">
                    <a:solidFill>
                      <a:srgbClr val="0033CC"/>
                    </a:solidFill>
                  </a:rPr>
                  <a:t>Lagrange* multipliers</a:t>
                </a:r>
                <a:r>
                  <a:rPr lang="en-US" dirty="0"/>
                  <a:t>. Consider the following classic problem: Find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in the sum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 the constraint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minimizes the variance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800" dirty="0"/>
                  <a:t>*Joseph-Louis Lagrange (1736 – 1813)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16C90-7CEE-B809-D687-D798CE220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1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2E4A907-677F-E4FB-8618-A6CAC8DE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Lagrange Multipliers (1)</a:t>
            </a:r>
          </a:p>
        </p:txBody>
      </p:sp>
    </p:spTree>
    <p:extLst>
      <p:ext uri="{BB962C8B-B14F-4D97-AF65-F5344CB8AC3E}">
        <p14:creationId xmlns:p14="http://schemas.microsoft.com/office/powerpoint/2010/main" val="312650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0179-744D-5A23-D534-53C36C4F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E6C16-0547-F95D-E22C-678659D978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33CC"/>
                    </a:solidFill>
                  </a:rPr>
                  <a:t>Step 1</a:t>
                </a:r>
                <a:r>
                  <a:rPr lang="en-US" dirty="0"/>
                  <a:t>: Find a formula for the 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𝕍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are statistically independent, we obtain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𝕍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E6C16-0547-F95D-E22C-678659D97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 b="-2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2D1A1D0-7B0D-7E7F-514E-F7738075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Lagrange Multipliers (2)</a:t>
            </a:r>
          </a:p>
        </p:txBody>
      </p:sp>
    </p:spTree>
    <p:extLst>
      <p:ext uri="{BB962C8B-B14F-4D97-AF65-F5344CB8AC3E}">
        <p14:creationId xmlns:p14="http://schemas.microsoft.com/office/powerpoint/2010/main" val="1020920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3C50-EAB4-F5E0-95E7-7B5DEDAA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C0C18-5392-15EE-DFDA-CEB7449542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33CC"/>
                    </a:solidFill>
                  </a:rPr>
                  <a:t>Step 2</a:t>
                </a:r>
                <a:r>
                  <a:rPr lang="en-US" dirty="0"/>
                  <a:t>: Add the constraint to the variance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𝕍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dirty="0"/>
                  <a:t> using a Lagrange multiplier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𝕍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br>
                  <a:rPr lang="en-US" b="1" dirty="0"/>
                </a:br>
                <a:endParaRPr lang="en-US" b="1" dirty="0"/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r>
                  <a:rPr lang="en-US" dirty="0">
                    <a:solidFill>
                      <a:srgbClr val="0033CC"/>
                    </a:solidFill>
                  </a:rPr>
                  <a:t>Step 3</a:t>
                </a:r>
                <a:r>
                  <a:rPr lang="en-US" dirty="0"/>
                  <a:t>: Minimize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𝕍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𝕍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  ⟹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C0C18-5392-15EE-DFDA-CEB744954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20E0BD2-B95C-27BC-6A6A-0D8FDE1D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Lagrange Multipliers (3)</a:t>
            </a:r>
          </a:p>
        </p:txBody>
      </p:sp>
    </p:spTree>
    <p:extLst>
      <p:ext uri="{BB962C8B-B14F-4D97-AF65-F5344CB8AC3E}">
        <p14:creationId xmlns:p14="http://schemas.microsoft.com/office/powerpoint/2010/main" val="122601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2EEC-D04D-7469-0518-9D2236B5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78650-B544-4369-23CC-9E6B82055C7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33CC"/>
                    </a:solidFill>
                  </a:rPr>
                  <a:t>Step 4</a:t>
                </a:r>
                <a:r>
                  <a:rPr lang="en-US" dirty="0"/>
                  <a:t>: To find the multiplier,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use the constraint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</m:t>
                          </m:r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that is,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Therefore, the 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minimized when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/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78650-B544-4369-23CC-9E6B82055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 b="-3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8C9A95F-C7E2-C58A-4257-4CEB8D36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Lagrange Multipliers (4)</a:t>
            </a:r>
          </a:p>
        </p:txBody>
      </p:sp>
    </p:spTree>
    <p:extLst>
      <p:ext uri="{BB962C8B-B14F-4D97-AF65-F5344CB8AC3E}">
        <p14:creationId xmlns:p14="http://schemas.microsoft.com/office/powerpoint/2010/main" val="1225630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4210-0BB0-44E3-CF73-27629F32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00D7D5-D156-EDAA-D615-E76C4D598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 B</a:t>
            </a:r>
          </a:p>
        </p:txBody>
      </p:sp>
    </p:spTree>
    <p:extLst>
      <p:ext uri="{BB962C8B-B14F-4D97-AF65-F5344CB8AC3E}">
        <p14:creationId xmlns:p14="http://schemas.microsoft.com/office/powerpoint/2010/main" val="137901142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B44A-5CBB-EB62-8D83-D02BC636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45C99-E141-6A5B-9556-CDA61E2FBAD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risk functional can be written as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since  the values of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discrete: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=0,⋯,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>
                    <a:latin typeface="+mn-lt"/>
                  </a:rPr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45C99-E141-6A5B-9556-CDA61E2FBA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2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2D583D6-E50F-7312-A749-73F8A8F6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(1)</a:t>
            </a:r>
          </a:p>
        </p:txBody>
      </p:sp>
    </p:spTree>
    <p:extLst>
      <p:ext uri="{BB962C8B-B14F-4D97-AF65-F5344CB8AC3E}">
        <p14:creationId xmlns:p14="http://schemas.microsoft.com/office/powerpoint/2010/main" val="93803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3633-4633-3223-8DBB-E0836BAC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88EA3-3A0E-93E3-59F7-F72C5CA8EB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perfect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would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question is: </a:t>
                </a:r>
                <a:r>
                  <a:rPr lang="en-US" dirty="0">
                    <a:solidFill>
                      <a:srgbClr val="0033CC"/>
                    </a:solidFill>
                  </a:rPr>
                  <a:t>What loss function yields this result?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saw in previous lectures that the optimal solution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found by minimizing the risk functional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this time, we need to account for the constraint: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88EA3-3A0E-93E3-59F7-F72C5CA8E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0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02F9BED-C537-1035-B313-17DF0C98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(2)</a:t>
            </a:r>
          </a:p>
        </p:txBody>
      </p:sp>
    </p:spTree>
    <p:extLst>
      <p:ext uri="{BB962C8B-B14F-4D97-AF65-F5344CB8AC3E}">
        <p14:creationId xmlns:p14="http://schemas.microsoft.com/office/powerpoint/2010/main" val="1846773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8F67-32DF-9E84-E534-EB900441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E17DB-6A04-9530-8635-9D2FD206A5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We’ll use the method of </a:t>
                </a:r>
                <a:r>
                  <a:rPr lang="en-US" dirty="0">
                    <a:solidFill>
                      <a:srgbClr val="0033CC"/>
                    </a:solidFill>
                  </a:rPr>
                  <a:t>Lagrange multipliers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l-GR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𝑲</m:t>
                                  </m:r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obtain the minimum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set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l-G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yields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E17DB-6A04-9530-8635-9D2FD206A5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5263" b="-3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C673A9F-4C76-B2CC-C916-3B28404E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(3)</a:t>
            </a:r>
          </a:p>
        </p:txBody>
      </p:sp>
    </p:spTree>
    <p:extLst>
      <p:ext uri="{BB962C8B-B14F-4D97-AF65-F5344CB8AC3E}">
        <p14:creationId xmlns:p14="http://schemas.microsoft.com/office/powerpoint/2010/main" val="380166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F044E-996F-A364-DFD1-25AD4FED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E5FA09-277C-3AA1-5266-B27E11399C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From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only the term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survives, yielding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(Note: there is no sum over </a:t>
                </a:r>
                <a:r>
                  <a:rPr lang="en-US" i="1" dirty="0">
                    <a:ea typeface="Cambria Math" panose="02040503050406030204" pitchFamily="18" charset="0"/>
                  </a:rPr>
                  <a:t>j</a:t>
                </a:r>
                <a:r>
                  <a:rPr lang="en-US" dirty="0">
                    <a:ea typeface="Cambria Math" panose="02040503050406030204" pitchFamily="18" charset="0"/>
                  </a:rPr>
                  <a:t>!)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E5FA09-277C-3AA1-5266-B27E11399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6499FDA-9B9D-32F0-0055-B6C2E02E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(4)</a:t>
            </a:r>
          </a:p>
        </p:txBody>
      </p:sp>
    </p:spTree>
    <p:extLst>
      <p:ext uri="{BB962C8B-B14F-4D97-AF65-F5344CB8AC3E}">
        <p14:creationId xmlns:p14="http://schemas.microsoft.com/office/powerpoint/2010/main" val="1050960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1000-2438-848A-732C-008B23F3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25AE2-C324-AD5E-3270-2369AA5A277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want the expression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hold for every 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for every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will be true </a:t>
                </a:r>
                <a:r>
                  <a:rPr lang="en-US" i="1" dirty="0"/>
                  <a:t>if and only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Since the optimal solution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this implies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25AE2-C324-AD5E-3270-2369AA5A2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0920CF7-B0E9-17AD-772D-A279DB86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(5)</a:t>
            </a:r>
          </a:p>
        </p:txBody>
      </p:sp>
    </p:spTree>
    <p:extLst>
      <p:ext uri="{BB962C8B-B14F-4D97-AF65-F5344CB8AC3E}">
        <p14:creationId xmlns:p14="http://schemas.microsoft.com/office/powerpoint/2010/main" val="1550743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04D7-E711-8439-5A51-5D6C8314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9345-C206-7DB9-D3E2-00D18EBE68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the loss,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we find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always rescale the loss so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rgbClr val="0033CC"/>
                    </a:solidFill>
                  </a:rPr>
                  <a:t>cross-entropy loss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9345-C206-7DB9-D3E2-00D18EBE68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83552FA-F06A-924A-DC20-CC64DBFF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 (6)</a:t>
            </a:r>
          </a:p>
        </p:txBody>
      </p:sp>
    </p:spTree>
    <p:extLst>
      <p:ext uri="{BB962C8B-B14F-4D97-AF65-F5344CB8AC3E}">
        <p14:creationId xmlns:p14="http://schemas.microsoft.com/office/powerpoint/2010/main" val="208348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12366</TotalTime>
  <Words>2047</Words>
  <Application>Microsoft Macintosh PowerPoint</Application>
  <PresentationFormat>Letter Paper (8.5x11 in)</PresentationFormat>
  <Paragraphs>319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Cambria Math</vt:lpstr>
      <vt:lpstr>Courier New</vt:lpstr>
      <vt:lpstr>Times New Roman</vt:lpstr>
      <vt:lpstr>Wingdings</vt:lpstr>
      <vt:lpstr>Default Design</vt:lpstr>
      <vt:lpstr>Machine learning in physics convolutional  neural networks</vt:lpstr>
      <vt:lpstr>Recap</vt:lpstr>
      <vt:lpstr>Plan</vt:lpstr>
      <vt:lpstr>Outline</vt:lpstr>
      <vt:lpstr>A galaxy classifier: part 1</vt:lpstr>
      <vt:lpstr>A Galaxy Classifier (1)</vt:lpstr>
      <vt:lpstr>A Galaxy Classifier (2)</vt:lpstr>
      <vt:lpstr>A Galaxy Classifier (3)</vt:lpstr>
      <vt:lpstr>Multi-class classification</vt:lpstr>
      <vt:lpstr>Multi-Class Classification (1)</vt:lpstr>
      <vt:lpstr>Multi-Class Classification (2)</vt:lpstr>
      <vt:lpstr>Multi-Class Classification (3)</vt:lpstr>
      <vt:lpstr>Multi-Class Classification (4)</vt:lpstr>
      <vt:lpstr>Multi-Class Classification (5)</vt:lpstr>
      <vt:lpstr>Convolutional  neural networks (CNN) </vt:lpstr>
      <vt:lpstr>Convolutional Neural Networks (1)</vt:lpstr>
      <vt:lpstr>Convolutional Neural Networks (2)</vt:lpstr>
      <vt:lpstr>Convolutional Neural Networks (3)</vt:lpstr>
      <vt:lpstr>Convolutional Neural Networks (4)</vt:lpstr>
      <vt:lpstr>Convolutional Neural Networks (5)</vt:lpstr>
      <vt:lpstr>Convolutional Neural Networks (6)</vt:lpstr>
      <vt:lpstr>Convolutional Neural Networks (7)</vt:lpstr>
      <vt:lpstr>Convolutional Neural Networks (8)</vt:lpstr>
      <vt:lpstr>Convolutional Neural Networks (9)</vt:lpstr>
      <vt:lpstr>A galaxy classifier: part 2</vt:lpstr>
      <vt:lpstr>A Galaxy Classifier (4)</vt:lpstr>
      <vt:lpstr>A Galaxy Classifier (5)</vt:lpstr>
      <vt:lpstr>Summary</vt:lpstr>
      <vt:lpstr>Appendix A</vt:lpstr>
      <vt:lpstr>Method of Lagrange Multipliers (1)</vt:lpstr>
      <vt:lpstr>Method of Lagrange Multipliers (2)</vt:lpstr>
      <vt:lpstr>Method of Lagrange Multipliers (3)</vt:lpstr>
      <vt:lpstr>Method of Lagrange Multipliers (4)</vt:lpstr>
      <vt:lpstr>Appendix B</vt:lpstr>
      <vt:lpstr>Cross Entropy Loss (1)</vt:lpstr>
      <vt:lpstr>Cross Entropy Loss (2)</vt:lpstr>
      <vt:lpstr>Cross Entropy Loss (3)</vt:lpstr>
      <vt:lpstr>Cross Entropy Loss (4)</vt:lpstr>
      <vt:lpstr>Cross Entropy Loss (5)</vt:lpstr>
      <vt:lpstr>Cross Entropy Loss (6)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39</cp:revision>
  <cp:lastPrinted>2019-01-07T00:35:58Z</cp:lastPrinted>
  <dcterms:created xsi:type="dcterms:W3CDTF">2025-08-24T13:22:07Z</dcterms:created>
  <dcterms:modified xsi:type="dcterms:W3CDTF">2026-09-30T17:13:41Z</dcterms:modified>
</cp:coreProperties>
</file>