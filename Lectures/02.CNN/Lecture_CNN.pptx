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43"/>
  </p:notesMasterIdLst>
  <p:handoutMasterIdLst>
    <p:handoutMasterId r:id="rId44"/>
  </p:handoutMasterIdLst>
  <p:sldIdLst>
    <p:sldId id="256" r:id="rId2"/>
    <p:sldId id="1027" r:id="rId3"/>
    <p:sldId id="1043" r:id="rId4"/>
    <p:sldId id="918" r:id="rId5"/>
    <p:sldId id="1091" r:id="rId6"/>
    <p:sldId id="1056" r:id="rId7"/>
    <p:sldId id="1057" r:id="rId8"/>
    <p:sldId id="1058" r:id="rId9"/>
    <p:sldId id="1117" r:id="rId10"/>
    <p:sldId id="1022" r:id="rId11"/>
    <p:sldId id="1116" r:id="rId12"/>
    <p:sldId id="1115" r:id="rId13"/>
    <p:sldId id="1119" r:id="rId14"/>
    <p:sldId id="1086" r:id="rId15"/>
    <p:sldId id="1070" r:id="rId16"/>
    <p:sldId id="1090" r:id="rId17"/>
    <p:sldId id="1072" r:id="rId18"/>
    <p:sldId id="1108" r:id="rId19"/>
    <p:sldId id="1109" r:id="rId20"/>
    <p:sldId id="1111" r:id="rId21"/>
    <p:sldId id="1112" r:id="rId22"/>
    <p:sldId id="1120" r:id="rId23"/>
    <p:sldId id="1076" r:id="rId24"/>
    <p:sldId id="1113" r:id="rId25"/>
    <p:sldId id="1074" r:id="rId26"/>
    <p:sldId id="1118" r:id="rId27"/>
    <p:sldId id="1088" r:id="rId28"/>
    <p:sldId id="1082" r:id="rId29"/>
    <p:sldId id="1042" r:id="rId30"/>
    <p:sldId id="1105" r:id="rId31"/>
    <p:sldId id="1098" r:id="rId32"/>
    <p:sldId id="1102" r:id="rId33"/>
    <p:sldId id="1103" r:id="rId34"/>
    <p:sldId id="1104" r:id="rId35"/>
    <p:sldId id="1114" r:id="rId36"/>
    <p:sldId id="1095" r:id="rId37"/>
    <p:sldId id="1096" r:id="rId38"/>
    <p:sldId id="1101" r:id="rId39"/>
    <p:sldId id="1097" r:id="rId40"/>
    <p:sldId id="1099" r:id="rId41"/>
    <p:sldId id="1100" r:id="rId42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/>
    <p:restoredTop sz="86491"/>
  </p:normalViewPr>
  <p:slideViewPr>
    <p:cSldViewPr>
      <p:cViewPr varScale="1">
        <p:scale>
          <a:sx n="85" d="100"/>
          <a:sy n="85" d="100"/>
        </p:scale>
        <p:origin x="2440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66443B50-C219-2D4B-99A1-EBCE7B69699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405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797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51562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0954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CE8F00-04F5-5CD0-9932-DBD543C75833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5B5112CB-3C62-F745-B70F-3473086D4FC8}" type="slidenum">
              <a:rPr lang="en-US" sz="1600" smtClean="0"/>
              <a:t>‹#›</a:t>
            </a:fld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690038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91" r:id="rId4"/>
    <p:sldLayoutId id="2147483885" r:id="rId5"/>
    <p:sldLayoutId id="2147483886" r:id="rId6"/>
    <p:sldLayoutId id="2147483892" r:id="rId7"/>
    <p:sldLayoutId id="2147483893" r:id="rId8"/>
    <p:sldLayoutId id="2147483894" r:id="rId9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astronn.readthedocs.io/en/stable/galaxy10.html" TargetMode="Externa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5CE62D3-361F-979A-E90A-C0459C362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convolutional </a:t>
            </a:r>
            <a:br>
              <a:rPr lang="en-US" dirty="0">
                <a:solidFill>
                  <a:schemeClr val="accent1"/>
                </a:solidFill>
              </a:rPr>
            </a:br>
            <a:r>
              <a:rPr lang="en-US" dirty="0">
                <a:solidFill>
                  <a:schemeClr val="accent1"/>
                </a:solidFill>
              </a:rPr>
              <a:t>neural networks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856671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5800" y="1186472"/>
                <a:ext cx="7772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used the simplest machine learning model, </a:t>
                </a:r>
                <a:br>
                  <a:rPr lang="en-US" dirty="0"/>
                </a:br>
                <a:r>
                  <a:rPr lang="en-US" dirty="0"/>
                  <a:t>namely a feed-forward neural network (FFNN), </a:t>
                </a:r>
              </a:p>
              <a:p>
                <a:pPr marL="0" indent="0">
                  <a:buNone/>
                </a:pPr>
                <a:r>
                  <a:rPr lang="en-US" dirty="0"/>
                  <a:t>such as the one shown here, to review a few key </a:t>
                </a:r>
              </a:p>
              <a:p>
                <a:pPr marL="0" indent="0">
                  <a:buNone/>
                </a:pPr>
                <a:r>
                  <a:rPr lang="en-US" dirty="0"/>
                  <a:t>concepts in ML, including 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,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the empirical risk (i.e., average loss),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,</a:t>
                </a:r>
                <a:br>
                  <a:rPr lang="en-US" dirty="0"/>
                </a:br>
                <a:r>
                  <a:rPr lang="en-US" dirty="0"/>
                  <a:t>the risk functional,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the equation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| 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𝐿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den>
                        </m:f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</a:t>
                </a:r>
              </a:p>
              <a:p>
                <a:pPr marL="857250" lvl="1" indent="-457200">
                  <a:buFont typeface="+mj-lt"/>
                  <a:buAutoNum type="arabicPeriod"/>
                </a:pPr>
                <a:r>
                  <a:rPr lang="en-US" dirty="0"/>
                  <a:t>and empirical risk minimization via</a:t>
                </a:r>
                <a:br>
                  <a:rPr lang="en-US" dirty="0"/>
                </a:br>
                <a:r>
                  <a:rPr lang="en-US" dirty="0"/>
                  <a:t>stochastic gradient descent.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5800" y="1186472"/>
                <a:ext cx="7772400" cy="4819650"/>
              </a:xfrm>
              <a:blipFill>
                <a:blip r:embed="rId2"/>
                <a:stretch>
                  <a:fillRect l="-1305" t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A3B3E4FE-B1E3-5584-E05A-72A3277159E8}"/>
              </a:ext>
            </a:extLst>
          </p:cNvPr>
          <p:cNvGrpSpPr/>
          <p:nvPr/>
        </p:nvGrpSpPr>
        <p:grpSpPr>
          <a:xfrm>
            <a:off x="7090259" y="1371599"/>
            <a:ext cx="1825141" cy="3082566"/>
            <a:chOff x="6801989" y="3048000"/>
            <a:chExt cx="1825141" cy="3082566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8CDD7F4-772F-A368-6A8D-AC3056CC6471}"/>
                </a:ext>
              </a:extLst>
            </p:cNvPr>
            <p:cNvGrpSpPr/>
            <p:nvPr/>
          </p:nvGrpSpPr>
          <p:grpSpPr>
            <a:xfrm>
              <a:off x="6801989" y="3048000"/>
              <a:ext cx="1808613" cy="3082566"/>
              <a:chOff x="6355238" y="3259319"/>
              <a:chExt cx="1808613" cy="3082566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D52CCE89-9A67-AF95-ABFE-6CDA000AE087}"/>
                  </a:ext>
                </a:extLst>
              </p:cNvPr>
              <p:cNvGrpSpPr/>
              <p:nvPr/>
            </p:nvGrpSpPr>
            <p:grpSpPr>
              <a:xfrm>
                <a:off x="6355238" y="3259319"/>
                <a:ext cx="1808613" cy="3082566"/>
                <a:chOff x="6734628" y="2976778"/>
                <a:chExt cx="2133600" cy="3503264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760FCEA-8E4E-5078-6B43-EA773172B9AC}"/>
                    </a:ext>
                  </a:extLst>
                </p:cNvPr>
                <p:cNvSpPr txBox="1"/>
                <p:nvPr/>
              </p:nvSpPr>
              <p:spPr>
                <a:xfrm>
                  <a:off x="7335780" y="2976778"/>
                  <a:ext cx="784969" cy="39973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800" dirty="0"/>
                    <a:t>output</a:t>
                  </a:r>
                </a:p>
              </p:txBody>
            </p:sp>
            <p:grpSp>
              <p:nvGrpSpPr>
                <p:cNvPr id="18" name="Group 17">
                  <a:extLst>
                    <a:ext uri="{FF2B5EF4-FFF2-40B4-BE49-F238E27FC236}">
                      <a16:creationId xmlns:a16="http://schemas.microsoft.com/office/drawing/2014/main" id="{30066B35-3501-71C3-B087-28D647ECDCDB}"/>
                    </a:ext>
                  </a:extLst>
                </p:cNvPr>
                <p:cNvGrpSpPr/>
                <p:nvPr/>
              </p:nvGrpSpPr>
              <p:grpSpPr>
                <a:xfrm>
                  <a:off x="6734628" y="3764021"/>
                  <a:ext cx="2133600" cy="2716021"/>
                  <a:chOff x="6734628" y="3539886"/>
                  <a:chExt cx="2133600" cy="271602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TextBox 18">
                        <a:extLst>
                          <a:ext uri="{FF2B5EF4-FFF2-40B4-BE49-F238E27FC236}">
                            <a16:creationId xmlns:a16="http://schemas.microsoft.com/office/drawing/2014/main" id="{7B12B24A-39B9-2EFF-F335-EF6F9470842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545528" y="5756235"/>
                        <a:ext cx="512473" cy="49967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oMath>
                          </m:oMathPara>
                        </a14:m>
                        <a:endParaRPr lang="en-US" dirty="0"/>
                      </a:p>
                    </p:txBody>
                  </p:sp>
                </mc:Choice>
                <mc:Fallback xmlns="">
                  <p:sp>
                    <p:nvSpPr>
                      <p:cNvPr id="28" name="TextBox 27">
                        <a:extLst>
                          <a:ext uri="{FF2B5EF4-FFF2-40B4-BE49-F238E27FC236}">
                            <a16:creationId xmlns:a16="http://schemas.microsoft.com/office/drawing/2014/main" id="{F61E0493-379B-9865-FFD6-B71928F3D03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545528" y="5756235"/>
                        <a:ext cx="512473" cy="499672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20" name="Group 19">
                    <a:extLst>
                      <a:ext uri="{FF2B5EF4-FFF2-40B4-BE49-F238E27FC236}">
                        <a16:creationId xmlns:a16="http://schemas.microsoft.com/office/drawing/2014/main" id="{F12D8FE5-7CA3-F731-6BFF-8EF989D7B469}"/>
                      </a:ext>
                    </a:extLst>
                  </p:cNvPr>
                  <p:cNvGrpSpPr/>
                  <p:nvPr/>
                </p:nvGrpSpPr>
                <p:grpSpPr>
                  <a:xfrm>
                    <a:off x="6734628" y="3539886"/>
                    <a:ext cx="2133600" cy="2330342"/>
                    <a:chOff x="6734628" y="3424066"/>
                    <a:chExt cx="2133600" cy="2330342"/>
                  </a:xfrm>
                </p:grpSpPr>
                <p:cxnSp>
                  <p:nvCxnSpPr>
                    <p:cNvPr id="22" name="Straight Arrow Connector 21">
                      <a:extLst>
                        <a:ext uri="{FF2B5EF4-FFF2-40B4-BE49-F238E27FC236}">
                          <a16:creationId xmlns:a16="http://schemas.microsoft.com/office/drawing/2014/main" id="{CDF87712-C5C3-55EB-200D-E494BC9164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 bwMode="auto">
                    <a:xfrm flipV="1">
                      <a:off x="7781469" y="5408563"/>
                      <a:ext cx="0" cy="345845"/>
                    </a:xfrm>
                    <a:prstGeom prst="straightConnector1">
                      <a:avLst/>
                    </a:prstGeom>
                    <a:noFill/>
                    <a:ln w="412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triangle"/>
                    </a:ln>
                    <a:effectLst/>
                  </p:spPr>
                </p:cxnSp>
                <p:grpSp>
                  <p:nvGrpSpPr>
                    <p:cNvPr id="23" name="Group 22">
                      <a:extLst>
                        <a:ext uri="{FF2B5EF4-FFF2-40B4-BE49-F238E27FC236}">
                          <a16:creationId xmlns:a16="http://schemas.microsoft.com/office/drawing/2014/main" id="{5FDB2033-E865-06DF-1FEF-2750EDA53F9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734628" y="4588237"/>
                      <a:ext cx="2133600" cy="820008"/>
                      <a:chOff x="6734628" y="4566213"/>
                      <a:chExt cx="2133600" cy="902009"/>
                    </a:xfrm>
                  </p:grpSpPr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37" name="Rectangle 36">
                            <a:extLst>
                              <a:ext uri="{FF2B5EF4-FFF2-40B4-BE49-F238E27FC236}">
                                <a16:creationId xmlns:a16="http://schemas.microsoft.com/office/drawing/2014/main" id="{DD84ADB6-46F6-AC56-7199-B421A60B88BA}"/>
                              </a:ext>
                            </a:extLst>
                          </p:cNvPr>
                          <p:cNvSpPr/>
                          <p:nvPr/>
                        </p:nvSpPr>
                        <p:spPr bwMode="auto">
                          <a:xfrm>
                            <a:off x="7086600" y="4566213"/>
                            <a:ext cx="1447800" cy="372409"/>
                          </a:xfrm>
                          <a:prstGeom prst="rect">
                            <a:avLst/>
                          </a:prstGeom>
                          <a:solidFill>
                            <a:srgbClr val="FFC000"/>
                          </a:solidFill>
                          <a:ln w="12700" cap="flat" cmpd="sng" algn="ctr">
                            <a:solidFill>
                              <a:schemeClr val="tx1"/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effectLst>
                            <a:outerShdw blurRad="50800" dist="38100" dir="2700000" algn="tl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</p:spPr>
                        <p:txBody>
                          <a:bodyPr vert="horz" wrap="square" lIns="91440" tIns="45720" rIns="91440" bIns="45720" numCol="1" rtlCol="0" anchor="t" anchorCtr="0" compatLnSpc="1">
                            <a:prstTxWarp prst="textNoShape">
                              <a:avLst/>
                            </a:prstTxWarp>
                            <a:spAutoFit/>
                          </a:bodyPr>
                          <a:lstStyle/>
                          <a:p>
                            <a:pPr marL="0" marR="0" indent="0" algn="ctr" defTabSz="914400" rtl="0" eaLnBrk="0" fontAlgn="base" latinLnBrk="0" hangingPunct="0">
                              <a:lnSpc>
                                <a:spcPct val="100000"/>
                              </a:lnSpc>
                              <a:spcBef>
                                <a:spcPct val="0"/>
                              </a:spcBef>
                              <a:spcAft>
                                <a:spcPct val="0"/>
                              </a:spcAft>
                              <a:buClrTx/>
                              <a:buSzTx/>
                              <a:buFontTx/>
                              <a:buNone/>
                              <a:tabLst/>
                            </a:pPr>
                            <a14:m>
                              <m:oMathPara xmlns:m="http://schemas.openxmlformats.org/officeDocument/2006/math">
                                <m:oMath>
                                  <m:r>
                                    <m:rPr>
                                      <m:nor/>
                                    </m:rPr>
                                    <a:rPr lang="en-US" sz="1600" i="0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m:rPr>
                                      <m:nor/>
                                    </m:rP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i</m:t>
                                  </m:r>
                                  <m:r>
                                    <m:rPr>
                                      <m:nor/>
                                    </m:rPr>
                                    <a:rPr kumimoji="0" lang="en-US" sz="1600" b="0" i="0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lu</m:t>
                                  </m:r>
                                  <m:r>
                                    <a:rPr kumimoji="0" lang="en-US" sz="16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()</m:t>
                                  </m:r>
                                </m:oMath>
                              </m:oMathPara>
                            </a14:m>
                            <a:endParaRPr kumimoji="0" lang="en-US" sz="1600" b="0" i="0" u="none" strike="noStrike" cap="none" normalizeH="0" baseline="0" dirty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Times New Roman" pitchFamily="-65" charset="0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37" name="Rectangle 36">
                            <a:extLst>
                              <a:ext uri="{FF2B5EF4-FFF2-40B4-BE49-F238E27FC236}">
                                <a16:creationId xmlns:a16="http://schemas.microsoft.com/office/drawing/2014/main" id="{DD84ADB6-46F6-AC56-7199-B421A60B88BA}"/>
                              </a:ext>
                            </a:extLst>
                          </p:cNvPr>
                          <p:cNvSpPr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 bwMode="auto">
                          <a:xfrm>
                            <a:off x="7086600" y="4566213"/>
                            <a:ext cx="1447800" cy="372409"/>
                          </a:xfrm>
                          <a:prstGeom prst="rect">
                            <a:avLst/>
                          </a:prstGeom>
                          <a:blipFill>
                            <a:blip r:embed="rId5"/>
                            <a:stretch>
                              <a:fillRect/>
                            </a:stretch>
                          </a:blipFill>
                          <a:ln w="12700" cap="flat" cmpd="sng" algn="ctr">
                            <a:solidFill>
                              <a:schemeClr val="tx1"/>
                            </a:solidFill>
                            <a:prstDash val="solid"/>
                            <a:round/>
                            <a:headEnd type="none" w="med" len="med"/>
                            <a:tailEnd type="none" w="med" len="med"/>
                          </a:ln>
                          <a:effectLst>
                            <a:outerShdw blurRad="50800" dist="38100" dir="2700000" algn="tl" rotWithShape="0">
                              <a:prstClr val="black">
                                <a:alpha val="40000"/>
                              </a:prstClr>
                            </a:outerShdw>
                          </a:effectLst>
                        </p:spPr>
                        <p:txBody>
                          <a:bodyPr/>
                          <a:lstStyle/>
                          <a:p>
                            <a:r>
                              <a:rPr 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38" name="Rectangle 37">
                        <a:extLst>
                          <a:ext uri="{FF2B5EF4-FFF2-40B4-BE49-F238E27FC236}">
                            <a16:creationId xmlns:a16="http://schemas.microsoft.com/office/drawing/2014/main" id="{6E9FEBF8-7898-8E29-58AE-9564F27894C5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6734628" y="5044987"/>
                        <a:ext cx="2133600" cy="423235"/>
                      </a:xfrm>
                      <a:prstGeom prst="rect">
                        <a:avLst/>
                      </a:prstGeom>
                      <a:solidFill>
                        <a:srgbClr val="FFFC8F"/>
                      </a:solidFill>
                      <a:ln w="12700" cap="flat" cmpd="sng" algn="ctr">
                        <a:solidFill>
                          <a:schemeClr val="tx1"/>
                        </a:solidFill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>
                        <a:outerShdw blurRad="50800" dist="38100" dir="2700000" algn="tl" rotWithShape="0">
                          <a:prstClr val="black">
                            <a:alpha val="40000"/>
                          </a:prstClr>
                        </a:outerShdw>
                      </a:effectLst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ctr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:r>
                          <a: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rPr>
                          <a:t>Linear(2, </a:t>
                        </a:r>
                        <a:r>
                          <a:rPr lang="en-US" sz="1600" dirty="0">
                            <a:latin typeface="Times New Roman" pitchFamily="-65" charset="0"/>
                          </a:rPr>
                          <a:t>H</a:t>
                        </a:r>
                        <a:r>
                          <a: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rPr>
                          <a:t>)</a:t>
                        </a:r>
                      </a:p>
                    </p:txBody>
                  </p: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9" name="Rectangle 28">
                          <a:extLst>
                            <a:ext uri="{FF2B5EF4-FFF2-40B4-BE49-F238E27FC236}">
                              <a16:creationId xmlns:a16="http://schemas.microsoft.com/office/drawing/2014/main" id="{8CE7116C-FC7A-0D3A-1C18-1AA0D865C143}"/>
                            </a:ext>
                          </a:extLst>
                        </p:cNvPr>
                        <p:cNvSpPr/>
                        <p:nvPr/>
                      </p:nvSpPr>
                      <p:spPr bwMode="auto">
                        <a:xfrm>
                          <a:off x="7061199" y="3424066"/>
                          <a:ext cx="1447799" cy="338554"/>
                        </a:xfrm>
                        <a:prstGeom prst="rect">
                          <a:avLst/>
                        </a:prstGeom>
                        <a:solidFill>
                          <a:srgbClr val="FFC000"/>
                        </a:solidFill>
                        <a:ln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>
                          <a:outerShdw blurRad="50800" dist="3810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</p:spPr>
                      <p:txBody>
                        <a:bodyPr vert="horz" wrap="square" lIns="91440" tIns="45720" rIns="91440" bIns="45720" numCol="1" rtlCol="0" anchor="t" anchorCtr="0" compatLnSpc="1">
                          <a:prstTxWarp prst="textNoShape">
                            <a:avLst/>
                          </a:prstTxWarp>
                          <a:spAutoFit/>
                        </a:bodyPr>
                        <a:lstStyle/>
                        <a:p>
                          <a:pPr marL="0" marR="0" indent="0" algn="ctr" defTabSz="914400" rtl="0" eaLnBrk="0" fontAlgn="base" latinLnBrk="0" hangingPunct="0">
                            <a:lnSpc>
                              <a:spcPct val="100000"/>
                            </a:lnSpc>
                            <a:spcBef>
                              <a:spcPct val="0"/>
                            </a:spcBef>
                            <a:spcAft>
                              <a:spcPct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</a:pPr>
                          <a14:m>
                            <m:oMathPara xmlns:m="http://schemas.openxmlformats.org/officeDocument/2006/math">
                              <m:oMath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  <m:r>
                                  <a:rPr kumimoji="0" lang="en-US" sz="16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kumimoji="0" lang="en-US" sz="1600" b="0" i="0" u="none" strike="noStrike" cap="none" normalizeH="0" baseline="0" dirty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Times New Roman" pitchFamily="-65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9" name="Rectangle 28">
                          <a:extLst>
                            <a:ext uri="{FF2B5EF4-FFF2-40B4-BE49-F238E27FC236}">
                              <a16:creationId xmlns:a16="http://schemas.microsoft.com/office/drawing/2014/main" id="{8CE7116C-FC7A-0D3A-1C18-1AA0D865C143}"/>
                            </a:ext>
                          </a:extLst>
                        </p:cNvPr>
                        <p:cNvSpPr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 bwMode="auto">
                        <a:xfrm>
                          <a:off x="7061199" y="3424066"/>
                          <a:ext cx="1447799" cy="338554"/>
                        </a:xfrm>
                        <a:prstGeom prst="rect">
                          <a:avLst/>
                        </a:prstGeom>
                        <a:blipFill>
                          <a:blip r:embed="rId6"/>
                          <a:stretch>
                            <a:fillRect/>
                          </a:stretch>
                        </a:blipFill>
                        <a:ln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>
                        <a:effectLst>
                          <a:outerShdw blurRad="50800" dist="38100" dir="2700000" algn="tl" rotWithShape="0">
                            <a:prstClr val="black">
                              <a:alpha val="40000"/>
                            </a:prstClr>
                          </a:outerShdw>
                        </a:effectLst>
                      </p:spPr>
                      <p:txBody>
                        <a:bodyPr/>
                        <a:lstStyle/>
                        <a:p>
                          <a:r>
                            <a:rPr 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</p:grpSp>
          <p:cxnSp>
            <p:nvCxnSpPr>
              <p:cNvPr id="40" name="Straight Arrow Connector 39">
                <a:extLst>
                  <a:ext uri="{FF2B5EF4-FFF2-40B4-BE49-F238E27FC236}">
                    <a16:creationId xmlns:a16="http://schemas.microsoft.com/office/drawing/2014/main" id="{EE0020A4-B613-2EA4-EB4A-9CF76925F54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7239548" y="3693622"/>
                <a:ext cx="0" cy="251498"/>
              </a:xfrm>
              <a:prstGeom prst="straightConnector1">
                <a:avLst/>
              </a:prstGeom>
              <a:noFill/>
              <a:ln w="412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5B6FBF6-F62C-D0D1-1697-0B58D0CED5B5}"/>
                </a:ext>
              </a:extLst>
            </p:cNvPr>
            <p:cNvSpPr/>
            <p:nvPr/>
          </p:nvSpPr>
          <p:spPr bwMode="auto">
            <a:xfrm>
              <a:off x="6818517" y="4135817"/>
              <a:ext cx="1808613" cy="338554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Linear(H, </a:t>
              </a:r>
              <a:r>
                <a:rPr lang="en-US" sz="1600" dirty="0">
                  <a:latin typeface="Times New Roman" pitchFamily="-65" charset="0"/>
                </a:rPr>
                <a:t>1</a:t>
              </a: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)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34DDABED-8D3D-3C9D-C67D-73A8682D558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7696200" y="4496287"/>
              <a:ext cx="0" cy="304313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489380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1A1B08-1158-8B28-BD0C-D1A7508A798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plan for the next few lectures is to introduce a few models and methods from the following list: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Convolutional neural networks (CNN)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Physics-informed neural networks (PINN)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Graph neural networks (GNN)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Autoencoders (AE)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Flow and diffusion models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Transformer neural networks (TNN</a:t>
            </a:r>
            <a:r>
              <a:rPr lang="en-US" dirty="0">
                <a:solidFill>
                  <a:srgbClr val="0033CC"/>
                </a:solidFill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LLM-based agentic AI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Bayesian neural networks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Simulation-based inference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3A1785-51EC-C4BF-228A-B8FFB74E6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</p:spTree>
    <p:extLst>
      <p:ext uri="{BB962C8B-B14F-4D97-AF65-F5344CB8AC3E}">
        <p14:creationId xmlns:p14="http://schemas.microsoft.com/office/powerpoint/2010/main" val="1717464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Outline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4177C88-58AE-03AF-42F5-74B1415BE1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 Galaxy Classifier: Part 1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lvl="1"/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Multi-Class Classification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pPr lvl="1"/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Convolutional Neural Networks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 Galaxy Classifier: Part 2</a:t>
            </a:r>
            <a:b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</a:b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Summary </a:t>
            </a:r>
          </a:p>
          <a:p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  <a:p>
            <a:r>
              <a:rPr lang="en-US" dirty="0">
                <a:latin typeface="Times New Roman" pitchFamily="35" charset="0"/>
                <a:ea typeface="ＭＳ Ｐゴシック" pitchFamily="35" charset="-128"/>
                <a:cs typeface="ＭＳ Ｐゴシック" pitchFamily="35" charset="-128"/>
              </a:rPr>
              <a:t>Appendix A, B</a:t>
            </a:r>
          </a:p>
          <a:p>
            <a:pPr marL="457200" lvl="1" indent="0">
              <a:buNone/>
            </a:pPr>
            <a:endParaRPr lang="en-US" dirty="0">
              <a:latin typeface="Times New Roman" pitchFamily="35" charset="0"/>
              <a:ea typeface="ＭＳ Ｐゴシック" pitchFamily="35" charset="-128"/>
              <a:cs typeface="ＭＳ Ｐゴシック" pitchFamily="35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869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38A7-FED5-19A7-684C-54A750EEE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7975E42-4737-A29C-3901-B78F12E518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A galaxy classifier: part 1</a:t>
            </a:r>
          </a:p>
        </p:txBody>
      </p:sp>
    </p:spTree>
    <p:extLst>
      <p:ext uri="{BB962C8B-B14F-4D97-AF65-F5344CB8AC3E}">
        <p14:creationId xmlns:p14="http://schemas.microsoft.com/office/powerpoint/2010/main" val="1125209233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CF93D-FDD3-43DB-4570-580903FD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00A18EE-490E-A176-D2EC-4715A99445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Goal</a:t>
            </a:r>
            <a:r>
              <a:rPr lang="en-US" dirty="0"/>
              <a:t>: classify galaxies </a:t>
            </a:r>
            <a:br>
              <a:rPr lang="en-US" dirty="0"/>
            </a:br>
            <a:r>
              <a:rPr lang="en-US" dirty="0"/>
              <a:t>using images like these.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images are from the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Galaxy 10 </a:t>
            </a:r>
            <a:r>
              <a:rPr lang="en-US" dirty="0" err="1">
                <a:solidFill>
                  <a:srgbClr val="0033CC"/>
                </a:solidFill>
              </a:rPr>
              <a:t>DECals</a:t>
            </a:r>
            <a:r>
              <a:rPr lang="en-US" dirty="0">
                <a:solidFill>
                  <a:srgbClr val="0033CC"/>
                </a:solidFill>
              </a:rPr>
              <a:t> </a:t>
            </a:r>
          </a:p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Dataset</a:t>
            </a:r>
            <a:r>
              <a:rPr lang="en-US" dirty="0"/>
              <a:t> at the</a:t>
            </a:r>
          </a:p>
          <a:p>
            <a:pPr marL="0" indent="0">
              <a:buNone/>
            </a:pPr>
            <a:r>
              <a:rPr lang="en-US" dirty="0" err="1"/>
              <a:t>astroNN</a:t>
            </a:r>
            <a:r>
              <a:rPr lang="en-US" dirty="0"/>
              <a:t> website.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https://astronn.readthedocs.io/en/stable/galaxy10.html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B279E5A-1E8E-574A-DDCD-07B1AAE35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(1)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5" name="Picture 4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99F440BB-BE62-7FBE-05C0-A5F04D1382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56" y="1168400"/>
            <a:ext cx="5175643" cy="4394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05022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9C3DA-9A08-64E3-0E07-59723028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52DC20-149F-4F7D-392D-CECD85A09A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33CC"/>
                </a:solidFill>
              </a:rPr>
              <a:t>Dataset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 dataset comprises </a:t>
            </a:r>
            <a:r>
              <a:rPr lang="en-US" dirty="0">
                <a:solidFill>
                  <a:srgbClr val="0033CC"/>
                </a:solidFill>
              </a:rPr>
              <a:t>12,600</a:t>
            </a:r>
            <a:r>
              <a:rPr lang="en-US" dirty="0"/>
              <a:t> images divided into </a:t>
            </a:r>
            <a:r>
              <a:rPr lang="en-US" dirty="0">
                <a:solidFill>
                  <a:srgbClr val="0033CC"/>
                </a:solidFill>
              </a:rPr>
              <a:t>7</a:t>
            </a:r>
            <a:r>
              <a:rPr lang="en-US" dirty="0"/>
              <a:t> galaxy morphology classes with </a:t>
            </a:r>
            <a:r>
              <a:rPr lang="en-US" dirty="0">
                <a:solidFill>
                  <a:srgbClr val="0033CC"/>
                </a:solidFill>
              </a:rPr>
              <a:t>1800</a:t>
            </a:r>
            <a:r>
              <a:rPr lang="en-US" dirty="0"/>
              <a:t> galaxies per class.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Each </a:t>
            </a:r>
            <a:r>
              <a:rPr lang="en-US" dirty="0">
                <a:solidFill>
                  <a:srgbClr val="0033CC"/>
                </a:solidFill>
              </a:rPr>
              <a:t>3-channel </a:t>
            </a:r>
            <a:r>
              <a:rPr lang="en-US" dirty="0"/>
              <a:t>image is cropped to </a:t>
            </a:r>
            <a:r>
              <a:rPr lang="en-US" dirty="0">
                <a:solidFill>
                  <a:srgbClr val="0033CC"/>
                </a:solidFill>
              </a:rPr>
              <a:t>96 x 96 </a:t>
            </a:r>
            <a:r>
              <a:rPr lang="en-US" dirty="0"/>
              <a:t>pixels.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B9EC33A-50BA-E6E2-8666-32CD6A416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(2)</a:t>
            </a:r>
            <a:endParaRPr lang="en-US" dirty="0">
              <a:solidFill>
                <a:schemeClr val="accent1"/>
              </a:solidFill>
            </a:endParaRPr>
          </a:p>
        </p:txBody>
      </p:sp>
      <p:pic>
        <p:nvPicPr>
          <p:cNvPr id="5" name="Picture 4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CD87C846-FD56-5072-7FC9-6E4D6ABA6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556" y="3204269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A111A497-3A1A-7E2E-BDB3-72A52EF36223}"/>
              </a:ext>
            </a:extLst>
          </p:cNvPr>
          <p:cNvGrpSpPr/>
          <p:nvPr/>
        </p:nvGrpSpPr>
        <p:grpSpPr>
          <a:xfrm>
            <a:off x="1371600" y="3132240"/>
            <a:ext cx="2775857" cy="3077187"/>
            <a:chOff x="2840300" y="3624290"/>
            <a:chExt cx="1252657" cy="1851950"/>
          </a:xfrm>
        </p:grpSpPr>
        <p:sp>
          <p:nvSpPr>
            <p:cNvPr id="3" name="Data 2">
              <a:extLst>
                <a:ext uri="{FF2B5EF4-FFF2-40B4-BE49-F238E27FC236}">
                  <a16:creationId xmlns:a16="http://schemas.microsoft.com/office/drawing/2014/main" id="{6C2955CC-CA59-618B-1DEE-16DE54AD9AD9}"/>
                </a:ext>
              </a:extLst>
            </p:cNvPr>
            <p:cNvSpPr/>
            <p:nvPr/>
          </p:nvSpPr>
          <p:spPr>
            <a:xfrm rot="16200000">
              <a:off x="2830250" y="3975499"/>
              <a:ext cx="1613916" cy="911498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" name="Data 3">
              <a:extLst>
                <a:ext uri="{FF2B5EF4-FFF2-40B4-BE49-F238E27FC236}">
                  <a16:creationId xmlns:a16="http://schemas.microsoft.com/office/drawing/2014/main" id="{2A8CC964-79B1-B134-6B3F-2B3E8C55CC9D}"/>
                </a:ext>
              </a:extLst>
            </p:cNvPr>
            <p:cNvSpPr/>
            <p:nvPr/>
          </p:nvSpPr>
          <p:spPr>
            <a:xfrm rot="16200000">
              <a:off x="2669142" y="4101773"/>
              <a:ext cx="1613916" cy="911498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" name="Data 5">
              <a:extLst>
                <a:ext uri="{FF2B5EF4-FFF2-40B4-BE49-F238E27FC236}">
                  <a16:creationId xmlns:a16="http://schemas.microsoft.com/office/drawing/2014/main" id="{54E15151-4CF0-80EB-B9CE-56755C5BE6CC}"/>
                </a:ext>
              </a:extLst>
            </p:cNvPr>
            <p:cNvSpPr/>
            <p:nvPr/>
          </p:nvSpPr>
          <p:spPr>
            <a:xfrm rot="16200000">
              <a:off x="2489091" y="4213533"/>
              <a:ext cx="1613916" cy="911498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1165028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5F1D-93FF-9FCC-5489-BA3677036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513B44A-E9AA-74BA-747E-2EF01A7774C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a </a:t>
            </a:r>
            <a:r>
              <a:rPr lang="en-US" b="1" dirty="0">
                <a:solidFill>
                  <a:srgbClr val="0033CC"/>
                </a:solidFill>
              </a:rPr>
              <a:t>multi-class</a:t>
            </a:r>
            <a:r>
              <a:rPr lang="en-US" dirty="0"/>
              <a:t> problem, so we need a generalization of binary classification which reduces to the latter when there are 2 classes.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5DCD2A3-125D-1A54-677B-4BC9C708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(3)</a:t>
            </a:r>
            <a:endParaRPr lang="en-US" dirty="0">
              <a:solidFill>
                <a:schemeClr val="accent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082CBF7-1E79-DF65-C4AA-3D8497DAD253}"/>
              </a:ext>
            </a:extLst>
          </p:cNvPr>
          <p:cNvGrpSpPr/>
          <p:nvPr/>
        </p:nvGrpSpPr>
        <p:grpSpPr>
          <a:xfrm>
            <a:off x="1371600" y="3132240"/>
            <a:ext cx="2775857" cy="3077187"/>
            <a:chOff x="2840300" y="3624290"/>
            <a:chExt cx="1252657" cy="1851950"/>
          </a:xfrm>
        </p:grpSpPr>
        <p:sp>
          <p:nvSpPr>
            <p:cNvPr id="3" name="Data 2">
              <a:extLst>
                <a:ext uri="{FF2B5EF4-FFF2-40B4-BE49-F238E27FC236}">
                  <a16:creationId xmlns:a16="http://schemas.microsoft.com/office/drawing/2014/main" id="{492674B7-6082-5A9B-EEC1-36010E7E53E0}"/>
                </a:ext>
              </a:extLst>
            </p:cNvPr>
            <p:cNvSpPr/>
            <p:nvPr/>
          </p:nvSpPr>
          <p:spPr>
            <a:xfrm rot="16200000">
              <a:off x="2830250" y="3975499"/>
              <a:ext cx="1613916" cy="911498"/>
            </a:xfrm>
            <a:prstGeom prst="flowChartInputOutput">
              <a:avLst/>
            </a:prstGeom>
            <a:solidFill>
              <a:schemeClr val="accent1">
                <a:lumMod val="75000"/>
                <a:alpha val="51184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" name="Data 3">
              <a:extLst>
                <a:ext uri="{FF2B5EF4-FFF2-40B4-BE49-F238E27FC236}">
                  <a16:creationId xmlns:a16="http://schemas.microsoft.com/office/drawing/2014/main" id="{DABD8AF7-60FF-92DB-9768-64FA7256A8CC}"/>
                </a:ext>
              </a:extLst>
            </p:cNvPr>
            <p:cNvSpPr/>
            <p:nvPr/>
          </p:nvSpPr>
          <p:spPr>
            <a:xfrm rot="16200000">
              <a:off x="2669142" y="4101773"/>
              <a:ext cx="1613916" cy="911498"/>
            </a:xfrm>
            <a:prstGeom prst="flowChartInputOutput">
              <a:avLst/>
            </a:prstGeom>
            <a:solidFill>
              <a:schemeClr val="accent2">
                <a:lumMod val="50000"/>
                <a:alpha val="51184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" name="Data 5">
              <a:extLst>
                <a:ext uri="{FF2B5EF4-FFF2-40B4-BE49-F238E27FC236}">
                  <a16:creationId xmlns:a16="http://schemas.microsoft.com/office/drawing/2014/main" id="{4D6DEDD7-EA39-B0DC-1B2F-A72FD59762D0}"/>
                </a:ext>
              </a:extLst>
            </p:cNvPr>
            <p:cNvSpPr/>
            <p:nvPr/>
          </p:nvSpPr>
          <p:spPr>
            <a:xfrm rot="16200000">
              <a:off x="2489091" y="4213533"/>
              <a:ext cx="1613916" cy="911498"/>
            </a:xfrm>
            <a:prstGeom prst="flowChartInputOutput">
              <a:avLst/>
            </a:prstGeom>
            <a:solidFill>
              <a:srgbClr val="C00000">
                <a:alpha val="51184"/>
              </a:srgb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pic>
        <p:nvPicPr>
          <p:cNvPr id="9" name="Picture 8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06971728-1AA6-0111-9167-C29ED8811C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556" y="3204269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5903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A2614-6797-292B-B788-9E57D93E0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6AA2E1-518F-5ED9-0DD0-3CAF8EF55A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Multi-class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29622285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2694-6337-6A28-FDFB-B31D8D002C6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In the galaxy classification problem, we have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=7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classes</a:t>
                </a:r>
                <a:r>
                  <a:rPr lang="en-US" dirty="0">
                    <a:solidFill>
                      <a:srgbClr val="0033CC"/>
                    </a:solidFill>
                  </a:rPr>
                  <a:t>. 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chemeClr val="tx1"/>
                    </a:solidFill>
                  </a:rPr>
                  <a:t>Therefore, 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functions</a:t>
                </a:r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, </a:t>
                </a:r>
                <a:r>
                  <a:rPr lang="en-US" dirty="0"/>
                  <a:t>that</a:t>
                </a:r>
                <a:r>
                  <a:rPr lang="en-US" dirty="0">
                    <a:solidFill>
                      <a:schemeClr val="tx1"/>
                    </a:solidFill>
                  </a:rPr>
                  <a:t> satisfy</a:t>
                </a: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=1,   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br>
                  <a:rPr lang="en-US" dirty="0">
                    <a:solidFill>
                      <a:srgbClr val="0033CC"/>
                    </a:solidFill>
                  </a:rPr>
                </a:br>
                <a:r>
                  <a:rPr lang="en-US" dirty="0"/>
                  <a:t>These functions should approximate the class probabilities, </a:t>
                </a:r>
                <a:br>
                  <a:rPr lang="en-US" dirty="0"/>
                </a:br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   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b="0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552694-6337-6A28-FDFB-B31D8D002C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(1)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421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9C9DDE-C437-2486-B9E2-F1E82C734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FCC05-A754-B52C-829B-B7A1F1480B1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670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Given a loss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we can, in principle, determine what a trained model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approximates. </a:t>
                </a:r>
              </a:p>
              <a:p>
                <a:pPr marL="0" indent="0">
                  <a:buNone/>
                </a:pPr>
                <a:r>
                  <a:rPr lang="en-US" dirty="0"/>
                  <a:t>But now we wish to go in the reverse direction: 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≡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≈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</a:t>
                </a:r>
                <a:r>
                  <a:rPr lang="en-US" dirty="0">
                    <a:solidFill>
                      <a:schemeClr val="tx1"/>
                    </a:solidFill>
                  </a:rPr>
                  <a:t>hat loss function 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should one use?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question can be answered by minimizing the risk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but this time we must impose the constraint: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BFCC05-A754-B52C-829B-B7A1F1480B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670800" cy="4819650"/>
              </a:xfrm>
              <a:blipFill>
                <a:blip r:embed="rId2"/>
                <a:stretch>
                  <a:fillRect l="-1325" t="-1316" r="-1325" b="-34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BA6B79F-DC3F-1ACA-BBCF-FAAA26928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(2)</a:t>
            </a:r>
          </a:p>
        </p:txBody>
      </p:sp>
    </p:spTree>
    <p:extLst>
      <p:ext uri="{BB962C8B-B14F-4D97-AF65-F5344CB8AC3E}">
        <p14:creationId xmlns:p14="http://schemas.microsoft.com/office/powerpoint/2010/main" val="1855427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2D6C9-1682-ADC8-D0F3-7EABAE7F35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786352-16C6-26D2-9F42-586C47319D9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Recall that the risk functional can be written as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since  the values of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discrete: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=0,⋯,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>
                    <a:latin typeface="+mn-lt"/>
                  </a:rPr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6786352-16C6-26D2-9F42-586C47319D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0FF2C12E-A7F8-E078-3F6B-F0BEE9D00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(3)</a:t>
            </a:r>
          </a:p>
        </p:txBody>
      </p:sp>
    </p:spTree>
    <p:extLst>
      <p:ext uri="{BB962C8B-B14F-4D97-AF65-F5344CB8AC3E}">
        <p14:creationId xmlns:p14="http://schemas.microsoft.com/office/powerpoint/2010/main" val="1048143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C5153-439F-2A57-0A50-F1BCE64A8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DA2F6-FDB3-D4DC-3AF5-DBF59EA3356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to minimize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subject to the constraint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is, subject to 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−1=0</m:t>
                      </m:r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DA2F6-FDB3-D4DC-3AF5-DBF59EA335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2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81BC683-83A5-941D-A419-708228B1B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(4)</a:t>
            </a:r>
          </a:p>
        </p:txBody>
      </p:sp>
    </p:spTree>
    <p:extLst>
      <p:ext uri="{BB962C8B-B14F-4D97-AF65-F5344CB8AC3E}">
        <p14:creationId xmlns:p14="http://schemas.microsoft.com/office/powerpoint/2010/main" val="41428543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8E379-D416-2824-BED1-8C525208C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4BF0C7-F7AE-8409-F60E-100BDA18A20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solution (see Appendix B) is the </a:t>
                </a:r>
                <a:r>
                  <a:rPr lang="en-US" dirty="0">
                    <a:solidFill>
                      <a:srgbClr val="0033CC"/>
                    </a:solidFill>
                  </a:rPr>
                  <a:t>cross-entropy loss 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Therefore, we can solve the</a:t>
                </a:r>
              </a:p>
              <a:p>
                <a:pPr marL="0" indent="0">
                  <a:buNone/>
                </a:pPr>
                <a:r>
                  <a:rPr lang="en-US" dirty="0"/>
                  <a:t>multi-class problem by minimizing </a:t>
                </a:r>
              </a:p>
              <a:p>
                <a:pPr marL="0" indent="0">
                  <a:buNone/>
                </a:pPr>
                <a:r>
                  <a:rPr lang="en-US" dirty="0"/>
                  <a:t>the following empirical risk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i="1">
                          <a:latin typeface="Cambria Math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[−</m:t>
                          </m:r>
                          <m:func>
                            <m:func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the known class index of image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and,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dirty="0"/>
                  <a:t>, is a model that we hope is flexible enough to approximate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probabilities that sum to one. </a:t>
                </a:r>
              </a:p>
              <a:p>
                <a:pPr marL="0" indent="0">
                  <a:buNone/>
                </a:pPr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F4BF0C7-F7AE-8409-F60E-100BDA18A2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1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DC80DFF-7B9A-B7B5-836F-23084C61A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Multi-Class Classification (5)</a:t>
            </a:r>
          </a:p>
        </p:txBody>
      </p:sp>
      <p:pic>
        <p:nvPicPr>
          <p:cNvPr id="4" name="Picture 3" descr="A collage of images of galaxies&#10;&#10;Description automatically generated">
            <a:extLst>
              <a:ext uri="{FF2B5EF4-FFF2-40B4-BE49-F238E27FC236}">
                <a16:creationId xmlns:a16="http://schemas.microsoft.com/office/drawing/2014/main" id="{2F413ED9-0C20-619B-EC47-682C80C43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1828800"/>
            <a:ext cx="3650743" cy="309953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17566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69851-6FB6-9345-2799-310F9B85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FA308A7-BEDA-F160-1904-D5ACCB214C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Convolutional </a:t>
            </a:r>
            <a:br>
              <a:rPr lang="en-US" dirty="0"/>
            </a:br>
            <a:r>
              <a:rPr lang="en-US" dirty="0"/>
              <a:t>neural networks (CNN)</a:t>
            </a:r>
            <a:br>
              <a:rPr lang="en-US" dirty="0"/>
            </a:b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3022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8BF8D-3045-6D6A-2C9A-92784A78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0312111-1509-250D-AC14-726106292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(1)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20033A-C9BF-FCDB-A315-83B27A5A3D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Convolutional neural networks</a:t>
            </a:r>
            <a:r>
              <a:rPr lang="en-US" dirty="0"/>
              <a:t> (CNN) are functions that extract features from 1, 2 or 3D data, and then process them with another neural network.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The insight that underpins CNNs is that many data sets, for example images, have similar patterns in different parts of the data sets. </a:t>
            </a:r>
          </a:p>
          <a:p>
            <a:endParaRPr lang="en-US" dirty="0"/>
          </a:p>
        </p:txBody>
      </p:sp>
      <p:pic>
        <p:nvPicPr>
          <p:cNvPr id="6" name="Picture 5" descr="A city with trees and buildings&#10;&#10;AI-generated content may be incorrect.">
            <a:extLst>
              <a:ext uri="{FF2B5EF4-FFF2-40B4-BE49-F238E27FC236}">
                <a16:creationId xmlns:a16="http://schemas.microsoft.com/office/drawing/2014/main" id="{B95F7738-1C35-B3A4-B9FB-1523D9245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0" y="1219200"/>
            <a:ext cx="3638550" cy="4851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32CD6-DF24-9468-AB5A-A7C64DBC6AE0}"/>
              </a:ext>
            </a:extLst>
          </p:cNvPr>
          <p:cNvSpPr txBox="1"/>
          <p:nvPr/>
        </p:nvSpPr>
        <p:spPr>
          <a:xfrm>
            <a:off x="5257800" y="6038334"/>
            <a:ext cx="3746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Harrison Prosper, Dinan, France, 2025</a:t>
            </a:r>
          </a:p>
        </p:txBody>
      </p:sp>
    </p:spTree>
    <p:extLst>
      <p:ext uri="{BB962C8B-B14F-4D97-AF65-F5344CB8AC3E}">
        <p14:creationId xmlns:p14="http://schemas.microsoft.com/office/powerpoint/2010/main" val="24831272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AA8FB-6DC4-BA80-C403-D381FC6A0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145C6-DBC2-C6D1-11AF-1179B2A618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lang="en-US" dirty="0"/>
              <a:t>A standard </a:t>
            </a:r>
            <a:r>
              <a:rPr lang="en-US" dirty="0">
                <a:solidFill>
                  <a:srgbClr val="0033CC"/>
                </a:solidFill>
              </a:rPr>
              <a:t>CNN </a:t>
            </a:r>
            <a:r>
              <a:rPr lang="en-US" dirty="0"/>
              <a:t>comprises three types of processing layers: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lang="en-US" b="1" dirty="0">
              <a:solidFill>
                <a:srgbClr val="0033CC"/>
              </a:solidFill>
            </a:endParaRPr>
          </a:p>
          <a:p>
            <a:pPr marL="457200" marR="0" lvl="0" indent="-4572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  <a:br>
              <a:rPr lang="en-US" dirty="0"/>
            </a:br>
            <a:r>
              <a:rPr lang="en-US" dirty="0"/>
              <a:t>The data, e.g., an image, is </a:t>
            </a:r>
            <a:r>
              <a:rPr lang="en-US" i="1" dirty="0">
                <a:solidFill>
                  <a:srgbClr val="0033CC"/>
                </a:solidFill>
              </a:rPr>
              <a:t>convolved</a:t>
            </a:r>
            <a:r>
              <a:rPr lang="en-US" dirty="0"/>
              <a:t> with one or more </a:t>
            </a:r>
            <a:r>
              <a:rPr lang="en-US" dirty="0">
                <a:solidFill>
                  <a:srgbClr val="0033CC"/>
                </a:solidFill>
              </a:rPr>
              <a:t>filters</a:t>
            </a:r>
            <a:r>
              <a:rPr lang="en-US" dirty="0"/>
              <a:t>.</a:t>
            </a:r>
            <a:br>
              <a:rPr lang="en-US" dirty="0"/>
            </a:br>
            <a:endParaRPr lang="en-US" dirty="0"/>
          </a:p>
          <a:p>
            <a:pPr marL="457200" indent="-457200" eaLnBrk="1" fontAlgn="auto" hangingPunct="1">
              <a:spcBef>
                <a:spcPts val="0"/>
              </a:spcBef>
              <a:spcAft>
                <a:spcPts val="0"/>
              </a:spcAft>
              <a:buClrTx/>
              <a:buFont typeface="+mj-lt"/>
              <a:buAutoNum type="arabicPeriod"/>
              <a:defRPr/>
            </a:pPr>
            <a:r>
              <a:rPr lang="en-US" b="1" dirty="0">
                <a:solidFill>
                  <a:srgbClr val="0033CC"/>
                </a:solidFill>
              </a:rPr>
              <a:t>Down-sampling</a:t>
            </a:r>
            <a:br>
              <a:rPr lang="en-US" dirty="0"/>
            </a:br>
            <a:r>
              <a:rPr lang="en-US" dirty="0"/>
              <a:t>After applying a nonlinear map to the convolved data, the latter are down-sampled.</a:t>
            </a:r>
            <a:br>
              <a:rPr lang="en-US" dirty="0"/>
            </a:br>
            <a:endParaRPr lang="en-US" dirty="0"/>
          </a:p>
          <a:p>
            <a:pPr marL="457200" indent="-457200" eaLnBrk="1" fontAlgn="auto" hangingPunct="1">
              <a:spcBef>
                <a:spcPts val="0"/>
              </a:spcBef>
              <a:spcAft>
                <a:spcPts val="0"/>
              </a:spcAft>
              <a:buClrTx/>
              <a:buFont typeface="+mj-lt"/>
              <a:buAutoNum type="arabicPeriod"/>
              <a:defRPr/>
            </a:pPr>
            <a:r>
              <a:rPr lang="en-US" b="1" dirty="0">
                <a:solidFill>
                  <a:srgbClr val="0033CC"/>
                </a:solidFill>
              </a:rPr>
              <a:t>Classification</a:t>
            </a:r>
            <a:br>
              <a:rPr lang="en-US" dirty="0"/>
            </a:br>
            <a:r>
              <a:rPr lang="en-US" dirty="0"/>
              <a:t>A feed-forward neural network classifies the convolved data.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b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FBE74E-DBAF-17F7-E3F2-455FA2286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(2)</a:t>
            </a:r>
          </a:p>
        </p:txBody>
      </p:sp>
    </p:spTree>
    <p:extLst>
      <p:ext uri="{BB962C8B-B14F-4D97-AF65-F5344CB8AC3E}">
        <p14:creationId xmlns:p14="http://schemas.microsoft.com/office/powerpoint/2010/main" val="3765758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60A9-68E7-8C74-A682-518D517AEB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EAEC8AE-87EA-2095-0A20-A764610CB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8DE796-267D-22F1-3B20-3BE2797631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 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(5, 5, 1)-image	</a:t>
            </a: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9576CC9D-207B-7030-1569-D2667B60F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FE7C0487-D006-2BD2-72A4-8D38657053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12" name="Picture 11" descr="A grid of white squares&#10;&#10;AI-generated content may be incorrect.">
            <a:extLst>
              <a:ext uri="{FF2B5EF4-FFF2-40B4-BE49-F238E27FC236}">
                <a16:creationId xmlns:a16="http://schemas.microsoft.com/office/drawing/2014/main" id="{79B6488A-D705-3C4F-5BF8-6F6C82EE6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612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88541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FF2629-3342-8FDD-BB73-4EB4A3609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DA41A3C-C6F6-3894-8C0B-721FE5B2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(4)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911F3-2C88-606F-C2F8-16EC5F808EDA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convolved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stride = 1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7F86BE62-4711-A49B-B159-04150BD1E4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50833B-B810-9867-B868-A6CECB5BCD4D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𝟕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=6.9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A150833B-B810-9867-B868-A6CECB5BC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04610EE2-EF56-4158-4403-B4261B36F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4D134829-2D6A-1ED3-5FD1-57EABCC61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400" y="2066925"/>
            <a:ext cx="1638300" cy="1638300"/>
          </a:xfrm>
          <a:prstGeom prst="rect">
            <a:avLst/>
          </a:prstGeom>
        </p:spPr>
      </p:pic>
      <p:pic>
        <p:nvPicPr>
          <p:cNvPr id="13" name="Picture 12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E6A59CA7-4A47-5636-1280-C337C51C8F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69540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86C1D-7AD0-EE03-81DE-AFB1D625D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13F36EA-5BEA-A334-1D64-23E548AD3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(5)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372CEA-07EA-B8AB-EB77-D87CB36D5925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convolved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C5E594F7-7D11-59B4-5C5D-A11962D00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6D43D39-777B-B2F3-B963-4C9D6C78E4CC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.9×1.0+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𝟏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=6.8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6D43D39-777B-B2F3-B963-4C9D6C78E4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C87C6CDF-980C-7B6C-A686-F3FE5889B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64805280-63B3-55D4-12C6-231A6C0830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4500" y="2066925"/>
            <a:ext cx="1638300" cy="1638300"/>
          </a:xfrm>
          <a:prstGeom prst="rect">
            <a:avLst/>
          </a:prstGeom>
        </p:spPr>
      </p:pic>
      <p:pic>
        <p:nvPicPr>
          <p:cNvPr id="8" name="Picture 7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6DCC1B73-FA4D-9E39-884E-71FBEB6152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11578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1263A-FD53-65CC-163F-1258FD529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C163B42-7CF5-F4AD-5849-851F0AF33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(6)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4D9AD-4263-2393-654F-27AA2E3FFE63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AutoNum type="arabicPeriod"/>
            </a:pPr>
            <a:r>
              <a:rPr lang="en-US" b="1" dirty="0">
                <a:solidFill>
                  <a:srgbClr val="0033CC"/>
                </a:solidFill>
              </a:rPr>
              <a:t>Convolution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(3, 3)-filter	(3, 3,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</a:t>
            </a:r>
            <a:r>
              <a:rPr lang="en-US" dirty="0"/>
              <a:t>(convolved)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			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BA78A57C-B721-17FE-12EF-2CC7F1F58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385486-3722-8EB1-622E-911C313A3668}"/>
                  </a:ext>
                </a:extLst>
              </p:cNvPr>
              <p:cNvSpPr txBox="1"/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×2.0+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×1.0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.0+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𝟎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.0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b="1" dirty="0">
                    <a:solidFill>
                      <a:srgbClr val="0033CC"/>
                    </a:solidFill>
                  </a:rPr>
                  <a:t>1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×1.0+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×2.0+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𝟕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=7.2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A385486-3722-8EB1-622E-911C313A3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0" y="4971871"/>
                <a:ext cx="5105400" cy="12003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C0C4AF7D-BE33-8DC5-F590-DB5254CA94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8000" y="1905000"/>
            <a:ext cx="1638300" cy="1638300"/>
          </a:xfrm>
          <a:prstGeom prst="rect">
            <a:avLst/>
          </a:prstGeom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2A32C4BB-2F27-B5E2-4618-76817FE7D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2066925"/>
            <a:ext cx="1638300" cy="1638300"/>
          </a:xfrm>
          <a:prstGeom prst="rect">
            <a:avLst/>
          </a:prstGeom>
        </p:spPr>
      </p:pic>
      <p:pic>
        <p:nvPicPr>
          <p:cNvPr id="10" name="Picture 9" descr="A grid of white squares with blue text&#10;&#10;AI-generated content may be incorrect.">
            <a:extLst>
              <a:ext uri="{FF2B5EF4-FFF2-40B4-BE49-F238E27FC236}">
                <a16:creationId xmlns:a16="http://schemas.microsoft.com/office/drawing/2014/main" id="{EF0DCF95-36CF-B572-0776-DE17751512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905000"/>
            <a:ext cx="1638300" cy="16383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1279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1FED-0FC9-238F-3FF7-F16222005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8681B2-A9A8-B2D0-9AA8-5662F6D4C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(6.1)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149FFB-FB85-C6A3-A79A-E30060E8BA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effectLst/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matrix elements of a filter are the parameters to be fitted. In addition, there is one bias parameter per output channel.</a:t>
                </a:r>
              </a:p>
              <a:p>
                <a:r>
                  <a:rPr lang="en-US" dirty="0"/>
                  <a:t>A convolution that processes an input image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channels and outputs another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en-US" dirty="0"/>
                  <a:t> channels has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/>
                  <a:t> separate filters, each of which creates a single-channel image,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en-US" dirty="0"/>
                  <a:t>, indexed by a pair of integers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𝑖𝑛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/>
                  <a:t>. Therefore,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× 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𝑖𝑛</m:t>
                        </m:r>
                      </m:sub>
                    </m:sSub>
                  </m:oMath>
                </a14:m>
                <a:r>
                  <a:rPr lang="en-US" dirty="0"/>
                  <a:t> single-channel images are created.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 final step is a pixel-by-pixel sum,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/>
                  <a:t>, over the input channel index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, thereby yielding an output image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</m:oMath>
                </a14:m>
                <a:r>
                  <a:rPr lang="en-US" dirty="0"/>
                  <a:t> channels.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				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149FFB-FB85-C6A3-A79A-E30060E8B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958" b="-1579"/>
                </a:stretch>
              </a:blipFill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88800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(7)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67438-7A40-3517-7182-07EC02666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Padding 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dirty="0"/>
              <a:t>Wrapping the image with a 1–pixel border makes it possible, with a (3, 3)-filter, to maintain the image size, at the cost potentially of diluting the information in the image.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D098D8DB-EDD0-C9AB-C96A-1AB69E3167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3764" y="14859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4C35AD8E-C12E-9EF3-BB48-0D859D2EB9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1400" y="990600"/>
            <a:ext cx="3835400" cy="38354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 descr="A red grid on a black background&#10;&#10;AI-generated content may be incorrect.">
            <a:extLst>
              <a:ext uri="{FF2B5EF4-FFF2-40B4-BE49-F238E27FC236}">
                <a16:creationId xmlns:a16="http://schemas.microsoft.com/office/drawing/2014/main" id="{051B8755-3EC7-43AE-5F31-F228B028A2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219200"/>
            <a:ext cx="16383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28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F793F-1847-5759-B3AE-470646EA4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738E9AF-943B-98ED-D0B2-3B4B4B0AD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(8)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6E0B9-7906-AF89-8610-579A86E1148F}"/>
              </a:ext>
            </a:extLst>
          </p:cNvPr>
          <p:cNvSpPr>
            <a:spLocks noGrp="1"/>
          </p:cNvSpPr>
          <p:nvPr>
            <p:ph idx="1"/>
          </p:nvPr>
        </p:nvSpPr>
        <p:spPr>
          <a:effectLst/>
        </p:spPr>
        <p:txBody>
          <a:bodyPr/>
          <a:lstStyle/>
          <a:p>
            <a:pPr marL="457200" indent="-457200">
              <a:buFont typeface="+mj-lt"/>
              <a:buAutoNum type="arabicPeriod" startAt="2"/>
            </a:pPr>
            <a:r>
              <a:rPr lang="en-US" b="1" dirty="0">
                <a:solidFill>
                  <a:srgbClr val="0033CC"/>
                </a:solidFill>
              </a:rPr>
              <a:t>Down-sampling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Stride = 2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(2, 2, 1)-image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						</a:t>
            </a:r>
            <a:r>
              <a:rPr lang="en-US" dirty="0"/>
              <a:t>(down-sampled)</a:t>
            </a:r>
          </a:p>
          <a:p>
            <a:pPr marL="0" indent="0">
              <a:buNone/>
            </a:pPr>
            <a:endParaRPr lang="en-US" b="1" dirty="0">
              <a:solidFill>
                <a:srgbClr val="0033C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            (5, 5, 1)-image </a:t>
            </a:r>
            <a:r>
              <a:rPr lang="en-US" dirty="0"/>
              <a:t>(convolved)</a:t>
            </a:r>
            <a:r>
              <a:rPr lang="en-US" b="1" dirty="0">
                <a:solidFill>
                  <a:srgbClr val="0033CC"/>
                </a:solidFill>
              </a:rPr>
              <a:t>			</a:t>
            </a:r>
          </a:p>
          <a:p>
            <a:pPr marL="0" indent="0">
              <a:buNone/>
            </a:pPr>
            <a:r>
              <a:rPr lang="en-US" dirty="0"/>
              <a:t>MaxPool2d	Return the largest value within window.</a:t>
            </a:r>
          </a:p>
          <a:p>
            <a:pPr marL="0" indent="0">
              <a:buNone/>
            </a:pPr>
            <a:r>
              <a:rPr lang="en-US" dirty="0"/>
              <a:t>AvgPool2d	Return the average value within window.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4" name="Picture 13" descr="A colorful squares with numbers&#10;&#10;AI-generated content may be incorrect.">
            <a:extLst>
              <a:ext uri="{FF2B5EF4-FFF2-40B4-BE49-F238E27FC236}">
                <a16:creationId xmlns:a16="http://schemas.microsoft.com/office/drawing/2014/main" id="{07C5EB65-49CB-93F5-786C-ADFB420D01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905000"/>
            <a:ext cx="2743200" cy="2743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0AA2D012-A190-FC3B-BB4C-801B80DE0C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2133600"/>
            <a:ext cx="1092200" cy="1092200"/>
          </a:xfrm>
          <a:prstGeom prst="rect">
            <a:avLst/>
          </a:prstGeom>
        </p:spPr>
      </p:pic>
      <p:pic>
        <p:nvPicPr>
          <p:cNvPr id="20" name="Picture 19" descr="A yellow and purple squares with white text&#10;&#10;AI-generated content may be incorrect.">
            <a:extLst>
              <a:ext uri="{FF2B5EF4-FFF2-40B4-BE49-F238E27FC236}">
                <a16:creationId xmlns:a16="http://schemas.microsoft.com/office/drawing/2014/main" id="{D5925A62-E4E3-8890-2EBF-26777F263C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1905000"/>
            <a:ext cx="1092200" cy="10922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B341B052-F1CD-4678-F140-70EBB3B308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400" y="2130425"/>
            <a:ext cx="1092200" cy="1092200"/>
          </a:xfrm>
          <a:prstGeom prst="rect">
            <a:avLst/>
          </a:prstGeom>
        </p:spPr>
      </p:pic>
      <p:pic>
        <p:nvPicPr>
          <p:cNvPr id="22" name="Picture 21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DD5F7A98-A1B9-3FEE-213B-72074C9D2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46200" y="2971800"/>
            <a:ext cx="1092200" cy="1092200"/>
          </a:xfrm>
          <a:prstGeom prst="rect">
            <a:avLst/>
          </a:prstGeom>
        </p:spPr>
      </p:pic>
      <p:pic>
        <p:nvPicPr>
          <p:cNvPr id="23" name="Picture 22" descr="A red square on a black background&#10;&#10;AI-generated content may be incorrect.">
            <a:extLst>
              <a:ext uri="{FF2B5EF4-FFF2-40B4-BE49-F238E27FC236}">
                <a16:creationId xmlns:a16="http://schemas.microsoft.com/office/drawing/2014/main" id="{A81412CD-D7BE-A11E-76FA-3EA824BC38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4400" y="2960687"/>
            <a:ext cx="1092200" cy="1092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340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9B0F3-D131-2365-DC3D-BF8785134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A18BF-49FA-7D7A-19B3-F72C5E5A68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	</a:t>
            </a:r>
          </a:p>
          <a:p>
            <a:pPr marL="0" indent="0">
              <a:buNone/>
            </a:pPr>
            <a:endParaRPr lang="en-US" b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466174-C21A-0A20-E0DA-2F722F1DA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Convolutional Neural Networks (9)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6">
                <a:extLst>
                  <a:ext uri="{FF2B5EF4-FFF2-40B4-BE49-F238E27FC236}">
                    <a16:creationId xmlns:a16="http://schemas.microsoft.com/office/drawing/2014/main" id="{EF6C275D-7E0B-D136-0A47-F5C056E4795D}"/>
                  </a:ext>
                </a:extLst>
              </p:cNvPr>
              <p:cNvSpPr txBox="1">
                <a:spLocks/>
              </p:cNvSpPr>
              <p:nvPr/>
            </p:nvSpPr>
            <p:spPr bwMode="auto">
              <a:xfrm>
                <a:off x="711200" y="1295400"/>
                <a:ext cx="7772400" cy="481965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2075" tIns="46038" rIns="92075" bIns="46038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CC0000"/>
                  </a:buClr>
                  <a:buFont typeface="Wingdings" pitchFamily="2" charset="2"/>
                  <a:buChar char="Ø"/>
                  <a:defRPr sz="2400">
                    <a:solidFill>
                      <a:schemeClr val="tx1"/>
                    </a:solidFill>
                    <a:latin typeface="Times New Roman"/>
                    <a:ea typeface="ＭＳ Ｐゴシック" pitchFamily="-109" charset="-128"/>
                    <a:cs typeface="Times New Roman"/>
                  </a:defRPr>
                </a:lvl1pPr>
                <a:lvl2pPr marL="742950" indent="-28575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009900"/>
                  </a:buClr>
                  <a:buFont typeface="Wingdings" pitchFamily="2" charset="2"/>
                  <a:buChar char="Ø"/>
                  <a:defRPr sz="24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2pPr>
                <a:lvl3pPr marL="1143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lr>
                    <a:srgbClr val="0000CC"/>
                  </a:buClr>
                  <a:buFont typeface="Wingdings" pitchFamily="2" charset="2"/>
                  <a:buChar char="Ø"/>
                  <a:defRPr sz="20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3pPr>
                <a:lvl4pPr marL="1600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Ø"/>
                  <a:defRPr sz="18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4pPr>
                <a:lvl5pPr marL="20574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Ø"/>
                  <a:defRPr sz="1800">
                    <a:solidFill>
                      <a:schemeClr val="tx1"/>
                    </a:solidFill>
                    <a:latin typeface="Times New Roman"/>
                    <a:ea typeface="ＭＳ Ｐゴシック" pitchFamily="-65" charset="-128"/>
                    <a:cs typeface="Times New Roman"/>
                  </a:defRPr>
                </a:lvl5pPr>
                <a:lvl6pPr marL="25146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6pPr>
                <a:lvl7pPr marL="29718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7pPr>
                <a:lvl8pPr marL="34290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8pPr>
                <a:lvl9pPr marL="3886200" indent="-228600" algn="l" rtl="0" eaLnBrk="1" fontAlgn="base" hangingPunct="1">
                  <a:spcBef>
                    <a:spcPct val="20000"/>
                  </a:spcBef>
                  <a:spcAft>
                    <a:spcPct val="0"/>
                  </a:spcAft>
                  <a:buChar char="•"/>
                  <a:defRPr sz="1800">
                    <a:solidFill>
                      <a:schemeClr val="tx1"/>
                    </a:solidFill>
                    <a:latin typeface="+mn-lt"/>
                    <a:ea typeface="ＭＳ Ｐゴシック" pitchFamily="-65" charset="-128"/>
                  </a:defRPr>
                </a:lvl9pPr>
              </a:lstStyle>
              <a:p>
                <a:pPr marL="457200" indent="-45720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Font typeface="+mj-lt"/>
                  <a:buAutoNum type="arabicPeriod" startAt="3"/>
                  <a:defRPr/>
                </a:pPr>
                <a:r>
                  <a:rPr lang="en-US" b="1" dirty="0">
                    <a:solidFill>
                      <a:srgbClr val="0033CC"/>
                    </a:solidFill>
                  </a:rPr>
                  <a:t>Classification</a:t>
                </a:r>
                <a:br>
                  <a:rPr lang="en-US" dirty="0"/>
                </a:br>
                <a:r>
                  <a:rPr lang="en-US" dirty="0"/>
                  <a:t>The convolved data go to a feed-forward neural network whose outputs,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go through a </a:t>
                </a:r>
                <a:r>
                  <a:rPr lang="en-US" dirty="0" err="1">
                    <a:solidFill>
                      <a:srgbClr val="0033CC"/>
                    </a:solidFill>
                  </a:rPr>
                  <a:t>softmax</a:t>
                </a:r>
                <a:r>
                  <a:rPr lang="en-US" dirty="0"/>
                  <a:t> function</a:t>
                </a:r>
                <a:br>
                  <a:rPr lang="en-US" dirty="0"/>
                </a:b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≡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indent="-45720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Font typeface="+mj-lt"/>
                  <a:buAutoNum type="arabicPeriod" startAt="3"/>
                  <a:defRPr/>
                </a:pP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:r>
                  <a:rPr lang="en-US" dirty="0"/>
                  <a:t>       that enforces the sum rule</a:t>
                </a:r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>
                    <a:srgbClr val="C00000"/>
                  </a:buClr>
                  <a:buNone/>
                  <a:defRPr/>
                </a:pPr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sz="2000" kern="0" dirty="0"/>
              </a:p>
              <a:p>
                <a:pPr marL="0" indent="0" fontAlgn="auto">
                  <a:spcBef>
                    <a:spcPts val="0"/>
                  </a:spcBef>
                  <a:spcAft>
                    <a:spcPts val="0"/>
                  </a:spcAft>
                  <a:buClrTx/>
                  <a:buFontTx/>
                  <a:buNone/>
                  <a:defRPr/>
                </a:pPr>
                <a:endParaRPr lang="en-US" sz="2000" kern="0" dirty="0"/>
              </a:p>
            </p:txBody>
          </p:sp>
        </mc:Choice>
        <mc:Fallback xmlns="">
          <p:sp>
            <p:nvSpPr>
              <p:cNvPr id="6" name="Content Placeholder 6">
                <a:extLst>
                  <a:ext uri="{FF2B5EF4-FFF2-40B4-BE49-F238E27FC236}">
                    <a16:creationId xmlns:a16="http://schemas.microsoft.com/office/drawing/2014/main" id="{EF6C275D-7E0B-D136-0A47-F5C056E4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11200" y="1295400"/>
                <a:ext cx="7772400" cy="4819650"/>
              </a:xfrm>
              <a:prstGeom prst="rect">
                <a:avLst/>
              </a:prstGeom>
              <a:blipFill>
                <a:blip r:embed="rId2"/>
                <a:stretch>
                  <a:fillRect l="-1142" t="-1316" b="-31579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470035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88770-1C8F-3897-E1DF-7F9D925C6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E693F1E-7D04-95D6-FA73-1607D5F45E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rgbClr val="0033CC"/>
                </a:solidFill>
              </a:rPr>
              <a:t>A galaxy classifier: part 2</a:t>
            </a:r>
          </a:p>
        </p:txBody>
      </p:sp>
    </p:spTree>
    <p:extLst>
      <p:ext uri="{BB962C8B-B14F-4D97-AF65-F5344CB8AC3E}">
        <p14:creationId xmlns:p14="http://schemas.microsoft.com/office/powerpoint/2010/main" val="3505743271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5943B1-69E0-0397-877A-154870CB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70FFF3B-EC02-DAFA-88AD-A5DB90BB9B83}"/>
              </a:ext>
            </a:extLst>
          </p:cNvPr>
          <p:cNvGrpSpPr/>
          <p:nvPr/>
        </p:nvGrpSpPr>
        <p:grpSpPr>
          <a:xfrm>
            <a:off x="152400" y="990600"/>
            <a:ext cx="8763000" cy="5042033"/>
            <a:chOff x="152400" y="990600"/>
            <a:chExt cx="8763000" cy="5042033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863D75A-0F40-545C-E83C-86C733A06115}"/>
                </a:ext>
              </a:extLst>
            </p:cNvPr>
            <p:cNvGrpSpPr/>
            <p:nvPr/>
          </p:nvGrpSpPr>
          <p:grpSpPr>
            <a:xfrm>
              <a:off x="152400" y="2514600"/>
              <a:ext cx="6326439" cy="3518033"/>
              <a:chOff x="-154239" y="1110485"/>
              <a:chExt cx="9149906" cy="5088118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38C5C7AD-C586-E0BC-407D-211137D448CF}"/>
                  </a:ext>
                </a:extLst>
              </p:cNvPr>
              <p:cNvGrpSpPr/>
              <p:nvPr/>
            </p:nvGrpSpPr>
            <p:grpSpPr>
              <a:xfrm>
                <a:off x="2728436" y="2699429"/>
                <a:ext cx="1799462" cy="2147287"/>
                <a:chOff x="3404684" y="3189408"/>
                <a:chExt cx="1429278" cy="1980545"/>
              </a:xfrm>
            </p:grpSpPr>
            <p:sp>
              <p:nvSpPr>
                <p:cNvPr id="58" name="Data 57">
                  <a:extLst>
                    <a:ext uri="{FF2B5EF4-FFF2-40B4-BE49-F238E27FC236}">
                      <a16:creationId xmlns:a16="http://schemas.microsoft.com/office/drawing/2014/main" id="{8DB585E1-35AB-3C4E-DB92-665335587BCB}"/>
                    </a:ext>
                  </a:extLst>
                </p:cNvPr>
                <p:cNvSpPr/>
                <p:nvPr/>
              </p:nvSpPr>
              <p:spPr>
                <a:xfrm rot="16200000">
                  <a:off x="3571255" y="3540617"/>
                  <a:ext cx="1613916" cy="911498"/>
                </a:xfrm>
                <a:prstGeom prst="flowChartInputOutput">
                  <a:avLst/>
                </a:prstGeom>
                <a:solidFill>
                  <a:srgbClr val="C00000">
                    <a:alpha val="51184"/>
                  </a:srgb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grpSp>
              <p:nvGrpSpPr>
                <p:cNvPr id="13" name="Group 12">
                  <a:extLst>
                    <a:ext uri="{FF2B5EF4-FFF2-40B4-BE49-F238E27FC236}">
                      <a16:creationId xmlns:a16="http://schemas.microsoft.com/office/drawing/2014/main" id="{313BEC93-309D-0BCC-E903-C748AF73E8AF}"/>
                    </a:ext>
                  </a:extLst>
                </p:cNvPr>
                <p:cNvGrpSpPr/>
                <p:nvPr/>
              </p:nvGrpSpPr>
              <p:grpSpPr>
                <a:xfrm>
                  <a:off x="3404684" y="3318003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14" name="Data 13">
                    <a:extLst>
                      <a:ext uri="{FF2B5EF4-FFF2-40B4-BE49-F238E27FC236}">
                        <a16:creationId xmlns:a16="http://schemas.microsoft.com/office/drawing/2014/main" id="{276BEEF2-607E-8BEB-C465-27FFA91BA94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5" name="Data 14">
                    <a:extLst>
                      <a:ext uri="{FF2B5EF4-FFF2-40B4-BE49-F238E27FC236}">
                        <a16:creationId xmlns:a16="http://schemas.microsoft.com/office/drawing/2014/main" id="{0B880C51-ADED-26A4-9FC1-506AA6939E7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6" name="Data 15">
                    <a:extLst>
                      <a:ext uri="{FF2B5EF4-FFF2-40B4-BE49-F238E27FC236}">
                        <a16:creationId xmlns:a16="http://schemas.microsoft.com/office/drawing/2014/main" id="{45B3394E-B5A1-CDF6-271D-BE53DCD54CD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585F9637-86D4-1678-798B-55870C82928D}"/>
                  </a:ext>
                </a:extLst>
              </p:cNvPr>
              <p:cNvGrpSpPr/>
              <p:nvPr/>
            </p:nvGrpSpPr>
            <p:grpSpPr>
              <a:xfrm>
                <a:off x="-154239" y="3121416"/>
                <a:ext cx="2775857" cy="3077187"/>
                <a:chOff x="2840300" y="3624290"/>
                <a:chExt cx="1252657" cy="1851950"/>
              </a:xfrm>
            </p:grpSpPr>
            <p:sp>
              <p:nvSpPr>
                <p:cNvPr id="18" name="Data 17">
                  <a:extLst>
                    <a:ext uri="{FF2B5EF4-FFF2-40B4-BE49-F238E27FC236}">
                      <a16:creationId xmlns:a16="http://schemas.microsoft.com/office/drawing/2014/main" id="{3EB6EF7C-BAB7-5F3F-CB83-21924D8EC282}"/>
                    </a:ext>
                  </a:extLst>
                </p:cNvPr>
                <p:cNvSpPr/>
                <p:nvPr/>
              </p:nvSpPr>
              <p:spPr>
                <a:xfrm rot="16200000">
                  <a:off x="2830250" y="3975499"/>
                  <a:ext cx="1613916" cy="911498"/>
                </a:xfrm>
                <a:prstGeom prst="flowChartInputOutput">
                  <a:avLst/>
                </a:prstGeom>
                <a:solidFill>
                  <a:schemeClr val="accent1">
                    <a:lumMod val="75000"/>
                    <a:alpha val="51184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sp>
              <p:nvSpPr>
                <p:cNvPr id="19" name="Data 18">
                  <a:extLst>
                    <a:ext uri="{FF2B5EF4-FFF2-40B4-BE49-F238E27FC236}">
                      <a16:creationId xmlns:a16="http://schemas.microsoft.com/office/drawing/2014/main" id="{8997DE93-CAC0-0590-F6CD-746F4D87BFBC}"/>
                    </a:ext>
                  </a:extLst>
                </p:cNvPr>
                <p:cNvSpPr/>
                <p:nvPr/>
              </p:nvSpPr>
              <p:spPr>
                <a:xfrm rot="16200000">
                  <a:off x="2669142" y="4101773"/>
                  <a:ext cx="1613916" cy="911498"/>
                </a:xfrm>
                <a:prstGeom prst="flowChartInputOutput">
                  <a:avLst/>
                </a:prstGeom>
                <a:solidFill>
                  <a:schemeClr val="accent2">
                    <a:lumMod val="50000"/>
                    <a:alpha val="51184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  <p:sp>
              <p:nvSpPr>
                <p:cNvPr id="20" name="Data 19">
                  <a:extLst>
                    <a:ext uri="{FF2B5EF4-FFF2-40B4-BE49-F238E27FC236}">
                      <a16:creationId xmlns:a16="http://schemas.microsoft.com/office/drawing/2014/main" id="{54F66D45-E27E-BDA5-96E9-B98AE5D04A27}"/>
                    </a:ext>
                  </a:extLst>
                </p:cNvPr>
                <p:cNvSpPr/>
                <p:nvPr/>
              </p:nvSpPr>
              <p:spPr>
                <a:xfrm rot="16200000">
                  <a:off x="2489091" y="4213533"/>
                  <a:ext cx="1613916" cy="911498"/>
                </a:xfrm>
                <a:prstGeom prst="flowChartInputOutput">
                  <a:avLst/>
                </a:prstGeom>
                <a:solidFill>
                  <a:srgbClr val="C00000">
                    <a:alpha val="51184"/>
                  </a:srgb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800"/>
                </a:p>
              </p:txBody>
            </p: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5736A331-404A-9B44-BE3D-72AF4A668C89}"/>
                  </a:ext>
                </a:extLst>
              </p:cNvPr>
              <p:cNvGrpSpPr/>
              <p:nvPr/>
            </p:nvGrpSpPr>
            <p:grpSpPr>
              <a:xfrm>
                <a:off x="6250543" y="1866709"/>
                <a:ext cx="930420" cy="1054460"/>
                <a:chOff x="7046809" y="1704950"/>
                <a:chExt cx="1240559" cy="1405946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6A951013-C2F5-9F50-FFE0-9C3844C043A8}"/>
                    </a:ext>
                  </a:extLst>
                </p:cNvPr>
                <p:cNvGrpSpPr/>
                <p:nvPr/>
              </p:nvGrpSpPr>
              <p:grpSpPr>
                <a:xfrm>
                  <a:off x="7046809" y="1904436"/>
                  <a:ext cx="896722" cy="1206460"/>
                  <a:chOff x="2840300" y="3624290"/>
                  <a:chExt cx="1252657" cy="1851950"/>
                </a:xfrm>
              </p:grpSpPr>
              <p:sp>
                <p:nvSpPr>
                  <p:cNvPr id="5" name="Data 4">
                    <a:extLst>
                      <a:ext uri="{FF2B5EF4-FFF2-40B4-BE49-F238E27FC236}">
                        <a16:creationId xmlns:a16="http://schemas.microsoft.com/office/drawing/2014/main" id="{6380D0D8-484D-2F77-5FF3-5950FDD8A90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6" name="Data 5">
                    <a:extLst>
                      <a:ext uri="{FF2B5EF4-FFF2-40B4-BE49-F238E27FC236}">
                        <a16:creationId xmlns:a16="http://schemas.microsoft.com/office/drawing/2014/main" id="{53EA77D3-766A-2AAF-5BC2-DB8513F39A5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7" name="Data 6">
                    <a:extLst>
                      <a:ext uri="{FF2B5EF4-FFF2-40B4-BE49-F238E27FC236}">
                        <a16:creationId xmlns:a16="http://schemas.microsoft.com/office/drawing/2014/main" id="{6383ED5E-F23D-6613-CDC6-ED833577100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0C3F27B9-9EF0-4EDA-2EAA-D3BB51C69C75}"/>
                    </a:ext>
                  </a:extLst>
                </p:cNvPr>
                <p:cNvGrpSpPr/>
                <p:nvPr/>
              </p:nvGrpSpPr>
              <p:grpSpPr>
                <a:xfrm>
                  <a:off x="7390646" y="1704950"/>
                  <a:ext cx="896722" cy="1206460"/>
                  <a:chOff x="2840300" y="3624290"/>
                  <a:chExt cx="1252657" cy="1851950"/>
                </a:xfrm>
              </p:grpSpPr>
              <p:sp>
                <p:nvSpPr>
                  <p:cNvPr id="24" name="Data 23">
                    <a:extLst>
                      <a:ext uri="{FF2B5EF4-FFF2-40B4-BE49-F238E27FC236}">
                        <a16:creationId xmlns:a16="http://schemas.microsoft.com/office/drawing/2014/main" id="{3FF4BAD1-073C-88AD-B230-B29F79B9813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25" name="Data 24">
                    <a:extLst>
                      <a:ext uri="{FF2B5EF4-FFF2-40B4-BE49-F238E27FC236}">
                        <a16:creationId xmlns:a16="http://schemas.microsoft.com/office/drawing/2014/main" id="{DB0BEA45-F0B2-FAA7-56A5-627436156D5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23" name="Data 22">
                    <a:extLst>
                      <a:ext uri="{FF2B5EF4-FFF2-40B4-BE49-F238E27FC236}">
                        <a16:creationId xmlns:a16="http://schemas.microsoft.com/office/drawing/2014/main" id="{F9251066-952C-7FFC-C240-4FF8E259865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5A4982A7-8CB7-D543-B129-35652F12EFF2}"/>
                  </a:ext>
                </a:extLst>
              </p:cNvPr>
              <p:cNvGrpSpPr/>
              <p:nvPr/>
            </p:nvGrpSpPr>
            <p:grpSpPr>
              <a:xfrm>
                <a:off x="4769910" y="2256259"/>
                <a:ext cx="1167577" cy="1571243"/>
                <a:chOff x="4837392" y="2387022"/>
                <a:chExt cx="1556769" cy="2094990"/>
              </a:xfrm>
            </p:grpSpPr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0AD661FA-B079-903F-D770-7B6FF1CA9932}"/>
                    </a:ext>
                  </a:extLst>
                </p:cNvPr>
                <p:cNvGrpSpPr/>
                <p:nvPr/>
              </p:nvGrpSpPr>
              <p:grpSpPr>
                <a:xfrm>
                  <a:off x="4837392" y="2630062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10" name="Data 9">
                    <a:extLst>
                      <a:ext uri="{FF2B5EF4-FFF2-40B4-BE49-F238E27FC236}">
                        <a16:creationId xmlns:a16="http://schemas.microsoft.com/office/drawing/2014/main" id="{586B211D-101F-3F6D-32B0-852B46119E8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1" name="Data 10">
                    <a:extLst>
                      <a:ext uri="{FF2B5EF4-FFF2-40B4-BE49-F238E27FC236}">
                        <a16:creationId xmlns:a16="http://schemas.microsoft.com/office/drawing/2014/main" id="{78CB0F74-3DBA-B59E-B11C-0ED2D3C7AFC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12" name="Data 11">
                    <a:extLst>
                      <a:ext uri="{FF2B5EF4-FFF2-40B4-BE49-F238E27FC236}">
                        <a16:creationId xmlns:a16="http://schemas.microsoft.com/office/drawing/2014/main" id="{AB32358D-68AD-F45B-F6E2-72EDDE833D8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B7A2B41D-3343-23B2-560B-8F930D3BCD3B}"/>
                    </a:ext>
                  </a:extLst>
                </p:cNvPr>
                <p:cNvGrpSpPr/>
                <p:nvPr/>
              </p:nvGrpSpPr>
              <p:grpSpPr>
                <a:xfrm>
                  <a:off x="5302612" y="2387022"/>
                  <a:ext cx="1091549" cy="1725676"/>
                  <a:chOff x="2840300" y="3750564"/>
                  <a:chExt cx="1091549" cy="1725676"/>
                </a:xfrm>
              </p:grpSpPr>
              <p:sp>
                <p:nvSpPr>
                  <p:cNvPr id="33" name="Data 32">
                    <a:extLst>
                      <a:ext uri="{FF2B5EF4-FFF2-40B4-BE49-F238E27FC236}">
                        <a16:creationId xmlns:a16="http://schemas.microsoft.com/office/drawing/2014/main" id="{DFC01F2C-C51A-3A6B-54F4-B2BAB519481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rgbClr val="0033CC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34" name="Data 33">
                    <a:extLst>
                      <a:ext uri="{FF2B5EF4-FFF2-40B4-BE49-F238E27FC236}">
                        <a16:creationId xmlns:a16="http://schemas.microsoft.com/office/drawing/2014/main" id="{E8D5F09A-BDA5-CA26-3AF3-D748F798DE6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18746ADF-1277-8807-B54E-DC2BD4E060E7}"/>
                  </a:ext>
                </a:extLst>
              </p:cNvPr>
              <p:cNvGrpSpPr/>
              <p:nvPr/>
            </p:nvGrpSpPr>
            <p:grpSpPr>
              <a:xfrm>
                <a:off x="7645344" y="1110485"/>
                <a:ext cx="703234" cy="848505"/>
                <a:chOff x="6251157" y="1630135"/>
                <a:chExt cx="2075476" cy="2351134"/>
              </a:xfrm>
            </p:grpSpPr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977FE71-15E9-4B5A-1F9D-D2662DE539CF}"/>
                    </a:ext>
                  </a:extLst>
                </p:cNvPr>
                <p:cNvGrpSpPr/>
                <p:nvPr/>
              </p:nvGrpSpPr>
              <p:grpSpPr>
                <a:xfrm>
                  <a:off x="6251157" y="2129319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46" name="Data 45">
                    <a:extLst>
                      <a:ext uri="{FF2B5EF4-FFF2-40B4-BE49-F238E27FC236}">
                        <a16:creationId xmlns:a16="http://schemas.microsoft.com/office/drawing/2014/main" id="{7D51E789-51E4-299F-5BAE-3544FA24C5E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7" name="Data 46">
                    <a:extLst>
                      <a:ext uri="{FF2B5EF4-FFF2-40B4-BE49-F238E27FC236}">
                        <a16:creationId xmlns:a16="http://schemas.microsoft.com/office/drawing/2014/main" id="{F2BC20F0-01F3-8920-7562-6EF3035C065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8" name="Data 47">
                    <a:extLst>
                      <a:ext uri="{FF2B5EF4-FFF2-40B4-BE49-F238E27FC236}">
                        <a16:creationId xmlns:a16="http://schemas.microsoft.com/office/drawing/2014/main" id="{D6217D84-5013-F9CE-0BD9-8EB1C2EF440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8" name="Group 37">
                  <a:extLst>
                    <a:ext uri="{FF2B5EF4-FFF2-40B4-BE49-F238E27FC236}">
                      <a16:creationId xmlns:a16="http://schemas.microsoft.com/office/drawing/2014/main" id="{6167567D-D496-8FDA-48F2-195041C8222D}"/>
                    </a:ext>
                  </a:extLst>
                </p:cNvPr>
                <p:cNvGrpSpPr/>
                <p:nvPr/>
              </p:nvGrpSpPr>
              <p:grpSpPr>
                <a:xfrm>
                  <a:off x="6731473" y="1823103"/>
                  <a:ext cx="1252657" cy="1851950"/>
                  <a:chOff x="2840300" y="3624290"/>
                  <a:chExt cx="1252657" cy="1851950"/>
                </a:xfrm>
              </p:grpSpPr>
              <p:sp>
                <p:nvSpPr>
                  <p:cNvPr id="43" name="Data 42">
                    <a:extLst>
                      <a:ext uri="{FF2B5EF4-FFF2-40B4-BE49-F238E27FC236}">
                        <a16:creationId xmlns:a16="http://schemas.microsoft.com/office/drawing/2014/main" id="{4C8957C6-2363-C12F-57D4-30828E9CC53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830250" y="3975499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1">
                      <a:lumMod val="75000"/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4" name="Data 43">
                    <a:extLst>
                      <a:ext uri="{FF2B5EF4-FFF2-40B4-BE49-F238E27FC236}">
                        <a16:creationId xmlns:a16="http://schemas.microsoft.com/office/drawing/2014/main" id="{68ECED7B-9A94-234A-C092-73B0EFC6C38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5" name="Data 44">
                    <a:extLst>
                      <a:ext uri="{FF2B5EF4-FFF2-40B4-BE49-F238E27FC236}">
                        <a16:creationId xmlns:a16="http://schemas.microsoft.com/office/drawing/2014/main" id="{450BFA4D-D238-F467-0F59-EB5EC5D44EC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  <p:grpSp>
              <p:nvGrpSpPr>
                <p:cNvPr id="39" name="Group 38">
                  <a:extLst>
                    <a:ext uri="{FF2B5EF4-FFF2-40B4-BE49-F238E27FC236}">
                      <a16:creationId xmlns:a16="http://schemas.microsoft.com/office/drawing/2014/main" id="{0E818443-CF18-5A71-D4AA-D1D8CED3735B}"/>
                    </a:ext>
                  </a:extLst>
                </p:cNvPr>
                <p:cNvGrpSpPr/>
                <p:nvPr/>
              </p:nvGrpSpPr>
              <p:grpSpPr>
                <a:xfrm>
                  <a:off x="7235084" y="1630135"/>
                  <a:ext cx="1091549" cy="1725676"/>
                  <a:chOff x="2840300" y="3750564"/>
                  <a:chExt cx="1091549" cy="1725676"/>
                </a:xfrm>
              </p:grpSpPr>
              <p:sp>
                <p:nvSpPr>
                  <p:cNvPr id="41" name="Data 40">
                    <a:extLst>
                      <a:ext uri="{FF2B5EF4-FFF2-40B4-BE49-F238E27FC236}">
                        <a16:creationId xmlns:a16="http://schemas.microsoft.com/office/drawing/2014/main" id="{DF55E8E8-4497-91AA-0D98-F3DBE6F085A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669142" y="4101773"/>
                    <a:ext cx="1613916" cy="911498"/>
                  </a:xfrm>
                  <a:prstGeom prst="flowChartInputOutput">
                    <a:avLst/>
                  </a:prstGeom>
                  <a:solidFill>
                    <a:schemeClr val="accent3">
                      <a:alpha val="51184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  <p:sp>
                <p:nvSpPr>
                  <p:cNvPr id="42" name="Data 41">
                    <a:extLst>
                      <a:ext uri="{FF2B5EF4-FFF2-40B4-BE49-F238E27FC236}">
                        <a16:creationId xmlns:a16="http://schemas.microsoft.com/office/drawing/2014/main" id="{9F3406E7-A7D3-ADEC-9D43-1B2B27C2F7F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489091" y="4213533"/>
                    <a:ext cx="1613916" cy="911498"/>
                  </a:xfrm>
                  <a:prstGeom prst="flowChartInputOutput">
                    <a:avLst/>
                  </a:prstGeom>
                  <a:solidFill>
                    <a:srgbClr val="C00000">
                      <a:alpha val="51184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800"/>
                  </a:p>
                </p:txBody>
              </p:sp>
            </p:grpSp>
          </p:grp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3757B7B-EAF3-3951-F64E-A40E87104294}"/>
                  </a:ext>
                </a:extLst>
              </p:cNvPr>
              <p:cNvSpPr txBox="1"/>
              <p:nvPr/>
            </p:nvSpPr>
            <p:spPr>
              <a:xfrm>
                <a:off x="2614389" y="5471257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(3, 96, 96)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DF6C0384-4D81-A485-3E42-9F4B597B43C7}"/>
                  </a:ext>
                </a:extLst>
              </p:cNvPr>
              <p:cNvSpPr txBox="1"/>
              <p:nvPr/>
            </p:nvSpPr>
            <p:spPr>
              <a:xfrm>
                <a:off x="3858849" y="4727985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(4, 48, 48)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B4EB8EC2-E5BA-4EFD-4B7E-B8D7B868D535}"/>
                  </a:ext>
                </a:extLst>
              </p:cNvPr>
              <p:cNvSpPr txBox="1"/>
              <p:nvPr/>
            </p:nvSpPr>
            <p:spPr>
              <a:xfrm>
                <a:off x="5460636" y="3636963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(5, 24, 24)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7D013B8E-95A8-75CA-47F7-DA4ECD6B534B}"/>
                  </a:ext>
                </a:extLst>
              </p:cNvPr>
              <p:cNvSpPr txBox="1"/>
              <p:nvPr/>
            </p:nvSpPr>
            <p:spPr>
              <a:xfrm>
                <a:off x="6941022" y="2729000"/>
                <a:ext cx="1306768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(6, 12, 12)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FE8EC25-55E5-F7F4-E747-39E132961E5B}"/>
                  </a:ext>
                </a:extLst>
              </p:cNvPr>
              <p:cNvSpPr txBox="1"/>
              <p:nvPr/>
            </p:nvSpPr>
            <p:spPr>
              <a:xfrm>
                <a:off x="7958204" y="1914643"/>
                <a:ext cx="1037463" cy="4154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(7, 6, 6)</a:t>
                </a: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4DB8B72B-3371-648D-7D2E-E2C5F8869130}"/>
                  </a:ext>
                </a:extLst>
              </p:cNvPr>
              <p:cNvSpPr/>
              <p:nvPr/>
            </p:nvSpPr>
            <p:spPr>
              <a:xfrm>
                <a:off x="2745071" y="3859382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9FAF2F5-91FB-5A3E-0573-70D855822726}"/>
                  </a:ext>
                </a:extLst>
              </p:cNvPr>
              <p:cNvSpPr/>
              <p:nvPr/>
            </p:nvSpPr>
            <p:spPr>
              <a:xfrm>
                <a:off x="4577837" y="3065842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2A773564-0CF0-FA86-6481-67AF7C56885B}"/>
                  </a:ext>
                </a:extLst>
              </p:cNvPr>
              <p:cNvSpPr/>
              <p:nvPr/>
            </p:nvSpPr>
            <p:spPr>
              <a:xfrm>
                <a:off x="6019800" y="2362200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343DE591-6514-1C9F-55C3-1D107C217D2F}"/>
                  </a:ext>
                </a:extLst>
              </p:cNvPr>
              <p:cNvSpPr/>
              <p:nvPr/>
            </p:nvSpPr>
            <p:spPr>
              <a:xfrm>
                <a:off x="7239000" y="1696645"/>
                <a:ext cx="412560" cy="436955"/>
              </a:xfrm>
              <a:prstGeom prst="ellipse">
                <a:avLst/>
              </a:prstGeom>
              <a:gradFill>
                <a:gsLst>
                  <a:gs pos="0">
                    <a:schemeClr val="accent2">
                      <a:lumMod val="0"/>
                      <a:lumOff val="100000"/>
                    </a:schemeClr>
                  </a:gs>
                  <a:gs pos="35000">
                    <a:schemeClr val="accent2">
                      <a:lumMod val="0"/>
                      <a:lumOff val="100000"/>
                    </a:schemeClr>
                  </a:gs>
                  <a:gs pos="100000">
                    <a:schemeClr val="accent2">
                      <a:lumMod val="100000"/>
                    </a:schemeClr>
                  </a:gs>
                </a:gsLst>
                <a:path path="circle">
                  <a:fillToRect l="50000" t="-80000" r="50000" b="180000"/>
                </a:path>
              </a:gra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841E966-E1C4-61C5-12CF-DDCC8159FF52}"/>
                </a:ext>
              </a:extLst>
            </p:cNvPr>
            <p:cNvGrpSpPr/>
            <p:nvPr/>
          </p:nvGrpSpPr>
          <p:grpSpPr>
            <a:xfrm>
              <a:off x="5562599" y="990600"/>
              <a:ext cx="3352801" cy="1489848"/>
              <a:chOff x="3969785" y="4052461"/>
              <a:chExt cx="5182263" cy="2151492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3EF198D3-0CD1-D5A9-DB39-B903D80E8E16}"/>
                  </a:ext>
                </a:extLst>
              </p:cNvPr>
              <p:cNvGrpSpPr/>
              <p:nvPr/>
            </p:nvGrpSpPr>
            <p:grpSpPr>
              <a:xfrm>
                <a:off x="3969785" y="4072426"/>
                <a:ext cx="5182263" cy="2131527"/>
                <a:chOff x="3289222" y="4281908"/>
                <a:chExt cx="5933409" cy="1937828"/>
              </a:xfrm>
            </p:grpSpPr>
            <p:sp>
              <p:nvSpPr>
                <p:cNvPr id="54" name="Cube 53">
                  <a:extLst>
                    <a:ext uri="{FF2B5EF4-FFF2-40B4-BE49-F238E27FC236}">
                      <a16:creationId xmlns:a16="http://schemas.microsoft.com/office/drawing/2014/main" id="{35B349B2-512B-EF00-2BCD-E79132F23EB2}"/>
                    </a:ext>
                  </a:extLst>
                </p:cNvPr>
                <p:cNvSpPr/>
                <p:nvPr/>
              </p:nvSpPr>
              <p:spPr bwMode="auto">
                <a:xfrm>
                  <a:off x="3289222" y="5567389"/>
                  <a:ext cx="3655940" cy="652347"/>
                </a:xfrm>
                <a:prstGeom prst="cube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Flatten()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55" name="Cube 54">
                  <a:extLst>
                    <a:ext uri="{FF2B5EF4-FFF2-40B4-BE49-F238E27FC236}">
                      <a16:creationId xmlns:a16="http://schemas.microsoft.com/office/drawing/2014/main" id="{5528B80B-07FE-D262-42AF-EA14834B8A9E}"/>
                    </a:ext>
                  </a:extLst>
                </p:cNvPr>
                <p:cNvSpPr/>
                <p:nvPr/>
              </p:nvSpPr>
              <p:spPr bwMode="auto">
                <a:xfrm>
                  <a:off x="4589438" y="4953000"/>
                  <a:ext cx="3655937" cy="652347"/>
                </a:xfrm>
                <a:prstGeom prst="cube">
                  <a:avLst/>
                </a:prstGeom>
                <a:solidFill>
                  <a:srgbClr val="FFFF00">
                    <a:alpha val="98000"/>
                  </a:srgbClr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>
                      <a:latin typeface="Times New Roman" pitchFamily="-65" charset="0"/>
                    </a:rPr>
                    <a:t>Linear(252, 7)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65" name="Cube 64">
                  <a:extLst>
                    <a:ext uri="{FF2B5EF4-FFF2-40B4-BE49-F238E27FC236}">
                      <a16:creationId xmlns:a16="http://schemas.microsoft.com/office/drawing/2014/main" id="{6255E27E-14AD-FCF9-7E2C-92ADF71D7AD6}"/>
                    </a:ext>
                  </a:extLst>
                </p:cNvPr>
                <p:cNvSpPr/>
                <p:nvPr/>
              </p:nvSpPr>
              <p:spPr bwMode="auto">
                <a:xfrm>
                  <a:off x="6168452" y="4281908"/>
                  <a:ext cx="3054179" cy="652347"/>
                </a:xfrm>
                <a:prstGeom prst="cube">
                  <a:avLst/>
                </a:prstGeom>
                <a:solidFill>
                  <a:schemeClr val="accent6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2000" dirty="0" err="1">
                      <a:latin typeface="Times New Roman" pitchFamily="-65" charset="0"/>
                    </a:rPr>
                    <a:t>softmax</a:t>
                  </a:r>
                  <a:r>
                    <a:rPr lang="en-US" sz="2000" dirty="0">
                      <a:latin typeface="Times New Roman" pitchFamily="-65" charset="0"/>
                    </a:rPr>
                    <a:t>()</a:t>
                  </a:r>
                  <a:endParaRPr kumimoji="0" 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p:grp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F1CC1D02-6FB4-8DD7-9286-441449CB4295}"/>
                  </a:ext>
                </a:extLst>
              </p:cNvPr>
              <p:cNvSpPr/>
              <p:nvPr/>
            </p:nvSpPr>
            <p:spPr bwMode="auto">
              <a:xfrm>
                <a:off x="6641574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202EC69-0406-2D62-32D3-42B227261AF7}"/>
                  </a:ext>
                </a:extLst>
              </p:cNvPr>
              <p:cNvSpPr/>
              <p:nvPr/>
            </p:nvSpPr>
            <p:spPr bwMode="auto">
              <a:xfrm>
                <a:off x="7019070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87306E2-B7B9-0220-E078-104BB2D3BACB}"/>
                  </a:ext>
                </a:extLst>
              </p:cNvPr>
              <p:cNvSpPr/>
              <p:nvPr/>
            </p:nvSpPr>
            <p:spPr bwMode="auto">
              <a:xfrm>
                <a:off x="7368799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6AE9B6B-4074-92E3-A9ED-41BFA807B4AE}"/>
                  </a:ext>
                </a:extLst>
              </p:cNvPr>
              <p:cNvSpPr/>
              <p:nvPr/>
            </p:nvSpPr>
            <p:spPr bwMode="auto">
              <a:xfrm>
                <a:off x="7706772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A75812E-52F6-1875-A92E-686CA62ACBA9}"/>
                  </a:ext>
                </a:extLst>
              </p:cNvPr>
              <p:cNvSpPr/>
              <p:nvPr/>
            </p:nvSpPr>
            <p:spPr bwMode="auto">
              <a:xfrm>
                <a:off x="8025132" y="4052461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CCB47CF5-C3BF-6E4A-3759-3C4660F8030A}"/>
                  </a:ext>
                </a:extLst>
              </p:cNvPr>
              <p:cNvSpPr/>
              <p:nvPr/>
            </p:nvSpPr>
            <p:spPr bwMode="auto">
              <a:xfrm>
                <a:off x="8374862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53" name="Oval 52">
                <a:extLst>
                  <a:ext uri="{FF2B5EF4-FFF2-40B4-BE49-F238E27FC236}">
                    <a16:creationId xmlns:a16="http://schemas.microsoft.com/office/drawing/2014/main" id="{126A280F-FDBD-B90F-4725-DAE412525DC0}"/>
                  </a:ext>
                </a:extLst>
              </p:cNvPr>
              <p:cNvSpPr/>
              <p:nvPr/>
            </p:nvSpPr>
            <p:spPr bwMode="auto">
              <a:xfrm>
                <a:off x="8712834" y="4063543"/>
                <a:ext cx="203657" cy="203656"/>
              </a:xfrm>
              <a:prstGeom prst="ellipse">
                <a:avLst/>
              </a:prstGeom>
              <a:solidFill>
                <a:srgbClr val="4032A1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312E9B1-2AFB-8231-6ADB-647B6B8AEDCF}"/>
              </a:ext>
            </a:extLst>
          </p:cNvPr>
          <p:cNvGrpSpPr/>
          <p:nvPr/>
        </p:nvGrpSpPr>
        <p:grpSpPr>
          <a:xfrm>
            <a:off x="705193" y="1589668"/>
            <a:ext cx="4839533" cy="461665"/>
            <a:chOff x="705193" y="1589668"/>
            <a:chExt cx="4839533" cy="461665"/>
          </a:xfrm>
        </p:grpSpPr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C6B659CB-6190-D804-E06B-68A9072674D1}"/>
                </a:ext>
              </a:extLst>
            </p:cNvPr>
            <p:cNvSpPr/>
            <p:nvPr/>
          </p:nvSpPr>
          <p:spPr>
            <a:xfrm>
              <a:off x="705193" y="1589668"/>
              <a:ext cx="412560" cy="436955"/>
            </a:xfrm>
            <a:prstGeom prst="ellipse">
              <a:avLst/>
            </a:prstGeom>
            <a:gradFill>
              <a:gsLst>
                <a:gs pos="0">
                  <a:schemeClr val="accent2">
                    <a:lumMod val="0"/>
                    <a:lumOff val="100000"/>
                  </a:schemeClr>
                </a:gs>
                <a:gs pos="35000">
                  <a:schemeClr val="accent2">
                    <a:lumMod val="0"/>
                    <a:lumOff val="100000"/>
                  </a:schemeClr>
                </a:gs>
                <a:gs pos="100000">
                  <a:schemeClr val="accent2">
                    <a:lumMod val="100000"/>
                  </a:schemeClr>
                </a:gs>
              </a:gsLst>
              <a:path path="circle">
                <a:fillToRect l="50000" t="-80000" r="50000" b="180000"/>
              </a:path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FD35278-1B83-6E56-9103-6BD2B5199607}"/>
                </a:ext>
              </a:extLst>
            </p:cNvPr>
            <p:cNvSpPr txBox="1"/>
            <p:nvPr/>
          </p:nvSpPr>
          <p:spPr>
            <a:xfrm>
              <a:off x="1148971" y="1589668"/>
              <a:ext cx="439575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 err="1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maxpool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b="1" dirty="0" err="1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relu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 </a:t>
              </a:r>
              <a:r>
                <a:rPr lang="en-US" b="1" dirty="0">
                  <a:solidFill>
                    <a:srgbClr val="0033CC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conv2d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b="1" i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en-US" b="1" dirty="0">
                  <a:solidFill>
                    <a:srgbClr val="0033CC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 ) )</a:t>
              </a:r>
            </a:p>
          </p:txBody>
        </p:sp>
      </p:grpSp>
      <p:sp>
        <p:nvSpPr>
          <p:cNvPr id="70" name="Title 69">
            <a:extLst>
              <a:ext uri="{FF2B5EF4-FFF2-40B4-BE49-F238E27FC236}">
                <a16:creationId xmlns:a16="http://schemas.microsoft.com/office/drawing/2014/main" id="{B09AB2FD-48E0-906B-E12B-4E69CFCA8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(4)</a:t>
            </a:r>
          </a:p>
        </p:txBody>
      </p:sp>
    </p:spTree>
    <p:extLst>
      <p:ext uri="{BB962C8B-B14F-4D97-AF65-F5344CB8AC3E}">
        <p14:creationId xmlns:p14="http://schemas.microsoft.com/office/powerpoint/2010/main" val="32273495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2FCBD-4682-98B8-F60B-CA8EE6C0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0B29E-9D32-D97C-6240-C7D65878EA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157243"/>
            <a:ext cx="7747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Here is a more standard representation of</a:t>
            </a:r>
          </a:p>
          <a:p>
            <a:pPr marL="0" indent="0">
              <a:buNone/>
            </a:pPr>
            <a:r>
              <a:rPr lang="en-US" dirty="0"/>
              <a:t>the proposed classifier.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C7FC795-5950-7267-B466-AC4F4C1D4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Galaxy Classifier (5)</a:t>
            </a:r>
            <a:endParaRPr lang="en-US" dirty="0">
              <a:solidFill>
                <a:srgbClr val="0033CC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5FB6C271-C4CF-4897-0057-8A71B0752AA9}"/>
              </a:ext>
            </a:extLst>
          </p:cNvPr>
          <p:cNvGrpSpPr/>
          <p:nvPr/>
        </p:nvGrpSpPr>
        <p:grpSpPr>
          <a:xfrm>
            <a:off x="2057400" y="76200"/>
            <a:ext cx="6707981" cy="6400800"/>
            <a:chOff x="1293019" y="4970"/>
            <a:chExt cx="6707981" cy="6400800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5067E74C-F05D-A819-980C-B47EB19FF61E}"/>
                </a:ext>
              </a:extLst>
            </p:cNvPr>
            <p:cNvGrpSpPr/>
            <p:nvPr/>
          </p:nvGrpSpPr>
          <p:grpSpPr>
            <a:xfrm>
              <a:off x="1293019" y="4567416"/>
              <a:ext cx="2288381" cy="1331032"/>
              <a:chOff x="5407819" y="4170013"/>
              <a:chExt cx="2288381" cy="1331032"/>
            </a:xfrm>
          </p:grpSpPr>
          <p:sp>
            <p:nvSpPr>
              <p:cNvPr id="93" name="Rectangle 92">
                <a:extLst>
                  <a:ext uri="{FF2B5EF4-FFF2-40B4-BE49-F238E27FC236}">
                    <a16:creationId xmlns:a16="http://schemas.microsoft.com/office/drawing/2014/main" id="{4FB35590-D37C-B79B-1BFB-04FB5A0F03ED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Conv2d(3,4,3,1,1)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4" name="Rectangle 93">
                <a:extLst>
                  <a:ext uri="{FF2B5EF4-FFF2-40B4-BE49-F238E27FC236}">
                    <a16:creationId xmlns:a16="http://schemas.microsoft.com/office/drawing/2014/main" id="{3158474F-CA93-B897-A0A1-CCC06ECEA47F}"/>
                  </a:ext>
                </a:extLst>
              </p:cNvPr>
              <p:cNvSpPr/>
              <p:nvPr/>
            </p:nvSpPr>
            <p:spPr bwMode="auto">
              <a:xfrm>
                <a:off x="5407819" y="4170013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0BF15D95-624B-2113-BCEF-82236190AB27}"/>
                  </a:ext>
                </a:extLst>
              </p:cNvPr>
              <p:cNvSpPr/>
              <p:nvPr/>
            </p:nvSpPr>
            <p:spPr bwMode="auto">
              <a:xfrm>
                <a:off x="5407819" y="4627213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8C41673A-AE98-3C89-C73D-4F452DF78012}"/>
                </a:ext>
              </a:extLst>
            </p:cNvPr>
            <p:cNvGrpSpPr/>
            <p:nvPr/>
          </p:nvGrpSpPr>
          <p:grpSpPr>
            <a:xfrm>
              <a:off x="1295400" y="2948106"/>
              <a:ext cx="2286000" cy="1290640"/>
              <a:chOff x="5410200" y="4210405"/>
              <a:chExt cx="2286000" cy="1290640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39AEA7F0-9B98-0693-FAC8-0496F5D871B6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Conv2d(4,5,3,1,1)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650D3641-0436-2921-01A9-3A753CD39A09}"/>
                  </a:ext>
                </a:extLst>
              </p:cNvPr>
              <p:cNvSpPr/>
              <p:nvPr/>
            </p:nvSpPr>
            <p:spPr bwMode="auto">
              <a:xfrm>
                <a:off x="5410200" y="4210405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1C7382C4-9DCA-3EDE-E24E-AFB6047020D9}"/>
                  </a:ext>
                </a:extLst>
              </p:cNvPr>
              <p:cNvSpPr/>
              <p:nvPr/>
            </p:nvSpPr>
            <p:spPr bwMode="auto">
              <a:xfrm>
                <a:off x="5410200" y="4667605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30E2FF53-926D-F42D-1373-D6302F5ABEF5}"/>
                </a:ext>
              </a:extLst>
            </p:cNvPr>
            <p:cNvGrpSpPr/>
            <p:nvPr/>
          </p:nvGrpSpPr>
          <p:grpSpPr>
            <a:xfrm>
              <a:off x="5715000" y="4262616"/>
              <a:ext cx="2286000" cy="1299984"/>
              <a:chOff x="5410200" y="4201061"/>
              <a:chExt cx="2286000" cy="1299984"/>
            </a:xfrm>
          </p:grpSpPr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5FB7DAFC-0BA7-14F3-9369-1F1B3E7251B8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Conv2d(5,6,3,1,1)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08DCAF6D-63EC-8A68-9D12-A0998F45A22F}"/>
                  </a:ext>
                </a:extLst>
              </p:cNvPr>
              <p:cNvSpPr/>
              <p:nvPr/>
            </p:nvSpPr>
            <p:spPr bwMode="auto">
              <a:xfrm>
                <a:off x="5410200" y="4201061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62A6B8B-97C4-4D5B-6CE0-462EA15AD548}"/>
                  </a:ext>
                </a:extLst>
              </p:cNvPr>
              <p:cNvSpPr/>
              <p:nvPr/>
            </p:nvSpPr>
            <p:spPr bwMode="auto">
              <a:xfrm>
                <a:off x="5410200" y="4658261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47FF387-1491-35DB-B6FB-95FF6470B854}"/>
                </a:ext>
              </a:extLst>
            </p:cNvPr>
            <p:cNvGrpSpPr/>
            <p:nvPr/>
          </p:nvGrpSpPr>
          <p:grpSpPr>
            <a:xfrm>
              <a:off x="5712619" y="2604212"/>
              <a:ext cx="2288381" cy="1298686"/>
              <a:chOff x="5407819" y="4202359"/>
              <a:chExt cx="2288381" cy="1298686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5A73CDC6-04A0-D282-2296-0B955C92FDD3}"/>
                  </a:ext>
                </a:extLst>
              </p:cNvPr>
              <p:cNvSpPr/>
              <p:nvPr/>
            </p:nvSpPr>
            <p:spPr bwMode="auto">
              <a:xfrm>
                <a:off x="5410200" y="5100935"/>
                <a:ext cx="2286000" cy="400110"/>
              </a:xfrm>
              <a:prstGeom prst="rect">
                <a:avLst/>
              </a:prstGeom>
              <a:solidFill>
                <a:srgbClr val="FFC00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Conv2d(6,7,3,1,1)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D98B855-1452-A9F6-401A-D076CF455473}"/>
                  </a:ext>
                </a:extLst>
              </p:cNvPr>
              <p:cNvSpPr/>
              <p:nvPr/>
            </p:nvSpPr>
            <p:spPr bwMode="auto">
              <a:xfrm>
                <a:off x="5407819" y="4202359"/>
                <a:ext cx="2286000" cy="400110"/>
              </a:xfrm>
              <a:prstGeom prst="rect">
                <a:avLst/>
              </a:prstGeom>
              <a:solidFill>
                <a:srgbClr val="92D050"/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>
                    <a:latin typeface="Times New Roman" pitchFamily="-65" charset="0"/>
                  </a:rPr>
                  <a:t>MaxPool2d(2,2)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16B842EF-503D-03BE-8966-D27652324120}"/>
                  </a:ext>
                </a:extLst>
              </p:cNvPr>
              <p:cNvSpPr/>
              <p:nvPr/>
            </p:nvSpPr>
            <p:spPr bwMode="auto">
              <a:xfrm>
                <a:off x="5407819" y="4665330"/>
                <a:ext cx="2286000" cy="400110"/>
              </a:xfrm>
              <a:prstGeom prst="rect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 w="12700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lang="en-US" sz="2000" dirty="0" err="1">
                    <a:latin typeface="Times New Roman" pitchFamily="-65" charset="0"/>
                  </a:rPr>
                  <a:t>ReLU</a:t>
                </a:r>
                <a:r>
                  <a:rPr lang="en-US" sz="2000" dirty="0">
                    <a:latin typeface="Times New Roman" pitchFamily="-65" charset="0"/>
                  </a:rPr>
                  <a:t>()</a:t>
                </a:r>
                <a:endParaRPr kumimoji="0" 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</p:grp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95375E85-5DE7-48FB-C2BE-43F62C2BD048}"/>
                </a:ext>
              </a:extLst>
            </p:cNvPr>
            <p:cNvSpPr/>
            <p:nvPr/>
          </p:nvSpPr>
          <p:spPr bwMode="auto">
            <a:xfrm>
              <a:off x="5710237" y="1452770"/>
              <a:ext cx="2286000" cy="400110"/>
            </a:xfrm>
            <a:prstGeom prst="rect">
              <a:avLst/>
            </a:prstGeom>
            <a:solidFill>
              <a:srgbClr val="FFFF00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>
                  <a:latin typeface="Times New Roman" pitchFamily="-65" charset="0"/>
                </a:rPr>
                <a:t>Linear(252,7)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5C12315D-4F8B-8601-BF8D-F0D1AE04A5A9}"/>
                </a:ext>
              </a:extLst>
            </p:cNvPr>
            <p:cNvSpPr/>
            <p:nvPr/>
          </p:nvSpPr>
          <p:spPr bwMode="auto">
            <a:xfrm>
              <a:off x="5715000" y="919370"/>
              <a:ext cx="2286000" cy="48413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sz="2000" dirty="0" err="1">
                  <a:latin typeface="Times New Roman" pitchFamily="-65" charset="0"/>
                </a:rPr>
                <a:t>Softmax</a:t>
              </a:r>
              <a:endParaRPr kumimoji="0" 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7CD1DB5A-AF04-E321-D085-D4CF36E8EB7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3876549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8699F014-2876-4569-C9DF-7908333AEE5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438400" y="4233445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FBF13726-6B70-43F4-692B-40F41FB6AF4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552695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4" name="Straight Arrow Connector 73">
              <a:extLst>
                <a:ext uri="{FF2B5EF4-FFF2-40B4-BE49-F238E27FC236}">
                  <a16:creationId xmlns:a16="http://schemas.microsoft.com/office/drawing/2014/main" id="{0C12B196-AB4D-D16D-C7CC-5F221A6FC3E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438400" y="5898448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5" name="Straight Arrow Connector 74">
              <a:extLst>
                <a:ext uri="{FF2B5EF4-FFF2-40B4-BE49-F238E27FC236}">
                  <a16:creationId xmlns:a16="http://schemas.microsoft.com/office/drawing/2014/main" id="{FBA10023-EDFF-4CB0-74E2-DB819678C031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49237680-9AED-F785-F645-9F36A6871FCE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934200" y="551149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77" name="Straight Arrow Connector 76">
              <a:extLst>
                <a:ext uri="{FF2B5EF4-FFF2-40B4-BE49-F238E27FC236}">
                  <a16:creationId xmlns:a16="http://schemas.microsoft.com/office/drawing/2014/main" id="{E2C47CCA-AED8-2449-E78D-9F8709B5CAA5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2395537" y="2237926"/>
              <a:ext cx="0" cy="356896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78" name="Straight Arrow Connector 77">
              <a:extLst>
                <a:ext uri="{FF2B5EF4-FFF2-40B4-BE49-F238E27FC236}">
                  <a16:creationId xmlns:a16="http://schemas.microsoft.com/office/drawing/2014/main" id="{1BEC36B8-6013-33CE-0D56-1C3FB948EF3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2395537" y="2271712"/>
              <a:ext cx="2176463" cy="0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79" name="Straight Arrow Connector 78">
              <a:extLst>
                <a:ext uri="{FF2B5EF4-FFF2-40B4-BE49-F238E27FC236}">
                  <a16:creationId xmlns:a16="http://schemas.microsoft.com/office/drawing/2014/main" id="{48BCB557-EDBC-65FB-2624-19C5475EEBD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552950" y="2237926"/>
              <a:ext cx="19050" cy="3660522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1345CDAA-6218-2ACE-2E5B-8569C24B5AC9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552950" y="5893685"/>
              <a:ext cx="2381250" cy="4763"/>
            </a:xfrm>
            <a:prstGeom prst="straightConnector1">
              <a:avLst/>
            </a:prstGeom>
            <a:noFill/>
            <a:ln w="666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/>
            </a:ln>
            <a:effectLst/>
          </p:spPr>
        </p:cxn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9453361B-C9D9-8D46-597F-F7F097FE2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729412" y="5249699"/>
              <a:ext cx="431800" cy="695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7554F2C-B269-CB4F-01C8-D2E6EF22780D}"/>
                    </a:ext>
                  </a:extLst>
                </p:cNvPr>
                <p:cNvSpPr txBox="1"/>
                <p:nvPr/>
              </p:nvSpPr>
              <p:spPr>
                <a:xfrm>
                  <a:off x="6235326" y="4970"/>
                  <a:ext cx="1370055" cy="54213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A7554F2C-B269-CB4F-01C8-D2E6EF2278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35326" y="4970"/>
                  <a:ext cx="1370055" cy="542136"/>
                </a:xfrm>
                <a:prstGeom prst="rect">
                  <a:avLst/>
                </a:prstGeom>
                <a:blipFill>
                  <a:blip r:embed="rId3"/>
                  <a:stretch>
                    <a:fillRect l="-1835" r="-917" b="-162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E62A06A-8252-EFC7-6E40-27E42CAA5098}"/>
                    </a:ext>
                  </a:extLst>
                </p:cNvPr>
                <p:cNvSpPr txBox="1"/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83" name="TextBox 82">
                  <a:extLst>
                    <a:ext uri="{FF2B5EF4-FFF2-40B4-BE49-F238E27FC236}">
                      <a16:creationId xmlns:a16="http://schemas.microsoft.com/office/drawing/2014/main" id="{BE62A06A-8252-EFC7-6E40-27E42CAA50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1122" y="5882550"/>
                  <a:ext cx="4571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25000" r="-50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09F72E-EAD4-8D84-6237-8317FE08170B}"/>
              </a:ext>
            </a:extLst>
          </p:cNvPr>
          <p:cNvSpPr/>
          <p:nvPr/>
        </p:nvSpPr>
        <p:spPr bwMode="auto">
          <a:xfrm>
            <a:off x="6477000" y="1962090"/>
            <a:ext cx="2286000" cy="4001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2000" dirty="0">
                <a:latin typeface="Times New Roman" pitchFamily="-65" charset="0"/>
              </a:rPr>
              <a:t>Flatten()</a:t>
            </a:r>
            <a:endParaRPr kumimoji="0" 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0597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Convolutional neural networks have revolutionized image classification and interpretation and are now used in many applications. </a:t>
            </a:r>
          </a:p>
          <a:p>
            <a:endParaRPr lang="en-US" dirty="0"/>
          </a:p>
          <a:p>
            <a:r>
              <a:rPr lang="en-US" dirty="0"/>
              <a:t>The model exploits the fact that natural images are often locally approximately translation invariant.</a:t>
            </a:r>
          </a:p>
          <a:p>
            <a:endParaRPr lang="en-US" dirty="0"/>
          </a:p>
          <a:p>
            <a:r>
              <a:rPr lang="en-US" dirty="0"/>
              <a:t>The convolutions automatically extract features from images that can later be used to interpret them.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40845449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A2647A-5167-E713-3042-EA7284F88F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 A</a:t>
            </a:r>
          </a:p>
        </p:txBody>
      </p:sp>
    </p:spTree>
    <p:extLst>
      <p:ext uri="{BB962C8B-B14F-4D97-AF65-F5344CB8AC3E}">
        <p14:creationId xmlns:p14="http://schemas.microsoft.com/office/powerpoint/2010/main" val="1524175148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F4D65-88E2-473C-0969-8791FD4F04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16C90-7CEE-B809-D687-D798CE2207D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An elegant way to account for a constraint in a minimization task is the method of </a:t>
                </a:r>
                <a:r>
                  <a:rPr lang="en-US" b="1" dirty="0">
                    <a:solidFill>
                      <a:srgbClr val="0033CC"/>
                    </a:solidFill>
                  </a:rPr>
                  <a:t>Lagrange* multipliers</a:t>
                </a:r>
                <a:r>
                  <a:rPr lang="en-US" dirty="0"/>
                  <a:t>. Consider the following classic problem: Find the coefficients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in the sum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             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∼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subject to the constraint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that minimizes the variance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sz="1800" dirty="0"/>
                  <a:t>*Joseph-Louis Lagrange (1736 – 1813)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2216C90-7CEE-B809-D687-D798CE2207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13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2E4A907-677F-E4FB-8618-A6CAC8DE5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(1)</a:t>
            </a:r>
          </a:p>
        </p:txBody>
      </p:sp>
    </p:spTree>
    <p:extLst>
      <p:ext uri="{BB962C8B-B14F-4D97-AF65-F5344CB8AC3E}">
        <p14:creationId xmlns:p14="http://schemas.microsoft.com/office/powerpoint/2010/main" val="31265043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20179-744D-5A23-D534-53C36C4FD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E6C16-0547-F95D-E22C-678659D9785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1</a:t>
                </a:r>
                <a:r>
                  <a:rPr lang="en-US" dirty="0"/>
                  <a:t>: Find a formula for the variance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⟹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Δ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≡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Δ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sub>
                              </m:sSub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Δ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Assuming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are statistically independent, we obtain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𝕍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Δ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E6C16-0547-F95D-E22C-678659D978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2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62D1A1D0-7B0D-7E7F-514E-F7738075D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(2)</a:t>
            </a:r>
          </a:p>
        </p:txBody>
      </p:sp>
    </p:spTree>
    <p:extLst>
      <p:ext uri="{BB962C8B-B14F-4D97-AF65-F5344CB8AC3E}">
        <p14:creationId xmlns:p14="http://schemas.microsoft.com/office/powerpoint/2010/main" val="10209201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D3C50-EAB4-F5E0-95E7-7B5DEDAAA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7C0C18-5392-15EE-DFDA-CEB74495428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2</a:t>
                </a:r>
                <a:r>
                  <a:rPr lang="en-US" dirty="0"/>
                  <a:t>: Add the constraint to the variance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𝕍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r>
                  <a:rPr lang="en-US" dirty="0"/>
                  <a:t> using a Lagrange multiplier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𝕍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𝝀</m:t>
                      </m:r>
                      <m:d>
                        <m:dPr>
                          <m:ctrlPr>
                            <a:rPr lang="en-US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sub>
                            <m:sup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𝑲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1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</m:oMath>
                  </m:oMathPara>
                </a14:m>
                <a:br>
                  <a:rPr lang="en-US" b="1" dirty="0"/>
                </a:br>
                <a:endParaRPr lang="en-US" b="1" dirty="0"/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r>
                  <a:rPr lang="en-US" dirty="0">
                    <a:solidFill>
                      <a:srgbClr val="0033CC"/>
                    </a:solidFill>
                  </a:rPr>
                  <a:t>Step 3</a:t>
                </a:r>
                <a:r>
                  <a:rPr lang="en-US" dirty="0"/>
                  <a:t>: Minimize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𝕍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𝕍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=2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𝕍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=0  ⟹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7C0C18-5392-15EE-DFDA-CEB7449542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146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20E0BD2-B95C-27BC-6A6A-0D8FDE1D0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(3)</a:t>
            </a:r>
          </a:p>
        </p:txBody>
      </p:sp>
    </p:spTree>
    <p:extLst>
      <p:ext uri="{BB962C8B-B14F-4D97-AF65-F5344CB8AC3E}">
        <p14:creationId xmlns:p14="http://schemas.microsoft.com/office/powerpoint/2010/main" val="1226013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F2EEC-D04D-7469-0518-9D2236B5B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778650-B544-4369-23CC-9E6B82055C7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33CC"/>
                    </a:solidFill>
                  </a:rPr>
                  <a:t>Step 4</a:t>
                </a:r>
                <a:r>
                  <a:rPr lang="en-US" dirty="0"/>
                  <a:t>: To find the multiplier,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/>
                  <a:t>, use the constraint</a:t>
                </a: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=1,</m:t>
                          </m:r>
                        </m:e>
                      </m:nary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  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that is,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𝕍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=1</m:t>
                          </m:r>
                        </m:e>
                      </m:nary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Therefore, the variance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is minimized when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𝕍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/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𝕍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778650-B544-4369-23CC-9E6B82055C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 b="-3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8C9A95F-C7E2-C58A-4257-4CEB8D365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 of Lagrange Multipliers (4)</a:t>
            </a:r>
          </a:p>
        </p:txBody>
      </p:sp>
    </p:spTree>
    <p:extLst>
      <p:ext uri="{BB962C8B-B14F-4D97-AF65-F5344CB8AC3E}">
        <p14:creationId xmlns:p14="http://schemas.microsoft.com/office/powerpoint/2010/main" val="12256300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A4210-0BB0-44E3-CF73-27629F328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C00D7D5-D156-EDAA-D615-E76C4D5985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Appendix B</a:t>
            </a:r>
          </a:p>
        </p:txBody>
      </p:sp>
    </p:spTree>
    <p:extLst>
      <p:ext uri="{BB962C8B-B14F-4D97-AF65-F5344CB8AC3E}">
        <p14:creationId xmlns:p14="http://schemas.microsoft.com/office/powerpoint/2010/main" val="1379011423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5B44A-5CBB-EB62-8D83-D02BC6365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45C99-E141-6A5B-9556-CDA61E2FBAD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risk functional can be written as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  <m:d>
                            <m:dPr>
                              <m:ctrlP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with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since  the values of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are discrete: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=0,⋯,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b="0" dirty="0">
                    <a:latin typeface="+mn-lt"/>
                  </a:rPr>
                  <a:t>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45C99-E141-6A5B-9556-CDA61E2FBA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F2D583D6-E50F-7312-A749-73F8A8F69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(1)</a:t>
            </a:r>
          </a:p>
        </p:txBody>
      </p:sp>
    </p:spTree>
    <p:extLst>
      <p:ext uri="{BB962C8B-B14F-4D97-AF65-F5344CB8AC3E}">
        <p14:creationId xmlns:p14="http://schemas.microsoft.com/office/powerpoint/2010/main" val="938033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E3633-4633-3223-8DBB-E0836BAC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F88EA3-3A0E-93E3-59F7-F72C5CA8EB1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 perfect model,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, would satisfy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question is: </a:t>
                </a:r>
                <a:r>
                  <a:rPr lang="en-US" dirty="0">
                    <a:solidFill>
                      <a:srgbClr val="0033CC"/>
                    </a:solidFill>
                  </a:rPr>
                  <a:t>What loss function yields this result?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saw in previous lectures that the optimal solution 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is found by minimizing the risk functional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But this time, we need to account for the constraint: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F88EA3-3A0E-93E3-59F7-F72C5CA8EB1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 b="-3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102F9BED-C537-1035-B313-17DF0C984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(2)</a:t>
            </a:r>
          </a:p>
        </p:txBody>
      </p:sp>
    </p:spTree>
    <p:extLst>
      <p:ext uri="{BB962C8B-B14F-4D97-AF65-F5344CB8AC3E}">
        <p14:creationId xmlns:p14="http://schemas.microsoft.com/office/powerpoint/2010/main" val="18467734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8F67-32DF-9E84-E534-EB9004412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3E17DB-6A04-9530-8635-9D2FD206A52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We’ll use the method of </a:t>
                </a:r>
                <a:r>
                  <a:rPr lang="en-US" dirty="0">
                    <a:solidFill>
                      <a:srgbClr val="0033CC"/>
                    </a:solidFill>
                  </a:rPr>
                  <a:t>Lagrange multipliers</a:t>
                </a:r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l-G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𝝀</m:t>
                      </m:r>
                      <m:r>
                        <a:rPr lang="en-US" b="1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l-GR" b="1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l-GR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𝒑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1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𝒌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𝟎</m:t>
                                  </m:r>
                                </m:sub>
                                <m:sup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𝑲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𝒇</m:t>
                                      </m:r>
                                    </m:e>
                                    <m:sub>
                                      <m:r>
                                        <a:rPr lang="en-US" b="1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𝒌</m:t>
                                      </m:r>
                                    </m:sub>
                                  </m:sSub>
                                  <m:r>
                                    <a:rPr lang="en-US" b="1" i="1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1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𝟏</m:t>
                                  </m:r>
                                </m:e>
                              </m:nary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obtain the minimum of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 set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l-G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l-GR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num>
                        <m:den>
                          <m:r>
                            <a:rPr lang="el-GR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yields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f>
                                    <m:f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3E17DB-6A04-9530-8635-9D2FD206A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5263" b="-3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AC673A9F-4C76-B2CC-C916-3B28404E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(3)</a:t>
            </a:r>
          </a:p>
        </p:txBody>
      </p:sp>
    </p:spTree>
    <p:extLst>
      <p:ext uri="{BB962C8B-B14F-4D97-AF65-F5344CB8AC3E}">
        <p14:creationId xmlns:p14="http://schemas.microsoft.com/office/powerpoint/2010/main" val="3801661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F044E-996F-A364-DFD1-25AD4FEDE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E5FA09-277C-3AA1-5266-B27E11399C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From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𝐿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𝜆</m:t>
                                  </m:r>
                                  <m:f>
                                    <m:f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num>
                                    <m:den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𝜕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𝑓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den>
                                  </m:f>
                                </m:e>
                              </m:d>
                            </m:e>
                          </m:nary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only the term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survives, yielding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ea typeface="Cambria Math" panose="02040503050406030204" pitchFamily="18" charset="0"/>
                  </a:rPr>
                  <a:t>(Note: there is no sum over </a:t>
                </a:r>
                <a:r>
                  <a:rPr lang="en-US" i="1" dirty="0"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ea typeface="Cambria Math" panose="02040503050406030204" pitchFamily="18" charset="0"/>
                  </a:rPr>
                  <a:t>!)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2E5FA09-277C-3AA1-5266-B27E11399C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26499FDA-9B9D-32F0-0055-B6C2E02E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(4)</a:t>
            </a:r>
          </a:p>
        </p:txBody>
      </p:sp>
    </p:spTree>
    <p:extLst>
      <p:ext uri="{BB962C8B-B14F-4D97-AF65-F5344CB8AC3E}">
        <p14:creationId xmlns:p14="http://schemas.microsoft.com/office/powerpoint/2010/main" val="10509600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1000-2438-848A-732C-008B23F30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B25AE2-C324-AD5E-3270-2369AA5A277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We want the expression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to hold for every value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and for every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.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will be true </a:t>
                </a:r>
                <a:r>
                  <a:rPr lang="en-US" i="1" dirty="0"/>
                  <a:t>if and only if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Since the optimal solution is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this implies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B25AE2-C324-AD5E-3270-2369AA5A27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80920CF7-B0E9-17AD-772D-A279DB86C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(5)</a:t>
            </a:r>
          </a:p>
        </p:txBody>
      </p:sp>
    </p:spTree>
    <p:extLst>
      <p:ext uri="{BB962C8B-B14F-4D97-AF65-F5344CB8AC3E}">
        <p14:creationId xmlns:p14="http://schemas.microsoft.com/office/powerpoint/2010/main" val="15507435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904D7-E711-8439-5A51-5D6C83142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E9345-C206-7DB9-D3E2-00D18EBE68C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Solving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for the loss,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, we find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𝜆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We can always rescale the loss so that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𝜆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i="1" dirty="0">
                  <a:solidFill>
                    <a:srgbClr val="0033CC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en-US" dirty="0"/>
                  <a:t> is called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cross-entropy loss</a:t>
                </a:r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FE9345-C206-7DB9-D3E2-00D18EBE68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D83552FA-F06A-924A-DC20-CC64DBFF0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Entropy Loss (6)</a:t>
            </a:r>
          </a:p>
        </p:txBody>
      </p:sp>
    </p:spTree>
    <p:extLst>
      <p:ext uri="{BB962C8B-B14F-4D97-AF65-F5344CB8AC3E}">
        <p14:creationId xmlns:p14="http://schemas.microsoft.com/office/powerpoint/2010/main" val="2083483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FSUML" id="{613EE9AE-404D-B44A-8379-18A65839E42D}" vid="{6F3B3403-6EF1-2147-8245-ED1F0091AC9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12568</TotalTime>
  <Words>2210</Words>
  <Application>Microsoft Macintosh PowerPoint</Application>
  <PresentationFormat>Letter Paper (8.5x11 in)</PresentationFormat>
  <Paragraphs>331</Paragraphs>
  <Slides>41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7" baseType="lpstr">
      <vt:lpstr>Arial</vt:lpstr>
      <vt:lpstr>Cambria Math</vt:lpstr>
      <vt:lpstr>Courier New</vt:lpstr>
      <vt:lpstr>Times New Roman</vt:lpstr>
      <vt:lpstr>Wingdings</vt:lpstr>
      <vt:lpstr>Default Design</vt:lpstr>
      <vt:lpstr>Machine learning in physics convolutional  neural networks</vt:lpstr>
      <vt:lpstr>Recap</vt:lpstr>
      <vt:lpstr>Plan</vt:lpstr>
      <vt:lpstr>Outline</vt:lpstr>
      <vt:lpstr>A galaxy classifier: part 1</vt:lpstr>
      <vt:lpstr>A Galaxy Classifier (1)</vt:lpstr>
      <vt:lpstr>A Galaxy Classifier (2)</vt:lpstr>
      <vt:lpstr>A Galaxy Classifier (3)</vt:lpstr>
      <vt:lpstr>Multi-class classification</vt:lpstr>
      <vt:lpstr>Multi-Class Classification (1)</vt:lpstr>
      <vt:lpstr>Multi-Class Classification (2)</vt:lpstr>
      <vt:lpstr>Multi-Class Classification (3)</vt:lpstr>
      <vt:lpstr>Multi-Class Classification (4)</vt:lpstr>
      <vt:lpstr>Multi-Class Classification (5)</vt:lpstr>
      <vt:lpstr>Convolutional  neural networks (CNN) </vt:lpstr>
      <vt:lpstr>Convolutional Neural Networks (1)</vt:lpstr>
      <vt:lpstr>Convolutional Neural Networks (2)</vt:lpstr>
      <vt:lpstr>Convolutional Neural Networks (3)</vt:lpstr>
      <vt:lpstr>Convolutional Neural Networks (4)</vt:lpstr>
      <vt:lpstr>Convolutional Neural Networks (5)</vt:lpstr>
      <vt:lpstr>Convolutional Neural Networks (6)</vt:lpstr>
      <vt:lpstr>Convolutional Neural Networks (6.1)</vt:lpstr>
      <vt:lpstr>Convolutional Neural Networks (7)</vt:lpstr>
      <vt:lpstr>Convolutional Neural Networks (8)</vt:lpstr>
      <vt:lpstr>Convolutional Neural Networks (9)</vt:lpstr>
      <vt:lpstr>A galaxy classifier: part 2</vt:lpstr>
      <vt:lpstr>A Galaxy Classifier (4)</vt:lpstr>
      <vt:lpstr>A Galaxy Classifier (5)</vt:lpstr>
      <vt:lpstr>Summary</vt:lpstr>
      <vt:lpstr>Appendix A</vt:lpstr>
      <vt:lpstr>Method of Lagrange Multipliers (1)</vt:lpstr>
      <vt:lpstr>Method of Lagrange Multipliers (2)</vt:lpstr>
      <vt:lpstr>Method of Lagrange Multipliers (3)</vt:lpstr>
      <vt:lpstr>Method of Lagrange Multipliers (4)</vt:lpstr>
      <vt:lpstr>Appendix B</vt:lpstr>
      <vt:lpstr>Cross Entropy Loss (1)</vt:lpstr>
      <vt:lpstr>Cross Entropy Loss (2)</vt:lpstr>
      <vt:lpstr>Cross Entropy Loss (3)</vt:lpstr>
      <vt:lpstr>Cross Entropy Loss (4)</vt:lpstr>
      <vt:lpstr>Cross Entropy Loss (5)</vt:lpstr>
      <vt:lpstr>Cross Entropy Loss (6)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42</cp:revision>
  <cp:lastPrinted>2019-01-07T00:35:58Z</cp:lastPrinted>
  <dcterms:created xsi:type="dcterms:W3CDTF">2025-08-24T13:22:07Z</dcterms:created>
  <dcterms:modified xsi:type="dcterms:W3CDTF">2026-10-01T01:33:40Z</dcterms:modified>
</cp:coreProperties>
</file>