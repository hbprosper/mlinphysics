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783" r:id="rId3"/>
    <p:sldId id="1026" r:id="rId4"/>
    <p:sldId id="780" r:id="rId5"/>
    <p:sldId id="1001" r:id="rId6"/>
    <p:sldId id="1027" r:id="rId7"/>
    <p:sldId id="789" r:id="rId8"/>
    <p:sldId id="1031" r:id="rId9"/>
    <p:sldId id="1029" r:id="rId10"/>
    <p:sldId id="787" r:id="rId11"/>
    <p:sldId id="782" r:id="rId12"/>
    <p:sldId id="781" r:id="rId13"/>
    <p:sldId id="788" r:id="rId14"/>
    <p:sldId id="1030" r:id="rId15"/>
    <p:sldId id="641" r:id="rId16"/>
    <p:sldId id="1000" r:id="rId17"/>
    <p:sldId id="994" r:id="rId18"/>
    <p:sldId id="1006" r:id="rId19"/>
    <p:sldId id="1007" r:id="rId20"/>
    <p:sldId id="1008" r:id="rId21"/>
    <p:sldId id="997" r:id="rId22"/>
    <p:sldId id="1010" r:id="rId23"/>
    <p:sldId id="1011" r:id="rId24"/>
    <p:sldId id="1021" r:id="rId25"/>
    <p:sldId id="998" r:id="rId26"/>
  </p:sldIdLst>
  <p:sldSz cx="9144000" cy="6858000" type="letter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58" userDrawn="1">
          <p15:clr>
            <a:srgbClr val="A4A3A4"/>
          </p15:clr>
        </p15:guide>
        <p15:guide id="2" pos="295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0033CC"/>
    <a:srgbClr val="FFFC8F"/>
    <a:srgbClr val="FF0000"/>
    <a:srgbClr val="98CA00"/>
    <a:srgbClr val="4032A1"/>
    <a:srgbClr val="6BEEE1"/>
    <a:srgbClr val="99CA00"/>
    <a:srgbClr val="A0CA5B"/>
    <a:srgbClr val="4734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59"/>
    <p:restoredTop sz="95638"/>
  </p:normalViewPr>
  <p:slideViewPr>
    <p:cSldViewPr>
      <p:cViewPr varScale="1">
        <p:scale>
          <a:sx n="101" d="100"/>
          <a:sy n="101" d="100"/>
        </p:scale>
        <p:origin x="166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69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4536"/>
    </p:cViewPr>
  </p:sorterViewPr>
  <p:notesViewPr>
    <p:cSldViewPr>
      <p:cViewPr varScale="1">
        <p:scale>
          <a:sx n="44" d="100"/>
          <a:sy n="44" d="100"/>
        </p:scale>
        <p:origin x="-1392" y="-72"/>
      </p:cViewPr>
      <p:guideLst>
        <p:guide orient="horz" pos="2258"/>
        <p:guide pos="295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210"/>
            <a:ext cx="4160937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65" y="-1210"/>
            <a:ext cx="4160936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81325" y="560388"/>
            <a:ext cx="3635375" cy="27257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3494" y="3473753"/>
            <a:ext cx="7034213" cy="329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042" tIns="51377" rIns="101042" bIns="51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5086"/>
            <a:ext cx="4160937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65" y="6945086"/>
            <a:ext cx="4160936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fld id="{887413D6-4D90-094B-878C-C9B479C8F2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109" charset="-128"/>
        <a:cs typeface="ＭＳ Ｐゴシック" pitchFamily="-109" charset="-128"/>
      </a:defRPr>
    </a:lvl1pPr>
    <a:lvl2pPr marL="46831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2pPr>
    <a:lvl3pPr marL="935038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3pPr>
    <a:lvl4pPr marL="140176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4pPr>
    <a:lvl5pPr marL="1870075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50D40BC-7ACD-8841-9B8A-CC0F47AA4BBF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74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232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009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00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594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FSU: Machine Learning in Physics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6487E0-6C48-9842-89A3-09BD27C705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36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EEE8D3-405F-8246-8864-9DF28E2D28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228600" y="6477000"/>
            <a:ext cx="8001000" cy="381000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FSU: Machine Learning in Physics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5B39C7-D2B5-7240-8251-53AAF7481C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228600" y="6477000"/>
            <a:ext cx="8001000" cy="381000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FSU: Machine Learning in Physics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FSU: Machine Learning in Physics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711B93-8128-4F43-B650-5CAB5BC252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28254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62750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7772400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" y="6477000"/>
            <a:ext cx="800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/>
                <a:cs typeface="Times New Roman"/>
              </a:defRPr>
            </a:lvl1pPr>
          </a:lstStyle>
          <a:p>
            <a:pPr algn="l">
              <a:defRPr/>
            </a:pPr>
            <a:r>
              <a:rPr lang="en-US" dirty="0"/>
              <a:t>FSU: Machine Learning in Physics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05800" y="6477000"/>
            <a:ext cx="838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fld id="{171793D4-CF29-4A4F-9409-4FE4F483A2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4" name="Line 10"/>
          <p:cNvSpPr>
            <a:spLocks noChangeShapeType="1"/>
          </p:cNvSpPr>
          <p:nvPr userDrawn="1"/>
        </p:nvSpPr>
        <p:spPr bwMode="auto">
          <a:xfrm>
            <a:off x="0" y="6477000"/>
            <a:ext cx="9144000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latin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2" r:id="rId2"/>
    <p:sldLayoutId id="2147483884" r:id="rId3"/>
    <p:sldLayoutId id="2147483885" r:id="rId4"/>
    <p:sldLayoutId id="2147483895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/>
          <a:ea typeface="ＭＳ Ｐゴシック" pitchFamily="-109" charset="-128"/>
          <a:cs typeface="Times New Roman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109" charset="-128"/>
          <a:cs typeface="Times New Roman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radually.ai/en/llm-statistics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gradually.ai/en/llm-statistics/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d41586-024-01387-9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hyperlink" Target="https://news.cornell.edu/stories/2019/09/professors-perceptron-paved-way-ai-60-years-too-soon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0.png"/><Relationship Id="rId5" Type="http://schemas.openxmlformats.org/officeDocument/2006/relationships/image" Target="../media/image270.png"/><Relationship Id="rId4" Type="http://schemas.openxmlformats.org/officeDocument/2006/relationships/image" Target="../media/image26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30.png"/><Relationship Id="rId7" Type="http://schemas.openxmlformats.org/officeDocument/2006/relationships/image" Target="../media/image31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0.png"/><Relationship Id="rId10" Type="http://schemas.openxmlformats.org/officeDocument/2006/relationships/image" Target="../media/image110.png"/><Relationship Id="rId4" Type="http://schemas.openxmlformats.org/officeDocument/2006/relationships/image" Target="../media/image59.png"/><Relationship Id="rId9" Type="http://schemas.openxmlformats.org/officeDocument/2006/relationships/image" Target="../media/image10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200.png"/><Relationship Id="rId4" Type="http://schemas.openxmlformats.org/officeDocument/2006/relationships/image" Target="../media/image301.png"/><Relationship Id="rId9" Type="http://schemas.openxmlformats.org/officeDocument/2006/relationships/image" Target="../media/image19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00.png"/><Relationship Id="rId7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0.png"/><Relationship Id="rId5" Type="http://schemas.openxmlformats.org/officeDocument/2006/relationships/image" Target="../media/image340.png"/><Relationship Id="rId4" Type="http://schemas.openxmlformats.org/officeDocument/2006/relationships/image" Target="../media/image330.png"/><Relationship Id="rId9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3" Type="http://schemas.openxmlformats.org/officeDocument/2006/relationships/image" Target="../media/image14.png"/><Relationship Id="rId7" Type="http://schemas.openxmlformats.org/officeDocument/2006/relationships/image" Target="../media/image290.png"/><Relationship Id="rId12" Type="http://schemas.openxmlformats.org/officeDocument/2006/relationships/image" Target="../media/image4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0.png"/><Relationship Id="rId11" Type="http://schemas.openxmlformats.org/officeDocument/2006/relationships/image" Target="../media/image41.png"/><Relationship Id="rId5" Type="http://schemas.openxmlformats.org/officeDocument/2006/relationships/image" Target="../media/image230.png"/><Relationship Id="rId10" Type="http://schemas.openxmlformats.org/officeDocument/2006/relationships/image" Target="../media/image390.png"/><Relationship Id="rId4" Type="http://schemas.openxmlformats.org/officeDocument/2006/relationships/image" Target="../media/image220.png"/><Relationship Id="rId9" Type="http://schemas.openxmlformats.org/officeDocument/2006/relationships/image" Target="../media/image3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914400" y="1987296"/>
            <a:ext cx="7772400" cy="197510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0033CC"/>
                </a:solidFill>
                <a:ea typeface="+mj-ea"/>
                <a:cs typeface="+mj-cs"/>
              </a:rPr>
              <a:t>Machine Learning In </a:t>
            </a:r>
            <a:r>
              <a:rPr lang="en-US" dirty="0" err="1">
                <a:solidFill>
                  <a:srgbClr val="0033CC"/>
                </a:solidFill>
                <a:ea typeface="+mj-ea"/>
                <a:cs typeface="+mj-cs"/>
              </a:rPr>
              <a:t>PHYsics</a:t>
            </a:r>
            <a:br>
              <a:rPr lang="en-US" dirty="0">
                <a:solidFill>
                  <a:srgbClr val="0033CC"/>
                </a:solidFill>
                <a:ea typeface="+mj-ea"/>
                <a:cs typeface="+mj-cs"/>
              </a:rPr>
            </a:br>
            <a:r>
              <a:rPr lang="en-US" sz="3200" dirty="0" err="1">
                <a:solidFill>
                  <a:schemeClr val="accent1"/>
                </a:solidFill>
                <a:ea typeface="+mj-ea"/>
                <a:cs typeface="+mj-cs"/>
              </a:rPr>
              <a:t>FoundationS</a:t>
            </a:r>
            <a:r>
              <a:rPr lang="en-US" sz="3200" dirty="0">
                <a:solidFill>
                  <a:schemeClr val="accent1"/>
                </a:solidFill>
                <a:ea typeface="+mj-ea"/>
                <a:cs typeface="+mj-cs"/>
              </a:rPr>
              <a:t>	1</a:t>
            </a:r>
            <a:br>
              <a:rPr lang="en-US" dirty="0">
                <a:solidFill>
                  <a:srgbClr val="FFFF00"/>
                </a:solidFill>
                <a:ea typeface="+mj-ea"/>
                <a:cs typeface="+mj-cs"/>
              </a:rPr>
            </a:br>
            <a:endParaRPr lang="en-US" b="0" dirty="0">
              <a:solidFill>
                <a:srgbClr val="FFFF00"/>
              </a:solidFill>
              <a:ea typeface="+mj-ea"/>
              <a:cs typeface="+mj-cs"/>
            </a:endParaRPr>
          </a:p>
        </p:txBody>
      </p:sp>
      <p:sp>
        <p:nvSpPr>
          <p:cNvPr id="17411" name="Subtitle 2"/>
          <p:cNvSpPr>
            <a:spLocks noGrp="1"/>
          </p:cNvSpPr>
          <p:nvPr>
            <p:ph type="subTitle" idx="4294967295"/>
          </p:nvPr>
        </p:nvSpPr>
        <p:spPr>
          <a:xfrm>
            <a:off x="990600" y="4267200"/>
            <a:ext cx="7924800" cy="19050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Arial" pitchFamily="-107" charset="0"/>
              <a:buNone/>
            </a:pPr>
            <a:r>
              <a:rPr lang="en-US" sz="2800" dirty="0"/>
              <a:t>Harrison B. Prosper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sz="2800" dirty="0"/>
              <a:t>PHY6937 / PHY4936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7DFD11-B4D0-7399-FC57-2E795EDC9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this Course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AC74C-D46C-DC2D-A2A6-253EDFA51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Gain a good understanding of the mathematical basis of machine learning (ML), which is a foundational component of artificial intelligence (AI).</a:t>
            </a:r>
            <a:br>
              <a:rPr lang="en-US" dirty="0"/>
            </a:b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Gain experience building ML models using </a:t>
            </a:r>
            <a:r>
              <a:rPr lang="en-US" b="1" dirty="0" err="1">
                <a:solidFill>
                  <a:srgbClr val="0033CC"/>
                </a:solidFill>
              </a:rPr>
              <a:t>PyTorch</a:t>
            </a:r>
            <a:r>
              <a:rPr lang="en-US" dirty="0"/>
              <a:t> to solve data science problems in physics.</a:t>
            </a:r>
            <a:br>
              <a:rPr lang="en-US" dirty="0"/>
            </a:b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Gain experience with different ML models.</a:t>
            </a:r>
            <a:br>
              <a:rPr lang="en-US" dirty="0"/>
            </a:b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Gain an understanding of AI agents.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860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2930B-4FAC-6126-B758-3C8DFDC76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02908C-070E-19D0-D93C-C90AC6062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Evaluation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1B2BD-C722-5B7A-B3C1-BC8203EEE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addition to your </a:t>
            </a:r>
            <a:r>
              <a:rPr lang="en-US" dirty="0">
                <a:solidFill>
                  <a:srgbClr val="0033CC"/>
                </a:solidFill>
              </a:rPr>
              <a:t>Course Participation </a:t>
            </a:r>
            <a:r>
              <a:rPr lang="en-US" dirty="0"/>
              <a:t>(attending, asking questions, contributing to discussions), your course grade will be based on: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33CC"/>
                </a:solidFill>
              </a:rPr>
              <a:t>In-class Assignments</a:t>
            </a:r>
            <a:br>
              <a:rPr lang="en-US" dirty="0">
                <a:solidFill>
                  <a:srgbClr val="0033CC"/>
                </a:solidFill>
              </a:rPr>
            </a:br>
            <a:endParaRPr lang="en-US" dirty="0">
              <a:solidFill>
                <a:srgbClr val="0033CC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33CC"/>
                </a:solidFill>
              </a:rPr>
              <a:t>Project with a write-up and a brief presentation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Graduates: A project related to your research area.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Undergraduates: A project selected from a few options.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Presentations: Last week of the semester.</a:t>
            </a:r>
            <a:br>
              <a:rPr lang="en-US" dirty="0"/>
            </a:b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33CC"/>
                </a:solidFill>
              </a:rPr>
              <a:t>Grade</a:t>
            </a:r>
            <a:r>
              <a:rPr lang="en-US" dirty="0"/>
              <a:t>: Graduates (S/U), Undergraduates (Letter Grade).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079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DC81FC-22BB-324F-8674-6799514BF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Artificial Intelligence?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287642-FC99-2695-0DFB-0D2BC4DF41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EEE8D3-405F-8246-8864-9DF28E2D288A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6BAEAED-990E-E955-B6FF-65C0C8A845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FSU: Machine Learning in Physics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BAF810-5997-806E-C47C-4007FDDDB49A}"/>
              </a:ext>
            </a:extLst>
          </p:cNvPr>
          <p:cNvSpPr txBox="1"/>
          <p:nvPr/>
        </p:nvSpPr>
        <p:spPr>
          <a:xfrm>
            <a:off x="1676400" y="1797040"/>
            <a:ext cx="5715000" cy="34163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dirty="0"/>
              <a:t>Artificial Intelligence</a:t>
            </a:r>
          </a:p>
          <a:p>
            <a:r>
              <a:rPr lang="en-US" dirty="0"/>
              <a:t>Algorithms that cause machines to exhibit </a:t>
            </a:r>
            <a:r>
              <a:rPr lang="en-US" i="1" dirty="0"/>
              <a:t>human</a:t>
            </a:r>
            <a:r>
              <a:rPr lang="en-US" dirty="0"/>
              <a:t>- or </a:t>
            </a:r>
            <a:r>
              <a:rPr lang="en-US" i="1" dirty="0"/>
              <a:t>superhuman</a:t>
            </a:r>
            <a:r>
              <a:rPr lang="en-US" dirty="0"/>
              <a:t>-level intelligence.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081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A5662-D508-36C9-59CC-F694F0E270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FSU: Machine Learning in Physics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4A2233-EFBF-F4A6-CB98-DD45B6059F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EEE8D3-405F-8246-8864-9DF28E2D288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3BC707D-8A17-B15C-1E82-09AA95F2771F}"/>
              </a:ext>
            </a:extLst>
          </p:cNvPr>
          <p:cNvGrpSpPr/>
          <p:nvPr/>
        </p:nvGrpSpPr>
        <p:grpSpPr>
          <a:xfrm>
            <a:off x="2213899" y="762000"/>
            <a:ext cx="4716201" cy="4838700"/>
            <a:chOff x="2213899" y="762000"/>
            <a:chExt cx="4716201" cy="4838700"/>
          </a:xfrm>
        </p:grpSpPr>
        <p:pic>
          <p:nvPicPr>
            <p:cNvPr id="11" name="Picture 10" descr="A screenshot of a phone&#10;&#10;AI-generated content may be incorrect.">
              <a:extLst>
                <a:ext uri="{FF2B5EF4-FFF2-40B4-BE49-F238E27FC236}">
                  <a16:creationId xmlns:a16="http://schemas.microsoft.com/office/drawing/2014/main" id="{1ADDAD57-19E1-16EF-9E91-B6F05D266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13899" y="762000"/>
              <a:ext cx="4716201" cy="48387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144EFB2-63EA-1991-FECB-9215E70075A0}"/>
                </a:ext>
              </a:extLst>
            </p:cNvPr>
            <p:cNvSpPr/>
            <p:nvPr/>
          </p:nvSpPr>
          <p:spPr bwMode="auto">
            <a:xfrm>
              <a:off x="3657600" y="4114800"/>
              <a:ext cx="2438400" cy="381000"/>
            </a:xfrm>
            <a:prstGeom prst="rect">
              <a:avLst/>
            </a:prstGeom>
            <a:solidFill>
              <a:srgbClr val="F2F2F2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D0947FE-D767-2D45-1FDE-4C10F87CF143}"/>
                </a:ext>
              </a:extLst>
            </p:cNvPr>
            <p:cNvSpPr/>
            <p:nvPr/>
          </p:nvSpPr>
          <p:spPr bwMode="auto">
            <a:xfrm>
              <a:off x="3674808" y="4876800"/>
              <a:ext cx="2438400" cy="381000"/>
            </a:xfrm>
            <a:prstGeom prst="rect">
              <a:avLst/>
            </a:prstGeom>
            <a:solidFill>
              <a:srgbClr val="F2F2F2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A73DA6A-85A7-8E5D-F584-B33101B6763B}"/>
              </a:ext>
            </a:extLst>
          </p:cNvPr>
          <p:cNvSpPr txBox="1"/>
          <p:nvPr/>
        </p:nvSpPr>
        <p:spPr>
          <a:xfrm>
            <a:off x="2513967" y="5750867"/>
            <a:ext cx="4116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Large Language Model (LLM)</a:t>
            </a:r>
          </a:p>
        </p:txBody>
      </p:sp>
    </p:spTree>
    <p:extLst>
      <p:ext uri="{BB962C8B-B14F-4D97-AF65-F5344CB8AC3E}">
        <p14:creationId xmlns:p14="http://schemas.microsoft.com/office/powerpoint/2010/main" val="2359021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6013EC3-03F2-7B51-246D-DAD21B3D5D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FSU: Machine Learning in Physics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BFDFE3-0971-C38F-F993-704B20B89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5711B93-8128-4F43-B650-5CAB5BC252AE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4" name="Picture 3" descr="Anthropic Introduces Projects for Claude AI, a New Collaborative Tool to Organise Information">
            <a:extLst>
              <a:ext uri="{FF2B5EF4-FFF2-40B4-BE49-F238E27FC236}">
                <a16:creationId xmlns:a16="http://schemas.microsoft.com/office/drawing/2014/main" id="{DDB2CC8E-2283-37C0-1EE8-CA7D82838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175" y="1066800"/>
            <a:ext cx="6877050" cy="38689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C023B7-EECB-A8E5-9CAF-708B59E00F0E}"/>
              </a:ext>
            </a:extLst>
          </p:cNvPr>
          <p:cNvSpPr txBox="1"/>
          <p:nvPr/>
        </p:nvSpPr>
        <p:spPr>
          <a:xfrm>
            <a:off x="2513967" y="5750867"/>
            <a:ext cx="4116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Large Language Model (LLM)</a:t>
            </a:r>
          </a:p>
        </p:txBody>
      </p:sp>
    </p:spTree>
    <p:extLst>
      <p:ext uri="{BB962C8B-B14F-4D97-AF65-F5344CB8AC3E}">
        <p14:creationId xmlns:p14="http://schemas.microsoft.com/office/powerpoint/2010/main" val="2374839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E5F7A1-4F6D-FF1D-E98F-7079A941E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14400"/>
            <a:ext cx="7772400" cy="476601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90E1042-A3A0-04FA-688A-C5613C464A11}"/>
              </a:ext>
            </a:extLst>
          </p:cNvPr>
          <p:cNvSpPr txBox="1"/>
          <p:nvPr/>
        </p:nvSpPr>
        <p:spPr>
          <a:xfrm>
            <a:off x="1981200" y="5791200"/>
            <a:ext cx="5315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https://www.gradually.ai/en/llm-statistics/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883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41B16-03F7-3C28-D997-E96C5B788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D97E6453-B5F2-AAF0-AEEE-39AC441FAA6D}"/>
              </a:ext>
            </a:extLst>
          </p:cNvPr>
          <p:cNvSpPr txBox="1"/>
          <p:nvPr/>
        </p:nvSpPr>
        <p:spPr>
          <a:xfrm>
            <a:off x="1981200" y="5791200"/>
            <a:ext cx="5315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https://www.gradually.ai/en/llm-statistics/</a:t>
            </a:r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6D41735-DCBF-217C-6665-785DD2B7A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19200"/>
            <a:ext cx="7772400" cy="42796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8A4EC4-11C8-F644-3D00-47978794B4B5}"/>
              </a:ext>
            </a:extLst>
          </p:cNvPr>
          <p:cNvSpPr txBox="1"/>
          <p:nvPr/>
        </p:nvSpPr>
        <p:spPr>
          <a:xfrm>
            <a:off x="2343510" y="770235"/>
            <a:ext cx="4879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Model sizes: Number of parameters</a:t>
            </a:r>
          </a:p>
        </p:txBody>
      </p:sp>
    </p:spTree>
    <p:extLst>
      <p:ext uri="{BB962C8B-B14F-4D97-AF65-F5344CB8AC3E}">
        <p14:creationId xmlns:p14="http://schemas.microsoft.com/office/powerpoint/2010/main" val="1940124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EEB217B-D59E-AF3E-A4D2-915828B615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FSU: Machine Learning in Physics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24523D-0D39-B032-F462-8404A81DBA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5711B93-8128-4F43-B650-5CAB5BC252AE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CD2BC9-3DE6-B4D5-2B4A-14165DD6BF66}"/>
              </a:ext>
            </a:extLst>
          </p:cNvPr>
          <p:cNvSpPr txBox="1"/>
          <p:nvPr/>
        </p:nvSpPr>
        <p:spPr>
          <a:xfrm>
            <a:off x="2971800" y="2438400"/>
            <a:ext cx="24545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Claude Demo</a:t>
            </a:r>
          </a:p>
        </p:txBody>
      </p:sp>
    </p:spTree>
    <p:extLst>
      <p:ext uri="{BB962C8B-B14F-4D97-AF65-F5344CB8AC3E}">
        <p14:creationId xmlns:p14="http://schemas.microsoft.com/office/powerpoint/2010/main" val="4272453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DC81FC-22BB-324F-8674-6799514BF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Machine Learning?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287642-FC99-2695-0DFB-0D2BC4DF41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EEE8D3-405F-8246-8864-9DF28E2D288A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6BAEAED-990E-E955-B6FF-65C0C8A845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FSU: Machine Learning in Physics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CA888CB-D106-B730-C0E9-EC13FFAC90C7}"/>
              </a:ext>
            </a:extLst>
          </p:cNvPr>
          <p:cNvGrpSpPr/>
          <p:nvPr/>
        </p:nvGrpSpPr>
        <p:grpSpPr>
          <a:xfrm>
            <a:off x="1600200" y="1797040"/>
            <a:ext cx="5715000" cy="3416320"/>
            <a:chOff x="1143000" y="1797040"/>
            <a:chExt cx="5715000" cy="341632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CBAF810-5997-806E-C47C-4007FDDDB49A}"/>
                </a:ext>
              </a:extLst>
            </p:cNvPr>
            <p:cNvSpPr txBox="1"/>
            <p:nvPr/>
          </p:nvSpPr>
          <p:spPr>
            <a:xfrm>
              <a:off x="1143000" y="1797040"/>
              <a:ext cx="5715000" cy="341632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Artificial Intelligence</a:t>
              </a:r>
            </a:p>
            <a:p>
              <a:r>
                <a:rPr lang="en-US" dirty="0"/>
                <a:t>Algorithms that cause machines to exhibit human- or </a:t>
              </a:r>
              <a:r>
                <a:rPr lang="en-US" i="1" dirty="0"/>
                <a:t>super-human</a:t>
              </a:r>
              <a:r>
                <a:rPr lang="en-US" dirty="0"/>
                <a:t> level intelligence.</a:t>
              </a:r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9962F5A-8BFC-B784-057B-C7346CD88733}"/>
                </a:ext>
              </a:extLst>
            </p:cNvPr>
            <p:cNvSpPr txBox="1"/>
            <p:nvPr/>
          </p:nvSpPr>
          <p:spPr>
            <a:xfrm>
              <a:off x="1295400" y="3090208"/>
              <a:ext cx="4724400" cy="193899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Machine Learning</a:t>
              </a:r>
            </a:p>
            <a:p>
              <a:r>
                <a:rPr lang="en-US" dirty="0"/>
                <a:t>Algorithms for modeling data.</a:t>
              </a:r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4638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DC81FC-22BB-324F-8674-6799514BF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Machine Learning?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B492721-7DD1-3BAD-7C04-F5C818EFBAD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800" b="1" dirty="0"/>
                  <a:t>Supervised Learning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Data</a:t>
                </a:r>
                <a:r>
                  <a:rPr lang="en-US" b="0" dirty="0"/>
                  <a:t>: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0" dirty="0"/>
                  <a:t> are labels </a:t>
                </a:r>
                <a:br>
                  <a:rPr lang="en-US" b="0" dirty="0"/>
                </a:b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Task</a:t>
                </a:r>
                <a:r>
                  <a:rPr lang="en-US" dirty="0"/>
                  <a:t>: 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Use cases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Classification, regression, translation, etc.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B492721-7DD1-3BAD-7C04-F5C818EFBA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3322" t="-1579" r="-9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4BF1F2C-C926-6F75-B489-F6A672B7554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800" b="1" dirty="0"/>
                  <a:t>Unsupervised Learning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Data</a:t>
                </a:r>
                <a:r>
                  <a:rPr lang="en-US" b="0" dirty="0"/>
                  <a:t>: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0" dirty="0"/>
                  <a:t>no labels</a:t>
                </a:r>
                <a:br>
                  <a:rPr lang="en-US" b="0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Task</a:t>
                </a:r>
                <a:r>
                  <a:rPr lang="en-US" dirty="0"/>
                  <a:t>:	</a:t>
                </a:r>
                <a:r>
                  <a:rPr lang="en-US" dirty="0">
                    <a:solidFill>
                      <a:srgbClr val="0033CC"/>
                    </a:solidFill>
                  </a:rPr>
                  <a:t>find structure in, and/or model, data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Use cases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Clustering, data compression, solving differential equations, etc.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4BF1F2C-C926-6F75-B489-F6A672B755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3322" t="-1579" r="-1661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6BAEAED-990E-E955-B6FF-65C0C8A845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FSU: Machine Learning in Physics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287642-FC99-2695-0DFB-0D2BC4DF41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EEE8D3-405F-8246-8864-9DF28E2D288A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443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DC81FC-22BB-324F-8674-6799514BF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Machine Learning?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B492721-7DD1-3BAD-7C04-F5C818EFBAD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800" b="1" dirty="0"/>
                  <a:t>Generative Learning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Data</a:t>
                </a:r>
                <a:r>
                  <a:rPr lang="en-US" b="0" dirty="0"/>
                  <a:t>: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0" dirty="0"/>
                  <a:t>may or may not be associated with labels</a:t>
                </a:r>
                <a:br>
                  <a:rPr lang="en-US" b="0" dirty="0"/>
                </a:br>
                <a:br>
                  <a:rPr lang="en-US" dirty="0"/>
                </a:b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Task</a:t>
                </a:r>
                <a:r>
                  <a:rPr lang="en-US" dirty="0"/>
                  <a:t>: 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b="0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Use cases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fast simulators, image/text generation, chatbots, etc.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B492721-7DD1-3BAD-7C04-F5C818EFBA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3322" t="-1579" r="-3987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4BF1F2C-C926-6F75-B489-F6A672B7554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73600" y="1295400"/>
                <a:ext cx="40132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 b="1" dirty="0"/>
                  <a:t>Reinforcement Learning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Data</a:t>
                </a:r>
                <a:r>
                  <a:rPr lang="en-US" b="0" dirty="0"/>
                  <a:t>:	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</a:t>
                </a:r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state of the environment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action taken on environment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reward arising from action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b="1" dirty="0"/>
                  <a:t>Task</a:t>
                </a:r>
                <a:r>
                  <a:rPr lang="en-US" dirty="0"/>
                  <a:t>:	find optimal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br>
                  <a:rPr lang="en-US" dirty="0"/>
                </a:br>
                <a:br>
                  <a:rPr lang="en-US" dirty="0"/>
                </a:br>
                <a:r>
                  <a:rPr lang="en-US" b="1" dirty="0"/>
                  <a:t>Use cases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Game playing, robotics, accelerator controls, etc.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4BF1F2C-C926-6F75-B489-F6A672B755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73600" y="1295400"/>
                <a:ext cx="4013200" cy="4819650"/>
              </a:xfrm>
              <a:blipFill>
                <a:blip r:embed="rId4"/>
                <a:stretch>
                  <a:fillRect l="-3165" t="-1579" r="-949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6BAEAED-990E-E955-B6FF-65C0C8A845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FSU: Machine Learning in Physics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287642-FC99-2695-0DFB-0D2BC4DF41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EEE8D3-405F-8246-8864-9DF28E2D288A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9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DC81FC-22BB-324F-8674-6799514BF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Deep Learning?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287642-FC99-2695-0DFB-0D2BC4DF41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EEE8D3-405F-8246-8864-9DF28E2D288A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6BAEAED-990E-E955-B6FF-65C0C8A845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FSU: Machine Learning in Physics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CA888CB-D106-B730-C0E9-EC13FFAC90C7}"/>
              </a:ext>
            </a:extLst>
          </p:cNvPr>
          <p:cNvGrpSpPr/>
          <p:nvPr/>
        </p:nvGrpSpPr>
        <p:grpSpPr>
          <a:xfrm>
            <a:off x="1600200" y="1797040"/>
            <a:ext cx="5715000" cy="3416320"/>
            <a:chOff x="1143000" y="1797040"/>
            <a:chExt cx="5715000" cy="341632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CBAF810-5997-806E-C47C-4007FDDDB49A}"/>
                </a:ext>
              </a:extLst>
            </p:cNvPr>
            <p:cNvSpPr txBox="1"/>
            <p:nvPr/>
          </p:nvSpPr>
          <p:spPr>
            <a:xfrm>
              <a:off x="1143000" y="1797040"/>
              <a:ext cx="5715000" cy="341632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Artificial Intelligence</a:t>
              </a:r>
            </a:p>
            <a:p>
              <a:r>
                <a:rPr lang="en-US" dirty="0"/>
                <a:t>Algorithms that cause machines to exhibit human- or </a:t>
              </a:r>
              <a:r>
                <a:rPr lang="en-US" i="1" dirty="0"/>
                <a:t>super-human-</a:t>
              </a:r>
              <a:r>
                <a:rPr lang="en-US" dirty="0"/>
                <a:t>level intelligence.</a:t>
              </a:r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9962F5A-8BFC-B784-057B-C7346CD88733}"/>
                </a:ext>
              </a:extLst>
            </p:cNvPr>
            <p:cNvSpPr txBox="1"/>
            <p:nvPr/>
          </p:nvSpPr>
          <p:spPr>
            <a:xfrm>
              <a:off x="1295400" y="3090208"/>
              <a:ext cx="4724400" cy="193899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Machine Learning</a:t>
              </a:r>
            </a:p>
            <a:p>
              <a:r>
                <a:rPr lang="en-US" dirty="0"/>
                <a:t>Algorithms for modeling data</a:t>
              </a:r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A2F0A84-8D62-597A-890E-97068EAF9F3C}"/>
                </a:ext>
              </a:extLst>
            </p:cNvPr>
            <p:cNvSpPr txBox="1"/>
            <p:nvPr/>
          </p:nvSpPr>
          <p:spPr>
            <a:xfrm>
              <a:off x="1447800" y="4038600"/>
              <a:ext cx="4448176" cy="830997"/>
            </a:xfrm>
            <a:prstGeom prst="rect">
              <a:avLst/>
            </a:prstGeom>
            <a:solidFill>
              <a:srgbClr val="FFFC8F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Deep Learning</a:t>
              </a:r>
            </a:p>
            <a:p>
              <a:r>
                <a:rPr lang="en-US" dirty="0"/>
                <a:t>ML using (large) neural networks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3457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8BAEF-41EE-270A-F78C-52A4F977C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84A1D-4E7C-0483-5A15-CB991F4E3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Deep Learning?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17B20DC-CB9D-AD75-DB41-C253E24669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787939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Deep learning </a:t>
                </a:r>
                <a:r>
                  <a:rPr lang="en-US" dirty="0"/>
                  <a:t>is the science and art of fitting models to data using functions formed through </a:t>
                </a:r>
                <a:r>
                  <a:rPr lang="en-US" i="1" dirty="0">
                    <a:solidFill>
                      <a:srgbClr val="0033CC"/>
                    </a:solidFill>
                  </a:rPr>
                  <a:t>composition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∘…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         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Each of these functions is referred to as a </a:t>
                </a:r>
                <a:r>
                  <a:rPr lang="en-US" b="1" dirty="0">
                    <a:solidFill>
                      <a:srgbClr val="0033CC"/>
                    </a:solidFill>
                  </a:rPr>
                  <a:t>layer</a:t>
                </a:r>
                <a:r>
                  <a:rPr lang="en-US" dirty="0"/>
                  <a:t>. Kimi K3, from Moonshot AI, has </a:t>
                </a:r>
                <a:r>
                  <a:rPr lang="en-US" b="1" dirty="0"/>
                  <a:t>93</a:t>
                </a:r>
                <a:r>
                  <a:rPr lang="en-US" dirty="0"/>
                  <a:t> layers and </a:t>
                </a:r>
                <a:r>
                  <a:rPr lang="en-US" b="1" dirty="0"/>
                  <a:t>2.8 trillion </a:t>
                </a:r>
                <a:r>
                  <a:rPr lang="en-US" dirty="0"/>
                  <a:t>parameters!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17B20DC-CB9D-AD75-DB41-C253E24669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7879390" cy="4819650"/>
              </a:xfrm>
              <a:blipFill>
                <a:blip r:embed="rId2"/>
                <a:stretch>
                  <a:fillRect l="-1288" t="-1316" b="-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E9EC598B-8324-5820-ED96-36B8FA083BAB}"/>
              </a:ext>
            </a:extLst>
          </p:cNvPr>
          <p:cNvGrpSpPr/>
          <p:nvPr/>
        </p:nvGrpSpPr>
        <p:grpSpPr>
          <a:xfrm>
            <a:off x="553410" y="4038600"/>
            <a:ext cx="8209590" cy="1019175"/>
            <a:chOff x="553410" y="4238624"/>
            <a:chExt cx="8209590" cy="101917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E6C74E4-14F9-A1DE-0506-C5613D45D0A0}"/>
                </a:ext>
              </a:extLst>
            </p:cNvPr>
            <p:cNvGrpSpPr/>
            <p:nvPr/>
          </p:nvGrpSpPr>
          <p:grpSpPr>
            <a:xfrm rot="10800000">
              <a:off x="1662113" y="4238624"/>
              <a:ext cx="5805487" cy="1019175"/>
              <a:chOff x="1447800" y="2895600"/>
              <a:chExt cx="5805487" cy="1019175"/>
            </a:xfrm>
          </p:grpSpPr>
          <p:sp>
            <p:nvSpPr>
              <p:cNvPr id="7" name="Direct Access Storage 6">
                <a:extLst>
                  <a:ext uri="{FF2B5EF4-FFF2-40B4-BE49-F238E27FC236}">
                    <a16:creationId xmlns:a16="http://schemas.microsoft.com/office/drawing/2014/main" id="{15766E36-AE65-F473-0B69-C6198FA14EEF}"/>
                  </a:ext>
                </a:extLst>
              </p:cNvPr>
              <p:cNvSpPr/>
              <p:nvPr/>
            </p:nvSpPr>
            <p:spPr bwMode="auto">
              <a:xfrm>
                <a:off x="1447800" y="3019424"/>
                <a:ext cx="1066800" cy="866775"/>
              </a:xfrm>
              <a:prstGeom prst="flowChartMagneticDrum">
                <a:avLst/>
              </a:prstGeom>
              <a:solidFill>
                <a:srgbClr val="FFC000"/>
              </a:solidFill>
              <a:ln w="66675" cap="flat" cmpd="sng" algn="ctr">
                <a:solidFill>
                  <a:schemeClr val="accent1">
                    <a:alpha val="14878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8" name="Direct Access Storage 7">
                <a:extLst>
                  <a:ext uri="{FF2B5EF4-FFF2-40B4-BE49-F238E27FC236}">
                    <a16:creationId xmlns:a16="http://schemas.microsoft.com/office/drawing/2014/main" id="{B005D003-3C67-6673-E8F4-4C1715DDD6D4}"/>
                  </a:ext>
                </a:extLst>
              </p:cNvPr>
              <p:cNvSpPr/>
              <p:nvPr/>
            </p:nvSpPr>
            <p:spPr bwMode="auto">
              <a:xfrm>
                <a:off x="2971800" y="3048000"/>
                <a:ext cx="1066800" cy="866775"/>
              </a:xfrm>
              <a:prstGeom prst="flowChartMagneticDrum">
                <a:avLst/>
              </a:prstGeom>
              <a:solidFill>
                <a:srgbClr val="FFC000"/>
              </a:solidFill>
              <a:ln w="66675" cap="flat" cmpd="sng" algn="ctr">
                <a:solidFill>
                  <a:schemeClr val="accent1">
                    <a:alpha val="14878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9" name="Direct Access Storage 8">
                <a:extLst>
                  <a:ext uri="{FF2B5EF4-FFF2-40B4-BE49-F238E27FC236}">
                    <a16:creationId xmlns:a16="http://schemas.microsoft.com/office/drawing/2014/main" id="{A8F266F7-E795-7FF8-6A7D-9F09B463A0AB}"/>
                  </a:ext>
                </a:extLst>
              </p:cNvPr>
              <p:cNvSpPr/>
              <p:nvPr/>
            </p:nvSpPr>
            <p:spPr bwMode="auto">
              <a:xfrm>
                <a:off x="5410200" y="3048000"/>
                <a:ext cx="1066800" cy="866775"/>
              </a:xfrm>
              <a:prstGeom prst="flowChartMagneticDrum">
                <a:avLst/>
              </a:prstGeom>
              <a:solidFill>
                <a:srgbClr val="FFC000"/>
              </a:solidFill>
              <a:ln w="66675" cap="flat" cmpd="sng" algn="ctr">
                <a:solidFill>
                  <a:schemeClr val="accent1">
                    <a:alpha val="14878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10" name="Right Arrow 9">
                <a:extLst>
                  <a:ext uri="{FF2B5EF4-FFF2-40B4-BE49-F238E27FC236}">
                    <a16:creationId xmlns:a16="http://schemas.microsoft.com/office/drawing/2014/main" id="{A0CCC2DE-AB7B-06E8-952F-F21B6C562F90}"/>
                  </a:ext>
                </a:extLst>
              </p:cNvPr>
              <p:cNvSpPr/>
              <p:nvPr/>
            </p:nvSpPr>
            <p:spPr bwMode="auto">
              <a:xfrm>
                <a:off x="2272792" y="3220593"/>
                <a:ext cx="978408" cy="484632"/>
              </a:xfrm>
              <a:prstGeom prst="rightArrow">
                <a:avLst/>
              </a:prstGeom>
              <a:solidFill>
                <a:schemeClr val="accent1">
                  <a:alpha val="51000"/>
                </a:schemeClr>
              </a:solidFill>
              <a:ln w="317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11" name="Right Arrow 10">
                <a:extLst>
                  <a:ext uri="{FF2B5EF4-FFF2-40B4-BE49-F238E27FC236}">
                    <a16:creationId xmlns:a16="http://schemas.microsoft.com/office/drawing/2014/main" id="{9A302C5B-2EBB-1F43-440C-CF68188AD4CE}"/>
                  </a:ext>
                </a:extLst>
              </p:cNvPr>
              <p:cNvSpPr/>
              <p:nvPr/>
            </p:nvSpPr>
            <p:spPr bwMode="auto">
              <a:xfrm>
                <a:off x="3739896" y="3239071"/>
                <a:ext cx="978408" cy="484632"/>
              </a:xfrm>
              <a:prstGeom prst="rightArrow">
                <a:avLst/>
              </a:prstGeom>
              <a:solidFill>
                <a:schemeClr val="accent1">
                  <a:alpha val="51000"/>
                </a:schemeClr>
              </a:solidFill>
              <a:ln w="317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12" name="Right Arrow 11">
                <a:extLst>
                  <a:ext uri="{FF2B5EF4-FFF2-40B4-BE49-F238E27FC236}">
                    <a16:creationId xmlns:a16="http://schemas.microsoft.com/office/drawing/2014/main" id="{66F2C753-4DDA-FC8B-B96C-3A6BEDDF5716}"/>
                  </a:ext>
                </a:extLst>
              </p:cNvPr>
              <p:cNvSpPr/>
              <p:nvPr/>
            </p:nvSpPr>
            <p:spPr bwMode="auto">
              <a:xfrm>
                <a:off x="6274879" y="3220593"/>
                <a:ext cx="978408" cy="484632"/>
              </a:xfrm>
              <a:prstGeom prst="rightArrow">
                <a:avLst/>
              </a:prstGeom>
              <a:solidFill>
                <a:schemeClr val="accent1">
                  <a:alpha val="51000"/>
                </a:schemeClr>
              </a:solidFill>
              <a:ln w="317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6677D2-BE8E-FF7A-15B5-9276F9025EFB}"/>
                  </a:ext>
                </a:extLst>
              </p:cNvPr>
              <p:cNvSpPr txBox="1"/>
              <p:nvPr/>
            </p:nvSpPr>
            <p:spPr>
              <a:xfrm>
                <a:off x="4724400" y="2895600"/>
                <a:ext cx="748923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400" dirty="0"/>
                  <a:t>…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CD2D12A-4EAD-7098-BC83-1F519F189FE1}"/>
                    </a:ext>
                  </a:extLst>
                </p:cNvPr>
                <p:cNvSpPr txBox="1"/>
                <p:nvPr/>
              </p:nvSpPr>
              <p:spPr>
                <a:xfrm>
                  <a:off x="553410" y="4343400"/>
                  <a:ext cx="109562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CD2D12A-4EAD-7098-BC83-1F519F189F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410" y="4343400"/>
                  <a:ext cx="1095621" cy="584775"/>
                </a:xfrm>
                <a:prstGeom prst="rect">
                  <a:avLst/>
                </a:prstGeom>
                <a:blipFill>
                  <a:blip r:embed="rId3"/>
                  <a:stretch>
                    <a:fillRect l="-3409" r="-3409" b="-234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009765F-38AD-2B1B-14EE-DA3E365B37D5}"/>
                    </a:ext>
                  </a:extLst>
                </p:cNvPr>
                <p:cNvSpPr txBox="1"/>
                <p:nvPr/>
              </p:nvSpPr>
              <p:spPr>
                <a:xfrm>
                  <a:off x="8245294" y="4368225"/>
                  <a:ext cx="517706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009765F-38AD-2B1B-14EE-DA3E365B37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5294" y="4368225"/>
                  <a:ext cx="517706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Right Arrow 15">
              <a:extLst>
                <a:ext uri="{FF2B5EF4-FFF2-40B4-BE49-F238E27FC236}">
                  <a16:creationId xmlns:a16="http://schemas.microsoft.com/office/drawing/2014/main" id="{61EE9FF1-FAA2-BFFB-2C27-9AC25669A248}"/>
                </a:ext>
              </a:extLst>
            </p:cNvPr>
            <p:cNvSpPr/>
            <p:nvPr/>
          </p:nvSpPr>
          <p:spPr bwMode="auto">
            <a:xfrm rot="10800000">
              <a:off x="7244588" y="4458272"/>
              <a:ext cx="978408" cy="484632"/>
            </a:xfrm>
            <a:prstGeom prst="rightArrow">
              <a:avLst/>
            </a:prstGeom>
            <a:solidFill>
              <a:schemeClr val="accent1">
                <a:alpha val="51000"/>
              </a:schemeClr>
            </a:solidFill>
            <a:ln w="31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9BF0495-C1B1-B58D-E9E5-62C231B4AEC4}"/>
                    </a:ext>
                  </a:extLst>
                </p:cNvPr>
                <p:cNvSpPr txBox="1"/>
                <p:nvPr/>
              </p:nvSpPr>
              <p:spPr>
                <a:xfrm>
                  <a:off x="2818759" y="4643735"/>
                  <a:ext cx="59804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9BF0495-C1B1-B58D-E9E5-62C231B4AE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8759" y="4643735"/>
                  <a:ext cx="598049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8617D38-177D-7628-FF83-7F151C108FA6}"/>
                    </a:ext>
                  </a:extLst>
                </p:cNvPr>
                <p:cNvSpPr txBox="1"/>
                <p:nvPr/>
              </p:nvSpPr>
              <p:spPr>
                <a:xfrm>
                  <a:off x="5018628" y="4673755"/>
                  <a:ext cx="90338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8617D38-177D-7628-FF83-7F151C108F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8628" y="4673755"/>
                  <a:ext cx="903389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1389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0295E9D-2215-CB75-7D62-3274E6E7D70F}"/>
                    </a:ext>
                  </a:extLst>
                </p:cNvPr>
                <p:cNvSpPr txBox="1"/>
                <p:nvPr/>
              </p:nvSpPr>
              <p:spPr>
                <a:xfrm>
                  <a:off x="6707559" y="4635787"/>
                  <a:ext cx="51892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0295E9D-2215-CB75-7D62-3274E6E7D7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7559" y="4635787"/>
                  <a:ext cx="518925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2439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16534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7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building block: 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The perceptron</a:t>
            </a:r>
          </a:p>
        </p:txBody>
      </p:sp>
    </p:spTree>
    <p:extLst>
      <p:ext uri="{BB962C8B-B14F-4D97-AF65-F5344CB8AC3E}">
        <p14:creationId xmlns:p14="http://schemas.microsoft.com/office/powerpoint/2010/main" val="106369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EA73C34-84D6-73B2-6C65-4893A86AF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Brain’s Computational Unit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0D8BE4-20A0-1655-E4B4-9BE4F94275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FSU: Machine Learning in Physics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4DFE7-9FE3-142F-12B4-65BB1AB5EC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EEE8D3-405F-8246-8864-9DF28E2D288A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10" name="Picture 9" descr="A close-up of a nerve cell&#10;&#10;Description automatically generated">
            <a:extLst>
              <a:ext uri="{FF2B5EF4-FFF2-40B4-BE49-F238E27FC236}">
                <a16:creationId xmlns:a16="http://schemas.microsoft.com/office/drawing/2014/main" id="{CA6F7FA3-2874-664B-2F0D-A29CFE824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950" y="1479550"/>
            <a:ext cx="4864100" cy="3898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AFB742-534B-41D7-7AA0-056867B20968}"/>
              </a:ext>
            </a:extLst>
          </p:cNvPr>
          <p:cNvSpPr txBox="1"/>
          <p:nvPr/>
        </p:nvSpPr>
        <p:spPr>
          <a:xfrm>
            <a:off x="1115692" y="5558135"/>
            <a:ext cx="68091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https://www.nature.com/articles/d41586-024-01387-9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315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B63862D1-690D-BFC9-78BC-D00D1158C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AI Comp. Unit: </a:t>
            </a:r>
            <a:r>
              <a:rPr lang="en-US" dirty="0">
                <a:solidFill>
                  <a:schemeClr val="accent1"/>
                </a:solidFill>
              </a:rPr>
              <a:t>The Perceptron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3">
                <a:extLst>
                  <a:ext uri="{FF2B5EF4-FFF2-40B4-BE49-F238E27FC236}">
                    <a16:creationId xmlns:a16="http://schemas.microsoft.com/office/drawing/2014/main" id="{1E3AC0C5-1DBA-34DB-A9E3-53EB85CB32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br>
                  <a:rPr lang="en-US" sz="2400" dirty="0"/>
                </a:b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				(Frank Rosenblatt, 1958)</a:t>
                </a:r>
                <a:br>
                  <a:rPr lang="en-US" sz="2400" dirty="0"/>
                </a:b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is a (row) matrix of input data</a:t>
                </a:r>
                <a:r>
                  <a:rPr lang="en-US" sz="2400" b="0" dirty="0"/>
                  <a:t>	</a:t>
                </a:r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dirty="0"/>
                  <a:t>is a matrix of</a:t>
                </a:r>
                <a:r>
                  <a:rPr lang="en-US" sz="2400" dirty="0"/>
                  <a:t> </a:t>
                </a:r>
                <a:r>
                  <a:rPr lang="en-US" sz="2400" b="1" dirty="0">
                    <a:solidFill>
                      <a:srgbClr val="0033CC"/>
                    </a:solidFill>
                  </a:rPr>
                  <a:t>weights</a:t>
                </a:r>
                <a:r>
                  <a:rPr lang="en-US" sz="2400" dirty="0"/>
                  <a:t>	</a:t>
                </a:r>
              </a:p>
              <a:p>
                <a:pPr marL="0" indent="0">
                  <a:buNone/>
                </a:pPr>
                <a:r>
                  <a:rPr lang="en-US" sz="2400" b="0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is </a:t>
                </a:r>
                <a:r>
                  <a:rPr lang="en-US" dirty="0"/>
                  <a:t>a (row) matrix of</a:t>
                </a:r>
                <a:r>
                  <a:rPr lang="en-US" sz="2400" dirty="0"/>
                  <a:t> </a:t>
                </a:r>
                <a:r>
                  <a:rPr lang="en-US" sz="2400" b="1" dirty="0">
                    <a:solidFill>
                      <a:srgbClr val="0033CC"/>
                    </a:solidFill>
                  </a:rPr>
                  <a:t>biases</a:t>
                </a:r>
              </a:p>
              <a:p>
                <a:pPr marL="0" indent="0">
                  <a:buNone/>
                </a:pPr>
                <a:r>
                  <a:rPr lang="en-US" sz="2400" b="0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dirty="0"/>
                  <a:t> is a nonlinear function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</a:rPr>
                  <a:t>Activations</a:t>
                </a:r>
                <a:r>
                  <a:rPr lang="en-US" sz="2400" dirty="0"/>
                  <a:t>:	 </a:t>
                </a:r>
                <a:r>
                  <a:rPr lang="en-US" sz="2400" i="1" dirty="0"/>
                  <a:t>g</a:t>
                </a:r>
                <a:r>
                  <a:rPr lang="en-US" sz="2400" dirty="0"/>
                  <a:t>(</a:t>
                </a:r>
                <a:r>
                  <a:rPr lang="en-US" sz="2400" i="1" dirty="0"/>
                  <a:t>z</a:t>
                </a:r>
                <a:r>
                  <a:rPr lang="en-US" sz="2400" dirty="0"/>
                  <a:t>) = </a:t>
                </a:r>
                <a:r>
                  <a:rPr lang="en-US" sz="2400" dirty="0" err="1"/>
                  <a:t>relu</a:t>
                </a:r>
                <a:r>
                  <a:rPr lang="en-US" sz="2400" dirty="0"/>
                  <a:t>(z) = max(0, </a:t>
                </a:r>
                <a:r>
                  <a:rPr lang="en-US" sz="2400" i="1" dirty="0"/>
                  <a:t>z</a:t>
                </a:r>
                <a:r>
                  <a:rPr lang="en-US" sz="2400" dirty="0"/>
                  <a:t>)</a:t>
                </a:r>
              </a:p>
              <a:p>
                <a:pPr marL="0" indent="0">
                  <a:buNone/>
                </a:pPr>
                <a:r>
                  <a:rPr lang="en-US" dirty="0"/>
                  <a:t>		 </a:t>
                </a:r>
                <a:r>
                  <a:rPr lang="en-US" i="1" dirty="0"/>
                  <a:t>g</a:t>
                </a:r>
                <a:r>
                  <a:rPr lang="en-US" dirty="0"/>
                  <a:t>(</a:t>
                </a:r>
                <a:r>
                  <a:rPr lang="en-US" i="1" dirty="0"/>
                  <a:t>z</a:t>
                </a:r>
                <a:r>
                  <a:rPr lang="en-US" dirty="0"/>
                  <a:t>) = tanh(</a:t>
                </a:r>
                <a:r>
                  <a:rPr lang="en-US" i="1" dirty="0"/>
                  <a:t>z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dirty="0"/>
                  <a:t>		 </a:t>
                </a:r>
                <a:r>
                  <a:rPr lang="en-US" i="1" dirty="0"/>
                  <a:t>g</a:t>
                </a:r>
                <a:r>
                  <a:rPr lang="en-US" dirty="0"/>
                  <a:t>(</a:t>
                </a:r>
                <a:r>
                  <a:rPr lang="en-US" i="1" dirty="0"/>
                  <a:t>z</a:t>
                </a:r>
                <a:r>
                  <a:rPr lang="en-US" dirty="0"/>
                  <a:t>) = sigmoid(</a:t>
                </a:r>
                <a:r>
                  <a:rPr lang="en-US" i="1" dirty="0"/>
                  <a:t>z</a:t>
                </a:r>
                <a:r>
                  <a:rPr lang="en-US" dirty="0"/>
                  <a:t>) = 1 / (1 + exp(-z))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4" name="Content Placeholder 23">
                <a:extLst>
                  <a:ext uri="{FF2B5EF4-FFF2-40B4-BE49-F238E27FC236}">
                    <a16:creationId xmlns:a16="http://schemas.microsoft.com/office/drawing/2014/main" id="{1E3AC0C5-1DBA-34DB-A9E3-53EB85CB32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b="-3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F832A-94CB-6F85-7B81-10941A8B82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FSU: Machine Learning in Physics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D08807-92FF-6520-B659-209C239D99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EEE8D3-405F-8246-8864-9DF28E2D288A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25CB5B-95C8-B971-5A8B-6996EFE6E5CA}"/>
              </a:ext>
            </a:extLst>
          </p:cNvPr>
          <p:cNvGrpSpPr/>
          <p:nvPr/>
        </p:nvGrpSpPr>
        <p:grpSpPr>
          <a:xfrm>
            <a:off x="1533923" y="2667000"/>
            <a:ext cx="6189482" cy="3046988"/>
            <a:chOff x="1533923" y="3068062"/>
            <a:chExt cx="6189482" cy="304698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0FEA96-5AD7-39B7-07BE-D9FE2696695A}"/>
                </a:ext>
              </a:extLst>
            </p:cNvPr>
            <p:cNvGrpSpPr/>
            <p:nvPr/>
          </p:nvGrpSpPr>
          <p:grpSpPr>
            <a:xfrm>
              <a:off x="1533923" y="3068062"/>
              <a:ext cx="6189482" cy="3046988"/>
              <a:chOff x="1381523" y="3124706"/>
              <a:chExt cx="6189482" cy="304698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E1796F83-9586-3F6A-7D7C-A9C64B7E5842}"/>
                      </a:ext>
                    </a:extLst>
                  </p:cNvPr>
                  <p:cNvSpPr txBox="1"/>
                  <p:nvPr/>
                </p:nvSpPr>
                <p:spPr>
                  <a:xfrm>
                    <a:off x="6696214" y="3124706"/>
                    <a:ext cx="874791" cy="30469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/>
                  </a:p>
                  <a:p>
                    <a:endParaRPr lang="en-US" sz="3200" b="0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/>
                  </a:p>
                  <a:p>
                    <a:endParaRPr lang="en-US" sz="3200" b="0" i="1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lang="en-US" sz="3200" dirty="0"/>
                  </a:p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/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E1796F83-9586-3F6A-7D7C-A9C64B7E58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96214" y="3124706"/>
                    <a:ext cx="874791" cy="304698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857" b="-41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C077FD4F-C16E-6E21-5657-E3BD371E4516}"/>
                  </a:ext>
                </a:extLst>
              </p:cNvPr>
              <p:cNvGrpSpPr/>
              <p:nvPr/>
            </p:nvGrpSpPr>
            <p:grpSpPr>
              <a:xfrm>
                <a:off x="1381523" y="3366493"/>
                <a:ext cx="5324077" cy="2743795"/>
                <a:chOff x="1381523" y="3366493"/>
                <a:chExt cx="5324077" cy="274379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Oval 12">
                      <a:extLst>
                        <a:ext uri="{FF2B5EF4-FFF2-40B4-BE49-F238E27FC236}">
                          <a16:creationId xmlns:a16="http://schemas.microsoft.com/office/drawing/2014/main" id="{0D4B7837-C9C8-E140-BA82-881EF569DAE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4386142" y="4425166"/>
                      <a:ext cx="1242362" cy="822305"/>
                    </a:xfrm>
                    <a:prstGeom prst="ellipse">
                      <a:avLst/>
                    </a:prstGeom>
                    <a:solidFill>
                      <a:srgbClr val="92D050"/>
                    </a:soli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14:m>
                        <m:oMathPara xmlns:m="http://schemas.openxmlformats.org/officeDocument/2006/math">
                          <m:oMath>
                            <m:r>
                              <a:rPr kumimoji="0" lang="en-US" sz="32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kumimoji="0" lang="en-US" sz="32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kumimoji="0" lang="en-US" sz="32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3" name="Oval 12">
                      <a:extLst>
                        <a:ext uri="{FF2B5EF4-FFF2-40B4-BE49-F238E27FC236}">
                          <a16:creationId xmlns:a16="http://schemas.microsoft.com/office/drawing/2014/main" id="{0D4B7837-C9C8-E140-BA82-881EF569DAE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386142" y="4425166"/>
                      <a:ext cx="1242362" cy="822305"/>
                    </a:xfrm>
                    <a:prstGeom prst="ellipse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531340B0-C94C-49D0-627B-9E7522A6AE4D}"/>
                    </a:ext>
                  </a:extLst>
                </p:cNvPr>
                <p:cNvCxnSpPr>
                  <a:cxnSpLocks/>
                  <a:stCxn id="19" idx="2"/>
                </p:cNvCxnSpPr>
                <p:nvPr/>
              </p:nvCxnSpPr>
              <p:spPr bwMode="auto">
                <a:xfrm flipH="1">
                  <a:off x="5476736" y="4508361"/>
                  <a:ext cx="939800" cy="279678"/>
                </a:xfrm>
                <a:prstGeom prst="straightConnector1">
                  <a:avLst/>
                </a:prstGeom>
                <a:noFill/>
                <a:ln w="50800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stealth"/>
                </a:ln>
                <a:effectLst/>
              </p:spPr>
            </p:cxn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5E6467FA-89CD-99CC-8284-E1433C67D3DC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5410200" y="5105400"/>
                  <a:ext cx="1117600" cy="819152"/>
                </a:xfrm>
                <a:prstGeom prst="straightConnector1">
                  <a:avLst/>
                </a:prstGeom>
                <a:noFill/>
                <a:ln w="50800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stealth"/>
                </a:ln>
                <a:effectLst/>
              </p:spPr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4C35C01D-9D96-B984-0320-278785F7AC65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1981200" y="4857244"/>
                  <a:ext cx="1143000" cy="0"/>
                </a:xfrm>
                <a:prstGeom prst="straightConnector1">
                  <a:avLst/>
                </a:prstGeom>
                <a:noFill/>
                <a:ln w="50800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stealth"/>
                </a:ln>
                <a:effectLst/>
              </p:spPr>
            </p:cxnSp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AAFAC078-AF8F-2216-841F-261DEE4D949C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5334000" y="3480197"/>
                  <a:ext cx="1273036" cy="1038136"/>
                </a:xfrm>
                <a:prstGeom prst="straightConnector1">
                  <a:avLst/>
                </a:prstGeom>
                <a:noFill/>
                <a:ln w="50800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stealth"/>
                </a:ln>
                <a:effectLst/>
              </p:spPr>
            </p:cxn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65E0B829-1FF5-20D1-0AA6-AFC881F59B12}"/>
                    </a:ext>
                  </a:extLst>
                </p:cNvPr>
                <p:cNvSpPr/>
                <p:nvPr/>
              </p:nvSpPr>
              <p:spPr bwMode="auto">
                <a:xfrm>
                  <a:off x="6425922" y="3366493"/>
                  <a:ext cx="279678" cy="279678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AB10A636-2870-D93C-4770-A6BFC2087380}"/>
                    </a:ext>
                  </a:extLst>
                </p:cNvPr>
                <p:cNvSpPr/>
                <p:nvPr/>
              </p:nvSpPr>
              <p:spPr bwMode="auto">
                <a:xfrm>
                  <a:off x="6416536" y="4368522"/>
                  <a:ext cx="279678" cy="279678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B591EFAB-8328-0675-B835-0D63A9381D95}"/>
                    </a:ext>
                  </a:extLst>
                </p:cNvPr>
                <p:cNvSpPr/>
                <p:nvPr/>
              </p:nvSpPr>
              <p:spPr bwMode="auto">
                <a:xfrm>
                  <a:off x="6416536" y="5830610"/>
                  <a:ext cx="279678" cy="279678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6475A4AA-ED3E-72F7-33B8-B0870182F22F}"/>
                    </a:ext>
                  </a:extLst>
                </p:cNvPr>
                <p:cNvSpPr/>
                <p:nvPr/>
              </p:nvSpPr>
              <p:spPr bwMode="auto">
                <a:xfrm>
                  <a:off x="1777722" y="4729966"/>
                  <a:ext cx="279678" cy="279678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3E5EBC26-3807-38BC-439B-5FB55E9E42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81523" y="4501069"/>
                      <a:ext cx="523477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sz="3200" dirty="0"/>
                    </a:p>
                  </p:txBody>
                </p:sp>
              </mc:Choice>
              <mc:Fallback xmlns="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3E5EBC26-3807-38BC-439B-5FB55E9E426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381523" y="4501069"/>
                      <a:ext cx="523477" cy="58477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b="-1489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30979486-12EC-2430-5187-1A4BA391A81F}"/>
                    </a:ext>
                  </a:extLst>
                </p:cNvPr>
                <p:cNvSpPr/>
                <p:nvPr/>
              </p:nvSpPr>
              <p:spPr bwMode="auto">
                <a:xfrm>
                  <a:off x="3286005" y="4420165"/>
                  <a:ext cx="752595" cy="735747"/>
                </a:xfrm>
                <a:prstGeom prst="ellipse">
                  <a:avLst/>
                </a:prstGeom>
                <a:solidFill>
                  <a:srgbClr val="FFC000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>
                        <m:r>
                          <a:rPr kumimoji="0" lang="en-US" sz="2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kumimoji="0" lang="en-US" sz="28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30979486-12EC-2430-5187-1A4BA391A81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86005" y="4420165"/>
                  <a:ext cx="752595" cy="735747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4C6F2C9-B329-79F5-8A97-9BCAF76E7E0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962400" y="4800600"/>
              <a:ext cx="576142" cy="0"/>
            </a:xfrm>
            <a:prstGeom prst="straightConnector1">
              <a:avLst/>
            </a:prstGeom>
            <a:noFill/>
            <a:ln w="508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85B046C-CBC0-3C17-9777-B41F732C2169}"/>
              </a:ext>
            </a:extLst>
          </p:cNvPr>
          <p:cNvSpPr txBox="1"/>
          <p:nvPr/>
        </p:nvSpPr>
        <p:spPr>
          <a:xfrm>
            <a:off x="76200" y="6107668"/>
            <a:ext cx="9046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hlinkClick r:id="rId7"/>
              </a:rPr>
              <a:t>https://news.cornell.edu/stories/2019/09/professors-perceptron-paved-way-ai-60-years-too-soon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83994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4A32A8B-7757-12CD-8B11-1EDB901C5B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Multi-Node perceptron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AA2A0-CFBE-A170-FFB2-B82C197E15C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305800" y="6477000"/>
            <a:ext cx="838200" cy="381000"/>
          </a:xfrm>
        </p:spPr>
        <p:txBody>
          <a:bodyPr/>
          <a:lstStyle/>
          <a:p>
            <a:pPr>
              <a:defRPr/>
            </a:pPr>
            <a:fld id="{84EEE8D3-405F-8246-8864-9DF28E2D288A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81D93-47D8-F61A-FF88-A709C8320BA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477000"/>
            <a:ext cx="8001000" cy="381000"/>
          </a:xfrm>
        </p:spPr>
        <p:txBody>
          <a:bodyPr/>
          <a:lstStyle/>
          <a:p>
            <a:pPr algn="l">
              <a:defRPr/>
            </a:pPr>
            <a:r>
              <a:rPr lang="en-US" dirty="0"/>
              <a:t>FSU: Machine Learning in Physics</a:t>
            </a:r>
          </a:p>
        </p:txBody>
      </p:sp>
    </p:spTree>
    <p:extLst>
      <p:ext uri="{BB962C8B-B14F-4D97-AF65-F5344CB8AC3E}">
        <p14:creationId xmlns:p14="http://schemas.microsoft.com/office/powerpoint/2010/main" val="725898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3">
                <a:extLst>
                  <a:ext uri="{FF2B5EF4-FFF2-40B4-BE49-F238E27FC236}">
                    <a16:creationId xmlns:a16="http://schemas.microsoft.com/office/drawing/2014/main" id="{1E3AC0C5-1DBA-34DB-A9E3-53EB85CB32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relu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bSup>
                            <m:sSubSupPr>
                              <m:ctrlPr>
                                <a:rPr lang="en-US" sz="2800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</a:rPr>
                  <a:t>Example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2,−3, 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,   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=−5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bSup>
                            <m:sSubSupPr>
                              <m:ctrlPr>
                                <a:rPr lang="en-US" sz="2800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1, 2, 3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,   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br>
                  <a:rPr lang="en-US" sz="2400" dirty="0"/>
                </a:br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4" name="Content Placeholder 23">
                <a:extLst>
                  <a:ext uri="{FF2B5EF4-FFF2-40B4-BE49-F238E27FC236}">
                    <a16:creationId xmlns:a16="http://schemas.microsoft.com/office/drawing/2014/main" id="{1E3AC0C5-1DBA-34DB-A9E3-53EB85CB32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b="-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036E8F6F-9356-03F1-6680-4998F52FDB14}"/>
              </a:ext>
            </a:extLst>
          </p:cNvPr>
          <p:cNvGrpSpPr/>
          <p:nvPr/>
        </p:nvGrpSpPr>
        <p:grpSpPr>
          <a:xfrm>
            <a:off x="1430954" y="1066799"/>
            <a:ext cx="6460344" cy="3052313"/>
            <a:chOff x="1278554" y="3068062"/>
            <a:chExt cx="6443386" cy="298558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AD775B1-DAF5-976B-5A79-F94B1EC4431F}"/>
                </a:ext>
              </a:extLst>
            </p:cNvPr>
            <p:cNvGrpSpPr/>
            <p:nvPr/>
          </p:nvGrpSpPr>
          <p:grpSpPr>
            <a:xfrm>
              <a:off x="1278554" y="3068062"/>
              <a:ext cx="6443386" cy="2985582"/>
              <a:chOff x="1126154" y="3124706"/>
              <a:chExt cx="6443386" cy="298558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F57001E7-E86C-E65E-6494-153995C849D5}"/>
                      </a:ext>
                    </a:extLst>
                  </p:cNvPr>
                  <p:cNvSpPr txBox="1"/>
                  <p:nvPr/>
                </p:nvSpPr>
                <p:spPr>
                  <a:xfrm>
                    <a:off x="6696214" y="3124706"/>
                    <a:ext cx="873326" cy="298037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/>
                  </a:p>
                  <a:p>
                    <a:endParaRPr lang="en-US" sz="3200" b="0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/>
                  </a:p>
                  <a:p>
                    <a:endParaRPr lang="en-US" sz="3200" b="0" i="1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lang="en-US" sz="3200" dirty="0"/>
                  </a:p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/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F57001E7-E86C-E65E-6494-153995C849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96214" y="3124706"/>
                    <a:ext cx="873326" cy="298037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857" b="-458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733B483C-6824-2060-7D90-59DDD44737C0}"/>
                  </a:ext>
                </a:extLst>
              </p:cNvPr>
              <p:cNvGrpSpPr/>
              <p:nvPr/>
            </p:nvGrpSpPr>
            <p:grpSpPr>
              <a:xfrm>
                <a:off x="1126154" y="3366493"/>
                <a:ext cx="5579446" cy="2743795"/>
                <a:chOff x="1126154" y="3366493"/>
                <a:chExt cx="5579446" cy="2743795"/>
              </a:xfrm>
            </p:grpSpPr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975C77A4-2F0A-53E0-E0C6-BC05C5D111A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5410200" y="5105400"/>
                  <a:ext cx="1117600" cy="819152"/>
                </a:xfrm>
                <a:prstGeom prst="straightConnector1">
                  <a:avLst/>
                </a:prstGeom>
                <a:noFill/>
                <a:ln w="50800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stealth"/>
                </a:ln>
                <a:effectLst/>
              </p:spPr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Oval 26">
                      <a:extLst>
                        <a:ext uri="{FF2B5EF4-FFF2-40B4-BE49-F238E27FC236}">
                          <a16:creationId xmlns:a16="http://schemas.microsoft.com/office/drawing/2014/main" id="{B61A988F-A49D-C7C1-A444-80B458A9130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4217146" y="4425166"/>
                      <a:ext cx="1411358" cy="822305"/>
                    </a:xfrm>
                    <a:prstGeom prst="ellipse">
                      <a:avLst/>
                    </a:prstGeom>
                    <a:solidFill>
                      <a:srgbClr val="92D050"/>
                    </a:soli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kumimoji="0" lang="en-US" sz="32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sz="32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sz="32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0" lang="en-US" sz="32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kumimoji="0" lang="en-US" sz="32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sz="32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kumimoji="0" lang="en-US" sz="32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7" name="Oval 26">
                      <a:extLst>
                        <a:ext uri="{FF2B5EF4-FFF2-40B4-BE49-F238E27FC236}">
                          <a16:creationId xmlns:a16="http://schemas.microsoft.com/office/drawing/2014/main" id="{B61A988F-A49D-C7C1-A444-80B458A9130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217146" y="4425166"/>
                      <a:ext cx="1411358" cy="822305"/>
                    </a:xfrm>
                    <a:prstGeom prst="ellipse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F97D22A7-E551-E680-629A-32940C4A970A}"/>
                    </a:ext>
                  </a:extLst>
                </p:cNvPr>
                <p:cNvCxnSpPr>
                  <a:cxnSpLocks/>
                  <a:stCxn id="35" idx="2"/>
                </p:cNvCxnSpPr>
                <p:nvPr/>
              </p:nvCxnSpPr>
              <p:spPr bwMode="auto">
                <a:xfrm flipH="1">
                  <a:off x="5476736" y="4508361"/>
                  <a:ext cx="939800" cy="279678"/>
                </a:xfrm>
                <a:prstGeom prst="straightConnector1">
                  <a:avLst/>
                </a:prstGeom>
                <a:noFill/>
                <a:ln w="50800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stealth"/>
                </a:ln>
                <a:effectLst/>
              </p:spPr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E92C2F47-8979-A457-7915-CA180862751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1981200" y="4857244"/>
                  <a:ext cx="1143000" cy="0"/>
                </a:xfrm>
                <a:prstGeom prst="straightConnector1">
                  <a:avLst/>
                </a:prstGeom>
                <a:noFill/>
                <a:ln w="50800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stealth"/>
                </a:ln>
                <a:effectLst/>
              </p:spPr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C02C8577-D0CA-4517-033A-C4C72D7C5C03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5323590" y="3480197"/>
                  <a:ext cx="1273036" cy="1038136"/>
                </a:xfrm>
                <a:prstGeom prst="straightConnector1">
                  <a:avLst/>
                </a:prstGeom>
                <a:noFill/>
                <a:ln w="50800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stealth"/>
                </a:ln>
                <a:effectLst/>
              </p:spPr>
            </p:cxn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296EF77B-40B2-40AB-1845-323D69315C1B}"/>
                    </a:ext>
                  </a:extLst>
                </p:cNvPr>
                <p:cNvSpPr/>
                <p:nvPr/>
              </p:nvSpPr>
              <p:spPr bwMode="auto">
                <a:xfrm>
                  <a:off x="6425922" y="3366493"/>
                  <a:ext cx="279678" cy="279678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45E0232A-2BCE-545B-B034-B6CC03F1B753}"/>
                    </a:ext>
                  </a:extLst>
                </p:cNvPr>
                <p:cNvSpPr/>
                <p:nvPr/>
              </p:nvSpPr>
              <p:spPr bwMode="auto">
                <a:xfrm>
                  <a:off x="6416536" y="4368522"/>
                  <a:ext cx="279678" cy="279678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C87EDD46-FEF3-41BF-9CB6-CC01DE66DABD}"/>
                    </a:ext>
                  </a:extLst>
                </p:cNvPr>
                <p:cNvSpPr/>
                <p:nvPr/>
              </p:nvSpPr>
              <p:spPr bwMode="auto">
                <a:xfrm>
                  <a:off x="6416536" y="5830610"/>
                  <a:ext cx="279678" cy="279678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0754FC33-154A-D906-0EFE-130F7150F55F}"/>
                    </a:ext>
                  </a:extLst>
                </p:cNvPr>
                <p:cNvSpPr/>
                <p:nvPr/>
              </p:nvSpPr>
              <p:spPr bwMode="auto">
                <a:xfrm>
                  <a:off x="1777722" y="4729966"/>
                  <a:ext cx="279678" cy="279678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TextBox 37">
                      <a:extLst>
                        <a:ext uri="{FF2B5EF4-FFF2-40B4-BE49-F238E27FC236}">
                          <a16:creationId xmlns:a16="http://schemas.microsoft.com/office/drawing/2014/main" id="{A0A69589-984E-E5BE-90BE-B5E0855F36E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26154" y="4501069"/>
                      <a:ext cx="684738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3200" dirty="0"/>
                    </a:p>
                  </p:txBody>
                </p:sp>
              </mc:Choice>
              <mc:Fallback xmlns="">
                <p:sp>
                  <p:nvSpPr>
                    <p:cNvPr id="38" name="TextBox 37">
                      <a:extLst>
                        <a:ext uri="{FF2B5EF4-FFF2-40B4-BE49-F238E27FC236}">
                          <a16:creationId xmlns:a16="http://schemas.microsoft.com/office/drawing/2014/main" id="{A0A69589-984E-E5BE-90BE-B5E0855F36E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26154" y="4501069"/>
                      <a:ext cx="684738" cy="58477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b="-125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29B5B32B-3922-AB2E-060F-E89BF85D3641}"/>
                    </a:ext>
                  </a:extLst>
                </p:cNvPr>
                <p:cNvSpPr/>
                <p:nvPr/>
              </p:nvSpPr>
              <p:spPr bwMode="auto">
                <a:xfrm>
                  <a:off x="3286005" y="4420165"/>
                  <a:ext cx="752595" cy="735747"/>
                </a:xfrm>
                <a:prstGeom prst="ellipse">
                  <a:avLst/>
                </a:prstGeom>
                <a:solidFill>
                  <a:srgbClr val="FFC000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>
                        <m:r>
                          <a:rPr kumimoji="0" lang="en-US" sz="2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kumimoji="0" lang="en-US" sz="28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29B5B32B-3922-AB2E-060F-E89BF85D36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86005" y="4420165"/>
                  <a:ext cx="752595" cy="735747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316CD3A-F9E5-F9B4-CED2-D17166C12AAE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3962400" y="4800600"/>
              <a:ext cx="407146" cy="12561"/>
            </a:xfrm>
            <a:prstGeom prst="straightConnector1">
              <a:avLst/>
            </a:prstGeom>
            <a:noFill/>
            <a:ln w="508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B63862D1-690D-BFC9-78BC-D00D1158C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Multi-Node Perceptron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F832A-94CB-6F85-7B81-10941A8B82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FSU: Machine Learning in Physics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D08807-92FF-6520-B659-209C239D99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EEE8D3-405F-8246-8864-9DF28E2D288A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42D7AAA-EF89-37BB-38FA-5658C040D983}"/>
              </a:ext>
            </a:extLst>
          </p:cNvPr>
          <p:cNvGrpSpPr/>
          <p:nvPr/>
        </p:nvGrpSpPr>
        <p:grpSpPr>
          <a:xfrm>
            <a:off x="2409207" y="3506212"/>
            <a:ext cx="6506193" cy="3046988"/>
            <a:chOff x="2028207" y="3403372"/>
            <a:chExt cx="6506193" cy="304698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925CB5B-95C8-B971-5A8B-6996EFE6E5CA}"/>
                </a:ext>
              </a:extLst>
            </p:cNvPr>
            <p:cNvGrpSpPr/>
            <p:nvPr/>
          </p:nvGrpSpPr>
          <p:grpSpPr>
            <a:xfrm>
              <a:off x="2028207" y="3403372"/>
              <a:ext cx="6506193" cy="3046988"/>
              <a:chOff x="1173161" y="3068062"/>
              <a:chExt cx="6506193" cy="3046988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0B0FEA96-5AD7-39B7-07BE-D9FE2696695A}"/>
                  </a:ext>
                </a:extLst>
              </p:cNvPr>
              <p:cNvGrpSpPr/>
              <p:nvPr/>
            </p:nvGrpSpPr>
            <p:grpSpPr>
              <a:xfrm>
                <a:off x="1173161" y="3068062"/>
                <a:ext cx="6506193" cy="3046988"/>
                <a:chOff x="1020761" y="3124706"/>
                <a:chExt cx="6506193" cy="304698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E1796F83-9586-3F6A-7D7C-A9C64B7E584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96214" y="3124706"/>
                      <a:ext cx="830740" cy="30469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3200" dirty="0"/>
                    </a:p>
                    <a:p>
                      <a:endParaRPr lang="en-US" sz="3200" b="0" i="1" dirty="0">
                        <a:latin typeface="Cambria Math" panose="020405030504060302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3200" dirty="0"/>
                    </a:p>
                    <a:p>
                      <a:endParaRPr lang="en-US" sz="32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⋮</m:t>
                            </m:r>
                          </m:oMath>
                        </m:oMathPara>
                      </a14:m>
                      <a:endParaRPr lang="en-US" sz="3200" dirty="0"/>
                    </a:p>
                    <a:p>
                      <a:r>
                        <a:rPr lang="en-US" sz="3200" b="0" dirty="0"/>
                        <a:t>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oMath>
                      </a14:m>
                      <a:endParaRPr lang="en-US" sz="3200" dirty="0"/>
                    </a:p>
                  </p:txBody>
                </p:sp>
              </mc:Choice>
              <mc:Fallback xmlns=""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E1796F83-9586-3F6A-7D7C-A9C64B7E584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96214" y="3124706"/>
                      <a:ext cx="830740" cy="3046988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125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C077FD4F-C16E-6E21-5657-E3BD371E4516}"/>
                    </a:ext>
                  </a:extLst>
                </p:cNvPr>
                <p:cNvGrpSpPr/>
                <p:nvPr/>
              </p:nvGrpSpPr>
              <p:grpSpPr>
                <a:xfrm>
                  <a:off x="1020761" y="3366493"/>
                  <a:ext cx="5684839" cy="2743795"/>
                  <a:chOff x="1020761" y="3366493"/>
                  <a:chExt cx="5684839" cy="2743795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" name="Oval 12">
                        <a:extLst>
                          <a:ext uri="{FF2B5EF4-FFF2-40B4-BE49-F238E27FC236}">
                            <a16:creationId xmlns:a16="http://schemas.microsoft.com/office/drawing/2014/main" id="{0D4B7837-C9C8-E140-BA82-881EF569DAEF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4200405" y="4425166"/>
                        <a:ext cx="1428099" cy="822305"/>
                      </a:xfrm>
                      <a:prstGeom prst="ellipse">
                        <a:avLst/>
                      </a:prstGeom>
                      <a:solidFill>
                        <a:srgbClr val="92D050"/>
                      </a:solidFill>
                      <a:ln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kumimoji="0" lang="en-US" sz="3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3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kumimoji="0" lang="en-US" sz="3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0" lang="en-US" sz="32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kumimoji="0" lang="en-US" sz="3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3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0" lang="en-US" sz="3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3" name="Oval 12">
                        <a:extLst>
                          <a:ext uri="{FF2B5EF4-FFF2-40B4-BE49-F238E27FC236}">
                            <a16:creationId xmlns:a16="http://schemas.microsoft.com/office/drawing/2014/main" id="{0D4B7837-C9C8-E140-BA82-881EF569DAEF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 bwMode="auto">
                      <a:xfrm>
                        <a:off x="4200405" y="4425166"/>
                        <a:ext cx="1428099" cy="822305"/>
                      </a:xfrm>
                      <a:prstGeom prst="ellipse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  <a:ln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14" name="Straight Arrow Connector 13">
                    <a:extLst>
                      <a:ext uri="{FF2B5EF4-FFF2-40B4-BE49-F238E27FC236}">
                        <a16:creationId xmlns:a16="http://schemas.microsoft.com/office/drawing/2014/main" id="{531340B0-C94C-49D0-627B-9E7522A6AE4D}"/>
                      </a:ext>
                    </a:extLst>
                  </p:cNvPr>
                  <p:cNvCxnSpPr>
                    <a:cxnSpLocks/>
                    <a:stCxn id="19" idx="2"/>
                  </p:cNvCxnSpPr>
                  <p:nvPr/>
                </p:nvCxnSpPr>
                <p:spPr bwMode="auto">
                  <a:xfrm flipH="1">
                    <a:off x="5476736" y="4508361"/>
                    <a:ext cx="939800" cy="279678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cxnSp>
                <p:nvCxnSpPr>
                  <p:cNvPr id="15" name="Straight Arrow Connector 14">
                    <a:extLst>
                      <a:ext uri="{FF2B5EF4-FFF2-40B4-BE49-F238E27FC236}">
                        <a16:creationId xmlns:a16="http://schemas.microsoft.com/office/drawing/2014/main" id="{5E6467FA-89CD-99CC-8284-E1433C67D3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5410200" y="5105400"/>
                    <a:ext cx="1117600" cy="819152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cxnSp>
                <p:nvCxnSpPr>
                  <p:cNvPr id="16" name="Straight Arrow Connector 15">
                    <a:extLst>
                      <a:ext uri="{FF2B5EF4-FFF2-40B4-BE49-F238E27FC236}">
                        <a16:creationId xmlns:a16="http://schemas.microsoft.com/office/drawing/2014/main" id="{4C35C01D-9D96-B984-0320-278785F7AC6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>
                    <a:off x="1981200" y="4857244"/>
                    <a:ext cx="1143000" cy="0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cxnSp>
                <p:nvCxnSpPr>
                  <p:cNvPr id="17" name="Straight Arrow Connector 16">
                    <a:extLst>
                      <a:ext uri="{FF2B5EF4-FFF2-40B4-BE49-F238E27FC236}">
                        <a16:creationId xmlns:a16="http://schemas.microsoft.com/office/drawing/2014/main" id="{AAFAC078-AF8F-2216-841F-261DEE4D949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>
                    <a:off x="5334000" y="3480197"/>
                    <a:ext cx="1273036" cy="1038136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65E0B829-1FF5-20D1-0AA6-AFC881F59B1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425922" y="3366493"/>
                    <a:ext cx="279678" cy="27967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AB10A636-2870-D93C-4770-A6BFC208738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416536" y="4368522"/>
                    <a:ext cx="279678" cy="27967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B591EFAB-8328-0675-B835-0D63A9381D9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416536" y="5830610"/>
                    <a:ext cx="279678" cy="27967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6475A4AA-ED3E-72F7-33B8-B0870182F22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777722" y="4729966"/>
                    <a:ext cx="279678" cy="27967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2" name="TextBox 21">
                        <a:extLst>
                          <a:ext uri="{FF2B5EF4-FFF2-40B4-BE49-F238E27FC236}">
                            <a16:creationId xmlns:a16="http://schemas.microsoft.com/office/drawing/2014/main" id="{3E5EBC26-3807-38BC-439B-5FB55E9E426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20761" y="4518333"/>
                        <a:ext cx="694228" cy="58477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3200" dirty="0"/>
                      </a:p>
                    </p:txBody>
                  </p:sp>
                </mc:Choice>
                <mc:Fallback xmlns="">
                  <p:sp>
                    <p:nvSpPr>
                      <p:cNvPr id="22" name="TextBox 21">
                        <a:extLst>
                          <a:ext uri="{FF2B5EF4-FFF2-40B4-BE49-F238E27FC236}">
                            <a16:creationId xmlns:a16="http://schemas.microsoft.com/office/drawing/2014/main" id="{3E5EBC26-3807-38BC-439B-5FB55E9E426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20761" y="4518333"/>
                        <a:ext cx="694228" cy="584775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 b="-125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Oval 25">
                    <a:extLst>
                      <a:ext uri="{FF2B5EF4-FFF2-40B4-BE49-F238E27FC236}">
                        <a16:creationId xmlns:a16="http://schemas.microsoft.com/office/drawing/2014/main" id="{30979486-12EC-2430-5187-1A4BA391A81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286005" y="4420165"/>
                    <a:ext cx="752595" cy="735747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>
                          <m:r>
                            <a:rPr kumimoji="0" lang="en-US" sz="2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𝑔</m:t>
                          </m:r>
                        </m:oMath>
                      </m:oMathPara>
                    </a14:m>
                    <a:endParaRPr kumimoji="0" lang="en-US" sz="2800" b="0" i="1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6" name="Oval 25">
                    <a:extLst>
                      <a:ext uri="{FF2B5EF4-FFF2-40B4-BE49-F238E27FC236}">
                        <a16:creationId xmlns:a16="http://schemas.microsoft.com/office/drawing/2014/main" id="{30979486-12EC-2430-5187-1A4BA391A81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286005" y="4420165"/>
                    <a:ext cx="752595" cy="735747"/>
                  </a:xfrm>
                  <a:prstGeom prst="ellipse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7B9BFB8-9EED-3E53-3232-029A14E1EC3B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4850654" y="5105400"/>
              <a:ext cx="407146" cy="12561"/>
            </a:xfrm>
            <a:prstGeom prst="straightConnector1">
              <a:avLst/>
            </a:prstGeom>
            <a:noFill/>
            <a:ln w="508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884913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88E3757-806D-8007-1104-115F11A53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Multi-Node Perceptron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189D3E5-DE11-4089-AF21-B25A702BB8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dirty="0"/>
                  <a:t>A multi-node perceptron is often drawn as follows,</a:t>
                </a:r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Written as:	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800" b="0" dirty="0"/>
                  <a:t>with		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sz="2400" dirty="0"/>
                  <a:t>,</a:t>
                </a:r>
                <a:r>
                  <a:rPr lang="en-US" dirty="0"/>
                  <a:t> </a:t>
                </a:r>
                <a:r>
                  <a:rPr lang="en-US" sz="2400" dirty="0"/>
                  <a:t>usually, the</a:t>
                </a:r>
                <a:r>
                  <a:rPr lang="en-US" dirty="0"/>
                  <a:t> applied </a:t>
                </a:r>
                <a:r>
                  <a:rPr lang="en-US" i="1" dirty="0">
                    <a:solidFill>
                      <a:srgbClr val="0033CC"/>
                    </a:solidFill>
                  </a:rPr>
                  <a:t>elementwise</a:t>
                </a:r>
                <a:r>
                  <a:rPr lang="en-US" dirty="0"/>
                  <a:t>, that is, to every element of its matrix input.	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189D3E5-DE11-4089-AF21-B25A702BB8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631" t="-1316" r="-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BE63B-94BE-CF62-5F13-00EEA5FD00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FSU: Machine Learning in Physics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9B41E1-0F46-C47E-E38D-FC14D8A04D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EEE8D3-405F-8246-8864-9DF28E2D288A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BACC41-843B-7378-99FC-C1626372AB43}"/>
              </a:ext>
            </a:extLst>
          </p:cNvPr>
          <p:cNvGrpSpPr/>
          <p:nvPr/>
        </p:nvGrpSpPr>
        <p:grpSpPr>
          <a:xfrm>
            <a:off x="1371600" y="1676400"/>
            <a:ext cx="6400800" cy="3048595"/>
            <a:chOff x="1676400" y="2416034"/>
            <a:chExt cx="6400800" cy="3048595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278C104-56D6-D7E0-0D60-7E253FF3B5F4}"/>
                </a:ext>
              </a:extLst>
            </p:cNvPr>
            <p:cNvGrpSpPr/>
            <p:nvPr/>
          </p:nvGrpSpPr>
          <p:grpSpPr>
            <a:xfrm>
              <a:off x="1676400" y="2416034"/>
              <a:ext cx="6400800" cy="3048595"/>
              <a:chOff x="1354754" y="3920550"/>
              <a:chExt cx="6400800" cy="3048595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A723CADD-D0AB-74A0-DEC4-84CADF2CD65E}"/>
                  </a:ext>
                </a:extLst>
              </p:cNvPr>
              <p:cNvGrpSpPr/>
              <p:nvPr/>
            </p:nvGrpSpPr>
            <p:grpSpPr>
              <a:xfrm>
                <a:off x="1354754" y="3920550"/>
                <a:ext cx="6400800" cy="3048595"/>
                <a:chOff x="1202354" y="3977194"/>
                <a:chExt cx="6400800" cy="304859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657888F4-5766-1D68-D916-E6B53E1C730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72414" y="3977194"/>
                      <a:ext cx="830740" cy="30469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3200" dirty="0"/>
                    </a:p>
                    <a:p>
                      <a:endParaRPr lang="en-US" sz="3200" b="0" i="1" dirty="0">
                        <a:latin typeface="Cambria Math" panose="020405030504060302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3200" dirty="0"/>
                    </a:p>
                    <a:p>
                      <a:endParaRPr lang="en-US" sz="32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⋮</m:t>
                            </m:r>
                          </m:oMath>
                        </m:oMathPara>
                      </a14:m>
                      <a:endParaRPr lang="en-US" sz="3200" dirty="0"/>
                    </a:p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3200" dirty="0"/>
                    </a:p>
                  </p:txBody>
                </p:sp>
              </mc:Choice>
              <mc:Fallback xmlns="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657888F4-5766-1D68-D916-E6B53E1C730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72414" y="3977194"/>
                      <a:ext cx="830740" cy="3046988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b="-83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D56985B3-1879-61C6-6FBF-C55CFBE51FC4}"/>
                    </a:ext>
                  </a:extLst>
                </p:cNvPr>
                <p:cNvGrpSpPr/>
                <p:nvPr/>
              </p:nvGrpSpPr>
              <p:grpSpPr>
                <a:xfrm>
                  <a:off x="1202354" y="4205794"/>
                  <a:ext cx="5699264" cy="2819995"/>
                  <a:chOff x="1202354" y="4205794"/>
                  <a:chExt cx="5699264" cy="2819995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0AE42B68-CCBC-3320-1BE5-F593BD5E9893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4326554" y="4425166"/>
                        <a:ext cx="1242362" cy="822305"/>
                      </a:xfrm>
                      <a:prstGeom prst="ellipse">
                        <a:avLst/>
                      </a:prstGeom>
                      <a:solidFill>
                        <a:srgbClr val="92D050"/>
                      </a:solidFill>
                      <a:ln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kumimoji="0" lang="en-US" sz="3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3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kumimoji="0" lang="en-US" sz="3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0" lang="en-US" sz="32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kumimoji="0" lang="en-US" sz="3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3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0" lang="en-US" sz="3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0AE42B68-CCBC-3320-1BE5-F593BD5E9893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 bwMode="auto">
                      <a:xfrm>
                        <a:off x="4326554" y="4425166"/>
                        <a:ext cx="1242362" cy="822305"/>
                      </a:xfrm>
                      <a:prstGeom prst="ellipse">
                        <a:avLst/>
                      </a:prstGeom>
                      <a:blipFill>
                        <a:blip r:embed="rId5"/>
                        <a:stretch>
                          <a:fillRect r="-7143"/>
                        </a:stretch>
                      </a:blipFill>
                      <a:ln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35" name="Straight Arrow Connector 34">
                    <a:extLst>
                      <a:ext uri="{FF2B5EF4-FFF2-40B4-BE49-F238E27FC236}">
                        <a16:creationId xmlns:a16="http://schemas.microsoft.com/office/drawing/2014/main" id="{DD189A39-8C16-D70F-C19E-6E3743B8D1A8}"/>
                      </a:ext>
                    </a:extLst>
                  </p:cNvPr>
                  <p:cNvCxnSpPr>
                    <a:cxnSpLocks/>
                    <a:stCxn id="40" idx="2"/>
                    <a:endCxn id="34" idx="6"/>
                  </p:cNvCxnSpPr>
                  <p:nvPr/>
                </p:nvCxnSpPr>
                <p:spPr bwMode="auto">
                  <a:xfrm flipH="1" flipV="1">
                    <a:off x="5568916" y="4836319"/>
                    <a:ext cx="1043638" cy="587543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cxnSp>
                <p:nvCxnSpPr>
                  <p:cNvPr id="36" name="Straight Arrow Connector 35">
                    <a:extLst>
                      <a:ext uri="{FF2B5EF4-FFF2-40B4-BE49-F238E27FC236}">
                        <a16:creationId xmlns:a16="http://schemas.microsoft.com/office/drawing/2014/main" id="{1ADF4AE2-48E4-93FF-6E92-2436575A666F}"/>
                      </a:ext>
                    </a:extLst>
                  </p:cNvPr>
                  <p:cNvCxnSpPr>
                    <a:cxnSpLocks/>
                    <a:stCxn id="41" idx="1"/>
                  </p:cNvCxnSpPr>
                  <p:nvPr/>
                </p:nvCxnSpPr>
                <p:spPr bwMode="auto">
                  <a:xfrm flipH="1" flipV="1">
                    <a:off x="5410200" y="5105400"/>
                    <a:ext cx="1243312" cy="1681669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cxnSp>
                <p:nvCxnSpPr>
                  <p:cNvPr id="37" name="Straight Arrow Connector 36">
                    <a:extLst>
                      <a:ext uri="{FF2B5EF4-FFF2-40B4-BE49-F238E27FC236}">
                        <a16:creationId xmlns:a16="http://schemas.microsoft.com/office/drawing/2014/main" id="{6E8B4CF6-364A-77E6-B080-BD7581F16D7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>
                    <a:off x="1981200" y="4857244"/>
                    <a:ext cx="1143000" cy="0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cxnSp>
                <p:nvCxnSpPr>
                  <p:cNvPr id="38" name="Straight Arrow Connector 37">
                    <a:extLst>
                      <a:ext uri="{FF2B5EF4-FFF2-40B4-BE49-F238E27FC236}">
                        <a16:creationId xmlns:a16="http://schemas.microsoft.com/office/drawing/2014/main" id="{8F094042-CEED-8B0F-6730-C82758C31D93}"/>
                      </a:ext>
                    </a:extLst>
                  </p:cNvPr>
                  <p:cNvCxnSpPr>
                    <a:cxnSpLocks/>
                    <a:stCxn id="39" idx="2"/>
                  </p:cNvCxnSpPr>
                  <p:nvPr/>
                </p:nvCxnSpPr>
                <p:spPr bwMode="auto">
                  <a:xfrm flipH="1">
                    <a:off x="5446765" y="4345633"/>
                    <a:ext cx="1175175" cy="323076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E2F34C46-B3B4-3242-30C8-82818221D5F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621940" y="4205794"/>
                    <a:ext cx="279678" cy="27967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40" name="Oval 39">
                    <a:extLst>
                      <a:ext uri="{FF2B5EF4-FFF2-40B4-BE49-F238E27FC236}">
                        <a16:creationId xmlns:a16="http://schemas.microsoft.com/office/drawing/2014/main" id="{10C2BCF5-53A0-0FE4-3064-3A8C8E99FB9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612554" y="5284023"/>
                    <a:ext cx="279678" cy="27967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41" name="Oval 40">
                    <a:extLst>
                      <a:ext uri="{FF2B5EF4-FFF2-40B4-BE49-F238E27FC236}">
                        <a16:creationId xmlns:a16="http://schemas.microsoft.com/office/drawing/2014/main" id="{D0C0595A-4C87-7F9B-8985-2D224A87DA4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612554" y="6746111"/>
                    <a:ext cx="279678" cy="27967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036434FE-D383-2534-CD3B-07B2994A99F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777722" y="4729966"/>
                    <a:ext cx="279678" cy="27967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3" name="TextBox 42">
                        <a:extLst>
                          <a:ext uri="{FF2B5EF4-FFF2-40B4-BE49-F238E27FC236}">
                            <a16:creationId xmlns:a16="http://schemas.microsoft.com/office/drawing/2014/main" id="{673BC42A-BCD6-2A2D-6975-B0A8FFAA5CF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202354" y="4501069"/>
                        <a:ext cx="684738" cy="58477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3200" dirty="0"/>
                      </a:p>
                    </p:txBody>
                  </p:sp>
                </mc:Choice>
                <mc:Fallback xmlns="">
                  <p:sp>
                    <p:nvSpPr>
                      <p:cNvPr id="43" name="TextBox 42">
                        <a:extLst>
                          <a:ext uri="{FF2B5EF4-FFF2-40B4-BE49-F238E27FC236}">
                            <a16:creationId xmlns:a16="http://schemas.microsoft.com/office/drawing/2014/main" id="{673BC42A-BCD6-2A2D-6975-B0A8FFAA5CF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202354" y="4501069"/>
                        <a:ext cx="684738" cy="584775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b="-1489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6CF8115F-0072-B177-E764-D447B26F5F1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286005" y="4420165"/>
                    <a:ext cx="752595" cy="735747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>
                          <m:r>
                            <a:rPr kumimoji="0" lang="en-US" sz="2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𝑔</m:t>
                          </m:r>
                        </m:oMath>
                      </m:oMathPara>
                    </a14:m>
                    <a:endParaRPr kumimoji="0" lang="en-US" sz="2800" b="0" i="1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6CF8115F-0072-B177-E764-D447B26F5F1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286005" y="4420165"/>
                    <a:ext cx="752595" cy="735747"/>
                  </a:xfrm>
                  <a:prstGeom prst="ellips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07691D0F-918A-9D5E-F904-19E2FC122FD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962400" y="4800600"/>
                <a:ext cx="576142" cy="0"/>
              </a:xfrm>
              <a:prstGeom prst="straightConnector1">
                <a:avLst/>
              </a:prstGeom>
              <a:noFill/>
              <a:ln w="5080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stealth"/>
              </a:ln>
              <a:effectLst/>
            </p:spPr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39405469-D02A-F565-212B-63BF14D8DAC1}"/>
                </a:ext>
              </a:extLst>
            </p:cNvPr>
            <p:cNvGrpSpPr/>
            <p:nvPr/>
          </p:nvGrpSpPr>
          <p:grpSpPr>
            <a:xfrm>
              <a:off x="1676400" y="2883354"/>
              <a:ext cx="5460544" cy="2342555"/>
              <a:chOff x="1129329" y="3055816"/>
              <a:chExt cx="5460544" cy="2342555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25F27C0E-69BF-87DD-84AA-7277BAC0F3C3}"/>
                  </a:ext>
                </a:extLst>
              </p:cNvPr>
              <p:cNvGrpSpPr/>
              <p:nvPr/>
            </p:nvGrpSpPr>
            <p:grpSpPr>
              <a:xfrm>
                <a:off x="1129329" y="3055816"/>
                <a:ext cx="5460544" cy="2342555"/>
                <a:chOff x="976929" y="3112460"/>
                <a:chExt cx="5460544" cy="234255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Oval 49">
                      <a:extLst>
                        <a:ext uri="{FF2B5EF4-FFF2-40B4-BE49-F238E27FC236}">
                          <a16:creationId xmlns:a16="http://schemas.microsoft.com/office/drawing/2014/main" id="{F095727F-763B-7E99-A623-683C12755B9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4154253" y="4425166"/>
                      <a:ext cx="1242362" cy="822305"/>
                    </a:xfrm>
                    <a:prstGeom prst="ellipse">
                      <a:avLst/>
                    </a:prstGeom>
                    <a:solidFill>
                      <a:srgbClr val="92D050"/>
                    </a:soli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kumimoji="0" lang="en-US" sz="32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sz="32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sz="32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0" lang="en-US" sz="32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kumimoji="0" lang="en-US" sz="32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sz="32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kumimoji="0" lang="en-US" sz="32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0" name="Oval 49">
                      <a:extLst>
                        <a:ext uri="{FF2B5EF4-FFF2-40B4-BE49-F238E27FC236}">
                          <a16:creationId xmlns:a16="http://schemas.microsoft.com/office/drawing/2014/main" id="{F095727F-763B-7E99-A623-683C12755B9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154253" y="4425166"/>
                      <a:ext cx="1242362" cy="822305"/>
                    </a:xfrm>
                    <a:prstGeom prst="ellipse">
                      <a:avLst/>
                    </a:prstGeom>
                    <a:blipFill>
                      <a:blip r:embed="rId8"/>
                      <a:stretch>
                        <a:fillRect r="-7071"/>
                      </a:stretch>
                    </a:blip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C2D1373E-7763-B715-656D-0AFF9353DCF9}"/>
                    </a:ext>
                  </a:extLst>
                </p:cNvPr>
                <p:cNvCxnSpPr>
                  <a:cxnSpLocks/>
                  <a:stCxn id="39" idx="3"/>
                  <a:endCxn id="50" idx="7"/>
                </p:cNvCxnSpPr>
                <p:nvPr/>
              </p:nvCxnSpPr>
              <p:spPr bwMode="auto">
                <a:xfrm flipH="1">
                  <a:off x="5214675" y="3112460"/>
                  <a:ext cx="1222798" cy="1433130"/>
                </a:xfrm>
                <a:prstGeom prst="straightConnector1">
                  <a:avLst/>
                </a:prstGeom>
                <a:noFill/>
                <a:ln w="508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stealth"/>
                </a:ln>
                <a:effectLst/>
              </p:spPr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D1C3E0ED-1C7F-C4C8-05A4-B73AF43A6115}"/>
                    </a:ext>
                  </a:extLst>
                </p:cNvPr>
                <p:cNvCxnSpPr>
                  <a:cxnSpLocks/>
                  <a:stCxn id="41" idx="1"/>
                  <a:endCxn id="50" idx="5"/>
                </p:cNvCxnSpPr>
                <p:nvPr/>
              </p:nvCxnSpPr>
              <p:spPr bwMode="auto">
                <a:xfrm flipH="1" flipV="1">
                  <a:off x="5214675" y="5127047"/>
                  <a:ext cx="1213412" cy="327968"/>
                </a:xfrm>
                <a:prstGeom prst="straightConnector1">
                  <a:avLst/>
                </a:prstGeom>
                <a:noFill/>
                <a:ln w="508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stealth"/>
                </a:ln>
                <a:effectLst/>
              </p:spPr>
            </p:cxnSp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id="{3E915B2C-CD1A-F313-443F-1B19907161E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1741952" y="4869805"/>
                  <a:ext cx="1295400" cy="12561"/>
                </a:xfrm>
                <a:prstGeom prst="straightConnector1">
                  <a:avLst/>
                </a:prstGeom>
                <a:noFill/>
                <a:ln w="50800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stealth"/>
                </a:ln>
                <a:effectLst/>
              </p:spPr>
            </p:cxnSp>
            <p:cxnSp>
              <p:nvCxnSpPr>
                <p:cNvPr id="54" name="Straight Arrow Connector 53">
                  <a:extLst>
                    <a:ext uri="{FF2B5EF4-FFF2-40B4-BE49-F238E27FC236}">
                      <a16:creationId xmlns:a16="http://schemas.microsoft.com/office/drawing/2014/main" id="{A2BAFDEA-E102-3A36-DE51-D5B75725593A}"/>
                    </a:ext>
                  </a:extLst>
                </p:cNvPr>
                <p:cNvCxnSpPr>
                  <a:cxnSpLocks/>
                  <a:stCxn id="40" idx="3"/>
                  <a:endCxn id="50" idx="6"/>
                </p:cNvCxnSpPr>
                <p:nvPr/>
              </p:nvCxnSpPr>
              <p:spPr bwMode="auto">
                <a:xfrm flipH="1">
                  <a:off x="5396615" y="4190689"/>
                  <a:ext cx="1031472" cy="645630"/>
                </a:xfrm>
                <a:prstGeom prst="straightConnector1">
                  <a:avLst/>
                </a:prstGeom>
                <a:noFill/>
                <a:ln w="508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stealth"/>
                </a:ln>
                <a:effectLst/>
              </p:spPr>
            </p:cxn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ABB0C505-A5A9-2CDD-1637-90215972AE75}"/>
                    </a:ext>
                  </a:extLst>
                </p:cNvPr>
                <p:cNvSpPr/>
                <p:nvPr/>
              </p:nvSpPr>
              <p:spPr bwMode="auto">
                <a:xfrm>
                  <a:off x="1549122" y="4729966"/>
                  <a:ext cx="279678" cy="279678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TextBox 58">
                      <a:extLst>
                        <a:ext uri="{FF2B5EF4-FFF2-40B4-BE49-F238E27FC236}">
                          <a16:creationId xmlns:a16="http://schemas.microsoft.com/office/drawing/2014/main" id="{F0883127-6F2F-8629-05BB-7937206A06D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76929" y="4501069"/>
                      <a:ext cx="694228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3200" dirty="0"/>
                    </a:p>
                  </p:txBody>
                </p:sp>
              </mc:Choice>
              <mc:Fallback xmlns="">
                <p:sp>
                  <p:nvSpPr>
                    <p:cNvPr id="59" name="TextBox 58">
                      <a:extLst>
                        <a:ext uri="{FF2B5EF4-FFF2-40B4-BE49-F238E27FC236}">
                          <a16:creationId xmlns:a16="http://schemas.microsoft.com/office/drawing/2014/main" id="{F0883127-6F2F-8629-05BB-7937206A06D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76929" y="4501069"/>
                      <a:ext cx="694228" cy="58477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b="-1702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Oval 45">
                    <a:extLst>
                      <a:ext uri="{FF2B5EF4-FFF2-40B4-BE49-F238E27FC236}">
                        <a16:creationId xmlns:a16="http://schemas.microsoft.com/office/drawing/2014/main" id="{80A1AE13-EE48-C37B-A968-79C45A51680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110529" y="4420165"/>
                    <a:ext cx="752595" cy="735747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>
                          <m:r>
                            <a:rPr kumimoji="0" lang="en-US" sz="2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𝑔</m:t>
                          </m:r>
                        </m:oMath>
                      </m:oMathPara>
                    </a14:m>
                    <a:endParaRPr kumimoji="0" lang="en-US" sz="2800" b="0" i="1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6" name="Oval 45">
                    <a:extLst>
                      <a:ext uri="{FF2B5EF4-FFF2-40B4-BE49-F238E27FC236}">
                        <a16:creationId xmlns:a16="http://schemas.microsoft.com/office/drawing/2014/main" id="{80A1AE13-EE48-C37B-A968-79C45A51680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110529" y="4420165"/>
                    <a:ext cx="752595" cy="735747"/>
                  </a:xfrm>
                  <a:prstGeom prst="ellipse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DE97AC94-5998-061B-7675-DC8276C03D6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796329" y="4800600"/>
                <a:ext cx="576142" cy="0"/>
              </a:xfrm>
              <a:prstGeom prst="straightConnector1">
                <a:avLst/>
              </a:prstGeom>
              <a:noFill/>
              <a:ln w="5080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stealth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3336782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88E3757-806D-8007-1104-115F11A53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Multi-Node Perceptron: </a:t>
            </a:r>
            <a:r>
              <a:rPr lang="en-US" dirty="0">
                <a:solidFill>
                  <a:schemeClr val="accent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189D3E5-DE11-4089-AF21-B25A702BB8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−2, 1, 4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−3 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   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−5,−4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−2,1,4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i="0" dirty="0">
                            <a:solidFill>
                              <a:srgbClr val="0033CC"/>
                            </a:solidFill>
                          </a:rPr>
                          <m:t> 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solidFill>
                                            <a:srgbClr val="0033C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solidFill>
                                            <a:srgbClr val="0033C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solidFill>
                                            <a:srgbClr val="0033C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solidFill>
                                            <a:srgbClr val="0033C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−3 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solidFill>
                                            <a:srgbClr val="0033C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solidFill>
                                            <a:srgbClr val="0033C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solidFill>
                                            <a:srgbClr val="0033C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−5</m:t>
                            </m:r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,−4</m:t>
                            </m:r>
                          </m:e>
                        </m:d>
                      </m:e>
                    </m:d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189D3E5-DE11-4089-AF21-B25A702BB8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526" b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BE63B-94BE-CF62-5F13-00EEA5FD00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FSU: Machine Learning in Physics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9B41E1-0F46-C47E-E38D-FC14D8A04D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EEE8D3-405F-8246-8864-9DF28E2D288A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877F54-189B-F598-6A40-C60FC9D2A6A0}"/>
              </a:ext>
            </a:extLst>
          </p:cNvPr>
          <p:cNvGrpSpPr/>
          <p:nvPr/>
        </p:nvGrpSpPr>
        <p:grpSpPr>
          <a:xfrm>
            <a:off x="1905000" y="2286000"/>
            <a:ext cx="6400800" cy="3048595"/>
            <a:chOff x="1905000" y="2286000"/>
            <a:chExt cx="6400800" cy="3048595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278C104-56D6-D7E0-0D60-7E253FF3B5F4}"/>
                </a:ext>
              </a:extLst>
            </p:cNvPr>
            <p:cNvGrpSpPr/>
            <p:nvPr/>
          </p:nvGrpSpPr>
          <p:grpSpPr>
            <a:xfrm>
              <a:off x="1905000" y="2286000"/>
              <a:ext cx="6400800" cy="3048595"/>
              <a:chOff x="1354754" y="3920550"/>
              <a:chExt cx="6400800" cy="3048595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A723CADD-D0AB-74A0-DEC4-84CADF2CD65E}"/>
                  </a:ext>
                </a:extLst>
              </p:cNvPr>
              <p:cNvGrpSpPr/>
              <p:nvPr/>
            </p:nvGrpSpPr>
            <p:grpSpPr>
              <a:xfrm>
                <a:off x="1354754" y="3920550"/>
                <a:ext cx="6400800" cy="3048595"/>
                <a:chOff x="1202354" y="3977194"/>
                <a:chExt cx="6400800" cy="304859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657888F4-5766-1D68-D916-E6B53E1C730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72414" y="3977194"/>
                      <a:ext cx="830740" cy="30469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3200" dirty="0"/>
                    </a:p>
                    <a:p>
                      <a:endParaRPr lang="en-US" sz="3200" b="0" i="1" dirty="0">
                        <a:latin typeface="Cambria Math" panose="020405030504060302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3200" dirty="0"/>
                    </a:p>
                    <a:p>
                      <a:endParaRPr lang="en-US" sz="32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⋮</m:t>
                            </m:r>
                          </m:oMath>
                        </m:oMathPara>
                      </a14:m>
                      <a:endParaRPr lang="en-US" sz="3200" dirty="0"/>
                    </a:p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3200" dirty="0"/>
                    </a:p>
                  </p:txBody>
                </p:sp>
              </mc:Choice>
              <mc:Fallback xmlns="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657888F4-5766-1D68-D916-E6B53E1C730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72414" y="3977194"/>
                      <a:ext cx="830740" cy="3046988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b="-83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D56985B3-1879-61C6-6FBF-C55CFBE51FC4}"/>
                    </a:ext>
                  </a:extLst>
                </p:cNvPr>
                <p:cNvGrpSpPr/>
                <p:nvPr/>
              </p:nvGrpSpPr>
              <p:grpSpPr>
                <a:xfrm>
                  <a:off x="1202354" y="4205794"/>
                  <a:ext cx="5699264" cy="2819995"/>
                  <a:chOff x="1202354" y="4205794"/>
                  <a:chExt cx="5699264" cy="2819995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0AE42B68-CCBC-3320-1BE5-F593BD5E9893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4326554" y="4425166"/>
                        <a:ext cx="1242362" cy="822305"/>
                      </a:xfrm>
                      <a:prstGeom prst="ellipse">
                        <a:avLst/>
                      </a:prstGeom>
                      <a:solidFill>
                        <a:srgbClr val="92D050"/>
                      </a:solidFill>
                      <a:ln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kumimoji="0" lang="en-US" sz="3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3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kumimoji="0" lang="en-US" sz="3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0" lang="en-US" sz="32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kumimoji="0" lang="en-US" sz="3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3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0" lang="en-US" sz="32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0AE42B68-CCBC-3320-1BE5-F593BD5E9893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 bwMode="auto">
                      <a:xfrm>
                        <a:off x="4326554" y="4425166"/>
                        <a:ext cx="1242362" cy="822305"/>
                      </a:xfrm>
                      <a:prstGeom prst="ellipse">
                        <a:avLst/>
                      </a:prstGeom>
                      <a:blipFill>
                        <a:blip r:embed="rId4"/>
                        <a:stretch>
                          <a:fillRect r="-7143"/>
                        </a:stretch>
                      </a:blipFill>
                      <a:ln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35" name="Straight Arrow Connector 34">
                    <a:extLst>
                      <a:ext uri="{FF2B5EF4-FFF2-40B4-BE49-F238E27FC236}">
                        <a16:creationId xmlns:a16="http://schemas.microsoft.com/office/drawing/2014/main" id="{DD189A39-8C16-D70F-C19E-6E3743B8D1A8}"/>
                      </a:ext>
                    </a:extLst>
                  </p:cNvPr>
                  <p:cNvCxnSpPr>
                    <a:cxnSpLocks/>
                    <a:stCxn id="40" idx="2"/>
                    <a:endCxn id="34" idx="6"/>
                  </p:cNvCxnSpPr>
                  <p:nvPr/>
                </p:nvCxnSpPr>
                <p:spPr bwMode="auto">
                  <a:xfrm flipH="1" flipV="1">
                    <a:off x="5568916" y="4836319"/>
                    <a:ext cx="1043638" cy="587543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cxnSp>
                <p:nvCxnSpPr>
                  <p:cNvPr id="36" name="Straight Arrow Connector 35">
                    <a:extLst>
                      <a:ext uri="{FF2B5EF4-FFF2-40B4-BE49-F238E27FC236}">
                        <a16:creationId xmlns:a16="http://schemas.microsoft.com/office/drawing/2014/main" id="{1ADF4AE2-48E4-93FF-6E92-2436575A666F}"/>
                      </a:ext>
                    </a:extLst>
                  </p:cNvPr>
                  <p:cNvCxnSpPr>
                    <a:cxnSpLocks/>
                    <a:stCxn id="41" idx="1"/>
                  </p:cNvCxnSpPr>
                  <p:nvPr/>
                </p:nvCxnSpPr>
                <p:spPr bwMode="auto">
                  <a:xfrm flipH="1" flipV="1">
                    <a:off x="5410200" y="5105400"/>
                    <a:ext cx="1243312" cy="1681669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cxnSp>
                <p:nvCxnSpPr>
                  <p:cNvPr id="37" name="Straight Arrow Connector 36">
                    <a:extLst>
                      <a:ext uri="{FF2B5EF4-FFF2-40B4-BE49-F238E27FC236}">
                        <a16:creationId xmlns:a16="http://schemas.microsoft.com/office/drawing/2014/main" id="{6E8B4CF6-364A-77E6-B080-BD7581F16D7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>
                    <a:off x="1981200" y="4857244"/>
                    <a:ext cx="1143000" cy="0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cxnSp>
                <p:nvCxnSpPr>
                  <p:cNvPr id="38" name="Straight Arrow Connector 37">
                    <a:extLst>
                      <a:ext uri="{FF2B5EF4-FFF2-40B4-BE49-F238E27FC236}">
                        <a16:creationId xmlns:a16="http://schemas.microsoft.com/office/drawing/2014/main" id="{8F094042-CEED-8B0F-6730-C82758C31D93}"/>
                      </a:ext>
                    </a:extLst>
                  </p:cNvPr>
                  <p:cNvCxnSpPr>
                    <a:cxnSpLocks/>
                    <a:stCxn id="39" idx="2"/>
                  </p:cNvCxnSpPr>
                  <p:nvPr/>
                </p:nvCxnSpPr>
                <p:spPr bwMode="auto">
                  <a:xfrm flipH="1">
                    <a:off x="5446765" y="4345633"/>
                    <a:ext cx="1175175" cy="323076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E2F34C46-B3B4-3242-30C8-82818221D5F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621940" y="4205794"/>
                    <a:ext cx="279678" cy="27967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40" name="Oval 39">
                    <a:extLst>
                      <a:ext uri="{FF2B5EF4-FFF2-40B4-BE49-F238E27FC236}">
                        <a16:creationId xmlns:a16="http://schemas.microsoft.com/office/drawing/2014/main" id="{10C2BCF5-53A0-0FE4-3064-3A8C8E99FB9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612554" y="5284023"/>
                    <a:ext cx="279678" cy="27967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41" name="Oval 40">
                    <a:extLst>
                      <a:ext uri="{FF2B5EF4-FFF2-40B4-BE49-F238E27FC236}">
                        <a16:creationId xmlns:a16="http://schemas.microsoft.com/office/drawing/2014/main" id="{D0C0595A-4C87-7F9B-8985-2D224A87DA4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612554" y="6746111"/>
                    <a:ext cx="279678" cy="27967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036434FE-D383-2534-CD3B-07B2994A99F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777722" y="4729966"/>
                    <a:ext cx="279678" cy="27967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3" name="TextBox 42">
                        <a:extLst>
                          <a:ext uri="{FF2B5EF4-FFF2-40B4-BE49-F238E27FC236}">
                            <a16:creationId xmlns:a16="http://schemas.microsoft.com/office/drawing/2014/main" id="{673BC42A-BCD6-2A2D-6975-B0A8FFAA5CF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202354" y="4501069"/>
                        <a:ext cx="684738" cy="58477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3200" dirty="0"/>
                      </a:p>
                    </p:txBody>
                  </p:sp>
                </mc:Choice>
                <mc:Fallback xmlns="">
                  <p:sp>
                    <p:nvSpPr>
                      <p:cNvPr id="43" name="TextBox 42">
                        <a:extLst>
                          <a:ext uri="{FF2B5EF4-FFF2-40B4-BE49-F238E27FC236}">
                            <a16:creationId xmlns:a16="http://schemas.microsoft.com/office/drawing/2014/main" id="{673BC42A-BCD6-2A2D-6975-B0A8FFAA5CF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202354" y="4501069"/>
                        <a:ext cx="684738" cy="584775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b="-1489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6CF8115F-0072-B177-E764-D447B26F5F1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286005" y="4420165"/>
                    <a:ext cx="752595" cy="735747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>
                          <m:r>
                            <a:rPr kumimoji="0" lang="en-US" sz="2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𝑔</m:t>
                          </m:r>
                        </m:oMath>
                      </m:oMathPara>
                    </a14:m>
                    <a:endParaRPr kumimoji="0" lang="en-US" sz="2800" b="0" i="1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6CF8115F-0072-B177-E764-D447B26F5F1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286005" y="4420165"/>
                    <a:ext cx="752595" cy="735747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07691D0F-918A-9D5E-F904-19E2FC122FD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962400" y="4800600"/>
                <a:ext cx="576142" cy="0"/>
              </a:xfrm>
              <a:prstGeom prst="straightConnector1">
                <a:avLst/>
              </a:prstGeom>
              <a:noFill/>
              <a:ln w="5080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stealth"/>
              </a:ln>
              <a:effectLst/>
            </p:spPr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39405469-D02A-F565-212B-63BF14D8DAC1}"/>
                </a:ext>
              </a:extLst>
            </p:cNvPr>
            <p:cNvGrpSpPr/>
            <p:nvPr/>
          </p:nvGrpSpPr>
          <p:grpSpPr>
            <a:xfrm>
              <a:off x="1905000" y="2753320"/>
              <a:ext cx="5460544" cy="2342555"/>
              <a:chOff x="1357929" y="2925782"/>
              <a:chExt cx="5460544" cy="2342555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25F27C0E-69BF-87DD-84AA-7277BAC0F3C3}"/>
                  </a:ext>
                </a:extLst>
              </p:cNvPr>
              <p:cNvGrpSpPr/>
              <p:nvPr/>
            </p:nvGrpSpPr>
            <p:grpSpPr>
              <a:xfrm>
                <a:off x="1357929" y="2925782"/>
                <a:ext cx="5460544" cy="2342555"/>
                <a:chOff x="1205529" y="2982426"/>
                <a:chExt cx="5460544" cy="234255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Oval 49">
                      <a:extLst>
                        <a:ext uri="{FF2B5EF4-FFF2-40B4-BE49-F238E27FC236}">
                          <a16:creationId xmlns:a16="http://schemas.microsoft.com/office/drawing/2014/main" id="{F095727F-763B-7E99-A623-683C12755B9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4329729" y="4425166"/>
                      <a:ext cx="1242362" cy="822305"/>
                    </a:xfrm>
                    <a:prstGeom prst="ellipse">
                      <a:avLst/>
                    </a:prstGeom>
                    <a:solidFill>
                      <a:srgbClr val="92D050"/>
                    </a:soli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kumimoji="0" lang="en-US" sz="32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sz="32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kumimoji="0" lang="en-US" sz="32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0" lang="en-US" sz="32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kumimoji="0" lang="en-US" sz="32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sz="32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kumimoji="0" lang="en-US" sz="32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0" name="Oval 49">
                      <a:extLst>
                        <a:ext uri="{FF2B5EF4-FFF2-40B4-BE49-F238E27FC236}">
                          <a16:creationId xmlns:a16="http://schemas.microsoft.com/office/drawing/2014/main" id="{F095727F-763B-7E99-A623-683C12755B9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329729" y="4425166"/>
                      <a:ext cx="1242362" cy="822305"/>
                    </a:xfrm>
                    <a:prstGeom prst="ellipse">
                      <a:avLst/>
                    </a:prstGeom>
                    <a:blipFill>
                      <a:blip r:embed="rId7"/>
                      <a:stretch>
                        <a:fillRect r="-8163"/>
                      </a:stretch>
                    </a:blip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C2D1373E-7763-B715-656D-0AFF9353DCF9}"/>
                    </a:ext>
                  </a:extLst>
                </p:cNvPr>
                <p:cNvCxnSpPr>
                  <a:cxnSpLocks/>
                  <a:stCxn id="39" idx="3"/>
                  <a:endCxn id="50" idx="7"/>
                </p:cNvCxnSpPr>
                <p:nvPr/>
              </p:nvCxnSpPr>
              <p:spPr bwMode="auto">
                <a:xfrm flipH="1">
                  <a:off x="5390151" y="2982426"/>
                  <a:ext cx="1275922" cy="1563164"/>
                </a:xfrm>
                <a:prstGeom prst="straightConnector1">
                  <a:avLst/>
                </a:prstGeom>
                <a:noFill/>
                <a:ln w="508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stealth"/>
                </a:ln>
                <a:effectLst/>
              </p:spPr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D1C3E0ED-1C7F-C4C8-05A4-B73AF43A6115}"/>
                    </a:ext>
                  </a:extLst>
                </p:cNvPr>
                <p:cNvCxnSpPr>
                  <a:cxnSpLocks/>
                  <a:stCxn id="41" idx="1"/>
                  <a:endCxn id="50" idx="5"/>
                </p:cNvCxnSpPr>
                <p:nvPr/>
              </p:nvCxnSpPr>
              <p:spPr bwMode="auto">
                <a:xfrm flipH="1" flipV="1">
                  <a:off x="5390151" y="5127047"/>
                  <a:ext cx="1266536" cy="197934"/>
                </a:xfrm>
                <a:prstGeom prst="straightConnector1">
                  <a:avLst/>
                </a:prstGeom>
                <a:noFill/>
                <a:ln w="508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stealth"/>
                </a:ln>
                <a:effectLst/>
              </p:spPr>
            </p:cxnSp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id="{3E915B2C-CD1A-F313-443F-1B19907161E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1981200" y="4857244"/>
                  <a:ext cx="1143000" cy="0"/>
                </a:xfrm>
                <a:prstGeom prst="straightConnector1">
                  <a:avLst/>
                </a:prstGeom>
                <a:noFill/>
                <a:ln w="50800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stealth"/>
                </a:ln>
                <a:effectLst/>
              </p:spPr>
            </p:cxnSp>
            <p:cxnSp>
              <p:nvCxnSpPr>
                <p:cNvPr id="54" name="Straight Arrow Connector 53">
                  <a:extLst>
                    <a:ext uri="{FF2B5EF4-FFF2-40B4-BE49-F238E27FC236}">
                      <a16:creationId xmlns:a16="http://schemas.microsoft.com/office/drawing/2014/main" id="{A2BAFDEA-E102-3A36-DE51-D5B75725593A}"/>
                    </a:ext>
                  </a:extLst>
                </p:cNvPr>
                <p:cNvCxnSpPr>
                  <a:cxnSpLocks/>
                  <a:stCxn id="40" idx="3"/>
                  <a:endCxn id="50" idx="6"/>
                </p:cNvCxnSpPr>
                <p:nvPr/>
              </p:nvCxnSpPr>
              <p:spPr bwMode="auto">
                <a:xfrm flipH="1">
                  <a:off x="5572091" y="4060655"/>
                  <a:ext cx="1084596" cy="775664"/>
                </a:xfrm>
                <a:prstGeom prst="straightConnector1">
                  <a:avLst/>
                </a:prstGeom>
                <a:noFill/>
                <a:ln w="508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stealth"/>
                </a:ln>
                <a:effectLst/>
              </p:spPr>
            </p:cxn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ABB0C505-A5A9-2CDD-1637-90215972AE75}"/>
                    </a:ext>
                  </a:extLst>
                </p:cNvPr>
                <p:cNvSpPr/>
                <p:nvPr/>
              </p:nvSpPr>
              <p:spPr bwMode="auto">
                <a:xfrm>
                  <a:off x="1777722" y="4729966"/>
                  <a:ext cx="279678" cy="279678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TextBox 58">
                      <a:extLst>
                        <a:ext uri="{FF2B5EF4-FFF2-40B4-BE49-F238E27FC236}">
                          <a16:creationId xmlns:a16="http://schemas.microsoft.com/office/drawing/2014/main" id="{F0883127-6F2F-8629-05BB-7937206A06D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05529" y="4501069"/>
                      <a:ext cx="694228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3200" dirty="0"/>
                    </a:p>
                  </p:txBody>
                </p:sp>
              </mc:Choice>
              <mc:Fallback xmlns="">
                <p:sp>
                  <p:nvSpPr>
                    <p:cNvPr id="59" name="TextBox 58">
                      <a:extLst>
                        <a:ext uri="{FF2B5EF4-FFF2-40B4-BE49-F238E27FC236}">
                          <a16:creationId xmlns:a16="http://schemas.microsoft.com/office/drawing/2014/main" id="{F0883127-6F2F-8629-05BB-7937206A06D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05529" y="4501069"/>
                      <a:ext cx="694228" cy="58477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1489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Oval 45">
                    <a:extLst>
                      <a:ext uri="{FF2B5EF4-FFF2-40B4-BE49-F238E27FC236}">
                        <a16:creationId xmlns:a16="http://schemas.microsoft.com/office/drawing/2014/main" id="{80A1AE13-EE48-C37B-A968-79C45A51680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286005" y="4420165"/>
                    <a:ext cx="752595" cy="735747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>
                          <m:r>
                            <a:rPr kumimoji="0" lang="en-US" sz="2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𝑔</m:t>
                          </m:r>
                        </m:oMath>
                      </m:oMathPara>
                    </a14:m>
                    <a:endParaRPr kumimoji="0" lang="en-US" sz="2800" b="0" i="1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6" name="Oval 45">
                    <a:extLst>
                      <a:ext uri="{FF2B5EF4-FFF2-40B4-BE49-F238E27FC236}">
                        <a16:creationId xmlns:a16="http://schemas.microsoft.com/office/drawing/2014/main" id="{80A1AE13-EE48-C37B-A968-79C45A51680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286005" y="4420165"/>
                    <a:ext cx="752595" cy="735747"/>
                  </a:xfrm>
                  <a:prstGeom prst="ellipse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DE97AC94-5998-061B-7675-DC8276C03D6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962400" y="4800600"/>
                <a:ext cx="576142" cy="0"/>
              </a:xfrm>
              <a:prstGeom prst="straightConnector1">
                <a:avLst/>
              </a:prstGeom>
              <a:noFill/>
              <a:ln w="5080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stealth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37864230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189D3E5-DE11-4089-AF21-B25A702BB8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80010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Consider modeling the data triplets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/>
                  <a:t> with a function of the form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189D3E5-DE11-4089-AF21-B25A702BB8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8001000" cy="4819650"/>
              </a:xfrm>
              <a:blipFill>
                <a:blip r:embed="rId3"/>
                <a:stretch>
                  <a:fillRect l="-1270" t="-526" r="-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588E3757-806D-8007-1104-115F11A53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Multi-Node Perceptron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BE63B-94BE-CF62-5F13-00EEA5FD00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FSU: Machine Learning in 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9B41E1-0F46-C47E-E38D-FC14D8A04D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EEE8D3-405F-8246-8864-9DF28E2D288A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31F0BBA9-2ACF-C1AE-0570-0CB2EE45B939}"/>
              </a:ext>
            </a:extLst>
          </p:cNvPr>
          <p:cNvGrpSpPr/>
          <p:nvPr/>
        </p:nvGrpSpPr>
        <p:grpSpPr>
          <a:xfrm>
            <a:off x="304800" y="5578495"/>
            <a:ext cx="4928856" cy="822305"/>
            <a:chOff x="2157744" y="5424994"/>
            <a:chExt cx="4928856" cy="8223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Oval 133">
                  <a:extLst>
                    <a:ext uri="{FF2B5EF4-FFF2-40B4-BE49-F238E27FC236}">
                      <a16:creationId xmlns:a16="http://schemas.microsoft.com/office/drawing/2014/main" id="{B243D2E0-108D-1A27-6FE5-B4DEE671E435}"/>
                    </a:ext>
                  </a:extLst>
                </p:cNvPr>
                <p:cNvSpPr/>
                <p:nvPr/>
              </p:nvSpPr>
              <p:spPr bwMode="auto">
                <a:xfrm>
                  <a:off x="5658501" y="5424994"/>
                  <a:ext cx="1428099" cy="822305"/>
                </a:xfrm>
                <a:prstGeom prst="ellipse">
                  <a:avLst/>
                </a:prstGeom>
                <a:solidFill>
                  <a:srgbClr val="92D050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>
                        <m:r>
                          <a:rPr kumimoji="0" lang="en-US" sz="32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kumimoji="0" lang="en-US" sz="32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0" lang="en-US" sz="32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kumimoji="0" lang="en-US" sz="3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</mc:Choice>
          <mc:Fallback xmlns="">
            <p:sp>
              <p:nvSpPr>
                <p:cNvPr id="134" name="Oval 133">
                  <a:extLst>
                    <a:ext uri="{FF2B5EF4-FFF2-40B4-BE49-F238E27FC236}">
                      <a16:creationId xmlns:a16="http://schemas.microsoft.com/office/drawing/2014/main" id="{B243D2E0-108D-1A27-6FE5-B4DEE671E43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58501" y="5424994"/>
                  <a:ext cx="1428099" cy="822305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84BCDC28-0C79-8AE7-29C3-E218383D297D}"/>
                    </a:ext>
                  </a:extLst>
                </p:cNvPr>
                <p:cNvSpPr/>
                <p:nvPr/>
              </p:nvSpPr>
              <p:spPr bwMode="auto">
                <a:xfrm>
                  <a:off x="3806997" y="5432235"/>
                  <a:ext cx="752595" cy="735747"/>
                </a:xfrm>
                <a:prstGeom prst="ellipse">
                  <a:avLst/>
                </a:prstGeom>
                <a:solidFill>
                  <a:srgbClr val="FFC000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>
                        <m:r>
                          <a:rPr kumimoji="0" lang="en-US" sz="2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kumimoji="0" lang="en-US" sz="28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84BCDC28-0C79-8AE7-29C3-E218383D29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06997" y="5432235"/>
                  <a:ext cx="752595" cy="735747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86343BA5-AADD-5B9C-915A-2106C078D2CE}"/>
                </a:ext>
              </a:extLst>
            </p:cNvPr>
            <p:cNvSpPr/>
            <p:nvPr/>
          </p:nvSpPr>
          <p:spPr bwMode="auto">
            <a:xfrm>
              <a:off x="2157744" y="5475514"/>
              <a:ext cx="684738" cy="649188"/>
            </a:xfrm>
            <a:prstGeom prst="ellipse">
              <a:avLst/>
            </a:prstGeom>
            <a:solidFill>
              <a:srgbClr val="E395F6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</a:endParaRPr>
            </a:p>
          </p:txBody>
        </p: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1FF81D43-9037-7687-ED81-3BD9753A09B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515501" y="5847622"/>
              <a:ext cx="1143000" cy="0"/>
            </a:xfrm>
            <a:prstGeom prst="straightConnector1">
              <a:avLst/>
            </a:prstGeom>
            <a:noFill/>
            <a:ln w="508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DCA74143-6358-C281-95FF-626287741FD3}"/>
                    </a:ext>
                  </a:extLst>
                </p:cNvPr>
                <p:cNvSpPr txBox="1"/>
                <p:nvPr/>
              </p:nvSpPr>
              <p:spPr>
                <a:xfrm>
                  <a:off x="3118501" y="5562600"/>
                  <a:ext cx="54213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≡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DCA74143-6358-C281-95FF-626287741F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8501" y="5562600"/>
                  <a:ext cx="542135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CCE6CF9-9D0F-AFEE-2497-BD43AD0F07A1}"/>
              </a:ext>
            </a:extLst>
          </p:cNvPr>
          <p:cNvGrpSpPr/>
          <p:nvPr/>
        </p:nvGrpSpPr>
        <p:grpSpPr>
          <a:xfrm>
            <a:off x="1262161" y="2586534"/>
            <a:ext cx="7272239" cy="3433266"/>
            <a:chOff x="1185961" y="1824534"/>
            <a:chExt cx="7272239" cy="3433266"/>
          </a:xfrm>
        </p:grpSpPr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2D9BF164-3FBE-2C82-B7C7-ABFC2137628F}"/>
                </a:ext>
              </a:extLst>
            </p:cNvPr>
            <p:cNvGrpSpPr/>
            <p:nvPr/>
          </p:nvGrpSpPr>
          <p:grpSpPr>
            <a:xfrm>
              <a:off x="1185961" y="1824534"/>
              <a:ext cx="7272239" cy="3433266"/>
              <a:chOff x="592264" y="1751310"/>
              <a:chExt cx="7272239" cy="3433266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53EAAA61-A3EF-22EA-0843-8AB04951D0FA}"/>
                  </a:ext>
                </a:extLst>
              </p:cNvPr>
              <p:cNvGrpSpPr/>
              <p:nvPr/>
            </p:nvGrpSpPr>
            <p:grpSpPr>
              <a:xfrm>
                <a:off x="592264" y="1981200"/>
                <a:ext cx="7272239" cy="3203376"/>
                <a:chOff x="576361" y="2130624"/>
                <a:chExt cx="7272239" cy="320337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657888F4-5766-1D68-D916-E6B53E1C730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39468" y="3048000"/>
                      <a:ext cx="809132" cy="156966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3200" dirty="0"/>
                    </a:p>
                    <a:p>
                      <a:endParaRPr lang="en-US" sz="3200" b="0" i="1" dirty="0">
                        <a:latin typeface="Cambria Math" panose="020405030504060302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3200" dirty="0"/>
                    </a:p>
                  </p:txBody>
                </p:sp>
              </mc:Choice>
              <mc:Fallback xmlns="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657888F4-5766-1D68-D916-E6B53E1C730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039468" y="3048000"/>
                      <a:ext cx="809132" cy="156966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161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9" name="Straight Arrow Connector 98">
                  <a:extLst>
                    <a:ext uri="{FF2B5EF4-FFF2-40B4-BE49-F238E27FC236}">
                      <a16:creationId xmlns:a16="http://schemas.microsoft.com/office/drawing/2014/main" id="{5756964B-9268-E65A-B06B-ECA10C1F5D53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5298825" y="3131710"/>
                  <a:ext cx="1641484" cy="1211690"/>
                </a:xfrm>
                <a:prstGeom prst="straightConnector1">
                  <a:avLst/>
                </a:prstGeom>
                <a:noFill/>
                <a:ln w="50800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stealth"/>
                </a:ln>
                <a:effectLst/>
              </p:spPr>
            </p:cxnSp>
            <p:cxnSp>
              <p:nvCxnSpPr>
                <p:cNvPr id="106" name="Straight Arrow Connector 105">
                  <a:extLst>
                    <a:ext uri="{FF2B5EF4-FFF2-40B4-BE49-F238E27FC236}">
                      <a16:creationId xmlns:a16="http://schemas.microsoft.com/office/drawing/2014/main" id="{87DC779E-1488-63EB-F99D-773E88C4F68C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5246690" y="4006757"/>
                  <a:ext cx="1681930" cy="364863"/>
                </a:xfrm>
                <a:prstGeom prst="straightConnector1">
                  <a:avLst/>
                </a:prstGeom>
                <a:noFill/>
                <a:ln w="50800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stealth"/>
                </a:ln>
                <a:effectLst/>
              </p:spPr>
            </p:cxnSp>
            <p:cxnSp>
              <p:nvCxnSpPr>
                <p:cNvPr id="115" name="Straight Arrow Connector 114">
                  <a:extLst>
                    <a:ext uri="{FF2B5EF4-FFF2-40B4-BE49-F238E27FC236}">
                      <a16:creationId xmlns:a16="http://schemas.microsoft.com/office/drawing/2014/main" id="{5B431E5C-C671-2DC4-233D-6A3F8E47EEF9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5332369" y="4353219"/>
                  <a:ext cx="1596251" cy="656187"/>
                </a:xfrm>
                <a:prstGeom prst="straightConnector1">
                  <a:avLst/>
                </a:prstGeom>
                <a:noFill/>
                <a:ln w="50800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stealth"/>
                </a:ln>
                <a:effectLst/>
              </p:spPr>
            </p:cxnSp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0280C6B6-AAE0-A5E7-0C1F-DE917E5C61CB}"/>
                    </a:ext>
                  </a:extLst>
                </p:cNvPr>
                <p:cNvGrpSpPr/>
                <p:nvPr/>
              </p:nvGrpSpPr>
              <p:grpSpPr>
                <a:xfrm>
                  <a:off x="5246690" y="2388345"/>
                  <a:ext cx="1827003" cy="2601267"/>
                  <a:chOff x="5246690" y="2377503"/>
                  <a:chExt cx="1827003" cy="2601267"/>
                </a:xfrm>
              </p:grpSpPr>
              <p:cxnSp>
                <p:nvCxnSpPr>
                  <p:cNvPr id="35" name="Straight Arrow Connector 34">
                    <a:extLst>
                      <a:ext uri="{FF2B5EF4-FFF2-40B4-BE49-F238E27FC236}">
                        <a16:creationId xmlns:a16="http://schemas.microsoft.com/office/drawing/2014/main" id="{DD189A39-8C16-D70F-C19E-6E3743B8D1A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5326829" y="2424734"/>
                    <a:ext cx="1666725" cy="1004266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cxnSp>
                <p:nvCxnSpPr>
                  <p:cNvPr id="36" name="Straight Arrow Connector 35">
                    <a:extLst>
                      <a:ext uri="{FF2B5EF4-FFF2-40B4-BE49-F238E27FC236}">
                        <a16:creationId xmlns:a16="http://schemas.microsoft.com/office/drawing/2014/main" id="{1ADF4AE2-48E4-93FF-6E92-2436575A66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5338518" y="2377503"/>
                    <a:ext cx="1655036" cy="1986898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cxnSp>
                <p:nvCxnSpPr>
                  <p:cNvPr id="96" name="Straight Arrow Connector 95">
                    <a:extLst>
                      <a:ext uri="{FF2B5EF4-FFF2-40B4-BE49-F238E27FC236}">
                        <a16:creationId xmlns:a16="http://schemas.microsoft.com/office/drawing/2014/main" id="{4FD604B9-3862-209B-CCB8-EFB2AE3A621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5246690" y="3109363"/>
                    <a:ext cx="1681930" cy="319637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cxnSp>
                <p:nvCxnSpPr>
                  <p:cNvPr id="103" name="Straight Arrow Connector 102">
                    <a:extLst>
                      <a:ext uri="{FF2B5EF4-FFF2-40B4-BE49-F238E27FC236}">
                        <a16:creationId xmlns:a16="http://schemas.microsoft.com/office/drawing/2014/main" id="{98A1160A-EAA6-DECD-5044-55E5F83838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>
                    <a:off x="5292604" y="3414535"/>
                    <a:ext cx="1700950" cy="595135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cxnSp>
                <p:nvCxnSpPr>
                  <p:cNvPr id="112" name="Straight Arrow Connector 111">
                    <a:extLst>
                      <a:ext uri="{FF2B5EF4-FFF2-40B4-BE49-F238E27FC236}">
                        <a16:creationId xmlns:a16="http://schemas.microsoft.com/office/drawing/2014/main" id="{BB120C84-600E-65C8-8718-08AC34358F9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>
                    <a:off x="5366753" y="3476231"/>
                    <a:ext cx="1561867" cy="1502539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sp>
                <p:nvSpPr>
                  <p:cNvPr id="119" name="Oval 118">
                    <a:extLst>
                      <a:ext uri="{FF2B5EF4-FFF2-40B4-BE49-F238E27FC236}">
                        <a16:creationId xmlns:a16="http://schemas.microsoft.com/office/drawing/2014/main" id="{48DC9CA8-D3E4-A3A4-7E2B-E217411F28D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94015" y="3290880"/>
                    <a:ext cx="279678" cy="27967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</p:grp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A34A11F6-5223-72FB-5EAE-1CC72E6324E3}"/>
                    </a:ext>
                  </a:extLst>
                </p:cNvPr>
                <p:cNvSpPr/>
                <p:nvPr/>
              </p:nvSpPr>
              <p:spPr bwMode="auto">
                <a:xfrm>
                  <a:off x="6806922" y="4216122"/>
                  <a:ext cx="279678" cy="279678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D677B9F5-8EEB-4939-19C4-B52C44B8BDFD}"/>
                    </a:ext>
                  </a:extLst>
                </p:cNvPr>
                <p:cNvSpPr/>
                <p:nvPr/>
              </p:nvSpPr>
              <p:spPr bwMode="auto">
                <a:xfrm>
                  <a:off x="576361" y="3512857"/>
                  <a:ext cx="279678" cy="279678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6187CC1D-7673-7125-36C7-D18DED72242F}"/>
                    </a:ext>
                  </a:extLst>
                </p:cNvPr>
                <p:cNvGrpSpPr/>
                <p:nvPr/>
              </p:nvGrpSpPr>
              <p:grpSpPr>
                <a:xfrm>
                  <a:off x="1873150" y="2130624"/>
                  <a:ext cx="3689450" cy="3203376"/>
                  <a:chOff x="1660453" y="2017812"/>
                  <a:chExt cx="3689450" cy="3203376"/>
                </a:xfrm>
              </p:grpSpPr>
              <p:cxnSp>
                <p:nvCxnSpPr>
                  <p:cNvPr id="37" name="Straight Arrow Connector 36">
                    <a:extLst>
                      <a:ext uri="{FF2B5EF4-FFF2-40B4-BE49-F238E27FC236}">
                        <a16:creationId xmlns:a16="http://schemas.microsoft.com/office/drawing/2014/main" id="{6E8B4CF6-364A-77E6-B080-BD7581F16D7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>
                    <a:off x="1660453" y="2338149"/>
                    <a:ext cx="3076508" cy="1130439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6CF8115F-0072-B177-E764-D447B26F5F1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648200" y="2017812"/>
                    <a:ext cx="684738" cy="649188"/>
                  </a:xfrm>
                  <a:prstGeom prst="ellipse">
                    <a:avLst/>
                  </a:prstGeom>
                  <a:solidFill>
                    <a:srgbClr val="E395F6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b="0" i="1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mbria Math" panose="02040503050406030204" pitchFamily="18" charset="0"/>
                    </a:endParaRPr>
                  </a:p>
                </p:txBody>
              </p:sp>
              <p:sp>
                <p:nvSpPr>
                  <p:cNvPr id="90" name="Oval 89">
                    <a:extLst>
                      <a:ext uri="{FF2B5EF4-FFF2-40B4-BE49-F238E27FC236}">
                        <a16:creationId xmlns:a16="http://schemas.microsoft.com/office/drawing/2014/main" id="{40ECD2C7-AB9A-1B07-E86F-47B19AC97CF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665165" y="2856012"/>
                    <a:ext cx="684738" cy="649188"/>
                  </a:xfrm>
                  <a:prstGeom prst="ellipse">
                    <a:avLst/>
                  </a:prstGeom>
                  <a:solidFill>
                    <a:srgbClr val="E395F6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b="0" i="1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mbria Math" panose="02040503050406030204" pitchFamily="18" charset="0"/>
                    </a:endParaRPr>
                  </a:p>
                </p:txBody>
              </p:sp>
              <p:sp>
                <p:nvSpPr>
                  <p:cNvPr id="91" name="Oval 90">
                    <a:extLst>
                      <a:ext uri="{FF2B5EF4-FFF2-40B4-BE49-F238E27FC236}">
                        <a16:creationId xmlns:a16="http://schemas.microsoft.com/office/drawing/2014/main" id="{B4F95913-AC87-CBE5-2B43-45323EAF445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665165" y="3770412"/>
                    <a:ext cx="684738" cy="649188"/>
                  </a:xfrm>
                  <a:prstGeom prst="ellipse">
                    <a:avLst/>
                  </a:prstGeom>
                  <a:solidFill>
                    <a:srgbClr val="E395F6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b="0" i="1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mbria Math" panose="02040503050406030204" pitchFamily="18" charset="0"/>
                    </a:endParaRPr>
                  </a:p>
                </p:txBody>
              </p:sp>
              <p:sp>
                <p:nvSpPr>
                  <p:cNvPr id="92" name="Oval 91">
                    <a:extLst>
                      <a:ext uri="{FF2B5EF4-FFF2-40B4-BE49-F238E27FC236}">
                        <a16:creationId xmlns:a16="http://schemas.microsoft.com/office/drawing/2014/main" id="{B711A980-4D3C-A1FC-3F14-0349C88EEFF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665165" y="4572000"/>
                    <a:ext cx="684738" cy="649188"/>
                  </a:xfrm>
                  <a:prstGeom prst="ellipse">
                    <a:avLst/>
                  </a:prstGeom>
                  <a:solidFill>
                    <a:srgbClr val="E395F6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b="0" i="1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mbria Math" panose="02040503050406030204" pitchFamily="18" charset="0"/>
                    </a:endParaRPr>
                  </a:p>
                </p:txBody>
              </p:sp>
              <p:cxnSp>
                <p:nvCxnSpPr>
                  <p:cNvPr id="121" name="Straight Arrow Connector 120">
                    <a:extLst>
                      <a:ext uri="{FF2B5EF4-FFF2-40B4-BE49-F238E27FC236}">
                        <a16:creationId xmlns:a16="http://schemas.microsoft.com/office/drawing/2014/main" id="{A1419763-2FEF-A213-84AA-D768E3DC84C8}"/>
                      </a:ext>
                    </a:extLst>
                  </p:cNvPr>
                  <p:cNvCxnSpPr>
                    <a:cxnSpLocks/>
                    <a:stCxn id="90" idx="2"/>
                  </p:cNvCxnSpPr>
                  <p:nvPr/>
                </p:nvCxnSpPr>
                <p:spPr bwMode="auto">
                  <a:xfrm flipH="1">
                    <a:off x="1660453" y="3180606"/>
                    <a:ext cx="3004712" cy="380077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cxnSp>
                <p:nvCxnSpPr>
                  <p:cNvPr id="122" name="Straight Arrow Connector 121">
                    <a:extLst>
                      <a:ext uri="{FF2B5EF4-FFF2-40B4-BE49-F238E27FC236}">
                        <a16:creationId xmlns:a16="http://schemas.microsoft.com/office/drawing/2014/main" id="{69CC3B0D-98CB-5F2C-283A-45E5DD7E94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1660453" y="3624743"/>
                    <a:ext cx="2987747" cy="413857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cxnSp>
                <p:nvCxnSpPr>
                  <p:cNvPr id="123" name="Straight Arrow Connector 122">
                    <a:extLst>
                      <a:ext uri="{FF2B5EF4-FFF2-40B4-BE49-F238E27FC236}">
                        <a16:creationId xmlns:a16="http://schemas.microsoft.com/office/drawing/2014/main" id="{24FFB7C6-ACE4-F1C9-4405-F47792E3B73C}"/>
                      </a:ext>
                    </a:extLst>
                  </p:cNvPr>
                  <p:cNvCxnSpPr>
                    <a:cxnSpLocks/>
                    <a:endCxn id="2" idx="5"/>
                  </p:cNvCxnSpPr>
                  <p:nvPr/>
                </p:nvCxnSpPr>
                <p:spPr bwMode="auto">
                  <a:xfrm flipH="1" flipV="1">
                    <a:off x="1744425" y="3717905"/>
                    <a:ext cx="2925945" cy="1107393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</p:grpSp>
          </p:grpSp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C3072439-07DC-549D-7A95-7E227DE42356}"/>
                  </a:ext>
                </a:extLst>
              </p:cNvPr>
              <p:cNvGrpSpPr/>
              <p:nvPr/>
            </p:nvGrpSpPr>
            <p:grpSpPr>
              <a:xfrm>
                <a:off x="4194261" y="1751310"/>
                <a:ext cx="698442" cy="3015732"/>
                <a:chOff x="4118061" y="1751310"/>
                <a:chExt cx="698442" cy="301573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673BC42A-BCD6-2A2D-6975-B0A8FFAA5CF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4704" y="1751310"/>
                      <a:ext cx="565899" cy="64325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3200" dirty="0"/>
                    </a:p>
                  </p:txBody>
                </p:sp>
              </mc:Choice>
              <mc:Fallback xmlns=""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673BC42A-BCD6-2A2D-6975-B0A8FFAA5CF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74704" y="1751310"/>
                      <a:ext cx="565899" cy="643253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8696" b="-588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1" name="TextBox 140">
                      <a:extLst>
                        <a:ext uri="{FF2B5EF4-FFF2-40B4-BE49-F238E27FC236}">
                          <a16:creationId xmlns:a16="http://schemas.microsoft.com/office/drawing/2014/main" id="{5F878C71-19F4-9F43-6201-AFAED46A811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22094" y="2575607"/>
                      <a:ext cx="694228" cy="64325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3200" dirty="0"/>
                    </a:p>
                  </p:txBody>
                </p:sp>
              </mc:Choice>
              <mc:Fallback xmlns="">
                <p:sp>
                  <p:nvSpPr>
                    <p:cNvPr id="141" name="TextBox 140">
                      <a:extLst>
                        <a:ext uri="{FF2B5EF4-FFF2-40B4-BE49-F238E27FC236}">
                          <a16:creationId xmlns:a16="http://schemas.microsoft.com/office/drawing/2014/main" id="{5F878C71-19F4-9F43-6201-AFAED46A811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22094" y="2575607"/>
                      <a:ext cx="694228" cy="643253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b="-192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2" name="TextBox 141">
                      <a:extLst>
                        <a:ext uri="{FF2B5EF4-FFF2-40B4-BE49-F238E27FC236}">
                          <a16:creationId xmlns:a16="http://schemas.microsoft.com/office/drawing/2014/main" id="{9A9BFDAE-EC79-5347-323E-4C6E8A3F4DD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8061" y="3340428"/>
                      <a:ext cx="694228" cy="64325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3200" dirty="0"/>
                    </a:p>
                  </p:txBody>
                </p:sp>
              </mc:Choice>
              <mc:Fallback xmlns="">
                <p:sp>
                  <p:nvSpPr>
                    <p:cNvPr id="142" name="TextBox 141">
                      <a:extLst>
                        <a:ext uri="{FF2B5EF4-FFF2-40B4-BE49-F238E27FC236}">
                          <a16:creationId xmlns:a16="http://schemas.microsoft.com/office/drawing/2014/main" id="{9A9BFDAE-EC79-5347-323E-4C6E8A3F4DD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18061" y="3340428"/>
                      <a:ext cx="694228" cy="643253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b="-384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3" name="TextBox 142">
                      <a:extLst>
                        <a:ext uri="{FF2B5EF4-FFF2-40B4-BE49-F238E27FC236}">
                          <a16:creationId xmlns:a16="http://schemas.microsoft.com/office/drawing/2014/main" id="{C66450CE-2DD1-B278-6386-F7568143A43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39843" y="4123789"/>
                      <a:ext cx="676660" cy="64325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3200" dirty="0"/>
                    </a:p>
                  </p:txBody>
                </p:sp>
              </mc:Choice>
              <mc:Fallback xmlns="">
                <p:sp>
                  <p:nvSpPr>
                    <p:cNvPr id="143" name="TextBox 142">
                      <a:extLst>
                        <a:ext uri="{FF2B5EF4-FFF2-40B4-BE49-F238E27FC236}">
                          <a16:creationId xmlns:a16="http://schemas.microsoft.com/office/drawing/2014/main" id="{C66450CE-2DD1-B278-6386-F7568143A43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39843" y="4123789"/>
                      <a:ext cx="676660" cy="643253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b="-39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D7A11A0-ED57-7B17-247D-59AB79D39402}"/>
                </a:ext>
              </a:extLst>
            </p:cNvPr>
            <p:cNvSpPr/>
            <p:nvPr/>
          </p:nvSpPr>
          <p:spPr bwMode="auto">
            <a:xfrm>
              <a:off x="1829862" y="3276600"/>
              <a:ext cx="684738" cy="649188"/>
            </a:xfrm>
            <a:prstGeom prst="ellipse">
              <a:avLst/>
            </a:prstGeom>
            <a:solidFill>
              <a:srgbClr val="E395F6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16CCDE0-565D-62F1-0E98-89AB7020BC20}"/>
                </a:ext>
              </a:extLst>
            </p:cNvPr>
            <p:cNvCxnSpPr>
              <a:cxnSpLocks/>
              <a:stCxn id="2" idx="2"/>
            </p:cNvCxnSpPr>
            <p:nvPr/>
          </p:nvCxnSpPr>
          <p:spPr bwMode="auto">
            <a:xfrm flipH="1" flipV="1">
              <a:off x="1321048" y="3597295"/>
              <a:ext cx="508814" cy="3899"/>
            </a:xfrm>
            <a:prstGeom prst="straightConnector1">
              <a:avLst/>
            </a:prstGeom>
            <a:noFill/>
            <a:ln w="508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E3DE79-F129-2C64-8CF8-6EE99ABBCE5A}"/>
                  </a:ext>
                </a:extLst>
              </p:cNvPr>
              <p:cNvSpPr txBox="1"/>
              <p:nvPr/>
            </p:nvSpPr>
            <p:spPr>
              <a:xfrm>
                <a:off x="802438" y="2856012"/>
                <a:ext cx="269073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E3DE79-F129-2C64-8CF8-6EE99ABBC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438" y="2856012"/>
                <a:ext cx="2690737" cy="523220"/>
              </a:xfrm>
              <a:prstGeom prst="rect">
                <a:avLst/>
              </a:prstGeom>
              <a:blipFill>
                <a:blip r:embed="rId12"/>
                <a:stretch>
                  <a:fillRect b="-21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4AA1405B-EFC8-E10E-899C-2694BC5672C4}"/>
              </a:ext>
            </a:extLst>
          </p:cNvPr>
          <p:cNvSpPr/>
          <p:nvPr/>
        </p:nvSpPr>
        <p:spPr bwMode="auto">
          <a:xfrm rot="16200000">
            <a:off x="6542387" y="1790364"/>
            <a:ext cx="418714" cy="1725353"/>
          </a:xfrm>
          <a:prstGeom prst="rightBrace">
            <a:avLst>
              <a:gd name="adj1" fmla="val 8333"/>
              <a:gd name="adj2" fmla="val 50000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1F209B-A5B1-78E6-864F-54B9A2ED7795}"/>
              </a:ext>
            </a:extLst>
          </p:cNvPr>
          <p:cNvSpPr txBox="1"/>
          <p:nvPr/>
        </p:nvSpPr>
        <p:spPr>
          <a:xfrm>
            <a:off x="6792759" y="2129135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33CC"/>
                </a:solidFill>
              </a:rPr>
              <a:t>Layer 1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13A4A61C-28EC-40DF-64B6-7C0840D09558}"/>
              </a:ext>
            </a:extLst>
          </p:cNvPr>
          <p:cNvSpPr/>
          <p:nvPr/>
        </p:nvSpPr>
        <p:spPr bwMode="auto">
          <a:xfrm rot="16200000">
            <a:off x="3568029" y="1105264"/>
            <a:ext cx="410237" cy="3076510"/>
          </a:xfrm>
          <a:prstGeom prst="rightBrace">
            <a:avLst>
              <a:gd name="adj1" fmla="val 8333"/>
              <a:gd name="adj2" fmla="val 50000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A91475-A08F-3467-F082-A760D23DDEB3}"/>
              </a:ext>
            </a:extLst>
          </p:cNvPr>
          <p:cNvSpPr txBox="1"/>
          <p:nvPr/>
        </p:nvSpPr>
        <p:spPr>
          <a:xfrm>
            <a:off x="3744759" y="2129135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33CC"/>
                </a:solidFill>
              </a:rPr>
              <a:t>Layer 2</a:t>
            </a:r>
          </a:p>
        </p:txBody>
      </p:sp>
    </p:spTree>
    <p:extLst>
      <p:ext uri="{BB962C8B-B14F-4D97-AF65-F5344CB8AC3E}">
        <p14:creationId xmlns:p14="http://schemas.microsoft.com/office/powerpoint/2010/main" val="259007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88E3757-806D-8007-1104-115F11A53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Multi-Node Perceptron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189D3E5-DE11-4089-AF21-B25A702BB83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G</a:t>
                </a:r>
                <a:r>
                  <a:rPr lang="en-US" sz="2400" dirty="0"/>
                  <a:t>iven the complexity of </a:t>
                </a:r>
                <a:r>
                  <a:rPr lang="en-US" dirty="0"/>
                  <a:t>ML models (i.e., ML functions), it is now common to use a graphical representation that uses higher-level components. For example,</a:t>
                </a:r>
              </a:p>
              <a:p>
                <a:pPr marL="0" indent="0" algn="ctr">
                  <a:buNone/>
                </a:pPr>
                <a:r>
                  <a:rPr lang="en-US" sz="2400" dirty="0"/>
                  <a:t>	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relu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189D3E5-DE11-4089-AF21-B25A702BB8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658" t="-1316" r="-997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9B41E1-0F46-C47E-E38D-FC14D8A04D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EEE8D3-405F-8246-8864-9DF28E2D288A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BE63B-94BE-CF62-5F13-00EEA5FD00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FSU: Machine Learning in Physics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0F07A7-BA99-13C2-9AAC-7BA887E0B3B5}"/>
              </a:ext>
            </a:extLst>
          </p:cNvPr>
          <p:cNvSpPr/>
          <p:nvPr/>
        </p:nvSpPr>
        <p:spPr bwMode="auto">
          <a:xfrm>
            <a:off x="2971800" y="4572000"/>
            <a:ext cx="381000" cy="45719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9EAE0CE-CB5A-9330-8EA0-6E62B7E6E685}"/>
              </a:ext>
            </a:extLst>
          </p:cNvPr>
          <p:cNvGrpSpPr/>
          <p:nvPr/>
        </p:nvGrpSpPr>
        <p:grpSpPr>
          <a:xfrm>
            <a:off x="4648200" y="1295400"/>
            <a:ext cx="2162628" cy="5105400"/>
            <a:chOff x="5304972" y="1295400"/>
            <a:chExt cx="2162628" cy="51054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66CC05A-C6C8-65CE-BF31-ECA3367B4E7A}"/>
                </a:ext>
              </a:extLst>
            </p:cNvPr>
            <p:cNvSpPr/>
            <p:nvPr/>
          </p:nvSpPr>
          <p:spPr bwMode="auto">
            <a:xfrm>
              <a:off x="5304972" y="3149025"/>
              <a:ext cx="2133600" cy="461665"/>
            </a:xfrm>
            <a:prstGeom prst="rect">
              <a:avLst/>
            </a:prstGeom>
            <a:solidFill>
              <a:srgbClr val="FFFC8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Linear(4, 1)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404F4DF-7E47-F6D3-EF2B-17B4A70CE17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71662" y="3592164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A7BD658-F520-7977-6AEE-821A2A725F2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400799" y="4560245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C7CBE5B0-B4F4-DDF2-8A75-3B8296F50EE8}"/>
                    </a:ext>
                  </a:extLst>
                </p:cNvPr>
                <p:cNvSpPr/>
                <p:nvPr/>
              </p:nvSpPr>
              <p:spPr bwMode="auto">
                <a:xfrm>
                  <a:off x="5678718" y="4102502"/>
                  <a:ext cx="1447800" cy="461665"/>
                </a:xfrm>
                <a:prstGeom prst="rect">
                  <a:avLst/>
                </a:prstGeom>
                <a:solidFill>
                  <a:srgbClr val="FFC000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>
                        <m:r>
                          <m:rPr>
                            <m:nor/>
                          </m:rPr>
                          <a: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relu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C7CBE5B0-B4F4-DDF2-8A75-3B8296F50E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78718" y="4102502"/>
                  <a:ext cx="1447800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465A5A1-B6DB-1925-14ED-712982BB6ECA}"/>
                    </a:ext>
                  </a:extLst>
                </p:cNvPr>
                <p:cNvSpPr/>
                <p:nvPr/>
              </p:nvSpPr>
              <p:spPr bwMode="auto">
                <a:xfrm>
                  <a:off x="5676899" y="2238165"/>
                  <a:ext cx="1447800" cy="461665"/>
                </a:xfrm>
                <a:prstGeom prst="rect">
                  <a:avLst/>
                </a:prstGeom>
                <a:solidFill>
                  <a:srgbClr val="E395F6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465A5A1-B6DB-1925-14ED-712982BB6E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76899" y="2238165"/>
                  <a:ext cx="1447800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946F376-F44F-6103-892E-583677D7164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68141" y="2677311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7190139-F5E0-40F4-47AA-E1C1BBE9ABDE}"/>
                </a:ext>
              </a:extLst>
            </p:cNvPr>
            <p:cNvSpPr/>
            <p:nvPr/>
          </p:nvSpPr>
          <p:spPr bwMode="auto">
            <a:xfrm>
              <a:off x="5334000" y="5044988"/>
              <a:ext cx="2133600" cy="461665"/>
            </a:xfrm>
            <a:prstGeom prst="rect">
              <a:avLst/>
            </a:prstGeom>
            <a:solidFill>
              <a:srgbClr val="FFFC8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Linear(2, 4)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756A9F9-52B3-CF8B-A6BF-3C4D88FCE8E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400799" y="5492789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19DD53D-8138-E699-6FE5-05CD57487CF8}"/>
                    </a:ext>
                  </a:extLst>
                </p:cNvPr>
                <p:cNvSpPr txBox="1"/>
                <p:nvPr/>
              </p:nvSpPr>
              <p:spPr>
                <a:xfrm>
                  <a:off x="6141946" y="5816025"/>
                  <a:ext cx="517706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19DD53D-8138-E699-6FE5-05CD57487C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1946" y="5816025"/>
                  <a:ext cx="517706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ADC26F4-AB00-CE8C-ED19-F1C1C730B9B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71771" y="1730253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BC667F0-5808-A57E-5077-CA067511BF4F}"/>
                </a:ext>
              </a:extLst>
            </p:cNvPr>
            <p:cNvSpPr txBox="1"/>
            <p:nvPr/>
          </p:nvSpPr>
          <p:spPr>
            <a:xfrm>
              <a:off x="5867400" y="1295400"/>
              <a:ext cx="9701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output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B44CA97-135C-E5C0-AA35-9599896E19BF}"/>
              </a:ext>
            </a:extLst>
          </p:cNvPr>
          <p:cNvGrpSpPr/>
          <p:nvPr/>
        </p:nvGrpSpPr>
        <p:grpSpPr>
          <a:xfrm>
            <a:off x="6955757" y="2224032"/>
            <a:ext cx="1872484" cy="1456543"/>
            <a:chOff x="6955757" y="2224032"/>
            <a:chExt cx="1872484" cy="1456543"/>
          </a:xfrm>
        </p:grpSpPr>
        <p:sp>
          <p:nvSpPr>
            <p:cNvPr id="39" name="Right Brace 38">
              <a:extLst>
                <a:ext uri="{FF2B5EF4-FFF2-40B4-BE49-F238E27FC236}">
                  <a16:creationId xmlns:a16="http://schemas.microsoft.com/office/drawing/2014/main" id="{004E1DDC-406E-1522-896E-C9062110BDAF}"/>
                </a:ext>
              </a:extLst>
            </p:cNvPr>
            <p:cNvSpPr/>
            <p:nvPr/>
          </p:nvSpPr>
          <p:spPr bwMode="auto">
            <a:xfrm>
              <a:off x="6955757" y="2224032"/>
              <a:ext cx="575332" cy="1456543"/>
            </a:xfrm>
            <a:prstGeom prst="rightBrac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B155D0B-3841-C3AC-1D2F-272C86F34EC8}"/>
                </a:ext>
              </a:extLst>
            </p:cNvPr>
            <p:cNvSpPr txBox="1"/>
            <p:nvPr/>
          </p:nvSpPr>
          <p:spPr>
            <a:xfrm>
              <a:off x="7696200" y="2715651"/>
              <a:ext cx="1132041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Layer 2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AECFF7C-6246-C72A-CC16-F4A0D8F34C7A}"/>
              </a:ext>
            </a:extLst>
          </p:cNvPr>
          <p:cNvGrpSpPr/>
          <p:nvPr/>
        </p:nvGrpSpPr>
        <p:grpSpPr>
          <a:xfrm>
            <a:off x="6963228" y="4114800"/>
            <a:ext cx="1879602" cy="1456543"/>
            <a:chOff x="6963228" y="4114800"/>
            <a:chExt cx="1879602" cy="1456543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9DF1DCF-BD6D-1509-CE3B-EED20334E4CA}"/>
                </a:ext>
              </a:extLst>
            </p:cNvPr>
            <p:cNvSpPr txBox="1"/>
            <p:nvPr/>
          </p:nvSpPr>
          <p:spPr>
            <a:xfrm>
              <a:off x="7710789" y="4611077"/>
              <a:ext cx="11320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Layer 1</a:t>
              </a:r>
            </a:p>
          </p:txBody>
        </p:sp>
        <p:sp>
          <p:nvSpPr>
            <p:cNvPr id="42" name="Right Brace 41">
              <a:extLst>
                <a:ext uri="{FF2B5EF4-FFF2-40B4-BE49-F238E27FC236}">
                  <a16:creationId xmlns:a16="http://schemas.microsoft.com/office/drawing/2014/main" id="{6D2C5ABD-5A3F-016D-254C-0D8D77E804FC}"/>
                </a:ext>
              </a:extLst>
            </p:cNvPr>
            <p:cNvSpPr/>
            <p:nvPr/>
          </p:nvSpPr>
          <p:spPr bwMode="auto">
            <a:xfrm>
              <a:off x="6963228" y="4114800"/>
              <a:ext cx="575332" cy="1456543"/>
            </a:xfrm>
            <a:prstGeom prst="rightBrac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7A71C015-3151-064D-BE31-6B9C4047DA20}"/>
              </a:ext>
            </a:extLst>
          </p:cNvPr>
          <p:cNvSpPr/>
          <p:nvPr/>
        </p:nvSpPr>
        <p:spPr bwMode="auto">
          <a:xfrm>
            <a:off x="990600" y="4038600"/>
            <a:ext cx="453572" cy="461665"/>
          </a:xfrm>
          <a:prstGeom prst="rect">
            <a:avLst/>
          </a:prstGeom>
          <a:solidFill>
            <a:srgbClr val="FFFC8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BE336F8-52AE-C13F-D355-EA6652670480}"/>
              </a:ext>
            </a:extLst>
          </p:cNvPr>
          <p:cNvSpPr/>
          <p:nvPr/>
        </p:nvSpPr>
        <p:spPr bwMode="auto">
          <a:xfrm>
            <a:off x="983343" y="4800600"/>
            <a:ext cx="482600" cy="461665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1B52839-182A-69A0-8DB4-9922D0B86A1A}"/>
              </a:ext>
            </a:extLst>
          </p:cNvPr>
          <p:cNvSpPr/>
          <p:nvPr/>
        </p:nvSpPr>
        <p:spPr bwMode="auto">
          <a:xfrm>
            <a:off x="990600" y="5710535"/>
            <a:ext cx="482600" cy="461665"/>
          </a:xfrm>
          <a:prstGeom prst="rect">
            <a:avLst/>
          </a:prstGeom>
          <a:solidFill>
            <a:srgbClr val="E395F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999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diagram of a process&#10;&#10;Description automatically generated">
            <a:extLst>
              <a:ext uri="{FF2B5EF4-FFF2-40B4-BE49-F238E27FC236}">
                <a16:creationId xmlns:a16="http://schemas.microsoft.com/office/drawing/2014/main" id="{0E8CD9EF-D08F-FE0E-6842-72FDAE5E5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032" y="594355"/>
            <a:ext cx="3980168" cy="5806445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88E3757-806D-8007-1104-115F11A53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Language Model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189D3E5-DE11-4089-AF21-B25A702BB8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4318000" cy="48196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Here, for example, is high-level graphical representation of an ML model called a </a:t>
            </a:r>
            <a:r>
              <a:rPr lang="en-US" b="1" dirty="0">
                <a:solidFill>
                  <a:srgbClr val="0033CC"/>
                </a:solidFill>
              </a:rPr>
              <a:t>transformer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ChatGPT 3, there are </a:t>
            </a:r>
            <a:r>
              <a:rPr lang="en-US" dirty="0">
                <a:solidFill>
                  <a:srgbClr val="0033CC"/>
                </a:solidFill>
              </a:rPr>
              <a:t>96</a:t>
            </a:r>
            <a:r>
              <a:rPr lang="en-US" dirty="0"/>
              <a:t> layers with the same architecture, an instance of which is depicted as the two vertical grey boxes.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(Notice, the color-coding differs from ours!)</a:t>
            </a:r>
          </a:p>
          <a:p>
            <a:pPr marL="0" indent="0" algn="ctr">
              <a:buNone/>
            </a:pPr>
            <a:r>
              <a:rPr lang="en-US" sz="2400" dirty="0"/>
              <a:t>	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9B41E1-0F46-C47E-E38D-FC14D8A04D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EEE8D3-405F-8246-8864-9DF28E2D288A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BE63B-94BE-CF62-5F13-00EEA5FD00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FSU: Machine Learning in Physics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0F07A7-BA99-13C2-9AAC-7BA887E0B3B5}"/>
              </a:ext>
            </a:extLst>
          </p:cNvPr>
          <p:cNvSpPr/>
          <p:nvPr/>
        </p:nvSpPr>
        <p:spPr bwMode="auto">
          <a:xfrm>
            <a:off x="2971800" y="4572000"/>
            <a:ext cx="381000" cy="45719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557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FCE72B8-1A5E-D706-0B3F-E85E5B873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40222BC-2F23-EA0F-2CD1-D71481E32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General Approaches</a:t>
            </a:r>
          </a:p>
          <a:p>
            <a:pPr lvl="1"/>
            <a:r>
              <a:rPr lang="en-US" dirty="0"/>
              <a:t>Supervised, unsupervised, generative, and reinforcement learning.</a:t>
            </a:r>
          </a:p>
          <a:p>
            <a:pPr lvl="1"/>
            <a:endParaRPr lang="en-US" dirty="0"/>
          </a:p>
          <a:p>
            <a:r>
              <a:rPr lang="en-US" b="1" dirty="0"/>
              <a:t>Deep Learning</a:t>
            </a:r>
          </a:p>
          <a:p>
            <a:pPr lvl="1"/>
            <a:r>
              <a:rPr lang="en-US" dirty="0"/>
              <a:t>Uses functions constructed through deep composition.</a:t>
            </a:r>
          </a:p>
          <a:p>
            <a:pPr lvl="1"/>
            <a:endParaRPr lang="en-US" dirty="0"/>
          </a:p>
          <a:p>
            <a:r>
              <a:rPr lang="en-US" b="1" dirty="0"/>
              <a:t>The Perceptron</a:t>
            </a:r>
          </a:p>
          <a:p>
            <a:pPr lvl="1"/>
            <a:r>
              <a:rPr lang="en-US" dirty="0"/>
              <a:t>Basic computational unit: matrix multiplication and addition followed by a nonlinear map.</a:t>
            </a:r>
          </a:p>
          <a:p>
            <a:pPr lvl="1"/>
            <a:r>
              <a:rPr lang="en-US" dirty="0"/>
              <a:t>We described the multi-node perceptron and how machine learning models are represented graphically.</a:t>
            </a:r>
            <a:br>
              <a:rPr lang="en-US" dirty="0"/>
            </a:b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694B8-88B9-9484-89B2-64E384734F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FSU: Machine Learning in Physics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93077D-8CC8-5858-6B70-2738F63066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EEE8D3-405F-8246-8864-9DF28E2D288A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1910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7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64F51-4645-064B-ACDC-0DE76AF412F6}">
  <we:reference id="wa200000729" version="3.19.222.0" store="en-US" storeType="OMEX"/>
  <we:alternateReferences>
    <we:reference id="wa200000729" version="3.19.222.0" store="wa20000072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47018</TotalTime>
  <Words>1240</Words>
  <Application>Microsoft Macintosh PowerPoint</Application>
  <PresentationFormat>Letter Paper (8.5x11 in)</PresentationFormat>
  <Paragraphs>309</Paragraphs>
  <Slides>25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Cambria Math</vt:lpstr>
      <vt:lpstr>Times New Roman</vt:lpstr>
      <vt:lpstr>Wingdings</vt:lpstr>
      <vt:lpstr>Default Design</vt:lpstr>
      <vt:lpstr>Machine Learning In PHYsics FoundationS 1 </vt:lpstr>
      <vt:lpstr>Goals of this Course</vt:lpstr>
      <vt:lpstr>Course Evaluation</vt:lpstr>
      <vt:lpstr>What is Artificial Intelligence?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Machine Learning?</vt:lpstr>
      <vt:lpstr>What is Machine Learning?</vt:lpstr>
      <vt:lpstr>What is Machine Learning?</vt:lpstr>
      <vt:lpstr>What is Deep Learning?</vt:lpstr>
      <vt:lpstr>What is Deep Learning?</vt:lpstr>
      <vt:lpstr>Basic building block:  The perceptron</vt:lpstr>
      <vt:lpstr>The Brain’s Computational Unit</vt:lpstr>
      <vt:lpstr>Basic AI Comp. Unit: The Perceptron</vt:lpstr>
      <vt:lpstr>Multi-Node perceptron</vt:lpstr>
      <vt:lpstr>Multi-Node Perceptron</vt:lpstr>
      <vt:lpstr>Multi-Node Perceptron</vt:lpstr>
      <vt:lpstr>Multi-Node Perceptron: Example</vt:lpstr>
      <vt:lpstr>Multi-Node Perceptron</vt:lpstr>
      <vt:lpstr>Multi-Node Perceptron</vt:lpstr>
      <vt:lpstr>Large Language Model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/>
  <cp:lastModifiedBy>Harrison Prosper</cp:lastModifiedBy>
  <cp:revision>1021</cp:revision>
  <cp:lastPrinted>2019-01-07T00:35:58Z</cp:lastPrinted>
  <dcterms:created xsi:type="dcterms:W3CDTF">2016-06-02T17:30:41Z</dcterms:created>
  <dcterms:modified xsi:type="dcterms:W3CDTF">2026-08-23T23:06:41Z</dcterms:modified>
</cp:coreProperties>
</file>