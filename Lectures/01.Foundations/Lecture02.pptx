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1011" r:id="rId3"/>
    <p:sldId id="257" r:id="rId4"/>
    <p:sldId id="258" r:id="rId5"/>
    <p:sldId id="259" r:id="rId6"/>
    <p:sldId id="1020" r:id="rId7"/>
    <p:sldId id="266" r:id="rId8"/>
    <p:sldId id="265" r:id="rId9"/>
    <p:sldId id="262" r:id="rId10"/>
    <p:sldId id="261" r:id="rId11"/>
    <p:sldId id="1024" r:id="rId12"/>
    <p:sldId id="268" r:id="rId13"/>
    <p:sldId id="269" r:id="rId14"/>
    <p:sldId id="270" r:id="rId15"/>
    <p:sldId id="271" r:id="rId16"/>
    <p:sldId id="272" r:id="rId17"/>
    <p:sldId id="274" r:id="rId18"/>
    <p:sldId id="1057" r:id="rId19"/>
    <p:sldId id="276" r:id="rId20"/>
    <p:sldId id="277" r:id="rId21"/>
    <p:sldId id="1014" r:id="rId22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36"/>
    <p:restoredTop sz="86548"/>
  </p:normalViewPr>
  <p:slideViewPr>
    <p:cSldViewPr>
      <p:cViewPr varScale="1">
        <p:scale>
          <a:sx n="87" d="100"/>
          <a:sy n="87" d="100"/>
        </p:scale>
        <p:origin x="16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2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4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Foundations 2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199" y="1295400"/>
                <a:ext cx="4048255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Last time we introduced the multi-node, multi-layer perceptron (MLP), which is also known as a </a:t>
                </a:r>
                <a:r>
                  <a:rPr lang="en-US" b="1" dirty="0">
                    <a:solidFill>
                      <a:srgbClr val="0033CC"/>
                    </a:solidFill>
                  </a:rPr>
                  <a:t>feed-forward neural network</a:t>
                </a:r>
                <a:r>
                  <a:rPr lang="en-US" dirty="0"/>
                  <a:t> (FFNN).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 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relu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br>
                  <a:rPr lang="en-US" dirty="0"/>
                </a:b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199" y="1295400"/>
                <a:ext cx="4048255" cy="4819650"/>
              </a:xfrm>
              <a:blipFill>
                <a:blip r:embed="rId3"/>
                <a:stretch>
                  <a:fillRect l="-2508" t="-1316" r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B0F07A7-BA99-13C2-9AAC-7BA887E0B3B5}"/>
              </a:ext>
            </a:extLst>
          </p:cNvPr>
          <p:cNvSpPr/>
          <p:nvPr/>
        </p:nvSpPr>
        <p:spPr bwMode="auto">
          <a:xfrm>
            <a:off x="2971800" y="4572000"/>
            <a:ext cx="381000" cy="4571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EAE0CE-CB5A-9330-8EA0-6E62B7E6E685}"/>
              </a:ext>
            </a:extLst>
          </p:cNvPr>
          <p:cNvGrpSpPr/>
          <p:nvPr/>
        </p:nvGrpSpPr>
        <p:grpSpPr>
          <a:xfrm>
            <a:off x="4648200" y="1295400"/>
            <a:ext cx="2162628" cy="5105400"/>
            <a:chOff x="5304972" y="1295400"/>
            <a:chExt cx="2162628" cy="5105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6CC05A-C6C8-65CE-BF31-ECA3367B4E7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04F4DF-7E47-F6D3-EF2B-17B4A70CE17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A7BD658-F520-7977-6AEE-821A2A725F2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g 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46F376-F44F-6103-892E-583677D7164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190139-F5E0-40F4-47AA-E1C1BBE9ABDE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756A9F9-52B3-CF8B-A6BF-3C4D88FCE8E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ADC26F4-AB00-CE8C-ED19-F1C1C730B9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C667F0-5808-A57E-5077-CA067511BF4F}"/>
                </a:ext>
              </a:extLst>
            </p:cNvPr>
            <p:cNvSpPr txBox="1"/>
            <p:nvPr/>
          </p:nvSpPr>
          <p:spPr>
            <a:xfrm>
              <a:off x="5867400" y="1295400"/>
              <a:ext cx="970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B44CA97-135C-E5C0-AA35-9599896E19BF}"/>
              </a:ext>
            </a:extLst>
          </p:cNvPr>
          <p:cNvGrpSpPr/>
          <p:nvPr/>
        </p:nvGrpSpPr>
        <p:grpSpPr>
          <a:xfrm>
            <a:off x="6955757" y="2224032"/>
            <a:ext cx="1872484" cy="1456543"/>
            <a:chOff x="6955757" y="2224032"/>
            <a:chExt cx="1872484" cy="1456543"/>
          </a:xfrm>
        </p:grpSpPr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004E1DDC-406E-1522-896E-C9062110BDAF}"/>
                </a:ext>
              </a:extLst>
            </p:cNvPr>
            <p:cNvSpPr/>
            <p:nvPr/>
          </p:nvSpPr>
          <p:spPr bwMode="auto">
            <a:xfrm>
              <a:off x="6955757" y="2224032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155D0B-3841-C3AC-1D2F-272C86F34EC8}"/>
                </a:ext>
              </a:extLst>
            </p:cNvPr>
            <p:cNvSpPr txBox="1"/>
            <p:nvPr/>
          </p:nvSpPr>
          <p:spPr>
            <a:xfrm>
              <a:off x="7696200" y="2715651"/>
              <a:ext cx="1132041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ECFF7C-6246-C72A-CC16-F4A0D8F34C7A}"/>
              </a:ext>
            </a:extLst>
          </p:cNvPr>
          <p:cNvGrpSpPr/>
          <p:nvPr/>
        </p:nvGrpSpPr>
        <p:grpSpPr>
          <a:xfrm>
            <a:off x="6963228" y="4114800"/>
            <a:ext cx="1879602" cy="1456543"/>
            <a:chOff x="6963228" y="4114800"/>
            <a:chExt cx="1879602" cy="14565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DF1DCF-BD6D-1509-CE3B-EED20334E4CA}"/>
                </a:ext>
              </a:extLst>
            </p:cNvPr>
            <p:cNvSpPr txBox="1"/>
            <p:nvPr/>
          </p:nvSpPr>
          <p:spPr>
            <a:xfrm>
              <a:off x="7710789" y="4611077"/>
              <a:ext cx="1132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1</a:t>
              </a:r>
            </a:p>
          </p:txBody>
        </p:sp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6D2C5ABD-5A3F-016D-254C-0D8D77E804FC}"/>
                </a:ext>
              </a:extLst>
            </p:cNvPr>
            <p:cNvSpPr/>
            <p:nvPr/>
          </p:nvSpPr>
          <p:spPr bwMode="auto">
            <a:xfrm>
              <a:off x="6963228" y="4114800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A71C015-3151-064D-BE31-6B9C4047DA20}"/>
              </a:ext>
            </a:extLst>
          </p:cNvPr>
          <p:cNvSpPr/>
          <p:nvPr/>
        </p:nvSpPr>
        <p:spPr bwMode="auto">
          <a:xfrm>
            <a:off x="983343" y="5278014"/>
            <a:ext cx="453572" cy="461665"/>
          </a:xfrm>
          <a:prstGeom prst="rect">
            <a:avLst/>
          </a:prstGeom>
          <a:solidFill>
            <a:srgbClr val="FFFC8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336F8-52AE-C13F-D355-EA6652670480}"/>
              </a:ext>
            </a:extLst>
          </p:cNvPr>
          <p:cNvSpPr/>
          <p:nvPr/>
        </p:nvSpPr>
        <p:spPr bwMode="auto">
          <a:xfrm>
            <a:off x="983343" y="4491335"/>
            <a:ext cx="482600" cy="46166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FA661-67D8-A2A6-71D8-B3C951AC321A}"/>
              </a:ext>
            </a:extLst>
          </p:cNvPr>
          <p:cNvSpPr/>
          <p:nvPr/>
        </p:nvSpPr>
        <p:spPr bwMode="auto">
          <a:xfrm>
            <a:off x="968829" y="3624279"/>
            <a:ext cx="482600" cy="46166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DA4E86-3004-89B6-E485-9F18A7DBE193}"/>
                  </a:ext>
                </a:extLst>
              </p:cNvPr>
              <p:cNvSpPr/>
              <p:nvPr/>
            </p:nvSpPr>
            <p:spPr bwMode="auto">
              <a:xfrm>
                <a:off x="4997244" y="2202696"/>
                <a:ext cx="1447800" cy="461665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DA4E86-3004-89B6-E485-9F18A7DBE1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7244" y="2202696"/>
                <a:ext cx="14478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9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1DB3FF-3514-262A-D56A-DBE33F2BE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Fitting Models to data</a:t>
            </a:r>
          </a:p>
        </p:txBody>
      </p:sp>
    </p:spTree>
    <p:extLst>
      <p:ext uri="{BB962C8B-B14F-4D97-AF65-F5344CB8AC3E}">
        <p14:creationId xmlns:p14="http://schemas.microsoft.com/office/powerpoint/2010/main" val="381410986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37071F-469C-AC1D-4971-627EA656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DAD883-14ED-260A-3958-86CC7A2361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our goal is to approximate a function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given a dataset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standard approach is to approximate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a </a:t>
                </a:r>
                <a:r>
                  <a:rPr lang="en-US" i="1" dirty="0"/>
                  <a:t>parameterized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that is, a </a:t>
                </a:r>
                <a:r>
                  <a:rPr lang="en-US" b="1" dirty="0">
                    <a:solidFill>
                      <a:srgbClr val="0033CC"/>
                    </a:solidFill>
                  </a:rPr>
                  <a:t>model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are the parameters of the model.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DAD883-14ED-260A-3958-86CC7A236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1316" r="-2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7A829E1-1BCF-5BA6-7BC1-3FDD0E1769EF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60E19E-7396-8D83-4E14-14ED66B6E28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478763-B0CC-CA1B-A5E0-37EA044FFA5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A506BAD-5D5C-6713-85C2-752D5793B8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2E04A20-CBDD-FD0D-480E-538ABB0B8646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B757605-B32A-713D-F678-F0E7931243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0851186-DEAC-1146-E252-F3512444DF7B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81CB6F6-4FE5-9858-F6EA-44D503BDB9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C2912A1-0AF0-1EEB-D0E1-28915E8AE32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A5A71C-418A-A6F4-81B6-05ADDDDCEF13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BBD027-8214-31E7-5044-2B3D8328FBA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05D693C-884E-9399-4747-1274699FB229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9AD3391-7576-A4AE-C29C-99FB86189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2F07A4-0A7C-6ED8-9E94-A6792A293C1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9F7B500-2E49-6B29-67E8-EF2BABB43808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38A83F1-6622-52AF-5B87-A5ADC1EFD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774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897A-1919-2B78-6636-C468FC97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C37B65-62F9-CAA4-DD53-40FD43DD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74589A-F879-C165-9E23-B4E27AF4E9A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way to find the </a:t>
                </a:r>
                <a:r>
                  <a:rPr lang="en-US" i="1" dirty="0">
                    <a:solidFill>
                      <a:srgbClr val="0033CC"/>
                    </a:solidFill>
                  </a:rPr>
                  <a:t>best-fit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of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to minimize the </a:t>
                </a:r>
                <a:r>
                  <a:rPr lang="en-US" b="1" dirty="0">
                    <a:solidFill>
                      <a:srgbClr val="0033CC"/>
                    </a:solidFill>
                  </a:rPr>
                  <a:t>quadratic form</a:t>
                </a:r>
                <a:r>
                  <a:rPr lang="en-US" dirty="0"/>
                  <a:t>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respect to the parameters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where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called a </a:t>
                </a:r>
                <a:r>
                  <a:rPr lang="en-US" b="1" dirty="0">
                    <a:solidFill>
                      <a:srgbClr val="0033CC"/>
                    </a:solidFill>
                  </a:rPr>
                  <a:t>least-squares fit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74589A-F879-C165-9E23-B4E27AF4E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1316" r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194D523-850C-80E5-05AA-D135125A87BF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668C92-ED99-D89C-4EF1-D3176ED863D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0FCDDF-7ADD-A6F9-98C7-DF577FE74F9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1CA4D4E-1604-B619-87EB-31DFFA7535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911B57D-F0F3-DD7A-C8FF-8B375A385937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911B57D-F0F3-DD7A-C8FF-8B375A385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BC92B0-5344-A101-5754-180621627F0B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BC92B0-5344-A101-5754-180621627F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CA19AA-2423-13DE-FD0F-E8E9B201E74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4D966C-E967-013E-F52B-128C8895ED8E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37D021-8FFC-41FB-D282-837D6076C3E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EEC624-44D8-E01A-2C29-09B4201095E8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EEC624-44D8-E01A-2C29-09B420109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A66E51D-EAF5-4595-2066-FC62C23F64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73B52FC-833E-7746-2A4D-3EF8FDED7D9D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73B52FC-833E-7746-2A4D-3EF8FDED7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9441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3F2E-B309-8BFC-CFBA-51667F7C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ED1EDA-0CF9-C62B-EC48-09A69492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E7CF4-B3F2-C650-9110-77AEE2D5EC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least-squares fit can be generalized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the </a:t>
                </a:r>
                <a:r>
                  <a:rPr lang="en-US" b="1" dirty="0">
                    <a:solidFill>
                      <a:srgbClr val="0033CC"/>
                    </a:solidFill>
                  </a:rPr>
                  <a:t>loss function</a:t>
                </a:r>
                <a:r>
                  <a:rPr lang="en-US" dirty="0"/>
                  <a:t>, measures the discrepancy between the desired </a:t>
                </a:r>
                <a:r>
                  <a:rPr lang="en-US" b="1" dirty="0">
                    <a:solidFill>
                      <a:srgbClr val="0033CC"/>
                    </a:solidFill>
                  </a:rPr>
                  <a:t>target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the model,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0033CC"/>
                    </a:solidFill>
                  </a:rPr>
                  <a:t>empirical risk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0033CC"/>
                    </a:solidFill>
                  </a:rPr>
                  <a:t>average loss</a:t>
                </a:r>
                <a:r>
                  <a:rPr lang="en-US" dirty="0"/>
                  <a:t>.</a:t>
                </a:r>
                <a:r>
                  <a:rPr lang="en-US" b="1" dirty="0">
                    <a:solidFill>
                      <a:srgbClr val="0033CC"/>
                    </a:solidFill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Warning:</a:t>
                </a:r>
                <a:r>
                  <a:rPr lang="en-US" b="1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In ML, the empirical risk is often referred to as the “loss”.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E7CF4-B3F2-C650-9110-77AEE2D5E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8947" b="-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1B1787B-3BEC-31A0-FE5A-D95EF0D21010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2BF525-D21F-1312-6F79-7C12B8773F7B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BDF299-245A-14EC-DBE6-8FAFAF08849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C7426D9-12DA-CB6D-0A4E-A421AE55615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E21FE60-0947-F266-4A55-9AB3ADBD02E9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E21FE60-0947-F266-4A55-9AB3ADBD0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B1CC7E8-F987-585C-EA5A-6997FAE55248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B1CC7E8-F987-585C-EA5A-6997FAE552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7B4336-2055-009D-F131-ABF6CE50018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5348C6-C758-B6B1-2C02-B05BADF69CAC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778F223-721B-6FB0-21A5-4DD38A5438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5A0C7FB-9193-3437-FCF8-BD0225B410E9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5A0C7FB-9193-3437-FCF8-BD0225B41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09EBCF-6CDB-E686-8740-4A50DFD6E3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B99D52-3E0F-4333-2109-47DAFF9A7321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B99D52-3E0F-4333-2109-47DAFF9A7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125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BE5C-792A-0DA0-372D-C10451CE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3FEE2E02-D718-22E3-34D5-4CC1051B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094600"/>
            <a:ext cx="3810000" cy="38850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9877C6-9EAD-509E-30C4-5CFDD77B0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empirical risk defines a highly corrugated high-dimensional “landscape” in the space of parameters.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task is to navigate the empirical risk </a:t>
            </a:r>
          </a:p>
          <a:p>
            <a:pPr marL="0" indent="0">
              <a:buNone/>
            </a:pPr>
            <a:r>
              <a:rPr lang="en-US" dirty="0"/>
              <a:t>landscape to find a  </a:t>
            </a:r>
            <a:r>
              <a:rPr lang="en-US" i="1" dirty="0">
                <a:solidFill>
                  <a:srgbClr val="0033CC"/>
                </a:solidFill>
              </a:rPr>
              <a:t>good approximation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of the minimum not of </a:t>
            </a:r>
            <a:r>
              <a:rPr lang="en-US" i="1" dirty="0"/>
              <a:t>that</a:t>
            </a:r>
            <a:r>
              <a:rPr lang="en-US" dirty="0"/>
              <a:t> landscape </a:t>
            </a:r>
          </a:p>
          <a:p>
            <a:pPr marL="0" indent="0">
              <a:buNone/>
            </a:pPr>
            <a:r>
              <a:rPr lang="en-US" dirty="0"/>
              <a:t>but rather of the landscape that would </a:t>
            </a:r>
          </a:p>
          <a:p>
            <a:pPr marL="0" indent="0">
              <a:buNone/>
            </a:pPr>
            <a:r>
              <a:rPr lang="en-US" dirty="0"/>
              <a:t>be formed if we had an </a:t>
            </a:r>
            <a:r>
              <a:rPr lang="en-US" i="1" u="sng" dirty="0">
                <a:solidFill>
                  <a:srgbClr val="0033CC"/>
                </a:solidFill>
              </a:rPr>
              <a:t>infinite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amount of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model that approximates this ideal is said to </a:t>
            </a:r>
            <a:r>
              <a:rPr lang="en-US" i="1" dirty="0">
                <a:solidFill>
                  <a:srgbClr val="0033CC"/>
                </a:solidFill>
              </a:rPr>
              <a:t>generalize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D7A706-1979-0CEC-11EC-04E801B7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</a:t>
            </a:r>
            <a:r>
              <a:rPr lang="en-US" dirty="0">
                <a:solidFill>
                  <a:srgbClr val="0033CC"/>
                </a:solidFill>
              </a:rPr>
              <a:t>Landscape (1)</a:t>
            </a:r>
          </a:p>
        </p:txBody>
      </p:sp>
    </p:spTree>
    <p:extLst>
      <p:ext uri="{BB962C8B-B14F-4D97-AF65-F5344CB8AC3E}">
        <p14:creationId xmlns:p14="http://schemas.microsoft.com/office/powerpoint/2010/main" val="223477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7EB8C-947F-B648-A9AF-99CF7CE7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</a:t>
            </a:r>
            <a:r>
              <a:rPr lang="en-US" dirty="0">
                <a:solidFill>
                  <a:srgbClr val="0033CC"/>
                </a:solidFill>
              </a:rPr>
              <a:t>Landscape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FC5054C1-911D-45A7-F187-AD70F30B924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68400" y="5257800"/>
                <a:ext cx="7747000" cy="129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rgbClr val="0033CC"/>
                    </a:solidFill>
                  </a:rPr>
                  <a:t>Example:</a:t>
                </a:r>
                <a:r>
                  <a:rPr lang="en-US" sz="1800" dirty="0"/>
                  <a:t> A least squares fit to a 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linear model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18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FC5054C1-911D-45A7-F187-AD70F30B9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68400" y="5257800"/>
                <a:ext cx="7747000" cy="1295400"/>
              </a:xfrm>
              <a:blipFill>
                <a:blip r:embed="rId4"/>
                <a:stretch>
                  <a:fillRect l="-818" t="-45098" b="-89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eneralization">
            <a:hlinkClick r:id="" action="ppaction://media"/>
            <a:extLst>
              <a:ext uri="{FF2B5EF4-FFF2-40B4-BE49-F238E27FC236}">
                <a16:creationId xmlns:a16="http://schemas.microsoft.com/office/drawing/2014/main" id="{4F5C41AD-AF42-1743-9B74-5BAEA7FBC9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" y="3175"/>
            <a:ext cx="914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0365-4572-88E7-77C3-A8BBB24FB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Risk Functional</a:t>
            </a:r>
          </a:p>
        </p:txBody>
      </p:sp>
    </p:spTree>
    <p:extLst>
      <p:ext uri="{BB962C8B-B14F-4D97-AF65-F5344CB8AC3E}">
        <p14:creationId xmlns:p14="http://schemas.microsoft.com/office/powerpoint/2010/main" val="193185294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0171E8A-D951-BD03-FE4A-80E5601CAA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mathematics and physics, insight can often be gained by taking some limit of an expression. Consider the limit of </a:t>
                </a:r>
                <a:r>
                  <a:rPr lang="en-US" dirty="0">
                    <a:solidFill>
                      <a:srgbClr val="0033CC"/>
                    </a:solidFill>
                  </a:rPr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that is, as the amount of data grows without limit.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In that limit, the empirical risk becomes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risk functional*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probability distribution of the data.</a:t>
                </a:r>
              </a:p>
              <a:p>
                <a:pPr marL="0" indent="0">
                  <a:buNone/>
                </a:pPr>
                <a:r>
                  <a:rPr lang="en-US" dirty="0"/>
                  <a:t>*</a:t>
                </a:r>
                <a:r>
                  <a:rPr lang="en-US" sz="2000" dirty="0"/>
                  <a:t>A functional depends on all values of a function simultaneously.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0171E8A-D951-BD03-FE4A-80E5601CA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8947" r="-1473" b="-2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B29C309-CA0B-2F71-410E-8A72D189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(1)</a:t>
            </a:r>
          </a:p>
        </p:txBody>
      </p:sp>
    </p:spTree>
    <p:extLst>
      <p:ext uri="{BB962C8B-B14F-4D97-AF65-F5344CB8AC3E}">
        <p14:creationId xmlns:p14="http://schemas.microsoft.com/office/powerpoint/2010/main" val="4565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03DC-2D20-D176-BC6D-3AEABF5C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DC6E10B-4699-795B-54D9-DDE45CE93FF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find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ideally,  we should minimize the risk functional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Of course, in practice, we minimize the empirical risk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because we don’t have an infinite amount of data.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 since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0033CC"/>
                    </a:solidFill>
                  </a:rPr>
                  <a:t>Monte Carlo </a:t>
                </a:r>
                <a:r>
                  <a:rPr lang="en-US" dirty="0"/>
                  <a:t>approximation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any result derived for the risk functional pertains, at least </a:t>
                </a:r>
                <a:r>
                  <a:rPr lang="en-US" i="1" dirty="0"/>
                  <a:t>approximately</a:t>
                </a:r>
                <a:r>
                  <a:rPr lang="en-US" dirty="0"/>
                  <a:t>, to the empirical risk.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DC6E10B-4699-795B-54D9-DDE45CE93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E7ACC0-AA67-1FEE-CFB0-DCD6CE6E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(2)</a:t>
            </a:r>
          </a:p>
        </p:txBody>
      </p:sp>
    </p:spTree>
    <p:extLst>
      <p:ext uri="{BB962C8B-B14F-4D97-AF65-F5344CB8AC3E}">
        <p14:creationId xmlns:p14="http://schemas.microsoft.com/office/powerpoint/2010/main" val="1253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0F603E-9849-B0C0-3CA0-F22BBC4B14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minimize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note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Therefore, we can write the functional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as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where,</a:t>
                </a:r>
                <a:r>
                  <a:rPr lang="en-US" dirty="0">
                    <a:solidFill>
                      <a:srgbClr val="0033CC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0F603E-9849-B0C0-3CA0-F22BBC4B1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 b="-4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D221EB3-B992-EAFE-458B-1AE0A27A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(3)</a:t>
            </a:r>
          </a:p>
        </p:txBody>
      </p:sp>
    </p:spTree>
    <p:extLst>
      <p:ext uri="{BB962C8B-B14F-4D97-AF65-F5344CB8AC3E}">
        <p14:creationId xmlns:p14="http://schemas.microsoft.com/office/powerpoint/2010/main" val="162417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0063-F0D4-B719-5B7A-F2606E55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ADDB8-4A22-0FC0-AD65-FFDDB49294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Add an </a:t>
                </a:r>
                <a:r>
                  <a:rPr lang="en-US" i="1" u="sng" dirty="0">
                    <a:solidFill>
                      <a:srgbClr val="0033CC"/>
                    </a:solidFill>
                  </a:rPr>
                  <a:t>arbitrary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to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an infinitesimal*.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m:rPr>
                        <m:aln/>
                      </m:rP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d>
                      <m:dPr>
                        <m:ctrl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b="1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dirty="0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                                 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𝝐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ADDB8-4A22-0FC0-AD65-FFDDB4929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2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290628-6ED3-9C1E-6CC0-E4CF13A9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46909-5E09-573F-A448-00E2156AB69F}"/>
                  </a:ext>
                </a:extLst>
              </p:cNvPr>
              <p:cNvSpPr txBox="1"/>
              <p:nvPr/>
            </p:nvSpPr>
            <p:spPr>
              <a:xfrm>
                <a:off x="711200" y="5848647"/>
                <a:ext cx="583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*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any real number.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46909-5E09-573F-A448-00E2156AB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5848647"/>
                <a:ext cx="5830250" cy="461665"/>
              </a:xfrm>
              <a:prstGeom prst="rect">
                <a:avLst/>
              </a:prstGeom>
              <a:blipFill>
                <a:blip r:embed="rId3"/>
                <a:stretch>
                  <a:fillRect l="-173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6F7A-7AED-F1F7-215C-33E71A6B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F7A583-070E-CD78-A92A-38012A0239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8128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Rearranging, and taking the standard part* of both sides, we find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 lefthand side </a:t>
                </a:r>
                <a:r>
                  <a:rPr lang="en-US" i="1" dirty="0"/>
                  <a:t>defines</a:t>
                </a:r>
                <a:r>
                  <a:rPr lang="en-US" dirty="0"/>
                  <a:t> the </a:t>
                </a:r>
                <a:r>
                  <a:rPr lang="en-US" b="1" dirty="0">
                    <a:solidFill>
                      <a:srgbClr val="0033CC"/>
                    </a:solidFill>
                  </a:rPr>
                  <a:t>functional derivative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assumption,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zero 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 ∀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Therefore,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*</a:t>
                </a:r>
                <a:r>
                  <a:rPr lang="en-US" sz="2000" dirty="0"/>
                  <a:t>The standard part of the </a:t>
                </a:r>
                <a:r>
                  <a:rPr lang="en-US" sz="2000" dirty="0">
                    <a:solidFill>
                      <a:srgbClr val="0033CC"/>
                    </a:solidFill>
                  </a:rPr>
                  <a:t>hyperreal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is defined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st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F7A583-070E-CD78-A92A-38012A023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8128000" cy="4819650"/>
              </a:xfrm>
              <a:blipFill>
                <a:blip r:embed="rId2"/>
                <a:stretch>
                  <a:fillRect l="-1250" t="-14474" r="-62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38BF04-EEC9-218F-FB7F-46573B99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(5)</a:t>
            </a:r>
          </a:p>
        </p:txBody>
      </p:sp>
    </p:spTree>
    <p:extLst>
      <p:ext uri="{BB962C8B-B14F-4D97-AF65-F5344CB8AC3E}">
        <p14:creationId xmlns:p14="http://schemas.microsoft.com/office/powerpoint/2010/main" val="168535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5D47-3E96-B82E-A5F9-010A679C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CCA021E-DD2D-264A-3068-A419F3FF459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want the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hold for </a:t>
                </a:r>
                <a:r>
                  <a:rPr lang="en-US" i="1" dirty="0"/>
                  <a:t>any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can happen </a:t>
                </a:r>
                <a:r>
                  <a:rPr lang="en-US" i="1" dirty="0"/>
                  <a:t>if only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that is,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| 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CCA021E-DD2D-264A-3068-A419F3FF4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 b="-1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A9A6E72-D9BB-38E7-7486-78EC1E24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(6)</a:t>
            </a:r>
          </a:p>
        </p:txBody>
      </p:sp>
    </p:spTree>
    <p:extLst>
      <p:ext uri="{BB962C8B-B14F-4D97-AF65-F5344CB8AC3E}">
        <p14:creationId xmlns:p14="http://schemas.microsoft.com/office/powerpoint/2010/main" val="30163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B16D-34FA-51D9-C1D0-D4F50602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F608CF-2A1C-4C12-9BA4-863BD659E0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en-US" dirty="0"/>
                  <a:t>commute, we obtain the very important result: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The result is </a:t>
                </a:r>
                <a:r>
                  <a:rPr lang="en-US" i="1" dirty="0"/>
                  <a:t>independent</a:t>
                </a:r>
                <a:r>
                  <a:rPr lang="en-US" dirty="0"/>
                  <a:t> of the details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 However,…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must have sufficient </a:t>
                </a:r>
                <a:r>
                  <a:rPr lang="en-US" b="1" dirty="0">
                    <a:solidFill>
                      <a:srgbClr val="0033CC"/>
                    </a:solidFill>
                  </a:rPr>
                  <a:t>capacity</a:t>
                </a:r>
                <a:r>
                  <a:rPr lang="en-US" dirty="0"/>
                  <a:t>: i.e., there must exist an approximation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b="0" i="1" dirty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sub>
                    </m:sSub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by minimizing the empirical risk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is close (in some precise sense) to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Moreover, it must be possible to find that function!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F608CF-2A1C-4C12-9BA4-863BD659E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789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6D8B3A-DE2D-BE5E-17CF-54E63D92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7BD73D-E7E9-6CD7-71FD-C01C656AC13C}"/>
                  </a:ext>
                </a:extLst>
              </p:cNvPr>
              <p:cNvSpPr txBox="1"/>
              <p:nvPr/>
            </p:nvSpPr>
            <p:spPr>
              <a:xfrm>
                <a:off x="1524000" y="1910869"/>
                <a:ext cx="6003759" cy="1060931"/>
              </a:xfrm>
              <a:prstGeom prst="rect">
                <a:avLst/>
              </a:prstGeom>
              <a:solidFill>
                <a:srgbClr val="FFFC8F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7BD73D-E7E9-6CD7-71FD-C01C656AC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910869"/>
                <a:ext cx="6003759" cy="106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8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0679-D6B1-610A-B664-7236129E7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</a:p>
        </p:txBody>
      </p:sp>
    </p:spTree>
    <p:extLst>
      <p:ext uri="{BB962C8B-B14F-4D97-AF65-F5344CB8AC3E}">
        <p14:creationId xmlns:p14="http://schemas.microsoft.com/office/powerpoint/2010/main" val="37938602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1A2EAA9C-C30B-4209-7C57-577CC8C5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0" y="378767"/>
            <a:ext cx="5903588" cy="6019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F134B-1C30-2F33-B22D-7AB504903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76350"/>
            <a:ext cx="4699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jargon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Train</a:t>
            </a:r>
            <a:r>
              <a:rPr lang="en-US" dirty="0"/>
              <a:t>: fit a model to </a:t>
            </a:r>
            <a:br>
              <a:rPr lang="en-US" dirty="0"/>
            </a:br>
            <a:r>
              <a:rPr lang="en-US" dirty="0"/>
              <a:t>(training)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Batch</a:t>
            </a:r>
            <a:r>
              <a:rPr lang="en-US" dirty="0"/>
              <a:t>: a subset of the</a:t>
            </a:r>
            <a:br>
              <a:rPr lang="en-US" dirty="0"/>
            </a:br>
            <a:r>
              <a:rPr lang="en-US" dirty="0"/>
              <a:t>training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Iteration</a:t>
            </a:r>
            <a:r>
              <a:rPr lang="en-US" dirty="0"/>
              <a:t>: a single </a:t>
            </a:r>
            <a:br>
              <a:rPr lang="en-US" dirty="0"/>
            </a:br>
            <a:r>
              <a:rPr lang="en-US" dirty="0"/>
              <a:t>optimization step.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Epoch</a:t>
            </a:r>
            <a:r>
              <a:rPr lang="en-US" dirty="0"/>
              <a:t>: a single </a:t>
            </a:r>
          </a:p>
          <a:p>
            <a:pPr marL="0" indent="0">
              <a:buNone/>
            </a:pPr>
            <a:r>
              <a:rPr lang="en-US" dirty="0"/>
              <a:t>pass through the entire training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3DC66-CCC2-1FAD-5103-64B1FB5CA688}"/>
              </a:ext>
            </a:extLst>
          </p:cNvPr>
          <p:cNvSpPr txBox="1"/>
          <p:nvPr/>
        </p:nvSpPr>
        <p:spPr>
          <a:xfrm>
            <a:off x="4446475" y="117157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FFAE8-5F75-7D8F-7376-F4E5623C617A}"/>
              </a:ext>
            </a:extLst>
          </p:cNvPr>
          <p:cNvSpPr txBox="1"/>
          <p:nvPr/>
        </p:nvSpPr>
        <p:spPr>
          <a:xfrm>
            <a:off x="7810438" y="5701040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259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FC20D917-2813-56A2-BE44-B1E43547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The minimization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typically done by moving in the direction of </a:t>
                </a:r>
                <a:r>
                  <a:rPr lang="en-US" i="1" dirty="0">
                    <a:solidFill>
                      <a:srgbClr val="0033CC"/>
                    </a:solidFill>
                  </a:rPr>
                  <a:t>steepest descent</a:t>
                </a:r>
                <a:r>
                  <a:rPr lang="en-US" dirty="0"/>
                  <a:t>. Most optimization algorithms in ML are variations of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S</a:t>
                </a:r>
                <a:r>
                  <a:rPr lang="en-US" dirty="0">
                    <a:solidFill>
                      <a:srgbClr val="0033CC"/>
                    </a:solidFill>
                  </a:rPr>
                  <a:t>tochastic </a:t>
                </a:r>
                <a:r>
                  <a:rPr lang="en-US" b="1" dirty="0">
                    <a:solidFill>
                      <a:srgbClr val="0033CC"/>
                    </a:solidFill>
                  </a:rPr>
                  <a:t>G</a:t>
                </a:r>
                <a:r>
                  <a:rPr lang="en-US" dirty="0">
                    <a:solidFill>
                      <a:srgbClr val="0033CC"/>
                    </a:solidFill>
                  </a:rPr>
                  <a:t>radient </a:t>
                </a:r>
                <a:r>
                  <a:rPr lang="en-US" b="1" dirty="0">
                    <a:solidFill>
                      <a:srgbClr val="0033CC"/>
                    </a:solidFill>
                  </a:rPr>
                  <a:t>D</a:t>
                </a:r>
                <a:r>
                  <a:rPr lang="en-US" dirty="0">
                    <a:solidFill>
                      <a:srgbClr val="0033CC"/>
                    </a:solidFill>
                  </a:rPr>
                  <a:t>escent</a:t>
                </a:r>
                <a:r>
                  <a:rPr lang="en-US" dirty="0">
                    <a:solidFill>
                      <a:srgbClr val="000000"/>
                    </a:solidFill>
                  </a:rPr>
                  <a:t>.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b="1" dirty="0">
                  <a:solidFill>
                    <a:srgbClr val="000000"/>
                  </a:solidFill>
                </a:endParaRP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000000"/>
                    </a:solidFill>
                  </a:rPr>
                  <a:t>At the current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compute a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i="1" u="sng" dirty="0">
                    <a:solidFill>
                      <a:srgbClr val="0033CC"/>
                    </a:solidFill>
                  </a:rPr>
                  <a:t>noisy</a:t>
                </a:r>
                <a:r>
                  <a:rPr lang="en-US" dirty="0">
                    <a:solidFill>
                      <a:srgbClr val="000000"/>
                    </a:solidFill>
                  </a:rPr>
                  <a:t> approximation of the gradient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of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by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using a </a:t>
                </a:r>
                <a:r>
                  <a:rPr lang="en-US" dirty="0"/>
                  <a:t>batch of training data of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size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/>
                  <a:t>Move to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in the </a:t>
                </a:r>
                <a:br>
                  <a:rPr lang="en-US" dirty="0"/>
                </a:br>
                <a:r>
                  <a:rPr lang="en-US" dirty="0"/>
                  <a:t>landscape using 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r="-1964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997FEB-454C-5C8C-3731-F19D54CE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(1)</a:t>
            </a:r>
          </a:p>
        </p:txBody>
      </p:sp>
    </p:spTree>
    <p:extLst>
      <p:ext uri="{BB962C8B-B14F-4D97-AF65-F5344CB8AC3E}">
        <p14:creationId xmlns:p14="http://schemas.microsoft.com/office/powerpoint/2010/main" val="184966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3A2D-5754-2FAF-C4D1-4F4BC643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9E54FDF4-4C20-75CD-A55C-2128FB104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Why does </a:t>
                </a:r>
                <a:r>
                  <a:rPr lang="en-US" dirty="0">
                    <a:solidFill>
                      <a:srgbClr val="000000"/>
                    </a:solidFill>
                  </a:rPr>
                  <a:t>this (1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st</a:t>
                </a:r>
                <a:r>
                  <a:rPr lang="en-US" dirty="0">
                    <a:solidFill>
                      <a:srgbClr val="000000"/>
                    </a:solidFill>
                  </a:rPr>
                  <a:t>-order) algorithm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  <a:cs typeface="Cambria Math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work? 		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is called the </a:t>
                </a:r>
                <a:r>
                  <a:rPr lang="en-US" b="1" dirty="0">
                    <a:solidFill>
                      <a:srgbClr val="0033CC"/>
                    </a:solidFill>
                  </a:rPr>
                  <a:t>learning rate</a:t>
                </a:r>
                <a:r>
                  <a:rPr lang="en-US" dirty="0">
                    <a:solidFill>
                      <a:srgbClr val="000000"/>
                    </a:solidFill>
                  </a:rPr>
                  <a:t>.)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Consider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 		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0033CC"/>
                        </a:solidFill>
                        <a:ea typeface="Cambria Math" panose="02040503050406030204" pitchFamily="18" charset="0"/>
                        <a:cs typeface="Cambria Math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can be neglected, and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given that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term is always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negative, it follows that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br>
                  <a:rPr lang="en-US" dirty="0"/>
                </a:b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B48CDEA-88F8-3CA5-B26A-0F384AAF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(2)</a:t>
            </a:r>
          </a:p>
        </p:txBody>
      </p:sp>
    </p:spTree>
    <p:extLst>
      <p:ext uri="{BB962C8B-B14F-4D97-AF65-F5344CB8AC3E}">
        <p14:creationId xmlns:p14="http://schemas.microsoft.com/office/powerpoint/2010/main" val="71031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0BD22-A552-7619-8B27-EBFA1345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630BBC-189E-5D63-12C1-97C1E92F8F3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Risk Minimization</a:t>
                </a:r>
              </a:p>
              <a:p>
                <a:r>
                  <a:rPr lang="en-US" dirty="0"/>
                  <a:t>Given a data set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,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and a loss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optimal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acc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satisfies: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 </a:t>
                </a:r>
                <a:r>
                  <a:rPr lang="en-US" dirty="0"/>
                  <a:t>at least </a:t>
                </a:r>
                <a:r>
                  <a:rPr lang="en-US" i="1" dirty="0"/>
                  <a:t>approximately</a:t>
                </a:r>
                <a:r>
                  <a:rPr lang="en-US" dirty="0"/>
                  <a:t>.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Empirical Risk Minimization</a:t>
                </a:r>
              </a:p>
              <a:p>
                <a:r>
                  <a:rPr lang="en-US" dirty="0"/>
                  <a:t>Many minimization algorithms are variations of the following algorithm: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  <a:cs typeface="Cambria Math" charset="0"/>
                </a:endParaRPr>
              </a:p>
              <a:p>
                <a:r>
                  <a:rPr lang="en-US" dirty="0"/>
                  <a:t>Batches of data are used, which introduces noise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630BBC-189E-5D63-12C1-97C1E92F8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6316" r="-655" b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1E9639-C2BE-648A-6B74-658A698E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3953321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12941</TotalTime>
  <Words>1240</Words>
  <Application>Microsoft Macintosh PowerPoint</Application>
  <PresentationFormat>Letter Paper (8.5x11 in)</PresentationFormat>
  <Paragraphs>178</Paragraphs>
  <Slides>21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Marlett</vt:lpstr>
      <vt:lpstr>Times New Roman</vt:lpstr>
      <vt:lpstr>Wingdings</vt:lpstr>
      <vt:lpstr>Default Design</vt:lpstr>
      <vt:lpstr>Machine Learning In Physics Foundations 2</vt:lpstr>
      <vt:lpstr>Recap</vt:lpstr>
      <vt:lpstr>Fitting Models to data</vt:lpstr>
      <vt:lpstr>Fitting Models to Data (1)</vt:lpstr>
      <vt:lpstr>Fitting Models to Data (2)</vt:lpstr>
      <vt:lpstr>Fitting Models to Data (3)</vt:lpstr>
      <vt:lpstr>Empirical Risk Landscape (1)</vt:lpstr>
      <vt:lpstr>Empirical Risk Landscape (2)</vt:lpstr>
      <vt:lpstr>The Risk Functional</vt:lpstr>
      <vt:lpstr>Risk Functional (1)</vt:lpstr>
      <vt:lpstr>Risk Functional (2)</vt:lpstr>
      <vt:lpstr>Risk Functional (3)</vt:lpstr>
      <vt:lpstr>Risk Functional (4)</vt:lpstr>
      <vt:lpstr>Risk Functional (5)</vt:lpstr>
      <vt:lpstr>Risk Functional (6)</vt:lpstr>
      <vt:lpstr>Risk Functional (7)</vt:lpstr>
      <vt:lpstr>Empirical RISK Minimization</vt:lpstr>
      <vt:lpstr>PowerPoint Presentation</vt:lpstr>
      <vt:lpstr>Empirical Risk Minimization (1)</vt:lpstr>
      <vt:lpstr>Empirical Risk Minimization (2)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67</cp:revision>
  <cp:lastPrinted>2019-01-07T00:35:58Z</cp:lastPrinted>
  <dcterms:created xsi:type="dcterms:W3CDTF">2025-08-24T13:22:07Z</dcterms:created>
  <dcterms:modified xsi:type="dcterms:W3CDTF">2026-09-09T01:54:14Z</dcterms:modified>
</cp:coreProperties>
</file>