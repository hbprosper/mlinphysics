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1011" r:id="rId3"/>
    <p:sldId id="257" r:id="rId4"/>
    <p:sldId id="258" r:id="rId5"/>
    <p:sldId id="259" r:id="rId6"/>
    <p:sldId id="1020" r:id="rId7"/>
    <p:sldId id="266" r:id="rId8"/>
    <p:sldId id="265" r:id="rId9"/>
    <p:sldId id="262" r:id="rId10"/>
    <p:sldId id="261" r:id="rId11"/>
    <p:sldId id="1024" r:id="rId12"/>
    <p:sldId id="268" r:id="rId13"/>
    <p:sldId id="269" r:id="rId14"/>
    <p:sldId id="270" r:id="rId15"/>
    <p:sldId id="271" r:id="rId16"/>
    <p:sldId id="272" r:id="rId17"/>
    <p:sldId id="274" r:id="rId18"/>
    <p:sldId id="1057" r:id="rId19"/>
    <p:sldId id="276" r:id="rId20"/>
    <p:sldId id="277" r:id="rId21"/>
    <p:sldId id="1014" r:id="rId22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624"/>
    <p:restoredTop sz="86548"/>
  </p:normalViewPr>
  <p:slideViewPr>
    <p:cSldViewPr>
      <p:cViewPr varScale="1">
        <p:scale>
          <a:sx n="87" d="100"/>
          <a:sy n="87" d="100"/>
        </p:scale>
        <p:origin x="180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00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729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NUL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4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Last time we introduced the multi-node, multi-layer perceptron (MLP), which is also known as a </a:t>
                </a:r>
                <a:r>
                  <a:rPr lang="en-US" b="1" dirty="0">
                    <a:solidFill>
                      <a:srgbClr val="0033CC"/>
                    </a:solidFill>
                  </a:rPr>
                  <a:t>feed-forward neural network</a:t>
                </a:r>
                <a:r>
                  <a:rPr lang="en-US" dirty="0"/>
                  <a:t> (FCNN).</a:t>
                </a: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 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relu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br>
                  <a:rPr lang="en-US" dirty="0"/>
                </a:b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  <a:blipFill>
                <a:blip r:embed="rId3"/>
                <a:stretch>
                  <a:fillRect l="-2508" t="-1316" r="-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EAE0CE-CB5A-9330-8EA0-6E62B7E6E685}"/>
              </a:ext>
            </a:extLst>
          </p:cNvPr>
          <p:cNvGrpSpPr/>
          <p:nvPr/>
        </p:nvGrpSpPr>
        <p:grpSpPr>
          <a:xfrm>
            <a:off x="4648200" y="1295400"/>
            <a:ext cx="2162628" cy="5105400"/>
            <a:chOff x="5304972" y="1295400"/>
            <a:chExt cx="2162628" cy="51054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6CC05A-C6C8-65CE-BF31-ECA3367B4E7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04F4DF-7E47-F6D3-EF2B-17B4A70CE17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A7BD658-F520-7977-6AEE-821A2A725F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g 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946F376-F44F-6103-892E-583677D7164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190139-F5E0-40F4-47AA-E1C1BBE9ABD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756A9F9-52B3-CF8B-A6BF-3C4D88FCE8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ADC26F4-AB00-CE8C-ED19-F1C1C730B9B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C667F0-5808-A57E-5077-CA067511BF4F}"/>
                </a:ext>
              </a:extLst>
            </p:cNvPr>
            <p:cNvSpPr txBox="1"/>
            <p:nvPr/>
          </p:nvSpPr>
          <p:spPr>
            <a:xfrm>
              <a:off x="5867400" y="1295400"/>
              <a:ext cx="970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B44CA97-135C-E5C0-AA35-9599896E19BF}"/>
              </a:ext>
            </a:extLst>
          </p:cNvPr>
          <p:cNvGrpSpPr/>
          <p:nvPr/>
        </p:nvGrpSpPr>
        <p:grpSpPr>
          <a:xfrm>
            <a:off x="6955757" y="2224032"/>
            <a:ext cx="1872484" cy="1456543"/>
            <a:chOff x="6955757" y="2224032"/>
            <a:chExt cx="1872484" cy="1456543"/>
          </a:xfrm>
        </p:grpSpPr>
        <p:sp>
          <p:nvSpPr>
            <p:cNvPr id="39" name="Right Brace 38">
              <a:extLst>
                <a:ext uri="{FF2B5EF4-FFF2-40B4-BE49-F238E27FC236}">
                  <a16:creationId xmlns:a16="http://schemas.microsoft.com/office/drawing/2014/main" id="{004E1DDC-406E-1522-896E-C9062110BDAF}"/>
                </a:ext>
              </a:extLst>
            </p:cNvPr>
            <p:cNvSpPr/>
            <p:nvPr/>
          </p:nvSpPr>
          <p:spPr bwMode="auto">
            <a:xfrm>
              <a:off x="6955757" y="2224032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155D0B-3841-C3AC-1D2F-272C86F34EC8}"/>
                </a:ext>
              </a:extLst>
            </p:cNvPr>
            <p:cNvSpPr txBox="1"/>
            <p:nvPr/>
          </p:nvSpPr>
          <p:spPr>
            <a:xfrm>
              <a:off x="7696200" y="2715651"/>
              <a:ext cx="1132041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2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ECFF7C-6246-C72A-CC16-F4A0D8F34C7A}"/>
              </a:ext>
            </a:extLst>
          </p:cNvPr>
          <p:cNvGrpSpPr/>
          <p:nvPr/>
        </p:nvGrpSpPr>
        <p:grpSpPr>
          <a:xfrm>
            <a:off x="6963228" y="4114800"/>
            <a:ext cx="1879602" cy="1456543"/>
            <a:chOff x="6963228" y="4114800"/>
            <a:chExt cx="1879602" cy="1456543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F1DCF-BD6D-1509-CE3B-EED20334E4CA}"/>
                </a:ext>
              </a:extLst>
            </p:cNvPr>
            <p:cNvSpPr txBox="1"/>
            <p:nvPr/>
          </p:nvSpPr>
          <p:spPr>
            <a:xfrm>
              <a:off x="7710789" y="4611077"/>
              <a:ext cx="11320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1</a:t>
              </a:r>
            </a:p>
          </p:txBody>
        </p:sp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6D2C5ABD-5A3F-016D-254C-0D8D77E804FC}"/>
                </a:ext>
              </a:extLst>
            </p:cNvPr>
            <p:cNvSpPr/>
            <p:nvPr/>
          </p:nvSpPr>
          <p:spPr bwMode="auto">
            <a:xfrm>
              <a:off x="6963228" y="4114800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A71C015-3151-064D-BE31-6B9C4047DA20}"/>
              </a:ext>
            </a:extLst>
          </p:cNvPr>
          <p:cNvSpPr/>
          <p:nvPr/>
        </p:nvSpPr>
        <p:spPr bwMode="auto">
          <a:xfrm>
            <a:off x="983343" y="5278014"/>
            <a:ext cx="453572" cy="461665"/>
          </a:xfrm>
          <a:prstGeom prst="rect">
            <a:avLst/>
          </a:prstGeom>
          <a:solidFill>
            <a:srgbClr val="FFFC8F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336F8-52AE-C13F-D355-EA6652670480}"/>
              </a:ext>
            </a:extLst>
          </p:cNvPr>
          <p:cNvSpPr/>
          <p:nvPr/>
        </p:nvSpPr>
        <p:spPr bwMode="auto">
          <a:xfrm>
            <a:off x="983343" y="4491335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7FA661-67D8-A2A6-71D8-B3C951AC321A}"/>
              </a:ext>
            </a:extLst>
          </p:cNvPr>
          <p:cNvSpPr/>
          <p:nvPr/>
        </p:nvSpPr>
        <p:spPr bwMode="auto">
          <a:xfrm>
            <a:off x="968829" y="3624279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9DA4E86-3004-89B6-E485-9F18A7DBE193}"/>
                  </a:ext>
                </a:extLst>
              </p:cNvPr>
              <p:cNvSpPr/>
              <p:nvPr/>
            </p:nvSpPr>
            <p:spPr bwMode="auto">
              <a:xfrm>
                <a:off x="4997244" y="2202696"/>
                <a:ext cx="1447800" cy="461665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nor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0" lang="en-US" sz="24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9DA4E86-3004-89B6-E485-9F18A7DBE1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97244" y="2202696"/>
                <a:ext cx="144780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5999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1DB3FF-3514-262A-D56A-DBE33F2BE5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Fitting Models to data</a:t>
            </a:r>
          </a:p>
        </p:txBody>
      </p:sp>
    </p:spTree>
    <p:extLst>
      <p:ext uri="{BB962C8B-B14F-4D97-AF65-F5344CB8AC3E}">
        <p14:creationId xmlns:p14="http://schemas.microsoft.com/office/powerpoint/2010/main" val="381410986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37071F-469C-AC1D-4971-627EA656E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 our goal is to approximate a function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given a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standard approach is to approximate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a </a:t>
                </a:r>
                <a:r>
                  <a:rPr lang="en-US" i="1" dirty="0"/>
                  <a:t>parameterized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that is, a </a:t>
                </a:r>
                <a:r>
                  <a:rPr lang="en-US" b="1" dirty="0">
                    <a:solidFill>
                      <a:srgbClr val="0033CC"/>
                    </a:solidFill>
                  </a:rPr>
                  <a:t>model</a:t>
                </a:r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are the parameters of the model.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7A829E1-1BCF-5BA6-7BC1-3FDD0E1769E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60E19E-7396-8D83-4E14-14ED66B6E28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478763-B0CC-CA1B-A5E0-37EA044FFA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A506BAD-5D5C-6713-85C2-752D5793B8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2E04A20-CBDD-FD0D-480E-538ABB0B8646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6B757605-B32A-713D-F678-F0E7931243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0851186-DEAC-1146-E252-F3512444DF7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81CB6F6-4FE5-9858-F6EA-44D503BDB9B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C2912A1-0AF0-1EEB-D0E1-28915E8AE32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5A71C-418A-A6F4-81B6-05ADDDDCEF13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CBBD027-8214-31E7-5044-2B3D8328FBA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5D693C-884E-9399-4747-1274699FB22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AD3391-7576-A4AE-C29C-99FB861894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2F07A4-0A7C-6ED8-9E94-A6792A293C1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9F7B500-2E49-6B29-67E8-EF2BABB43808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38A83F1-6622-52AF-5B87-A5ADC1EFD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7742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B897A-1919-2B78-6636-C468FC97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5C37B65-62F9-CAA4-DD53-40FD43DD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One way to find the </a:t>
                </a:r>
                <a:r>
                  <a:rPr lang="en-US" i="1" dirty="0">
                    <a:solidFill>
                      <a:srgbClr val="0033CC"/>
                    </a:solidFill>
                  </a:rPr>
                  <a:t>best-fit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of the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to minimize the </a:t>
                </a:r>
                <a:r>
                  <a:rPr lang="en-US" b="1" dirty="0">
                    <a:solidFill>
                      <a:srgbClr val="0033CC"/>
                    </a:solidFill>
                  </a:rPr>
                  <a:t>quadratic form</a:t>
                </a:r>
                <a:r>
                  <a:rPr lang="en-US" dirty="0"/>
                  <a:t> 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respect to the parameters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where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>
                    <a:solidFill>
                      <a:srgbClr val="0033CC"/>
                    </a:solidFill>
                  </a:rPr>
                  <a:t>least-squares fit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194D523-850C-80E5-05AA-D135125A87B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668C92-ED99-D89C-4EF1-D3176ED863D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0FCDDF-7ADD-A6F9-98C7-DF577FE74F9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CA4D4E-1604-B619-87EB-31DFFA75351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DCA19AA-2423-13DE-FD0F-E8E9B201E74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F4D966C-E967-013E-F52B-128C8895ED8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A37D021-8FFC-41FB-D282-837D6076C3E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A66E51D-EAF5-4595-2066-FC62C23F64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9441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3F2E-B309-8BFC-CFBA-51667F7C3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ED1EDA-0CF9-C62B-EC48-09A694922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least-squares fit can be generalized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 </a:t>
                </a:r>
                <a:r>
                  <a:rPr lang="en-US" b="1" dirty="0">
                    <a:solidFill>
                      <a:srgbClr val="0033CC"/>
                    </a:solidFill>
                  </a:rPr>
                  <a:t>loss function</a:t>
                </a:r>
                <a:r>
                  <a:rPr lang="en-US" dirty="0"/>
                  <a:t>, measures the discrepancy between the desired </a:t>
                </a:r>
                <a:r>
                  <a:rPr lang="en-US" b="1" dirty="0">
                    <a:solidFill>
                      <a:srgbClr val="0033CC"/>
                    </a:solidFill>
                  </a:rPr>
                  <a:t>target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the model,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empirical risk</a:t>
                </a:r>
                <a:r>
                  <a:rPr lang="en-US" dirty="0"/>
                  <a:t> or </a:t>
                </a:r>
                <a:r>
                  <a:rPr lang="en-US" b="1" dirty="0">
                    <a:solidFill>
                      <a:srgbClr val="0033CC"/>
                    </a:solidFill>
                  </a:rPr>
                  <a:t>average loss</a:t>
                </a:r>
                <a:r>
                  <a:rPr lang="en-US" dirty="0"/>
                  <a:t>.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b="1" dirty="0">
                    <a:solidFill>
                      <a:srgbClr val="C00000"/>
                    </a:solidFill>
                  </a:rPr>
                  <a:t>Warning: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In ML, the empirical risk is often referred to as the “loss”.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8947" b="-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E1B1787B-3BEC-31A0-FE5A-D95EF0D21010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2BF525-D21F-1312-6F79-7C12B8773F7B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7BDF299-245A-14EC-DBE6-8FAFAF08849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7426D9-12DA-CB6D-0A4E-A421AE55615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97B4336-2055-009D-F131-ABF6CE50018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5348C6-C758-B6B1-2C02-B05BADF69CAC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778F223-721B-6FB0-21A5-4DD38A5438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909EBCF-6CDB-E686-8740-4A50DFD6E3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2125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BE5C-792A-0DA0-372D-C10451CE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3FEE2E02-D718-22E3-34D5-4CC1051B9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094600"/>
            <a:ext cx="3810000" cy="38850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9877C6-9EAD-509E-30C4-5CFDD77B0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empirical risk defines a highly corrugated high-dimensional “landscape” in the space of parameters.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Our task is to navigate the empirical risk </a:t>
            </a:r>
          </a:p>
          <a:p>
            <a:pPr marL="0" indent="0">
              <a:buNone/>
            </a:pPr>
            <a:r>
              <a:rPr lang="en-US" dirty="0"/>
              <a:t>landscape to find a  </a:t>
            </a:r>
            <a:r>
              <a:rPr lang="en-US" i="1" dirty="0">
                <a:solidFill>
                  <a:srgbClr val="0033CC"/>
                </a:solidFill>
              </a:rPr>
              <a:t>good approximation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of the minimum not of </a:t>
            </a:r>
            <a:r>
              <a:rPr lang="en-US" i="1" dirty="0"/>
              <a:t>that</a:t>
            </a:r>
            <a:r>
              <a:rPr lang="en-US" dirty="0"/>
              <a:t> landscape </a:t>
            </a:r>
          </a:p>
          <a:p>
            <a:pPr marL="0" indent="0">
              <a:buNone/>
            </a:pPr>
            <a:r>
              <a:rPr lang="en-US" dirty="0"/>
              <a:t>but rather of the landscape that would </a:t>
            </a:r>
          </a:p>
          <a:p>
            <a:pPr marL="0" indent="0">
              <a:buNone/>
            </a:pPr>
            <a:r>
              <a:rPr lang="en-US" dirty="0"/>
              <a:t>be formed if we had an </a:t>
            </a:r>
            <a:r>
              <a:rPr lang="en-US" i="1" u="sng" dirty="0">
                <a:solidFill>
                  <a:srgbClr val="0033CC"/>
                </a:solidFill>
              </a:rPr>
              <a:t>infinite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amount of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model that approximates this ideal is said to </a:t>
            </a:r>
            <a:r>
              <a:rPr lang="en-US" i="1" dirty="0">
                <a:solidFill>
                  <a:srgbClr val="0033CC"/>
                </a:solidFill>
              </a:rPr>
              <a:t>generalize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D7A706-1979-0CEC-11EC-04E801B7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(1)</a:t>
            </a:r>
          </a:p>
        </p:txBody>
      </p:sp>
    </p:spTree>
    <p:extLst>
      <p:ext uri="{BB962C8B-B14F-4D97-AF65-F5344CB8AC3E}">
        <p14:creationId xmlns:p14="http://schemas.microsoft.com/office/powerpoint/2010/main" val="223477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7EB8C-947F-B648-A9AF-99CF7CE7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(2)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rgbClr val="0033CC"/>
                    </a:solidFill>
                  </a:rPr>
                  <a:t>Example:</a:t>
                </a:r>
                <a:r>
                  <a:rPr lang="en-US" sz="1800" dirty="0"/>
                  <a:t> A least squares fit to a </a:t>
                </a:r>
                <a:r>
                  <a:rPr lang="en-US" sz="1800" b="1" dirty="0">
                    <a:solidFill>
                      <a:srgbClr val="0033CC"/>
                    </a:solidFill>
                  </a:rPr>
                  <a:t>linear model</a:t>
                </a:r>
                <a:r>
                  <a:rPr lang="en-US" sz="18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en-US" sz="18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  <a:blipFill>
                <a:blip r:embed="rId4"/>
                <a:stretch>
                  <a:fillRect l="-818" t="-45098" b="-89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eneralization">
            <a:hlinkClick r:id="" action="ppaction://media"/>
            <a:extLst>
              <a:ext uri="{FF2B5EF4-FFF2-40B4-BE49-F238E27FC236}">
                <a16:creationId xmlns:a16="http://schemas.microsoft.com/office/drawing/2014/main" id="{4F5C41AD-AF42-1743-9B74-5BAEA7FBC9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0" y="3175"/>
            <a:ext cx="9144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86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6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B0365-4572-88E7-77C3-A8BBB24FB6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Risk Functional</a:t>
            </a:r>
          </a:p>
        </p:txBody>
      </p:sp>
    </p:spTree>
    <p:extLst>
      <p:ext uri="{BB962C8B-B14F-4D97-AF65-F5344CB8AC3E}">
        <p14:creationId xmlns:p14="http://schemas.microsoft.com/office/powerpoint/2010/main" val="193185294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mathematics and physics, insight can often be gained by taking some limit of an expression. Consider the limit of </a:t>
                </a:r>
                <a:r>
                  <a:rPr lang="en-US" dirty="0">
                    <a:solidFill>
                      <a:srgbClr val="0033CC"/>
                    </a:solidFill>
                  </a:rPr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/>
                  <a:t>, that is, as the amount of data grows without limit.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that limit, the empirical risk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risk functional*</a:t>
                </a:r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probability distribution of the data.</a:t>
                </a:r>
              </a:p>
              <a:p>
                <a:pPr marL="0" indent="0">
                  <a:buNone/>
                </a:pPr>
                <a:r>
                  <a:rPr lang="en-US" dirty="0"/>
                  <a:t>*</a:t>
                </a:r>
                <a:r>
                  <a:rPr lang="en-US" sz="2000" dirty="0"/>
                  <a:t>A functional depends on all values of a function simultaneously.</a:t>
                </a: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8947" r="-1473" b="-2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EB29C309-CA0B-2F71-410E-8A72D189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(1)</a:t>
            </a:r>
          </a:p>
        </p:txBody>
      </p:sp>
    </p:spTree>
    <p:extLst>
      <p:ext uri="{BB962C8B-B14F-4D97-AF65-F5344CB8AC3E}">
        <p14:creationId xmlns:p14="http://schemas.microsoft.com/office/powerpoint/2010/main" val="45658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03DC-2D20-D176-BC6D-3AEABF5C1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C6E10B-4699-795B-54D9-DDE45CE93FF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find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ideally,  we should minimize the risk functional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Of course, in practice, we minimize the empirical risk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because we don’t have an infinite amount of data.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since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33CC"/>
                    </a:solidFill>
                  </a:rPr>
                  <a:t>Monte Carlo </a:t>
                </a:r>
                <a:r>
                  <a:rPr lang="en-US" dirty="0"/>
                  <a:t>approximation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any result derived for the risk functional pertains, at least </a:t>
                </a:r>
                <a:r>
                  <a:rPr lang="en-US" i="1" dirty="0"/>
                  <a:t>approximately</a:t>
                </a:r>
                <a:r>
                  <a:rPr lang="en-US" dirty="0"/>
                  <a:t>, to the empirical risk.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C6E10B-4699-795B-54D9-DDE45CE93F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E7ACC0-AA67-1FEE-CFB0-DCD6CE6E5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(2)</a:t>
            </a:r>
          </a:p>
        </p:txBody>
      </p:sp>
    </p:spTree>
    <p:extLst>
      <p:ext uri="{BB962C8B-B14F-4D97-AF65-F5344CB8AC3E}">
        <p14:creationId xmlns:p14="http://schemas.microsoft.com/office/powerpoint/2010/main" val="125349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first note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Therefore, we can write the functional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as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:r>
                  <a:rPr lang="en-US" dirty="0">
                    <a:solidFill>
                      <a:srgbClr val="0033CC"/>
                    </a:solidFill>
                    <a:ea typeface="Cambria Math" panose="02040503050406030204" pitchFamily="18" charset="0"/>
                  </a:rPr>
                  <a:t>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4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D221EB3-B992-EAFE-458B-1AE0A27A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(3)</a:t>
            </a:r>
          </a:p>
        </p:txBody>
      </p:sp>
    </p:spTree>
    <p:extLst>
      <p:ext uri="{BB962C8B-B14F-4D97-AF65-F5344CB8AC3E}">
        <p14:creationId xmlns:p14="http://schemas.microsoft.com/office/powerpoint/2010/main" val="162417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60063-F0D4-B719-5B7A-F2606E55E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Add an </a:t>
                </a:r>
                <a:r>
                  <a:rPr lang="en-US" i="1" u="sng" dirty="0">
                    <a:solidFill>
                      <a:srgbClr val="0033CC"/>
                    </a:solidFill>
                  </a:rPr>
                  <a:t>arbitrary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infinitesimal*.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d>
                      <m:dPr>
                        <m:ctrl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𝝐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𝓛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dirty="0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                    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𝝐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E290628-6ED3-9C1E-6CC0-E4CF13A9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/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*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0&lt;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any real number.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blipFill>
                <a:blip r:embed="rId3"/>
                <a:stretch>
                  <a:fillRect l="-1739" t="-10811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31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6F7A-7AED-F1F7-215C-33E71A6B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8128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Rearranging, and taking the standard part* of both sides, we find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st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 lefthand side </a:t>
                </a:r>
                <a:r>
                  <a:rPr lang="en-US" i="1" dirty="0"/>
                  <a:t>defines</a:t>
                </a:r>
                <a:r>
                  <a:rPr lang="en-US" dirty="0"/>
                  <a:t> the </a:t>
                </a:r>
                <a:r>
                  <a:rPr lang="en-US" b="1" dirty="0">
                    <a:solidFill>
                      <a:srgbClr val="0033CC"/>
                    </a:solidFill>
                  </a:rPr>
                  <a:t>functional derivative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assumption,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zero 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 Therefore,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*</a:t>
                </a:r>
                <a:r>
                  <a:rPr lang="en-US" sz="2000" dirty="0"/>
                  <a:t>The standard part of the </a:t>
                </a:r>
                <a:r>
                  <a:rPr lang="en-US" sz="2000" dirty="0">
                    <a:solidFill>
                      <a:srgbClr val="0033CC"/>
                    </a:solidFill>
                  </a:rPr>
                  <a:t>hyperreal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is defined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st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8128000" cy="4819650"/>
              </a:xfrm>
              <a:blipFill>
                <a:blip r:embed="rId2"/>
                <a:stretch>
                  <a:fillRect l="-1250" t="-14474" r="-62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38BF04-EEC9-218F-FB7F-46573B99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(5)</a:t>
            </a:r>
          </a:p>
        </p:txBody>
      </p:sp>
    </p:spTree>
    <p:extLst>
      <p:ext uri="{BB962C8B-B14F-4D97-AF65-F5344CB8AC3E}">
        <p14:creationId xmlns:p14="http://schemas.microsoft.com/office/powerpoint/2010/main" val="168535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65D47-3E96-B82E-A5F9-010A679C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</a:t>
                </a:r>
                <a:r>
                  <a:rPr lang="en-US" i="1" dirty="0"/>
                  <a:t>any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can happen </a:t>
                </a:r>
                <a:r>
                  <a:rPr lang="en-US" i="1" dirty="0"/>
                  <a:t>if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that is,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| </m:t>
                                  </m:r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1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A9A6E72-D9BB-38E7-7486-78EC1E2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(6)</a:t>
            </a:r>
          </a:p>
        </p:txBody>
      </p:sp>
    </p:spTree>
    <p:extLst>
      <p:ext uri="{BB962C8B-B14F-4D97-AF65-F5344CB8AC3E}">
        <p14:creationId xmlns:p14="http://schemas.microsoft.com/office/powerpoint/2010/main" val="301638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2B16D-34FA-51D9-C1D0-D4F506024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∫</m:t>
                    </m:r>
                  </m:oMath>
                </a14:m>
                <a:r>
                  <a:rPr lang="en-US" dirty="0"/>
                  <a:t>commute, we obtain the very important result: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result is </a:t>
                </a:r>
                <a:r>
                  <a:rPr lang="en-US" i="1" dirty="0"/>
                  <a:t>independent</a:t>
                </a:r>
                <a:r>
                  <a:rPr lang="en-US" dirty="0"/>
                  <a:t> of the details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. However,…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must have sufficient </a:t>
                </a:r>
                <a:r>
                  <a:rPr lang="en-US" b="1" dirty="0">
                    <a:solidFill>
                      <a:srgbClr val="0033CC"/>
                    </a:solidFill>
                  </a:rPr>
                  <a:t>capacity</a:t>
                </a:r>
                <a:r>
                  <a:rPr lang="en-US" dirty="0"/>
                  <a:t>: i.e., there must exist an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sub>
                    </m:sSub>
                    <m:r>
                      <a:rPr lang="en-US" b="0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by minimizing the empirical risk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is close (in some precise sense)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Moreover, it must be possible to find that function!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789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6D8B3A-DE2D-BE5E-17CF-54E63D92C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/>
              <p:nvPr/>
            </p:nvSpPr>
            <p:spPr>
              <a:xfrm>
                <a:off x="1524000" y="1910869"/>
                <a:ext cx="6003759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910869"/>
                <a:ext cx="6003759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8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1A2EAA9C-C30B-4209-7C57-577CC8C5C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8767"/>
            <a:ext cx="5903588" cy="6019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EF134B-1C30-2F33-B22D-7AB5049034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76350"/>
            <a:ext cx="4699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Some jargon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Train</a:t>
            </a:r>
            <a:r>
              <a:rPr lang="en-US" dirty="0"/>
              <a:t>: fit a model to </a:t>
            </a:r>
            <a:br>
              <a:rPr lang="en-US" dirty="0"/>
            </a:br>
            <a:r>
              <a:rPr lang="en-US" dirty="0"/>
              <a:t>(training)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Batch</a:t>
            </a:r>
            <a:r>
              <a:rPr lang="en-US" dirty="0"/>
              <a:t>: a subset of the</a:t>
            </a:r>
            <a:br>
              <a:rPr lang="en-US" dirty="0"/>
            </a:br>
            <a:r>
              <a:rPr lang="en-US" dirty="0"/>
              <a:t>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Iteration</a:t>
            </a:r>
            <a:r>
              <a:rPr lang="en-US" dirty="0"/>
              <a:t>: a single </a:t>
            </a:r>
            <a:br>
              <a:rPr lang="en-US" dirty="0"/>
            </a:br>
            <a:r>
              <a:rPr lang="en-US" dirty="0"/>
              <a:t>optimization step.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Epoch</a:t>
            </a:r>
            <a:r>
              <a:rPr lang="en-US" dirty="0"/>
              <a:t>: a single </a:t>
            </a:r>
          </a:p>
          <a:p>
            <a:pPr marL="0" indent="0">
              <a:buNone/>
            </a:pPr>
            <a:r>
              <a:rPr lang="en-US" dirty="0"/>
              <a:t>pass through the entire 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D3DC66-CCC2-1FAD-5103-64B1FB5CA688}"/>
              </a:ext>
            </a:extLst>
          </p:cNvPr>
          <p:cNvSpPr txBox="1"/>
          <p:nvPr/>
        </p:nvSpPr>
        <p:spPr>
          <a:xfrm>
            <a:off x="4446475" y="117157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Start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BFFAE8-5F75-7D8F-7376-F4E5623C617A}"/>
              </a:ext>
            </a:extLst>
          </p:cNvPr>
          <p:cNvSpPr txBox="1"/>
          <p:nvPr/>
        </p:nvSpPr>
        <p:spPr>
          <a:xfrm>
            <a:off x="7810438" y="5701040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32599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dirty="0"/>
                  <a:t>batch of training data of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size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in the </a:t>
                </a:r>
                <a:br>
                  <a:rPr lang="en-US" dirty="0"/>
                </a:br>
                <a:r>
                  <a:rPr lang="en-US" dirty="0"/>
                  <a:t>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		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learning rate</a:t>
                </a:r>
                <a:r>
                  <a:rPr lang="en-US" dirty="0">
                    <a:solidFill>
                      <a:srgbClr val="000000"/>
                    </a:solidFill>
                  </a:rPr>
                  <a:t>.)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i="0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i="0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0BD22-A552-7619-8B27-EBFA1345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Risk Minimization</a:t>
                </a:r>
              </a:p>
              <a:p>
                <a:r>
                  <a:rPr lang="en-US" dirty="0"/>
                  <a:t>Given a data set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</m:oMath>
                </a14:m>
                <a:r>
                  <a:rPr lang="en-US" dirty="0"/>
                  <a:t>, a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and a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optimal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𝝎</m:t>
                            </m:r>
                          </m:e>
                        </m:acc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satisfies: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     </a:t>
                </a:r>
                <a:r>
                  <a:rPr lang="en-US" dirty="0"/>
                  <a:t>at least </a:t>
                </a:r>
                <a:r>
                  <a:rPr lang="en-US" i="1" dirty="0"/>
                  <a:t>approximately</a:t>
                </a:r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Empirical Risk Minimization</a:t>
                </a:r>
              </a:p>
              <a:p>
                <a:r>
                  <a:rPr lang="en-US" dirty="0"/>
                  <a:t>Many minimization algorithms are variations of the following algorithm: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r>
                  <a:rPr lang="en-US" dirty="0"/>
                  <a:t>Batches of data are used, which introduces noise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6316" r="-655" b="-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1E9639-C2BE-648A-6B74-658A698E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39533213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12773</TotalTime>
  <Words>1240</Words>
  <Application>Microsoft Macintosh PowerPoint</Application>
  <PresentationFormat>Letter Paper (8.5x11 in)</PresentationFormat>
  <Paragraphs>178</Paragraphs>
  <Slides>21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2</vt:lpstr>
      <vt:lpstr>Recap</vt:lpstr>
      <vt:lpstr>Fitting Models to data</vt:lpstr>
      <vt:lpstr>Fitting Models to Data (1)</vt:lpstr>
      <vt:lpstr>Fitting Models to Data (2)</vt:lpstr>
      <vt:lpstr>Fitting Models to Data (3)</vt:lpstr>
      <vt:lpstr>Empirical Risk Landscape (1)</vt:lpstr>
      <vt:lpstr>Empirical Risk Landscape (2)</vt:lpstr>
      <vt:lpstr>The Risk Functional</vt:lpstr>
      <vt:lpstr>Risk Functional (1)</vt:lpstr>
      <vt:lpstr>Risk Functional (2)</vt:lpstr>
      <vt:lpstr>Risk Functional (3)</vt:lpstr>
      <vt:lpstr>Risk Functional (4)</vt:lpstr>
      <vt:lpstr>Risk Functional (5)</vt:lpstr>
      <vt:lpstr>Risk Functional (6)</vt:lpstr>
      <vt:lpstr>Risk Functional (7)</vt:lpstr>
      <vt:lpstr>Empirical RISK Minimization</vt:lpstr>
      <vt:lpstr>PowerPoint Presentation</vt:lpstr>
      <vt:lpstr>Empirical Risk Minimization (1)</vt:lpstr>
      <vt:lpstr>Empirical Risk Minimization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66</cp:revision>
  <cp:lastPrinted>2019-01-07T00:35:58Z</cp:lastPrinted>
  <dcterms:created xsi:type="dcterms:W3CDTF">2025-08-24T13:22:07Z</dcterms:created>
  <dcterms:modified xsi:type="dcterms:W3CDTF">2026-09-07T23:20:18Z</dcterms:modified>
</cp:coreProperties>
</file>