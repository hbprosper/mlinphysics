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1012" r:id="rId3"/>
    <p:sldId id="1011" r:id="rId4"/>
    <p:sldId id="257" r:id="rId5"/>
    <p:sldId id="258" r:id="rId6"/>
    <p:sldId id="259" r:id="rId7"/>
    <p:sldId id="1020" r:id="rId8"/>
    <p:sldId id="266" r:id="rId9"/>
    <p:sldId id="265" r:id="rId10"/>
    <p:sldId id="262" r:id="rId11"/>
    <p:sldId id="261" r:id="rId12"/>
    <p:sldId id="267" r:id="rId13"/>
    <p:sldId id="268" r:id="rId14"/>
    <p:sldId id="269" r:id="rId15"/>
    <p:sldId id="270" r:id="rId16"/>
    <p:sldId id="271" r:id="rId17"/>
    <p:sldId id="272" r:id="rId18"/>
    <p:sldId id="278" r:id="rId19"/>
    <p:sldId id="279" r:id="rId20"/>
    <p:sldId id="280" r:id="rId21"/>
    <p:sldId id="1013" r:id="rId22"/>
    <p:sldId id="1015" r:id="rId23"/>
    <p:sldId id="1016" r:id="rId24"/>
    <p:sldId id="1014" r:id="rId25"/>
    <p:sldId id="281" r:id="rId26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078"/>
    <p:restoredTop sz="86511"/>
  </p:normalViewPr>
  <p:slideViewPr>
    <p:cSldViewPr>
      <p:cViewPr varScale="1">
        <p:scale>
          <a:sx n="91" d="100"/>
          <a:sy n="91" d="100"/>
        </p:scale>
        <p:origin x="217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00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NULL"/><Relationship Id="rId11" Type="http://schemas.openxmlformats.org/officeDocument/2006/relationships/image" Target="../media/image1.png"/><Relationship Id="rId10" Type="http://schemas.openxmlformats.org/officeDocument/2006/relationships/image" Target="NULL"/><Relationship Id="rId9" Type="http://schemas.openxmlformats.org/officeDocument/2006/relationships/image" Target="NUL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4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2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5C7A7-FBDE-D4B2-4C63-FB41DC17C7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Last time we introduced the multi-node (and multi-layer) perceptron (MLP).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852A56-C8A8-80BB-A1A6-CC8D0579E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0545FE-88E6-EEEA-522B-1237EC23AB52}"/>
              </a:ext>
            </a:extLst>
          </p:cNvPr>
          <p:cNvGrpSpPr/>
          <p:nvPr/>
        </p:nvGrpSpPr>
        <p:grpSpPr>
          <a:xfrm>
            <a:off x="1262161" y="2315028"/>
            <a:ext cx="7272239" cy="3433266"/>
            <a:chOff x="1185961" y="1824534"/>
            <a:chExt cx="7272239" cy="343326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7831719-A3AF-32DD-F7D5-73B002BEBAF0}"/>
                </a:ext>
              </a:extLst>
            </p:cNvPr>
            <p:cNvGrpSpPr/>
            <p:nvPr/>
          </p:nvGrpSpPr>
          <p:grpSpPr>
            <a:xfrm>
              <a:off x="1185961" y="1824534"/>
              <a:ext cx="7272239" cy="3433266"/>
              <a:chOff x="592264" y="1751310"/>
              <a:chExt cx="7272239" cy="343326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AD6220E2-D6EA-1F25-6704-4524B12DC3EB}"/>
                  </a:ext>
                </a:extLst>
              </p:cNvPr>
              <p:cNvGrpSpPr/>
              <p:nvPr/>
            </p:nvGrpSpPr>
            <p:grpSpPr>
              <a:xfrm>
                <a:off x="592264" y="1981200"/>
                <a:ext cx="7272239" cy="3203376"/>
                <a:chOff x="576361" y="2130624"/>
                <a:chExt cx="7272239" cy="320337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3099BAAF-3305-7862-BD1B-C9F806B178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39468" y="3048000"/>
                      <a:ext cx="809132" cy="156966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39468" y="3048000"/>
                      <a:ext cx="809132" cy="156966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b="-161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0F8D9DFE-27CE-BA4A-7536-43125F1A977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5298825" y="3131710"/>
                  <a:ext cx="1641484" cy="121169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66D15155-DCE0-9C1B-B426-14FD25E88A28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5246690" y="4006757"/>
                  <a:ext cx="1681930" cy="364863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A93AAF1B-644D-C40D-3E7F-EC263041A6B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5332369" y="4353219"/>
                  <a:ext cx="1596251" cy="656187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94B789BB-A72E-CC89-89EE-29D8423693E7}"/>
                    </a:ext>
                  </a:extLst>
                </p:cNvPr>
                <p:cNvGrpSpPr/>
                <p:nvPr/>
              </p:nvGrpSpPr>
              <p:grpSpPr>
                <a:xfrm>
                  <a:off x="5246690" y="2388345"/>
                  <a:ext cx="1827003" cy="2601267"/>
                  <a:chOff x="5246690" y="2377503"/>
                  <a:chExt cx="1827003" cy="2601267"/>
                </a:xfrm>
              </p:grpSpPr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234E65CF-20C4-AA7D-7310-A82FDE39E3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326829" y="2424734"/>
                    <a:ext cx="1666725" cy="1004266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2" name="Straight Arrow Connector 31">
                    <a:extLst>
                      <a:ext uri="{FF2B5EF4-FFF2-40B4-BE49-F238E27FC236}">
                        <a16:creationId xmlns:a16="http://schemas.microsoft.com/office/drawing/2014/main" id="{7D810A4C-C06E-9480-D5D3-5469883CA6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338518" y="2377503"/>
                    <a:ext cx="1655036" cy="1986898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3E63E48B-F7C5-64F2-D5F6-7B0D65E79E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246690" y="3109363"/>
                    <a:ext cx="1681930" cy="319637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4" name="Straight Arrow Connector 33">
                    <a:extLst>
                      <a:ext uri="{FF2B5EF4-FFF2-40B4-BE49-F238E27FC236}">
                        <a16:creationId xmlns:a16="http://schemas.microsoft.com/office/drawing/2014/main" id="{5E5174F8-841E-6DBA-52A2-57610DBE77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5292604" y="3414535"/>
                    <a:ext cx="1700950" cy="595135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5" name="Straight Arrow Connector 34">
                    <a:extLst>
                      <a:ext uri="{FF2B5EF4-FFF2-40B4-BE49-F238E27FC236}">
                        <a16:creationId xmlns:a16="http://schemas.microsoft.com/office/drawing/2014/main" id="{13E161C5-B333-3982-B012-8CDABDF1CF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5366753" y="3476231"/>
                    <a:ext cx="1561867" cy="1502539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B5902906-0F32-887A-AE1E-0E7CE75C31B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94015" y="3290880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</p:grp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619E072D-9C7D-0330-6FF3-AD7871E36394}"/>
                    </a:ext>
                  </a:extLst>
                </p:cNvPr>
                <p:cNvSpPr/>
                <p:nvPr/>
              </p:nvSpPr>
              <p:spPr bwMode="auto">
                <a:xfrm>
                  <a:off x="6806922" y="4216122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90724D3B-AAA1-4092-7F99-98150DED250C}"/>
                    </a:ext>
                  </a:extLst>
                </p:cNvPr>
                <p:cNvSpPr/>
                <p:nvPr/>
              </p:nvSpPr>
              <p:spPr bwMode="auto">
                <a:xfrm>
                  <a:off x="576361" y="3512857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2613453F-C62A-7D5E-36F5-D3BE4DF33C76}"/>
                    </a:ext>
                  </a:extLst>
                </p:cNvPr>
                <p:cNvGrpSpPr/>
                <p:nvPr/>
              </p:nvGrpSpPr>
              <p:grpSpPr>
                <a:xfrm>
                  <a:off x="1873150" y="2130624"/>
                  <a:ext cx="3689450" cy="3203376"/>
                  <a:chOff x="1660453" y="2017812"/>
                  <a:chExt cx="3689450" cy="3203376"/>
                </a:xfrm>
              </p:grpSpPr>
              <p:cxnSp>
                <p:nvCxnSpPr>
                  <p:cNvPr id="23" name="Straight Arrow Connector 22">
                    <a:extLst>
                      <a:ext uri="{FF2B5EF4-FFF2-40B4-BE49-F238E27FC236}">
                        <a16:creationId xmlns:a16="http://schemas.microsoft.com/office/drawing/2014/main" id="{1376EC84-FBCA-63DB-897E-2FF844F231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1660453" y="2338149"/>
                    <a:ext cx="3076508" cy="1130439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FCBAA61B-57D7-A023-1320-6FD1FEEE8A0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48200" y="2017812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92E4002-5FD3-F14F-9EDC-D9E87F621F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65165" y="2856012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50A75C3-4C8C-DC91-ED01-2878EAF828D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65165" y="3770412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5C9DF7B-3765-B348-1E3D-347CBC5B150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65165" y="4572000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cxnSp>
                <p:nvCxnSpPr>
                  <p:cNvPr id="28" name="Straight Arrow Connector 27">
                    <a:extLst>
                      <a:ext uri="{FF2B5EF4-FFF2-40B4-BE49-F238E27FC236}">
                        <a16:creationId xmlns:a16="http://schemas.microsoft.com/office/drawing/2014/main" id="{D1F608F7-570A-BC08-8D04-621BCE1E252D}"/>
                      </a:ext>
                    </a:extLst>
                  </p:cNvPr>
                  <p:cNvCxnSpPr>
                    <a:cxnSpLocks/>
                    <a:stCxn id="25" idx="2"/>
                  </p:cNvCxnSpPr>
                  <p:nvPr/>
                </p:nvCxnSpPr>
                <p:spPr bwMode="auto">
                  <a:xfrm flipH="1">
                    <a:off x="1660453" y="3180606"/>
                    <a:ext cx="3004712" cy="380077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29" name="Straight Arrow Connector 28">
                    <a:extLst>
                      <a:ext uri="{FF2B5EF4-FFF2-40B4-BE49-F238E27FC236}">
                        <a16:creationId xmlns:a16="http://schemas.microsoft.com/office/drawing/2014/main" id="{9393B571-9B8E-24EF-1279-76B0D6677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1660453" y="3624743"/>
                    <a:ext cx="2987747" cy="413857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0" name="Straight Arrow Connector 29">
                    <a:extLst>
                      <a:ext uri="{FF2B5EF4-FFF2-40B4-BE49-F238E27FC236}">
                        <a16:creationId xmlns:a16="http://schemas.microsoft.com/office/drawing/2014/main" id="{9CEB6105-E278-A04C-7C10-6CBD8EA698B8}"/>
                      </a:ext>
                    </a:extLst>
                  </p:cNvPr>
                  <p:cNvCxnSpPr>
                    <a:cxnSpLocks/>
                    <a:endCxn id="7" idx="5"/>
                  </p:cNvCxnSpPr>
                  <p:nvPr/>
                </p:nvCxnSpPr>
                <p:spPr bwMode="auto">
                  <a:xfrm flipH="1" flipV="1">
                    <a:off x="1744425" y="3717905"/>
                    <a:ext cx="2925945" cy="1107393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</p:grp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800060FE-8275-2C08-CB2D-76C96089C674}"/>
                  </a:ext>
                </a:extLst>
              </p:cNvPr>
              <p:cNvGrpSpPr/>
              <p:nvPr/>
            </p:nvGrpSpPr>
            <p:grpSpPr>
              <a:xfrm>
                <a:off x="4194261" y="1751310"/>
                <a:ext cx="698442" cy="3015732"/>
                <a:chOff x="4118061" y="1751310"/>
                <a:chExt cx="698442" cy="30157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A59A9295-CD13-A287-D96E-558DF81D55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4704" y="1751310"/>
                      <a:ext cx="565899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673BC42A-BCD6-2A2D-6975-B0A8FFAA5C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4704" y="1751310"/>
                      <a:ext cx="565899" cy="64325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8696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37A3A27B-0275-9DC6-3420-8AC305F9CA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22094" y="2575607"/>
                      <a:ext cx="694228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41" name="TextBox 140">
                      <a:extLst>
                        <a:ext uri="{FF2B5EF4-FFF2-40B4-BE49-F238E27FC236}">
                          <a16:creationId xmlns:a16="http://schemas.microsoft.com/office/drawing/2014/main" id="{5F878C71-19F4-9F43-6201-AFAED46A81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22094" y="2575607"/>
                      <a:ext cx="694228" cy="64325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BE1E840-4CE7-B71B-939B-90A28A158E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18061" y="3340428"/>
                      <a:ext cx="694228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42" name="TextBox 141">
                      <a:extLst>
                        <a:ext uri="{FF2B5EF4-FFF2-40B4-BE49-F238E27FC236}">
                          <a16:creationId xmlns:a16="http://schemas.microsoft.com/office/drawing/2014/main" id="{9A9BFDAE-EC79-5347-323E-4C6E8A3F4D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18061" y="3340428"/>
                      <a:ext cx="694228" cy="643253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38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264855D0-8FDC-4443-FD24-8CA8109063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39843" y="4123789"/>
                      <a:ext cx="676660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C66450CE-2DD1-B278-6386-F7568143A4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39843" y="4123789"/>
                      <a:ext cx="676660" cy="643253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39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F3C6E19-4B85-3673-039D-EA3E8DBA4FAA}"/>
                </a:ext>
              </a:extLst>
            </p:cNvPr>
            <p:cNvSpPr/>
            <p:nvPr/>
          </p:nvSpPr>
          <p:spPr bwMode="auto">
            <a:xfrm>
              <a:off x="1829862" y="3276600"/>
              <a:ext cx="684738" cy="649188"/>
            </a:xfrm>
            <a:prstGeom prst="ellipse">
              <a:avLst/>
            </a:prstGeom>
            <a:solidFill>
              <a:srgbClr val="E395F6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A07476A-8F9C-608D-1FEE-0B6080245567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 flipH="1" flipV="1">
              <a:off x="1321048" y="3597295"/>
              <a:ext cx="508814" cy="3899"/>
            </a:xfrm>
            <a:prstGeom prst="straightConnector1">
              <a:avLst/>
            </a:prstGeom>
            <a:noFill/>
            <a:ln w="508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  <p:sp>
        <p:nvSpPr>
          <p:cNvPr id="43" name="Right Brace 42">
            <a:extLst>
              <a:ext uri="{FF2B5EF4-FFF2-40B4-BE49-F238E27FC236}">
                <a16:creationId xmlns:a16="http://schemas.microsoft.com/office/drawing/2014/main" id="{8A61E332-C348-4DBD-D652-885345EBBB24}"/>
              </a:ext>
            </a:extLst>
          </p:cNvPr>
          <p:cNvSpPr/>
          <p:nvPr/>
        </p:nvSpPr>
        <p:spPr bwMode="auto">
          <a:xfrm rot="16200000">
            <a:off x="6305192" y="1314809"/>
            <a:ext cx="432033" cy="1917216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CC4ACF-97A5-E1DB-0D48-244078D7D3D5}"/>
              </a:ext>
            </a:extLst>
          </p:cNvPr>
          <p:cNvSpPr txBox="1"/>
          <p:nvPr/>
        </p:nvSpPr>
        <p:spPr>
          <a:xfrm>
            <a:off x="6640359" y="1723560"/>
            <a:ext cx="1132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33CC"/>
                </a:solidFill>
              </a:rPr>
              <a:t>Layer 1</a:t>
            </a:r>
          </a:p>
        </p:txBody>
      </p:sp>
      <p:sp>
        <p:nvSpPr>
          <p:cNvPr id="45" name="Right Brace 44">
            <a:extLst>
              <a:ext uri="{FF2B5EF4-FFF2-40B4-BE49-F238E27FC236}">
                <a16:creationId xmlns:a16="http://schemas.microsoft.com/office/drawing/2014/main" id="{1EC082D6-2344-6C03-C4CE-54CD4C9780C8}"/>
              </a:ext>
            </a:extLst>
          </p:cNvPr>
          <p:cNvSpPr/>
          <p:nvPr/>
        </p:nvSpPr>
        <p:spPr bwMode="auto">
          <a:xfrm rot="16200000">
            <a:off x="3390537" y="784160"/>
            <a:ext cx="410237" cy="307651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188C5C-3EC4-CB78-DF5A-17A0C9E95A41}"/>
              </a:ext>
            </a:extLst>
          </p:cNvPr>
          <p:cNvSpPr txBox="1"/>
          <p:nvPr/>
        </p:nvSpPr>
        <p:spPr>
          <a:xfrm>
            <a:off x="3581400" y="1734480"/>
            <a:ext cx="1132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33CC"/>
                </a:solidFill>
              </a:rPr>
              <a:t>Layer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33DC2C8-A0C2-8249-7D54-C626AFA702E4}"/>
                  </a:ext>
                </a:extLst>
              </p:cNvPr>
              <p:cNvSpPr txBox="1"/>
              <p:nvPr/>
            </p:nvSpPr>
            <p:spPr>
              <a:xfrm>
                <a:off x="802438" y="2856012"/>
                <a:ext cx="26907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33DC2C8-A0C2-8249-7D54-C626AFA70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38" y="2856012"/>
                <a:ext cx="2690737" cy="523220"/>
              </a:xfrm>
              <a:prstGeom prst="rect">
                <a:avLst/>
              </a:prstGeom>
              <a:blipFill>
                <a:blip r:embed="rId11"/>
                <a:stretch>
                  <a:fillRect b="-2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790ED9-AD78-C528-D9EA-4EA64B455DDF}"/>
                  </a:ext>
                </a:extLst>
              </p:cNvPr>
              <p:cNvSpPr txBox="1"/>
              <p:nvPr/>
            </p:nvSpPr>
            <p:spPr>
              <a:xfrm>
                <a:off x="5396661" y="5877580"/>
                <a:ext cx="27101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790ED9-AD78-C528-D9EA-4EA64B455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661" y="5877580"/>
                <a:ext cx="2710165" cy="523220"/>
              </a:xfrm>
              <a:prstGeom prst="rect">
                <a:avLst/>
              </a:prstGeom>
              <a:blipFill>
                <a:blip r:embed="rId12"/>
                <a:stretch>
                  <a:fillRect r="-465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897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also noted that ML models are usually drawn using high-level components. For example:</a:t>
                </a:r>
              </a:p>
              <a:p>
                <a:pPr marL="0" indent="0" algn="ctr">
                  <a:buNone/>
                </a:pPr>
                <a:r>
                  <a:rPr lang="en-US" sz="2400" dirty="0"/>
                  <a:t>	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relu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658" t="-1316" r="-3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B0F07A7-BA99-13C2-9AAC-7BA887E0B3B5}"/>
              </a:ext>
            </a:extLst>
          </p:cNvPr>
          <p:cNvSpPr/>
          <p:nvPr/>
        </p:nvSpPr>
        <p:spPr bwMode="auto">
          <a:xfrm>
            <a:off x="2971800" y="4572000"/>
            <a:ext cx="381000" cy="45719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EAE0CE-CB5A-9330-8EA0-6E62B7E6E685}"/>
              </a:ext>
            </a:extLst>
          </p:cNvPr>
          <p:cNvGrpSpPr/>
          <p:nvPr/>
        </p:nvGrpSpPr>
        <p:grpSpPr>
          <a:xfrm>
            <a:off x="4648200" y="1295400"/>
            <a:ext cx="2162628" cy="5105400"/>
            <a:chOff x="5304972" y="1295400"/>
            <a:chExt cx="2162628" cy="51054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6CC05A-C6C8-65CE-BF31-ECA3367B4E7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04F4DF-7E47-F6D3-EF2B-17B4A70CE17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A7BD658-F520-7977-6AEE-821A2A725F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465A5A1-B6DB-1925-14ED-712982BB6ECA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E395F6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465A5A1-B6DB-1925-14ED-712982BB6E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946F376-F44F-6103-892E-583677D7164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7190139-F5E0-40F4-47AA-E1C1BBE9ABD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756A9F9-52B3-CF8B-A6BF-3C4D88FCE8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ADC26F4-AB00-CE8C-ED19-F1C1C730B9B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C667F0-5808-A57E-5077-CA067511BF4F}"/>
                </a:ext>
              </a:extLst>
            </p:cNvPr>
            <p:cNvSpPr txBox="1"/>
            <p:nvPr/>
          </p:nvSpPr>
          <p:spPr>
            <a:xfrm>
              <a:off x="5867400" y="1295400"/>
              <a:ext cx="970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B44CA97-135C-E5C0-AA35-9599896E19BF}"/>
              </a:ext>
            </a:extLst>
          </p:cNvPr>
          <p:cNvGrpSpPr/>
          <p:nvPr/>
        </p:nvGrpSpPr>
        <p:grpSpPr>
          <a:xfrm>
            <a:off x="6955757" y="2224032"/>
            <a:ext cx="1872484" cy="1456543"/>
            <a:chOff x="6955757" y="2224032"/>
            <a:chExt cx="1872484" cy="1456543"/>
          </a:xfrm>
        </p:grpSpPr>
        <p:sp>
          <p:nvSpPr>
            <p:cNvPr id="39" name="Right Brace 38">
              <a:extLst>
                <a:ext uri="{FF2B5EF4-FFF2-40B4-BE49-F238E27FC236}">
                  <a16:creationId xmlns:a16="http://schemas.microsoft.com/office/drawing/2014/main" id="{004E1DDC-406E-1522-896E-C9062110BDAF}"/>
                </a:ext>
              </a:extLst>
            </p:cNvPr>
            <p:cNvSpPr/>
            <p:nvPr/>
          </p:nvSpPr>
          <p:spPr bwMode="auto">
            <a:xfrm>
              <a:off x="6955757" y="2224032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155D0B-3841-C3AC-1D2F-272C86F34EC8}"/>
                </a:ext>
              </a:extLst>
            </p:cNvPr>
            <p:cNvSpPr txBox="1"/>
            <p:nvPr/>
          </p:nvSpPr>
          <p:spPr>
            <a:xfrm>
              <a:off x="7696200" y="2715651"/>
              <a:ext cx="1132041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2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ECFF7C-6246-C72A-CC16-F4A0D8F34C7A}"/>
              </a:ext>
            </a:extLst>
          </p:cNvPr>
          <p:cNvGrpSpPr/>
          <p:nvPr/>
        </p:nvGrpSpPr>
        <p:grpSpPr>
          <a:xfrm>
            <a:off x="6963228" y="4114800"/>
            <a:ext cx="1879602" cy="1456543"/>
            <a:chOff x="6963228" y="4114800"/>
            <a:chExt cx="1879602" cy="1456543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9DF1DCF-BD6D-1509-CE3B-EED20334E4CA}"/>
                </a:ext>
              </a:extLst>
            </p:cNvPr>
            <p:cNvSpPr txBox="1"/>
            <p:nvPr/>
          </p:nvSpPr>
          <p:spPr>
            <a:xfrm>
              <a:off x="7710789" y="4611077"/>
              <a:ext cx="11320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1</a:t>
              </a:r>
            </a:p>
          </p:txBody>
        </p:sp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6D2C5ABD-5A3F-016D-254C-0D8D77E804FC}"/>
                </a:ext>
              </a:extLst>
            </p:cNvPr>
            <p:cNvSpPr/>
            <p:nvPr/>
          </p:nvSpPr>
          <p:spPr bwMode="auto">
            <a:xfrm>
              <a:off x="6963228" y="4114800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A71C015-3151-064D-BE31-6B9C4047DA20}"/>
              </a:ext>
            </a:extLst>
          </p:cNvPr>
          <p:cNvSpPr/>
          <p:nvPr/>
        </p:nvSpPr>
        <p:spPr bwMode="auto">
          <a:xfrm>
            <a:off x="990600" y="4038600"/>
            <a:ext cx="453572" cy="461665"/>
          </a:xfrm>
          <a:prstGeom prst="rect">
            <a:avLst/>
          </a:prstGeom>
          <a:solidFill>
            <a:srgbClr val="FFFC8F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336F8-52AE-C13F-D355-EA6652670480}"/>
              </a:ext>
            </a:extLst>
          </p:cNvPr>
          <p:cNvSpPr/>
          <p:nvPr/>
        </p:nvSpPr>
        <p:spPr bwMode="auto">
          <a:xfrm>
            <a:off x="983343" y="4800600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B52839-182A-69A0-8DB4-9922D0B86A1A}"/>
              </a:ext>
            </a:extLst>
          </p:cNvPr>
          <p:cNvSpPr/>
          <p:nvPr/>
        </p:nvSpPr>
        <p:spPr bwMode="auto">
          <a:xfrm>
            <a:off x="990600" y="5710535"/>
            <a:ext cx="482600" cy="461665"/>
          </a:xfrm>
          <a:prstGeom prst="rect">
            <a:avLst/>
          </a:prstGeom>
          <a:solidFill>
            <a:srgbClr val="E395F6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999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1DB3FF-3514-262A-D56A-DBE33F2BE5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Fitting Models to data</a:t>
            </a:r>
          </a:p>
        </p:txBody>
      </p:sp>
    </p:spTree>
    <p:extLst>
      <p:ext uri="{BB962C8B-B14F-4D97-AF65-F5344CB8AC3E}">
        <p14:creationId xmlns:p14="http://schemas.microsoft.com/office/powerpoint/2010/main" val="381410986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37071F-469C-AC1D-4971-627EA656E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Suppose our goal is to approximate an unknown function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given a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standard approach is to approximate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a parameterized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, that is, a model,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are the parameters of the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D7A829E1-1BCF-5BA6-7BC1-3FDD0E1769E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60E19E-7396-8D83-4E14-14ED66B6E28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478763-B0CC-CA1B-A5E0-37EA044FFA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A506BAD-5D5C-6713-85C2-752D5793B8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2E04A20-CBDD-FD0D-480E-538ABB0B8646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6B757605-B32A-713D-F678-F0E7931243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0851186-DEAC-1146-E252-F3512444DF7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281CB6F6-4FE5-9858-F6EA-44D503BDB9B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C2912A1-0AF0-1EEB-D0E1-28915E8AE32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5A71C-418A-A6F4-81B6-05ADDDDCEF13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CBBD027-8214-31E7-5044-2B3D8328FBA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05D693C-884E-9399-4747-1274699FB22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9AD3391-7576-A4AE-C29C-99FB861894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72F07A4-0A7C-6ED8-9E94-A6792A293C1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9F7B500-2E49-6B29-67E8-EF2BABB43808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38A83F1-6622-52AF-5B87-A5ADC1EFD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774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B897A-1919-2B78-6636-C468FC97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5C37B65-62F9-CAA4-DD53-40FD43DD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One way to find the </a:t>
                </a:r>
                <a:r>
                  <a:rPr lang="en-US" i="1" dirty="0">
                    <a:solidFill>
                      <a:srgbClr val="0033CC"/>
                    </a:solidFill>
                  </a:rPr>
                  <a:t>best-fit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of the model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to minimize the quadratic form 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respect to the parameters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where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>
                    <a:solidFill>
                      <a:srgbClr val="0033CC"/>
                    </a:solidFill>
                  </a:rPr>
                  <a:t>least-squares fit</a:t>
                </a:r>
                <a:r>
                  <a:rPr lang="en-US" dirty="0"/>
                  <a:t>.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194D523-850C-80E5-05AA-D135125A87B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668C92-ED99-D89C-4EF1-D3176ED863D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0FCDDF-7ADD-A6F9-98C7-DF577FE74F9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CA4D4E-1604-B619-87EB-31DFFA75351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DCA19AA-2423-13DE-FD0F-E8E9B201E74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F4D966C-E967-013E-F52B-128C8895ED8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A37D021-8FFC-41FB-D282-837D6076C3E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A66E51D-EAF5-4595-2066-FC62C23F64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94413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3F2E-B309-8BFC-CFBA-51667F7C3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ED1EDA-0CF9-C62B-EC48-09A694922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least-squares fit can be generalized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 </a:t>
                </a:r>
                <a:r>
                  <a:rPr lang="en-US" b="1" dirty="0">
                    <a:solidFill>
                      <a:srgbClr val="0033CC"/>
                    </a:solidFill>
                  </a:rPr>
                  <a:t>loss function</a:t>
                </a:r>
                <a:r>
                  <a:rPr lang="en-US" dirty="0"/>
                  <a:t>, measures the discrepancy between the desired </a:t>
                </a:r>
                <a:r>
                  <a:rPr lang="en-US" b="1" dirty="0">
                    <a:solidFill>
                      <a:srgbClr val="0033CC"/>
                    </a:solidFill>
                  </a:rPr>
                  <a:t>target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the model,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empirical risk</a:t>
                </a:r>
                <a:r>
                  <a:rPr lang="en-US" dirty="0"/>
                  <a:t> or average loss.</a:t>
                </a:r>
                <a:r>
                  <a:rPr lang="en-US" b="1" dirty="0">
                    <a:solidFill>
                      <a:srgbClr val="0033CC"/>
                    </a:solidFill>
                  </a:rPr>
                  <a:t> Warning: </a:t>
                </a:r>
                <a:r>
                  <a:rPr lang="en-US" dirty="0"/>
                  <a:t>In ML, the empirical risk is often referred to as the “loss”.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8947" b="-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E1B1787B-3BEC-31A0-FE5A-D95EF0D21010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2BF525-D21F-1312-6F79-7C12B8773F7B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7BDF299-245A-14EC-DBE6-8FAFAF08849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7426D9-12DA-CB6D-0A4E-A421AE55615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97B4336-2055-009D-F131-ABF6CE50018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5348C6-C758-B6B1-2C02-B05BADF69CAC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778F223-721B-6FB0-21A5-4DD38A5438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909EBCF-6CDB-E686-8740-4A50DFD6E3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21258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BE5C-792A-0DA0-372D-C10451CE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3FEE2E02-D718-22E3-34D5-4CC1051B9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057400"/>
            <a:ext cx="3846482" cy="3922200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9877C6-9EAD-509E-30C4-5CFDD77B0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empirical risk defines a highly corrugated high-dimensional “landscape” in the space of parameters.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Our task is to navigate the empirical</a:t>
            </a:r>
          </a:p>
          <a:p>
            <a:pPr marL="0" indent="0">
              <a:buNone/>
            </a:pPr>
            <a:r>
              <a:rPr lang="en-US" dirty="0"/>
              <a:t>risk landscape to find a </a:t>
            </a:r>
            <a:r>
              <a:rPr lang="en-US" i="1" dirty="0">
                <a:solidFill>
                  <a:srgbClr val="0033CC"/>
                </a:solidFill>
              </a:rPr>
              <a:t>good </a:t>
            </a:r>
          </a:p>
          <a:p>
            <a:pPr marL="0" indent="0">
              <a:buNone/>
            </a:pPr>
            <a:r>
              <a:rPr lang="en-US" i="1" dirty="0">
                <a:solidFill>
                  <a:srgbClr val="0033CC"/>
                </a:solidFill>
              </a:rPr>
              <a:t>approximation</a:t>
            </a:r>
            <a:r>
              <a:rPr lang="en-US" dirty="0"/>
              <a:t> of the minimum not of </a:t>
            </a:r>
          </a:p>
          <a:p>
            <a:pPr marL="0" indent="0">
              <a:buNone/>
            </a:pPr>
            <a:r>
              <a:rPr lang="en-US" i="1" dirty="0"/>
              <a:t>that</a:t>
            </a:r>
            <a:r>
              <a:rPr lang="en-US" dirty="0"/>
              <a:t> landscape but rather of the</a:t>
            </a:r>
          </a:p>
          <a:p>
            <a:pPr marL="0" indent="0">
              <a:buNone/>
            </a:pPr>
            <a:r>
              <a:rPr lang="en-US" dirty="0"/>
              <a:t>landscape that would be formed if </a:t>
            </a:r>
          </a:p>
          <a:p>
            <a:pPr marL="0" indent="0">
              <a:buNone/>
            </a:pPr>
            <a:r>
              <a:rPr lang="en-US" dirty="0"/>
              <a:t>we if we had an </a:t>
            </a:r>
            <a:r>
              <a:rPr lang="en-US" i="1" u="sng" dirty="0">
                <a:solidFill>
                  <a:srgbClr val="0033CC"/>
                </a:solidFill>
              </a:rPr>
              <a:t>infinite</a:t>
            </a:r>
            <a:r>
              <a:rPr lang="en-US" dirty="0"/>
              <a:t> amount of data</a:t>
            </a:r>
          </a:p>
          <a:p>
            <a:pPr marL="0" indent="0">
              <a:buNone/>
            </a:pPr>
            <a:r>
              <a:rPr lang="en-US" dirty="0"/>
              <a:t>and a model that would fit the infinite dataset exactly.</a:t>
            </a:r>
          </a:p>
          <a:p>
            <a:pPr marL="0" indent="0">
              <a:buNone/>
            </a:pPr>
            <a:r>
              <a:rPr lang="en-US" dirty="0"/>
              <a:t>A model that approximates this ideal is said to </a:t>
            </a:r>
            <a:r>
              <a:rPr lang="en-US" i="1" dirty="0">
                <a:solidFill>
                  <a:srgbClr val="0033CC"/>
                </a:solidFill>
              </a:rPr>
              <a:t>generalize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D7A706-1979-0CEC-11EC-04E801B7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(1)</a:t>
            </a:r>
          </a:p>
        </p:txBody>
      </p:sp>
    </p:spTree>
    <p:extLst>
      <p:ext uri="{BB962C8B-B14F-4D97-AF65-F5344CB8AC3E}">
        <p14:creationId xmlns:p14="http://schemas.microsoft.com/office/powerpoint/2010/main" val="2234775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0F6B6DD0-E265-4B9F-974D-650F4CDB4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2667000"/>
            <a:ext cx="73152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357EB8C-947F-B648-A9AF-99CF7CE7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(2)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Example:</a:t>
                </a:r>
                <a:r>
                  <a:rPr lang="en-US" dirty="0"/>
                  <a:t> A 1D least squares fit to a </a:t>
                </a:r>
                <a:r>
                  <a:rPr lang="en-US" b="1" dirty="0">
                    <a:solidFill>
                      <a:srgbClr val="0033CC"/>
                    </a:solidFill>
                  </a:rPr>
                  <a:t>linear model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order 3</a:t>
                </a:r>
              </a:p>
              <a:p>
                <a:pPr marL="0" indent="0">
                  <a:buNone/>
                </a:pPr>
                <a:r>
                  <a:rPr lang="en-US" dirty="0"/>
                  <a:t>model</a:t>
                </a:r>
              </a:p>
              <a:p>
                <a:pPr marL="0" indent="0">
                  <a:buNone/>
                </a:pPr>
                <a:r>
                  <a:rPr lang="en-US" dirty="0"/>
                  <a:t>generalizes.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the</a:t>
                </a:r>
              </a:p>
              <a:p>
                <a:pPr marL="0" indent="0">
                  <a:buNone/>
                </a:pPr>
                <a:r>
                  <a:rPr lang="en-US" dirty="0"/>
                  <a:t>other</a:t>
                </a:r>
              </a:p>
              <a:p>
                <a:pPr marL="0" indent="0">
                  <a:buNone/>
                </a:pPr>
                <a:r>
                  <a:rPr lang="en-US" dirty="0"/>
                  <a:t>models do</a:t>
                </a:r>
              </a:p>
              <a:p>
                <a:pPr marL="0" indent="0">
                  <a:buNone/>
                </a:pPr>
                <a:r>
                  <a:rPr lang="en-US" dirty="0"/>
                  <a:t>not.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7105" b="-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2865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B0365-4572-88E7-77C3-A8BBB24FB6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Risk Functional</a:t>
            </a:r>
          </a:p>
        </p:txBody>
      </p:sp>
    </p:spTree>
    <p:extLst>
      <p:ext uri="{BB962C8B-B14F-4D97-AF65-F5344CB8AC3E}">
        <p14:creationId xmlns:p14="http://schemas.microsoft.com/office/powerpoint/2010/main" val="1931852949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mathematics and physics, insight can often be gained by taking some limit of an expression. Consider the limit of </a:t>
                </a:r>
                <a:r>
                  <a:rPr lang="en-US" dirty="0">
                    <a:solidFill>
                      <a:srgbClr val="0033CC"/>
                    </a:solidFill>
                  </a:rPr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/>
                  <a:t>, that is, as the amount of data grows without limit.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 that limit, the empirical risk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risk functional</a:t>
                </a:r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the probability distribution of the data.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8947" b="-2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EB29C309-CA0B-2F71-410E-8A72D189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(1)</a:t>
            </a:r>
          </a:p>
        </p:txBody>
      </p:sp>
    </p:spTree>
    <p:extLst>
      <p:ext uri="{BB962C8B-B14F-4D97-AF65-F5344CB8AC3E}">
        <p14:creationId xmlns:p14="http://schemas.microsoft.com/office/powerpoint/2010/main" val="456581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505F6DF-07C0-3FB6-D14A-A77EB0EDFBF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find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ideally,  we should minimize the risk functional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While we know the functional form of the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because we choose it, the probability distribution,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/>
                  <a:t>, of the data is usually unknown.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because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33CC"/>
                    </a:solidFill>
                  </a:rPr>
                  <a:t>Monte Carlo </a:t>
                </a:r>
                <a:r>
                  <a:rPr lang="en-US" dirty="0"/>
                  <a:t>approximation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any useful result derived for the risk functional pertains, at least approximately, to the empirical risk.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505F6DF-07C0-3FB6-D14A-A77EB0EDFB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789" r="-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932BC2D-7398-EAA2-68DC-E23FFAC56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(2)</a:t>
            </a:r>
          </a:p>
        </p:txBody>
      </p:sp>
    </p:spTree>
    <p:extLst>
      <p:ext uri="{BB962C8B-B14F-4D97-AF65-F5344CB8AC3E}">
        <p14:creationId xmlns:p14="http://schemas.microsoft.com/office/powerpoint/2010/main" val="91999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minimize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first note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Therefore, we can write the functional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as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where,</a:t>
                </a:r>
                <a:r>
                  <a:rPr lang="en-US" dirty="0">
                    <a:solidFill>
                      <a:srgbClr val="0033CC"/>
                    </a:solidFill>
                    <a:ea typeface="Cambria Math" panose="02040503050406030204" pitchFamily="18" charset="0"/>
                  </a:rPr>
                  <a:t>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4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D221EB3-B992-EAFE-458B-1AE0A27A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(3)</a:t>
            </a:r>
          </a:p>
        </p:txBody>
      </p:sp>
    </p:spTree>
    <p:extLst>
      <p:ext uri="{BB962C8B-B14F-4D97-AF65-F5344CB8AC3E}">
        <p14:creationId xmlns:p14="http://schemas.microsoft.com/office/powerpoint/2010/main" val="1624171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60063-F0D4-B719-5B7A-F2606E55E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Add an </a:t>
                </a:r>
                <a:r>
                  <a:rPr lang="en-US" i="1" u="sng" dirty="0">
                    <a:solidFill>
                      <a:srgbClr val="0033CC"/>
                    </a:solidFill>
                  </a:rPr>
                  <a:t>arbitrary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an infinitesimal*.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d>
                      <m:dPr>
                        <m:ctrl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𝝐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ctrlP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𝓛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b="1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r>
                                    <a:rPr lang="en-US" b="1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𝑔</m:t>
                          </m:r>
                          <m:f>
                            <m:f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                     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E290628-6ED3-9C1E-6CC0-E4CF13A9A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/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*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0&lt;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any real number.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blipFill>
                <a:blip r:embed="rId3"/>
                <a:stretch>
                  <a:fillRect l="-1739" t="-10811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6310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6F7A-7AED-F1F7-215C-33E71A6B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Rearranging, and taking standard part* of both sides, we find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st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 lefthand side defines the functional derivative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By assumption,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zero 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 Therefore,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*</a:t>
                </a:r>
                <a:r>
                  <a:rPr lang="en-US" sz="2000" dirty="0"/>
                  <a:t>The standard part of the hyperreal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is defined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st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4474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38BF04-EEC9-218F-FB7F-46573B99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(5)</a:t>
            </a:r>
          </a:p>
        </p:txBody>
      </p:sp>
    </p:spTree>
    <p:extLst>
      <p:ext uri="{BB962C8B-B14F-4D97-AF65-F5344CB8AC3E}">
        <p14:creationId xmlns:p14="http://schemas.microsoft.com/office/powerpoint/2010/main" val="1685354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65D47-3E96-B82E-A5F9-010A679CF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the expression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hold for </a:t>
                </a:r>
                <a:r>
                  <a:rPr lang="en-US" i="1" dirty="0"/>
                  <a:t>any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This can happen </a:t>
                </a:r>
                <a:r>
                  <a:rPr lang="en-US" i="1" dirty="0"/>
                  <a:t>if only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Assuming the integral and partial derivative operations commute, and recalling that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d>
                      <m:dPr>
                        <m:ctrl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nary>
                  </m:oMath>
                </a14:m>
                <a:r>
                  <a:rPr lang="en-US" dirty="0"/>
                  <a:t>, we arrive at the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V</a:t>
                </a:r>
                <a:r>
                  <a:rPr lang="en-US" dirty="0">
                    <a:solidFill>
                      <a:srgbClr val="0033CC"/>
                    </a:solidFill>
                  </a:rPr>
                  <a:t>ery </a:t>
                </a:r>
                <a:r>
                  <a:rPr lang="en-US" b="1" dirty="0">
                    <a:solidFill>
                      <a:srgbClr val="0033CC"/>
                    </a:solidFill>
                  </a:rPr>
                  <a:t>I</a:t>
                </a:r>
                <a:r>
                  <a:rPr lang="en-US" dirty="0">
                    <a:solidFill>
                      <a:srgbClr val="0033CC"/>
                    </a:solidFill>
                  </a:rPr>
                  <a:t>mportant </a:t>
                </a:r>
                <a:r>
                  <a:rPr lang="en-US" b="1" dirty="0">
                    <a:solidFill>
                      <a:srgbClr val="0033CC"/>
                    </a:solidFill>
                  </a:rPr>
                  <a:t>R</a:t>
                </a:r>
                <a:r>
                  <a:rPr lang="en-US" dirty="0">
                    <a:solidFill>
                      <a:srgbClr val="0033CC"/>
                    </a:solidFill>
                  </a:rPr>
                  <a:t>esult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A9A6E72-D9BB-38E7-7486-78EC1E2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280DAFF-105B-7780-AA48-5F1B4CF3212E}"/>
                  </a:ext>
                </a:extLst>
              </p:cNvPr>
              <p:cNvSpPr txBox="1"/>
              <p:nvPr/>
            </p:nvSpPr>
            <p:spPr>
              <a:xfrm>
                <a:off x="4600840" y="5263669"/>
                <a:ext cx="3019160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280DAFF-105B-7780-AA48-5F1B4CF32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840" y="5263669"/>
                <a:ext cx="3019160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638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2B16D-34FA-51D9-C1D0-D4F506024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Points to Note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This result is independent of the details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. However,…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must have sufficient </a:t>
                </a:r>
                <a:r>
                  <a:rPr lang="en-US" b="1" dirty="0">
                    <a:solidFill>
                      <a:srgbClr val="0033CC"/>
                    </a:solidFill>
                  </a:rPr>
                  <a:t>capacity</a:t>
                </a:r>
                <a:r>
                  <a:rPr lang="en-US" dirty="0"/>
                  <a:t>: i.e., there must exist an approximation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by minimizing the empirical risk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that is arbitrarily close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Moreover, it must be possible to find that function!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D6D8B3A-DE2D-BE5E-17CF-54E63D92C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/>
              <p:nvPr/>
            </p:nvSpPr>
            <p:spPr>
              <a:xfrm>
                <a:off x="2819400" y="1828800"/>
                <a:ext cx="3019160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1828800"/>
                <a:ext cx="3019160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82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FDF7CA-B744-B3B5-850E-543CCDA162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Common loss functions</a:t>
            </a:r>
          </a:p>
        </p:txBody>
      </p:sp>
    </p:spTree>
    <p:extLst>
      <p:ext uri="{BB962C8B-B14F-4D97-AF65-F5344CB8AC3E}">
        <p14:creationId xmlns:p14="http://schemas.microsoft.com/office/powerpoint/2010/main" val="421072202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Quadratic loss		</a:t>
                </a:r>
                <a:r>
                  <a:rPr lang="en-US" dirty="0"/>
                  <a:t>(often used for regression)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Binary cross entropy		</a:t>
                </a:r>
                <a:r>
                  <a:rPr lang="en-US" dirty="0"/>
                  <a:t>(often used for classification)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−[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  <a:cs typeface="Cambria Math" charset="0"/>
                  </a:rPr>
                  <a:t>Exponential loss		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exp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(−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𝑤𝑦𝑓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/2)</m:t>
                        </m:r>
                      </m:e>
                    </m:func>
                  </m:oMath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</a:rPr>
                  <a:t>Quantile loss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</a:rPr>
                      <m:t>𝟎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𝝉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</a:rPr>
                  <a:t>)	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ea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</m:ctrlPr>
                          </m:eqArr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𝜏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𝑓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           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</m:t>
                            </m:r>
                          </m: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eqAr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Zero-One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0          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|≤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1         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𝑦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𝑓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  <a:blipFill>
                <a:blip r:embed="rId2"/>
                <a:stretch>
                  <a:fillRect l="-1309" t="-1050" b="-658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7724020-1E2E-A9CD-0218-AB93D86B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Loss Functions (1)</a:t>
            </a:r>
          </a:p>
        </p:txBody>
      </p:sp>
    </p:spTree>
    <p:extLst>
      <p:ext uri="{BB962C8B-B14F-4D97-AF65-F5344CB8AC3E}">
        <p14:creationId xmlns:p14="http://schemas.microsoft.com/office/powerpoint/2010/main" val="31007511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Quadratic loss: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Solution</a:t>
                </a:r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V</a:t>
                </a:r>
                <a:r>
                  <a:rPr lang="en-US" dirty="0">
                    <a:solidFill>
                      <a:srgbClr val="0033CC"/>
                    </a:solidFill>
                  </a:rPr>
                  <a:t>ery </a:t>
                </a:r>
                <a:r>
                  <a:rPr lang="en-US" b="1" dirty="0">
                    <a:solidFill>
                      <a:srgbClr val="0033CC"/>
                    </a:solidFill>
                  </a:rPr>
                  <a:t>I</a:t>
                </a:r>
                <a:r>
                  <a:rPr lang="en-US" dirty="0">
                    <a:solidFill>
                      <a:srgbClr val="0033CC"/>
                    </a:solidFill>
                  </a:rPr>
                  <a:t>mportant </a:t>
                </a:r>
                <a:r>
                  <a:rPr lang="en-US" b="1" dirty="0">
                    <a:solidFill>
                      <a:srgbClr val="0033CC"/>
                    </a:solidFill>
                  </a:rPr>
                  <a:t>P</a:t>
                </a:r>
                <a:r>
                  <a:rPr lang="en-US" dirty="0">
                    <a:solidFill>
                      <a:srgbClr val="0033CC"/>
                    </a:solidFill>
                  </a:rPr>
                  <a:t>oint</a:t>
                </a:r>
                <a:r>
                  <a:rPr lang="en-US" dirty="0">
                    <a:solidFill>
                      <a:srgbClr val="0033CC"/>
                    </a:solidFill>
                    <a:sym typeface="Wingdings" pitchFamily="2" charset="2"/>
                  </a:rPr>
                  <a:t> (VIP)</a:t>
                </a:r>
                <a:r>
                  <a:rPr lang="en-US" dirty="0">
                    <a:sym typeface="Wingdings" pitchFamily="2" charset="2"/>
                  </a:rPr>
                  <a:t>: As noted, the result</a:t>
                </a:r>
                <a:r>
                  <a:rPr lang="en-US" dirty="0"/>
                  <a:t> is independent of the details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The result depends solely on the form of the loss function and the conditional probability,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𝑑𝑦</m:t>
                    </m:r>
                  </m:oMath>
                </a14:m>
                <a:r>
                  <a:rPr lang="en-US" dirty="0"/>
                  <a:t>, of the data.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9CF121-6458-511B-7B99-A4DD1706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Loss Functions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90800" y="3276600"/>
                <a:ext cx="3713774" cy="1060931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0800" y="3276600"/>
                <a:ext cx="3713774" cy="1060931"/>
              </a:xfrm>
              <a:prstGeom prst="rect">
                <a:avLst/>
              </a:prstGeom>
              <a:blipFill>
                <a:blip r:embed="rId3"/>
                <a:stretch>
                  <a:fillRect l="-676" t="-131818" b="-182955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Binary cross entropy loss :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−[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US" dirty="0"/>
                  <a:t>. Therefore,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 implies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r="-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27813" y="5558135"/>
                <a:ext cx="3184398" cy="461665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7813" y="5558135"/>
                <a:ext cx="3184398" cy="461665"/>
              </a:xfrm>
              <a:prstGeom prst="rect">
                <a:avLst/>
              </a:prstGeom>
              <a:blipFill>
                <a:blip r:embed="rId3"/>
                <a:stretch>
                  <a:fillRect l="-1176" b="-12500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result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,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shows that </a:t>
                </a:r>
                <a:r>
                  <a:rPr lang="en-US" i="1" u="sng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any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model trained using the the cross-entropy loss necessarily approximates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class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(i.e., attributes)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prior probability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257CDA-15E4-6062-2B9A-14F1EB476F48}"/>
              </a:ext>
            </a:extLst>
          </p:cNvPr>
          <p:cNvSpPr/>
          <p:nvPr/>
        </p:nvSpPr>
        <p:spPr bwMode="auto">
          <a:xfrm>
            <a:off x="2362200" y="1676400"/>
            <a:ext cx="4648200" cy="9144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D52B3-B149-0384-60D0-3FBD9A101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9D23C3-1A8A-B6E1-82CD-2E3C33F57E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8232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Example: A Spam Filter</a:t>
                </a:r>
              </a:p>
              <a:p>
                <a:pPr marL="0" indent="0">
                  <a:buNone/>
                </a:pPr>
                <a:r>
                  <a:rPr lang="en-US" dirty="0"/>
                  <a:t>A spam filter is a binary classifier: spam vs. non-spam emails. </a:t>
                </a:r>
              </a:p>
              <a:p>
                <a:pPr marL="0" indent="0">
                  <a:buNone/>
                </a:pPr>
                <a:r>
                  <a:rPr lang="en-US" dirty="0"/>
                  <a:t>Suppose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labels spam and non-spam emails, respectively, and the training dataset comprises </a:t>
                </a:r>
                <a:r>
                  <a:rPr lang="en-US" dirty="0">
                    <a:solidFill>
                      <a:srgbClr val="0033CC"/>
                    </a:solidFill>
                  </a:rPr>
                  <a:t>50%</a:t>
                </a:r>
                <a:r>
                  <a:rPr lang="en-US" dirty="0"/>
                  <a:t> spam emails and </a:t>
                </a:r>
                <a:r>
                  <a:rPr lang="en-US" dirty="0">
                    <a:solidFill>
                      <a:srgbClr val="0033CC"/>
                    </a:solidFill>
                  </a:rPr>
                  <a:t>50%</a:t>
                </a:r>
                <a:r>
                  <a:rPr lang="en-US" dirty="0"/>
                  <a:t> non-spam emails. That is, the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Each email is characterized by a vector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are the probability densities of these vectors for spam and non-spam emails, respectively.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prior probabilities are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=0.50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=0.50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9D23C3-1A8A-B6E1-82CD-2E3C33F57E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823200" cy="4819650"/>
              </a:xfrm>
              <a:blipFill>
                <a:blip r:embed="rId2"/>
                <a:stretch>
                  <a:fillRect l="-1299" t="-1316" r="-1461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1F8539E-70B2-43DC-E94F-8C95CE813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(3)</a:t>
            </a:r>
          </a:p>
        </p:txBody>
      </p:sp>
    </p:spTree>
    <p:extLst>
      <p:ext uri="{BB962C8B-B14F-4D97-AF65-F5344CB8AC3E}">
        <p14:creationId xmlns:p14="http://schemas.microsoft.com/office/powerpoint/2010/main" val="26537040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0BD22-A552-7619-8B27-EBFA1345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Stochastic Gradient Descent</a:t>
                </a:r>
              </a:p>
              <a:p>
                <a:r>
                  <a:rPr lang="en-US" dirty="0"/>
                  <a:t>Many (1</a:t>
                </a:r>
                <a:r>
                  <a:rPr lang="en-US" baseline="30000" dirty="0"/>
                  <a:t>st</a:t>
                </a:r>
                <a:r>
                  <a:rPr lang="en-US" dirty="0"/>
                  <a:t>-order) minimization algorithms are variations of the following algorithm: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r>
                  <a:rPr lang="en-US" dirty="0"/>
                  <a:t>Batches of data are used, which introduces noise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Risk Minimization</a:t>
                </a:r>
              </a:p>
              <a:p>
                <a:r>
                  <a:rPr lang="en-US" dirty="0"/>
                  <a:t>Given a data set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</m:oMath>
                </a14:m>
                <a:r>
                  <a:rPr lang="en-US" dirty="0"/>
                  <a:t>, a model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, and a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satisfies: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309" b="-4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51E9639-C2BE-648A-6B74-658A698E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(1)</a:t>
            </a:r>
          </a:p>
        </p:txBody>
      </p:sp>
    </p:spTree>
    <p:extLst>
      <p:ext uri="{BB962C8B-B14F-4D97-AF65-F5344CB8AC3E}">
        <p14:creationId xmlns:p14="http://schemas.microsoft.com/office/powerpoint/2010/main" val="3395332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77C061-60F4-12F7-25F5-D6B0B4F3CC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Binary Cross Entropy</a:t>
            </a:r>
          </a:p>
          <a:p>
            <a:r>
              <a:rPr lang="en-US" dirty="0"/>
              <a:t>Training with the binary cross entropy loss yields a classifier that approximates the class probability.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fact can be exploited in creative ways. Two examples were given.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45E3B4-D021-15F8-995C-F301FA0FD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(2)</a:t>
            </a:r>
          </a:p>
        </p:txBody>
      </p:sp>
    </p:spTree>
    <p:extLst>
      <p:ext uri="{BB962C8B-B14F-4D97-AF65-F5344CB8AC3E}">
        <p14:creationId xmlns:p14="http://schemas.microsoft.com/office/powerpoint/2010/main" val="36385257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10983</TotalTime>
  <Words>1527</Words>
  <Application>Microsoft Macintosh PowerPoint</Application>
  <PresentationFormat>Letter Paper (8.5x11 in)</PresentationFormat>
  <Paragraphs>208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2</vt:lpstr>
      <vt:lpstr>Recap</vt:lpstr>
      <vt:lpstr>Recap</vt:lpstr>
      <vt:lpstr>Fitting Models to data</vt:lpstr>
      <vt:lpstr>Fitting Models to Data (1)</vt:lpstr>
      <vt:lpstr>Fitting Models to Data (2)</vt:lpstr>
      <vt:lpstr>Fitting Models to Data (3)</vt:lpstr>
      <vt:lpstr>Empirical Risk Landscape (1)</vt:lpstr>
      <vt:lpstr>Empirical Risk Landscape (2)</vt:lpstr>
      <vt:lpstr>Risk Functional</vt:lpstr>
      <vt:lpstr>Risk Functional (1)</vt:lpstr>
      <vt:lpstr>Risk Functional (2)</vt:lpstr>
      <vt:lpstr>Risk Functional (3)</vt:lpstr>
      <vt:lpstr>Risk Functional (4)</vt:lpstr>
      <vt:lpstr>Risk Functional (5)</vt:lpstr>
      <vt:lpstr>Risk Functional (6)</vt:lpstr>
      <vt:lpstr>Risk Functional (7)</vt:lpstr>
      <vt:lpstr>Common loss functions</vt:lpstr>
      <vt:lpstr>Common Loss Functions (1)</vt:lpstr>
      <vt:lpstr>Common Loss Functions (2)</vt:lpstr>
      <vt:lpstr>Binary Cross Entropy Loss (1)</vt:lpstr>
      <vt:lpstr>Binary Cross Entropy Loss (2)</vt:lpstr>
      <vt:lpstr>Binary Cross Entropy Loss (3)</vt:lpstr>
      <vt:lpstr>Summary (1)</vt:lpstr>
      <vt:lpstr>Summary (2)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44</cp:revision>
  <cp:lastPrinted>2019-01-07T00:35:58Z</cp:lastPrinted>
  <dcterms:created xsi:type="dcterms:W3CDTF">2025-08-24T13:22:07Z</dcterms:created>
  <dcterms:modified xsi:type="dcterms:W3CDTF">2026-08-20T02:02:58Z</dcterms:modified>
</cp:coreProperties>
</file>