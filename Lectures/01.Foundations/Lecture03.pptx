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6" r:id="rId2"/>
    <p:sldId id="1027" r:id="rId3"/>
    <p:sldId id="1043" r:id="rId4"/>
    <p:sldId id="274" r:id="rId5"/>
    <p:sldId id="1057" r:id="rId6"/>
    <p:sldId id="276" r:id="rId7"/>
    <p:sldId id="277" r:id="rId8"/>
    <p:sldId id="1022" r:id="rId9"/>
    <p:sldId id="1013" r:id="rId10"/>
    <p:sldId id="1015" r:id="rId11"/>
    <p:sldId id="1017" r:id="rId12"/>
    <p:sldId id="1019" r:id="rId13"/>
    <p:sldId id="1055" r:id="rId14"/>
    <p:sldId id="1054" r:id="rId15"/>
    <p:sldId id="1040" r:id="rId16"/>
    <p:sldId id="1045" r:id="rId17"/>
    <p:sldId id="1046" r:id="rId18"/>
    <p:sldId id="1053" r:id="rId19"/>
    <p:sldId id="1047" r:id="rId20"/>
    <p:sldId id="1033" r:id="rId21"/>
    <p:sldId id="1048" r:id="rId22"/>
    <p:sldId id="1018" r:id="rId23"/>
    <p:sldId id="1050" r:id="rId24"/>
    <p:sldId id="1051" r:id="rId25"/>
    <p:sldId id="1052" r:id="rId26"/>
    <p:sldId id="1056" r:id="rId27"/>
    <p:sldId id="1042" r:id="rId28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7"/>
    <p:restoredTop sz="86591"/>
  </p:normalViewPr>
  <p:slideViewPr>
    <p:cSldViewPr>
      <p:cViewPr varScale="1">
        <p:scale>
          <a:sx n="87" d="100"/>
          <a:sy n="87" d="100"/>
        </p:scale>
        <p:origin x="237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69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5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88" r:id="rId4"/>
    <p:sldLayoutId id="2147483891" r:id="rId5"/>
    <p:sldLayoutId id="2147483884" r:id="rId6"/>
    <p:sldLayoutId id="2147483885" r:id="rId7"/>
    <p:sldLayoutId id="2147483886" r:id="rId8"/>
    <p:sldLayoutId id="2147483892" r:id="rId9"/>
    <p:sldLayoutId id="2147483893" r:id="rId10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3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133422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have we learned so far?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Machine learning models are trained by minimizing the empirical risk (aka average loss):</a:t>
                </a: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</a:t>
                </a: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The loss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is chosen according to the task at hand.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B631-CC40-84E0-9D60-34127FF2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BFC140-278B-664E-6BCF-9B66463A7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The empirical risk (which is typically referred to as the “loss” in ML circles) is an </a:t>
                </a:r>
                <a:r>
                  <a:rPr lang="en-US" i="1" dirty="0"/>
                  <a:t>unbiased</a:t>
                </a:r>
                <a:r>
                  <a:rPr lang="en-US" dirty="0"/>
                  <a:t> Monte Carlo estimate of the risk functional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is the probability density of the data.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Minimizing the risk functional with respect to the ML model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shows that the optimal model satisfies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8421" r="-1631" b="-4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3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60679-D6B1-610A-B664-7236129E7F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Empirical RISK Minimization</a:t>
            </a:r>
          </a:p>
        </p:txBody>
      </p:sp>
    </p:spTree>
    <p:extLst>
      <p:ext uri="{BB962C8B-B14F-4D97-AF65-F5344CB8AC3E}">
        <p14:creationId xmlns:p14="http://schemas.microsoft.com/office/powerpoint/2010/main" val="379386027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1A2EAA9C-C30B-4209-7C57-577CC8C5C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00" y="378767"/>
            <a:ext cx="5903588" cy="6019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EF134B-1C30-2F33-B22D-7AB5049034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76350"/>
            <a:ext cx="4699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Some jargon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Batch</a:t>
            </a:r>
            <a:r>
              <a:rPr lang="en-US" dirty="0"/>
              <a:t>: a subset of the</a:t>
            </a:r>
            <a:br>
              <a:rPr lang="en-US" dirty="0"/>
            </a:br>
            <a:r>
              <a:rPr lang="en-US" dirty="0"/>
              <a:t>training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Iteration</a:t>
            </a:r>
            <a:r>
              <a:rPr lang="en-US" dirty="0"/>
              <a:t>: a single </a:t>
            </a:r>
            <a:br>
              <a:rPr lang="en-US" dirty="0"/>
            </a:br>
            <a:r>
              <a:rPr lang="en-US" dirty="0"/>
              <a:t>optimization step.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Epoch</a:t>
            </a:r>
            <a:r>
              <a:rPr lang="en-US" dirty="0"/>
              <a:t>: a single </a:t>
            </a:r>
          </a:p>
          <a:p>
            <a:pPr marL="0" indent="0">
              <a:buNone/>
            </a:pPr>
            <a:r>
              <a:rPr lang="en-US" dirty="0"/>
              <a:t>pass through the training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Learning Rate Step</a:t>
            </a:r>
            <a:r>
              <a:rPr lang="en-US" dirty="0"/>
              <a:t>: a sequence of iterations with fixed learning rate.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D3DC66-CCC2-1FAD-5103-64B1FB5CA688}"/>
              </a:ext>
            </a:extLst>
          </p:cNvPr>
          <p:cNvSpPr txBox="1"/>
          <p:nvPr/>
        </p:nvSpPr>
        <p:spPr>
          <a:xfrm>
            <a:off x="3807047" y="76200"/>
            <a:ext cx="9637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Start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BFFAE8-5F75-7D8F-7376-F4E5623C617A}"/>
              </a:ext>
            </a:extLst>
          </p:cNvPr>
          <p:cNvSpPr txBox="1"/>
          <p:nvPr/>
        </p:nvSpPr>
        <p:spPr>
          <a:xfrm>
            <a:off x="7810438" y="5701040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032599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FC20D917-2813-56A2-BE44-B1E435474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The minimization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typically done by moving in the direction of </a:t>
                </a:r>
                <a:r>
                  <a:rPr lang="en-US" i="1" dirty="0">
                    <a:solidFill>
                      <a:srgbClr val="0033CC"/>
                    </a:solidFill>
                  </a:rPr>
                  <a:t>steepest descent</a:t>
                </a:r>
                <a:r>
                  <a:rPr lang="en-US" dirty="0"/>
                  <a:t>. Most optimization algorithms in ML are variations of</a:t>
                </a:r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S</a:t>
                </a:r>
                <a:r>
                  <a:rPr lang="en-US" dirty="0">
                    <a:solidFill>
                      <a:srgbClr val="0033CC"/>
                    </a:solidFill>
                  </a:rPr>
                  <a:t>tochastic </a:t>
                </a:r>
                <a:r>
                  <a:rPr lang="en-US" b="1" dirty="0">
                    <a:solidFill>
                      <a:srgbClr val="0033CC"/>
                    </a:solidFill>
                  </a:rPr>
                  <a:t>G</a:t>
                </a:r>
                <a:r>
                  <a:rPr lang="en-US" dirty="0">
                    <a:solidFill>
                      <a:srgbClr val="0033CC"/>
                    </a:solidFill>
                  </a:rPr>
                  <a:t>radient </a:t>
                </a:r>
                <a:r>
                  <a:rPr lang="en-US" b="1" dirty="0">
                    <a:solidFill>
                      <a:srgbClr val="0033CC"/>
                    </a:solidFill>
                  </a:rPr>
                  <a:t>D</a:t>
                </a:r>
                <a:r>
                  <a:rPr lang="en-US" dirty="0">
                    <a:solidFill>
                      <a:srgbClr val="0033CC"/>
                    </a:solidFill>
                  </a:rPr>
                  <a:t>escent</a:t>
                </a:r>
                <a:r>
                  <a:rPr lang="en-US" dirty="0">
                    <a:solidFill>
                      <a:srgbClr val="000000"/>
                    </a:solidFill>
                  </a:rPr>
                  <a:t>.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endParaRPr lang="en-US" dirty="0">
                  <a:solidFill>
                    <a:srgbClr val="000000"/>
                  </a:solidFill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b="1" dirty="0">
                  <a:solidFill>
                    <a:srgbClr val="000000"/>
                  </a:solidFill>
                </a:endParaRP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>
                    <a:solidFill>
                      <a:srgbClr val="000000"/>
                    </a:solidFill>
                  </a:rPr>
                  <a:t>At the current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compute a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i="1" u="sng" dirty="0">
                    <a:solidFill>
                      <a:srgbClr val="0033CC"/>
                    </a:solidFill>
                  </a:rPr>
                  <a:t>noisy</a:t>
                </a:r>
                <a:r>
                  <a:rPr lang="en-US" dirty="0">
                    <a:solidFill>
                      <a:srgbClr val="000000"/>
                    </a:solidFill>
                  </a:rPr>
                  <a:t> approximation of the gradient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of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by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using a </a:t>
                </a:r>
                <a:r>
                  <a:rPr lang="en-US" b="1" dirty="0">
                    <a:solidFill>
                      <a:srgbClr val="0033CC"/>
                    </a:solidFill>
                  </a:rPr>
                  <a:t>batch</a:t>
                </a:r>
                <a:r>
                  <a:rPr lang="en-US" dirty="0">
                    <a:solidFill>
                      <a:srgbClr val="000000"/>
                    </a:solidFill>
                  </a:rPr>
                  <a:t> of </a:t>
                </a:r>
                <a:r>
                  <a:rPr lang="en-US" b="1" dirty="0">
                    <a:solidFill>
                      <a:srgbClr val="0033CC"/>
                    </a:solidFill>
                  </a:rPr>
                  <a:t>training data</a:t>
                </a:r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/>
                  <a:t>Move to the next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in the landscape using 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r="-1964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5997FEB-454C-5C8C-3731-F19D54CE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(1)</a:t>
            </a:r>
          </a:p>
        </p:txBody>
      </p:sp>
    </p:spTree>
    <p:extLst>
      <p:ext uri="{BB962C8B-B14F-4D97-AF65-F5344CB8AC3E}">
        <p14:creationId xmlns:p14="http://schemas.microsoft.com/office/powerpoint/2010/main" val="1849660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63A2D-5754-2FAF-C4D1-4F4BC6430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9E54FDF4-4C20-75CD-A55C-2128FB104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Why does </a:t>
                </a:r>
                <a:r>
                  <a:rPr lang="en-US" dirty="0">
                    <a:solidFill>
                      <a:srgbClr val="000000"/>
                    </a:solidFill>
                  </a:rPr>
                  <a:t>this (1</a:t>
                </a:r>
                <a:r>
                  <a:rPr lang="en-US" baseline="30000" dirty="0">
                    <a:solidFill>
                      <a:srgbClr val="000000"/>
                    </a:solidFill>
                  </a:rPr>
                  <a:t>st</a:t>
                </a:r>
                <a:r>
                  <a:rPr lang="en-US" dirty="0">
                    <a:solidFill>
                      <a:srgbClr val="000000"/>
                    </a:solidFill>
                  </a:rPr>
                  <a:t>-order) algorithm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work?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Consider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𝜂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𝑅</m:t>
                          </m:r>
                          <m:r>
                            <m:rPr>
                              <m:nor/>
                            </m:rPr>
                            <a:rPr lang="en-US" i="0" dirty="0">
                              <a:solidFill>
                                <a:srgbClr val="000000"/>
                              </a:solidFill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Cambria Math" panose="02040503050406030204" pitchFamily="18" charset="0"/>
                  </a:rPr>
                  <a:t>  		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i="0" dirty="0">
                        <a:solidFill>
                          <a:srgbClr val="0033CC"/>
                        </a:solidFill>
                        <a:ea typeface="Cambria Math" panose="02040503050406030204" pitchFamily="18" charset="0"/>
                        <a:cs typeface="Cambria Math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can be neglected, and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given that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term is always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negative, it follows that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br>
                  <a:rPr lang="en-US" dirty="0"/>
                </a:br>
                <a:r>
                  <a:rPr lang="en-US" dirty="0"/>
                  <a:t>	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b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B48CDEA-88F8-3CA5-B26A-0F384AAF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(2)</a:t>
            </a:r>
          </a:p>
        </p:txBody>
      </p:sp>
    </p:spTree>
    <p:extLst>
      <p:ext uri="{BB962C8B-B14F-4D97-AF65-F5344CB8AC3E}">
        <p14:creationId xmlns:p14="http://schemas.microsoft.com/office/powerpoint/2010/main" val="71031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32F4-C927-BA01-B1A8-23BE5EEE6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Classifiers</a:t>
            </a:r>
          </a:p>
        </p:txBody>
      </p:sp>
    </p:spTree>
    <p:extLst>
      <p:ext uri="{BB962C8B-B14F-4D97-AF65-F5344CB8AC3E}">
        <p14:creationId xmlns:p14="http://schemas.microsoft.com/office/powerpoint/2010/main" val="33743950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Starting with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it was shown in Lecture 2 that a binary classifier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trained using the cross-entropy loss</a:t>
                </a:r>
                <a:r>
                  <a:rPr lang="en-US" b="1" dirty="0">
                    <a:solidFill>
                      <a:srgbClr val="0033CC"/>
                    </a:solidFill>
                  </a:rPr>
                  <a:t>  </a:t>
                </a:r>
                <a:br>
                  <a:rPr lang="en-US" b="1" dirty="0">
                    <a:solidFill>
                      <a:srgbClr val="0033CC"/>
                    </a:solidFill>
                  </a:rPr>
                </a:b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b="0" dirty="0">
                    <a:solidFill>
                      <a:schemeClr val="tx1"/>
                    </a:solidFill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=−[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approximates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class probability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</a:t>
                </a:r>
              </a:p>
              <a:p>
                <a:pPr>
                  <a:buFont typeface="Marlett" pitchFamily="26" charset="0"/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that is, the probability that an object characterized by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features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belongs to the class labeled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(1)</a:t>
            </a:r>
          </a:p>
        </p:txBody>
      </p:sp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From Bayes’ theorem, we can write the class probability as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and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prior probability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of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and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(2)</a:t>
            </a: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0FA07-4D08-91C5-822D-EA30DA04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When the training dataset is </a:t>
                </a:r>
                <a:r>
                  <a:rPr lang="en-US" b="1" dirty="0">
                    <a:solidFill>
                      <a:srgbClr val="0033CC"/>
                    </a:solidFill>
                  </a:rPr>
                  <a:t>balanced</a:t>
                </a:r>
                <a:r>
                  <a:rPr lang="en-US" dirty="0"/>
                  <a:t> (as in tutorial 2), that is,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the class probability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discriminant</a:t>
                </a:r>
                <a:r>
                  <a:rPr lang="en-US" dirty="0"/>
                  <a:t>,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This is one of the most useful results in scientific machine learning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260803B-6204-0C12-7211-987376BA4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1070C-C4FA-0018-0FFC-DB553E5FD2D0}"/>
              </a:ext>
            </a:extLst>
          </p:cNvPr>
          <p:cNvSpPr/>
          <p:nvPr/>
        </p:nvSpPr>
        <p:spPr bwMode="auto">
          <a:xfrm>
            <a:off x="2895600" y="2590800"/>
            <a:ext cx="3657600" cy="1219200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398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01C9A-C562-4209-2742-5C63B4220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It is possible to train a binary classifier using an </a:t>
                </a:r>
                <a:r>
                  <a:rPr lang="en-US" b="1" dirty="0">
                    <a:solidFill>
                      <a:srgbClr val="0033CC"/>
                    </a:solidFill>
                  </a:rPr>
                  <a:t>unbalanced</a:t>
                </a:r>
                <a:r>
                  <a:rPr lang="en-US" b="0" dirty="0"/>
                  <a:t> dataset: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b="0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But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(1)≪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this might be challenging. 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Why do you think this is</a:t>
                </a:r>
                <a:r>
                  <a:rPr lang="en-US" dirty="0"/>
                  <a:t>?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 as shown on the next slide,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computed from a model trained with a balanced dataset.</a:t>
                </a:r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499AF41-7810-2449-4FA8-B6D0A34DF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150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333D-192A-2FCA-AE84-08D7D1DB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According to Bayes’ theorem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Dividing the numerator and denominator by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yields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So, it is not necessary to use the true priors during training.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89EB1F5-6713-6803-18CA-A9B285050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44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E79B-56F4-3405-DA5A-9ACDBA7BB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2AB6-435C-31AE-89B5-EDE60FAC70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Classifier Performance</a:t>
            </a:r>
          </a:p>
        </p:txBody>
      </p:sp>
    </p:spTree>
    <p:extLst>
      <p:ext uri="{BB962C8B-B14F-4D97-AF65-F5344CB8AC3E}">
        <p14:creationId xmlns:p14="http://schemas.microsoft.com/office/powerpoint/2010/main" val="1284822674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84-30DB-8614-B778-B22C582F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3A9D521-96B0-0007-4301-2463D3091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classifier,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indicator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[∗]</m:t>
                    </m:r>
                  </m:oMath>
                </a14:m>
                <a:r>
                  <a:rPr lang="en-US" dirty="0"/>
                  <a:t>, the targets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and a threshold </a:t>
                </a:r>
                <a:r>
                  <a:rPr lang="en-US" i="1" dirty="0">
                    <a:solidFill>
                      <a:srgbClr val="0033CC"/>
                    </a:solidFill>
                  </a:rPr>
                  <a:t>t </a:t>
                </a:r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above which one is prepared to assign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the “positive” (signal) class and below which one assigns it to the “negative” (background) class.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following counts can be computed: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Negatives 	(FN):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Positives 	(TP):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Negatives 	(TN):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Positives 	(FP):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is true, 0 otherwise.</a:t>
                </a: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1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5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0CCC6-1254-A8A6-1666-29EA2E74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B4D7EC-0A9E-88B8-3786-D04B92BF0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		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br>
                  <a:rPr lang="en-US" b="0" dirty="0"/>
                </a:b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ED5C4D9E-FC76-30ED-A950-D295A549F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3622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0735ED67-9E57-1D90-753D-20058D423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22860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79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E3E14-E81B-0001-CB18-62738DE0D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EFA01A-487B-ACAE-8ABB-3CF070E81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>
                    <a:solidFill>
                      <a:srgbClr val="0033CC"/>
                    </a:solidFill>
                  </a:rPr>
                  <a:t>confusion matrix</a:t>
                </a:r>
                <a:r>
                  <a:rPr lang="en-US" dirty="0"/>
                  <a:t> is a simple</a:t>
                </a:r>
              </a:p>
              <a:p>
                <a:pPr marL="0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ay to summari</a:t>
                </a:r>
                <a:r>
                  <a:rPr lang="en-US" dirty="0"/>
                  <a:t>ze the counts in</a:t>
                </a:r>
              </a:p>
              <a:p>
                <a:pPr marL="0" indent="0">
                  <a:buNone/>
                </a:pPr>
                <a:r>
                  <a:rPr lang="en-US" dirty="0"/>
                  <a:t>t</a:t>
                </a:r>
                <a:r>
                  <a:rPr lang="en-US" b="0" dirty="0"/>
                  <a:t>he four disjoint regions.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A perfectly separable dataset</a:t>
                </a:r>
                <a:br>
                  <a:rPr lang="en-US" b="0" dirty="0"/>
                </a:br>
                <a:r>
                  <a:rPr lang="en-US" b="0" dirty="0"/>
                  <a:t>would yield a diagonal matrix</a:t>
                </a:r>
                <a:r>
                  <a:rPr lang="en-US" dirty="0"/>
                  <a:t>.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9C32FE41-1CEB-B66A-E34F-950A4C4D2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2954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97940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A5D4-61CE-7BA2-0A77-B01D721B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Confusion Matrix (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𝟗</m:t>
                    </m:r>
                  </m:oMath>
                </a14:m>
                <a:r>
                  <a:rPr lang="en-US" dirty="0"/>
                  <a:t>)</a:t>
                </a:r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515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A graph of a graph&#10;&#10;Description automatically generated">
            <a:extLst>
              <a:ext uri="{FF2B5EF4-FFF2-40B4-BE49-F238E27FC236}">
                <a16:creationId xmlns:a16="http://schemas.microsoft.com/office/drawing/2014/main" id="{186DAB4B-38CF-DB45-3844-107A48AA3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424" y="3287712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E4B6085F-DA2F-133C-082B-29395A94D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9906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graph of a function&#10;&#10;Description automatically generated">
            <a:extLst>
              <a:ext uri="{FF2B5EF4-FFF2-40B4-BE49-F238E27FC236}">
                <a16:creationId xmlns:a16="http://schemas.microsoft.com/office/drawing/2014/main" id="{B03FEB89-1C50-8CFB-0F50-EF9D2DA7DA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" y="32639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3467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DF535-56A9-5FE1-75AA-7EA105642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6F056D68-A397-B3B1-0686-EEBC4B73D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A86F94DE-6CF7-24F3-FAB6-EBD36C084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39243018-889C-B2B3-1F5D-17ED3AF4B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Accuracy, Precision, Recall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Accuracy</a:t>
                </a:r>
                <a:r>
                  <a:rPr lang="en-US" b="0" dirty="0"/>
                  <a:t>	= (TP + TN) / </a:t>
                </a:r>
                <a:r>
                  <a:rPr lang="en-US" dirty="0"/>
                  <a:t>(TP + TN + FN + </a:t>
                </a:r>
                <a:r>
                  <a:rPr lang="en-US" b="0" dirty="0"/>
                  <a:t>FP)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Precision</a:t>
                </a:r>
                <a:r>
                  <a:rPr lang="en-US" dirty="0"/>
                  <a:t>	= TP / (TP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Recall</a:t>
                </a:r>
                <a:r>
                  <a:rPr lang="en-US" b="0" dirty="0"/>
                  <a:t>		= TP / (FN + TP)	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True Positive Rate </a:t>
                </a:r>
                <a:r>
                  <a:rPr lang="en-US" b="0" dirty="0"/>
                  <a:t>(TPR)	= TP / (FN + TP)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|1)</m:t>
                    </m:r>
                  </m:oMath>
                </a14:m>
                <a:endParaRPr lang="en-US" b="0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False Positive Rate </a:t>
                </a:r>
                <a:r>
                  <a:rPr lang="en-US" dirty="0"/>
                  <a:t>(FPR)	= FP / (TN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4"/>
                <a:stretch>
                  <a:fillRect l="-12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4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52E35-A156-BC43-791C-17D8A7B0A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808ABAD-372F-B9A5-CF67-B4F30591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and AUC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Receiver Operating Characteristic (</a:t>
                </a: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ROC)</a:t>
                </a:r>
                <a:r>
                  <a:rPr lang="en-US" dirty="0">
                    <a:latin typeface="+mn-lt"/>
                  </a:rPr>
                  <a:t> curve is a plot of TPR vs. FPR, that is,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vs.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solidFill>
                    <a:srgbClr val="0033CC"/>
                  </a:solidFill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for different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+mn-lt"/>
                  </a:rPr>
                  <a:t>, where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(usually)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br>
                  <a:rPr lang="en-US" b="0" dirty="0">
                    <a:latin typeface="+mn-lt"/>
                  </a:rPr>
                </a:br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AUC</a:t>
                </a:r>
                <a:r>
                  <a:rPr lang="en-US" dirty="0">
                    <a:latin typeface="+mn-lt"/>
                  </a:rPr>
                  <a:t>: Area Under Curve</a:t>
                </a:r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of a function&#10;&#10;Description automatically generated">
            <a:extLst>
              <a:ext uri="{FF2B5EF4-FFF2-40B4-BE49-F238E27FC236}">
                <a16:creationId xmlns:a16="http://schemas.microsoft.com/office/drawing/2014/main" id="{4EBCB0AC-A544-D7DE-97C5-CF8BAC908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165" y="1905000"/>
            <a:ext cx="4662435" cy="4419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2807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3233E-4612-1EF1-198D-7E2E0296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6991-5CFF-F6C8-CDA0-56652C8606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Beyond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55509517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C65E5-B875-3CDA-6D69-16B54714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Notice that the discriminant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rewritten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|1)=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The above is often referred to as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likelihood ratio trick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a </a:t>
                </a:r>
                <a:r>
                  <a:rPr lang="en-US" i="1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known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density from which the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vectors are sampled, then the discriminant can be repurposed as a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probability density estimator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6BF1F42-9D07-58C2-7DEF-AAD977C15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(1) 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69739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85FAE-27C2-8BB3-6FEE-71FA98E04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0C65E00-5CA2-2EC7-8CDA-2FFC5793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dataset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The goal is to approximate its associated probability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another dataset </a:t>
                </a:r>
                <a:r>
                  <a:rPr lang="en-US" dirty="0">
                    <a:solidFill>
                      <a:srgbClr val="0033CC"/>
                    </a:solidFill>
                  </a:rPr>
                  <a:t>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a </a:t>
                </a:r>
                <a:r>
                  <a:rPr lang="en-US" i="1" dirty="0"/>
                  <a:t>known</a:t>
                </a:r>
                <a:r>
                  <a:rPr lang="en-US" dirty="0"/>
                  <a:t> density*.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a randomized mixture of the datasets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of sample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Approximate the unknown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* </a:t>
                </a:r>
                <a:r>
                  <a:rPr lang="en-US" sz="2000" dirty="0"/>
                  <a:t>The symbol “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sz="2000" dirty="0"/>
                  <a:t>” means “sampled from”.</a:t>
                </a: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14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77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4BB75-C7FD-A545-2D7F-9AF91FEA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720821-06F8-57AE-7CC4-75963BB05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(3)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But we can go further*. Suppose our dataset U of sample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is from a simulation that depends on a set of 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sample these parameters from a </a:t>
                </a:r>
                <a:r>
                  <a:rPr lang="en-US" i="1" dirty="0">
                    <a:solidFill>
                      <a:srgbClr val="0033CC"/>
                    </a:solidFill>
                  </a:rPr>
                  <a:t>known</a:t>
                </a:r>
                <a:r>
                  <a:rPr lang="en-US" dirty="0"/>
                  <a:t> prior,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.  For each sampled point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sampled from the </a:t>
                </a:r>
                <a:r>
                  <a:rPr lang="en-US" i="1" dirty="0">
                    <a:solidFill>
                      <a:srgbClr val="0033CC"/>
                    </a:solidFill>
                  </a:rPr>
                  <a:t>unknown</a:t>
                </a:r>
                <a:r>
                  <a:rPr lang="en-US" dirty="0"/>
                  <a:t>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using the simulator.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dataset,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 comprises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pairs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 that constitute a </a:t>
                </a:r>
                <a:r>
                  <a:rPr lang="en-US" b="1" dirty="0">
                    <a:solidFill>
                      <a:srgbClr val="0033CC"/>
                    </a:solidFill>
                  </a:rPr>
                  <a:t>point cloud </a:t>
                </a:r>
                <a:r>
                  <a:rPr lang="en-US" dirty="0"/>
                  <a:t>representation of the joint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000067B-73D2-8C50-C0A1-8A38ED301FC6}"/>
              </a:ext>
            </a:extLst>
          </p:cNvPr>
          <p:cNvSpPr txBox="1"/>
          <p:nvPr/>
        </p:nvSpPr>
        <p:spPr>
          <a:xfrm>
            <a:off x="660400" y="5598486"/>
            <a:ext cx="8331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* </a:t>
            </a:r>
            <a:r>
              <a:rPr lang="en-US" sz="1800" dirty="0" err="1"/>
              <a:t>Baldi</a:t>
            </a:r>
            <a:r>
              <a:rPr lang="en-US" sz="1800" dirty="0"/>
              <a:t>, P., Cranmer, K., </a:t>
            </a:r>
            <a:r>
              <a:rPr lang="en-US" sz="1800" dirty="0" err="1"/>
              <a:t>Faucett</a:t>
            </a:r>
            <a:r>
              <a:rPr lang="en-US" sz="1800" dirty="0"/>
              <a:t>, T. </a:t>
            </a:r>
            <a:r>
              <a:rPr lang="en-US" sz="1800" i="1" dirty="0"/>
              <a:t>et al.</a:t>
            </a:r>
            <a:r>
              <a:rPr lang="en-US" sz="1800" dirty="0"/>
              <a:t> </a:t>
            </a:r>
          </a:p>
          <a:p>
            <a:r>
              <a:rPr lang="en-US" sz="1800" dirty="0"/>
              <a:t>Parameterized neural networks for high-energy physics.  </a:t>
            </a:r>
            <a:r>
              <a:rPr lang="en-US" sz="1800" i="1" dirty="0"/>
              <a:t>Eur. Phys. J. C</a:t>
            </a:r>
            <a:r>
              <a:rPr lang="en-US" sz="1800" dirty="0"/>
              <a:t> </a:t>
            </a:r>
            <a:r>
              <a:rPr lang="en-US" sz="1800" b="1" dirty="0"/>
              <a:t>76</a:t>
            </a:r>
            <a:r>
              <a:rPr lang="en-US" sz="1800" dirty="0"/>
              <a:t>, 235 (2016). </a:t>
            </a:r>
          </a:p>
        </p:txBody>
      </p:sp>
    </p:spTree>
    <p:extLst>
      <p:ext uri="{BB962C8B-B14F-4D97-AF65-F5344CB8AC3E}">
        <p14:creationId xmlns:p14="http://schemas.microsoft.com/office/powerpoint/2010/main" val="3529000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1CF8-6391-B492-D4D6-F4F481B9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2AFA258-15BA-73B2-A895-6F0D47DD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(4)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 dataset K of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sampled from the </a:t>
                </a:r>
                <a:r>
                  <a:rPr lang="en-US" i="1" u="sng" dirty="0"/>
                  <a:t>same</a:t>
                </a:r>
                <a:r>
                  <a:rPr lang="en-US" dirty="0"/>
                  <a:t> prior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For each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 sample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i="1" u="sng" dirty="0"/>
                  <a:t>known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conditional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density</a:t>
                </a:r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with an admixture of U and K.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439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44B2E-2CA7-ACE0-1259-9EEEF9EAC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C248160-7434-7564-BA6D-B92669462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(5)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7A66908-D4A5-D232-6893-666E46FDB5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ratio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could have a large dynamic range. </a:t>
                </a:r>
              </a:p>
              <a:p>
                <a:pPr marL="0" indent="0">
                  <a:buNone/>
                </a:pPr>
                <a:r>
                  <a:rPr lang="en-US" dirty="0"/>
                  <a:t>If so,  instead of approximating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, it may be better to use the appropriate* loss function to approximate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and then compute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m:rPr>
                              <m:aln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  <m:oMath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m:rPr>
                              <m:aln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 |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br>
                  <a:rPr lang="en-US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endParaRPr lang="en-US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0033CC"/>
                    </a:solidFill>
                    <a:latin typeface="+mn-lt"/>
                  </a:rPr>
                  <a:t>* Which one?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7A66908-D4A5-D232-6893-666E46FDB5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 r="-176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431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730A-77BF-1B8D-5376-F6DCE604B7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addition to the ROC curve and the AUC, the performance of a classifier can be characterized with several other numbers including:</a:t>
            </a:r>
          </a:p>
          <a:p>
            <a:pPr lvl="1"/>
            <a:r>
              <a:rPr lang="en-US" dirty="0"/>
              <a:t>False Negatives (FN)</a:t>
            </a:r>
          </a:p>
          <a:p>
            <a:pPr lvl="1"/>
            <a:r>
              <a:rPr lang="en-US" dirty="0"/>
              <a:t>True Positives	(TP)</a:t>
            </a:r>
          </a:p>
          <a:p>
            <a:pPr lvl="1"/>
            <a:r>
              <a:rPr lang="en-US" dirty="0"/>
              <a:t>True Negatives 	(TN)</a:t>
            </a:r>
          </a:p>
          <a:p>
            <a:pPr lvl="1"/>
            <a:r>
              <a:rPr lang="en-US" dirty="0"/>
              <a:t>False Positives	(FP)</a:t>
            </a:r>
            <a:br>
              <a:rPr lang="en-US" dirty="0"/>
            </a:br>
            <a:endParaRPr lang="en-US" dirty="0"/>
          </a:p>
          <a:p>
            <a:r>
              <a:rPr lang="en-US" dirty="0"/>
              <a:t>A classifier can be repurposed in many ways, including as a probability density estimator.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FE53-CCD3-2FB4-0B9D-BDDBD7AD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190940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1" id="{C3F3F02C-A0EA-B24E-929C-A6C346386062}" vid="{27EB58C2-21AD-A141-B9F0-987C112EF1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5926</TotalTime>
  <Words>1607</Words>
  <Application>Microsoft Macintosh PowerPoint</Application>
  <PresentationFormat>Letter Paper (8.5x11 in)</PresentationFormat>
  <Paragraphs>179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3</vt:lpstr>
      <vt:lpstr>Recap</vt:lpstr>
      <vt:lpstr>Recap</vt:lpstr>
      <vt:lpstr>Empirical RISK Minimization</vt:lpstr>
      <vt:lpstr>PowerPoint Presentation</vt:lpstr>
      <vt:lpstr>Empirical Risk Minimization (1)</vt:lpstr>
      <vt:lpstr>Empirical Risk Minimization (2)</vt:lpstr>
      <vt:lpstr>BINARY Classifiers</vt:lpstr>
      <vt:lpstr>Binary Classifiers (1)</vt:lpstr>
      <vt:lpstr>Binary Classifiers (2)</vt:lpstr>
      <vt:lpstr>Binary Classifiers (3)</vt:lpstr>
      <vt:lpstr>Binary Classifiers (4)</vt:lpstr>
      <vt:lpstr>Binary Classifiers (4)</vt:lpstr>
      <vt:lpstr>Classifier Performance</vt:lpstr>
      <vt:lpstr>Classifier Performance (1)</vt:lpstr>
      <vt:lpstr>Classifier Performance (2)</vt:lpstr>
      <vt:lpstr>Confusion Matrix</vt:lpstr>
      <vt:lpstr>Confusion Matrix (t=0.9)</vt:lpstr>
      <vt:lpstr>Accuracy, Precision, Recall</vt:lpstr>
      <vt:lpstr>ROC and AUC</vt:lpstr>
      <vt:lpstr>Beyond Classification</vt:lpstr>
      <vt:lpstr>Beyond Classification (1) </vt:lpstr>
      <vt:lpstr>Beyond Classification (2)</vt:lpstr>
      <vt:lpstr>Beyond Classification (3)</vt:lpstr>
      <vt:lpstr>Beyond Classification (4)</vt:lpstr>
      <vt:lpstr>Beyond Classification (5)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38</cp:revision>
  <cp:lastPrinted>2019-01-07T00:35:58Z</cp:lastPrinted>
  <dcterms:created xsi:type="dcterms:W3CDTF">2024-08-29T20:46:20Z</dcterms:created>
  <dcterms:modified xsi:type="dcterms:W3CDTF">2026-08-20T02:18:57Z</dcterms:modified>
</cp:coreProperties>
</file>