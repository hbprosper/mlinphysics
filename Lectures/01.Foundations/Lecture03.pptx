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1027" r:id="rId3"/>
    <p:sldId id="1043" r:id="rId4"/>
    <p:sldId id="278" r:id="rId5"/>
    <p:sldId id="279" r:id="rId6"/>
    <p:sldId id="280" r:id="rId7"/>
    <p:sldId id="1057" r:id="rId8"/>
    <p:sldId id="1058" r:id="rId9"/>
    <p:sldId id="1021" r:id="rId10"/>
    <p:sldId id="1059" r:id="rId11"/>
    <p:sldId id="1023" r:id="rId12"/>
    <p:sldId id="1022" r:id="rId13"/>
    <p:sldId id="1013" r:id="rId14"/>
    <p:sldId id="1015" r:id="rId15"/>
    <p:sldId id="1017" r:id="rId16"/>
    <p:sldId id="1019" r:id="rId17"/>
    <p:sldId id="1055" r:id="rId18"/>
    <p:sldId id="1054" r:id="rId19"/>
    <p:sldId id="1040" r:id="rId20"/>
    <p:sldId id="1045" r:id="rId21"/>
    <p:sldId id="1046" r:id="rId22"/>
    <p:sldId id="1053" r:id="rId23"/>
    <p:sldId id="1047" r:id="rId24"/>
    <p:sldId id="1033" r:id="rId25"/>
    <p:sldId id="1042" r:id="rId26"/>
    <p:sldId id="1048" r:id="rId27"/>
    <p:sldId id="1018" r:id="rId28"/>
    <p:sldId id="1050" r:id="rId29"/>
    <p:sldId id="1051" r:id="rId30"/>
    <p:sldId id="1052" r:id="rId31"/>
    <p:sldId id="1056" r:id="rId32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7"/>
    <p:restoredTop sz="86548"/>
  </p:normalViewPr>
  <p:slideViewPr>
    <p:cSldViewPr>
      <p:cViewPr>
        <p:scale>
          <a:sx n="85" d="100"/>
          <a:sy n="85" d="100"/>
        </p:scale>
        <p:origin x="1128" y="2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/>
                  <a:t> the probability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with inputs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targets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the loss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minimizing the risk functional yields the important result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5789" r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AAE38DF-53DF-D7EE-5BD0-2DC22CA37FCF}"/>
                  </a:ext>
                </a:extLst>
              </p:cNvPr>
              <p:cNvSpPr txBox="1"/>
              <p:nvPr/>
            </p:nvSpPr>
            <p:spPr>
              <a:xfrm>
                <a:off x="1768641" y="4953000"/>
                <a:ext cx="6003759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AAE38DF-53DF-D7EE-5BD0-2DC22CA37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641" y="4953000"/>
                <a:ext cx="6003759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FDF7CA-B744-B3B5-850E-543CCDA162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Common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42107220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Quadratic loss</a:t>
                </a:r>
                <a:r>
                  <a:rPr lang="en-US" b="1" dirty="0">
                    <a:solidFill>
                      <a:srgbClr val="0033CC"/>
                    </a:solidFill>
                  </a:rPr>
                  <a:t>		</a:t>
                </a:r>
                <a:r>
                  <a:rPr lang="en-US" dirty="0"/>
                  <a:t>(often used for regression)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Binary cross entropy</a:t>
                </a:r>
                <a:r>
                  <a:rPr lang="en-US" b="1" dirty="0">
                    <a:solidFill>
                      <a:srgbClr val="0033CC"/>
                    </a:solidFill>
                  </a:rPr>
                  <a:t>	</a:t>
                </a:r>
                <a:r>
                  <a:rPr lang="en-US" dirty="0"/>
                  <a:t>(often used for classification)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𝑦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en-US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log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  <m:t>1−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  <m:t>𝑓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e>
                    </m:d>
                  </m:oMath>
                </a14:m>
                <a:br>
                  <a:rPr lang="en-US" dirty="0"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</a:br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∈{0, 1}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7724020-1E2E-A9CD-0218-AB93D86B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(1)</a:t>
            </a:r>
          </a:p>
        </p:txBody>
      </p:sp>
    </p:spTree>
    <p:extLst>
      <p:ext uri="{BB962C8B-B14F-4D97-AF65-F5344CB8AC3E}">
        <p14:creationId xmlns:p14="http://schemas.microsoft.com/office/powerpoint/2010/main" val="3100751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Solution</a:t>
                </a:r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sym typeface="Wingdings" pitchFamily="2" charset="2"/>
                  </a:rPr>
                  <a:t>As noted, in the previous lecture, given a sufficiently flexible model, this result</a:t>
                </a:r>
                <a:r>
                  <a:rPr lang="en-US" dirty="0"/>
                  <a:t> depends solely on the form of the loss function and the conditional probability,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𝑑𝑦</m:t>
                    </m:r>
                  </m:oMath>
                </a14:m>
                <a:r>
                  <a:rPr lang="en-US" dirty="0"/>
                  <a:t>, of the data.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9CF121-6458-511B-7B99-A4DD1706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0800" y="3276600"/>
                <a:ext cx="3638175" cy="542008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3276600"/>
                <a:ext cx="3638175" cy="542008"/>
              </a:xfrm>
              <a:prstGeom prst="rect">
                <a:avLst/>
              </a:prstGeom>
              <a:blipFill>
                <a:blip r:embed="rId3"/>
                <a:stretch>
                  <a:fillRect l="-687" b="-6522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 loss :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the unit interval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/>
                  <a:t> this yields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5600" y="5638800"/>
                <a:ext cx="2518446" cy="461665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5638800"/>
                <a:ext cx="2518446" cy="461665"/>
              </a:xfrm>
              <a:prstGeom prst="rect">
                <a:avLst/>
              </a:prstGeom>
              <a:blipFill>
                <a:blip r:embed="rId3"/>
                <a:stretch>
                  <a:fillRect l="-990" b="-17500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11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. </a:t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the class labeled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prior probability of the class labeled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457200" lvl="1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Any model trained with binary cross entropy necessarily approximates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(2)</a:t>
            </a:r>
          </a:p>
        </p:txBody>
      </p:sp>
    </p:spTree>
    <p:extLst>
      <p:ext uri="{BB962C8B-B14F-4D97-AF65-F5344CB8AC3E}">
        <p14:creationId xmlns:p14="http://schemas.microsoft.com/office/powerpoint/2010/main" val="3757646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2805C-33FE-C4E0-A043-BAEEFB25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55DEE06-32D2-1EC4-196B-00B030238D4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  <a:cs typeface="Cambria Math" charset="0"/>
                  </a:rPr>
                  <a:t>Exponential loss</a:t>
                </a: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  <a:t>	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𝑤𝑦𝑓</m:t>
                                </m:r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  <a:cs typeface="Cambria Math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∈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</a:rPr>
                              <m:t>−1, +1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 </m:t>
                        </m:r>
                      </m:e>
                    </m:func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</a:rPr>
                  <a:t>Quantile loss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</a:rPr>
                      <m:t>0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+mn-lt"/>
                    <a:ea typeface="Cambria Math" charset="0"/>
                  </a:rPr>
                  <a:t>)</a:t>
                </a:r>
                <a:r>
                  <a:rPr lang="en-US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ea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eqArr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𝜏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𝑓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           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</m:t>
                            </m:r>
                          </m: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eqArr>
                      </m:e>
                    </m:d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Zero-One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0          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|≤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1         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𝑦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55DEE06-32D2-1EC4-196B-00B030238D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 b="-52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E6CDD5-5F74-FC26-FB76-AE145174B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Other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212596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B4C0-80C8-07F9-C349-10ACCC4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51E33F5-BBCF-6CD6-6E9E-6FD680B4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150" y="457200"/>
            <a:ext cx="7251700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88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98269-3DD1-62B3-A440-2DC62FE95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F23B5B-2925-0F05-2F6A-4DC2A84C3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527050"/>
            <a:ext cx="7188200" cy="580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68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we’ve shown that a binary classifier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:br>
                  <a:rPr lang="en-US" b="1" dirty="0">
                    <a:solidFill>
                      <a:srgbClr val="0033CC"/>
                    </a:solidFill>
                  </a:rPr>
                </a:b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b="0" dirty="0">
                    <a:solidFill>
                      <a:schemeClr val="tx1"/>
                    </a:solidFill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2860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why might this be very challenging?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start with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shows that,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balanced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dataset</a:t>
                </a:r>
                <a:r>
                  <a:rPr lang="en-US" dirty="0"/>
                  <a:t>. There is no need to train with the actual class prior probabilities, as is sometimes asserted.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637" b="-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above which one is prepared to assign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the “positive” class and below which one assigns it to the “negative” class.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following counts can be computed: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Receiver Operating Characteristic (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ROC)</a:t>
                </a:r>
                <a:r>
                  <a:rPr lang="en-US" dirty="0">
                    <a:latin typeface="+mn-lt"/>
                  </a:rPr>
                  <a:t> curve is a plot of 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for different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+mn-lt"/>
                  </a:rPr>
                  <a:t>, where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(usually)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br>
                  <a:rPr lang="en-US" b="0" dirty="0">
                    <a:latin typeface="+mn-lt"/>
                  </a:rPr>
                </a:b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AUC</a:t>
                </a:r>
                <a:r>
                  <a:rPr lang="en-US" dirty="0">
                    <a:latin typeface="+mn-lt"/>
                  </a:rPr>
                  <a:t>: Area Under Curve</a:t>
                </a: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65" y="19050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quadratic and binary cross entropy losses are the most widely used loss functions in machine learning.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</a:p>
          <a:p>
            <a:pPr marL="457200" lvl="1" indent="0">
              <a:buNone/>
            </a:pPr>
            <a:r>
              <a:rPr lang="en-US" dirty="0"/>
              <a:t>which can be represented in a confusion matrix.</a:t>
            </a:r>
            <a:br>
              <a:rPr lang="en-US" dirty="0"/>
            </a:b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The above is often referred to as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likelihood ratio trick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of sample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Suppose our dataset U of sample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660400" y="5598486"/>
            <a:ext cx="833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* </a:t>
            </a:r>
            <a:r>
              <a:rPr lang="en-US" sz="1800" dirty="0" err="1"/>
              <a:t>Baldi</a:t>
            </a:r>
            <a:r>
              <a:rPr lang="en-US" sz="1800" dirty="0"/>
              <a:t>, P., Cranmer, K., </a:t>
            </a:r>
            <a:r>
              <a:rPr lang="en-US" sz="1800" dirty="0" err="1"/>
              <a:t>Faucett</a:t>
            </a:r>
            <a:r>
              <a:rPr lang="en-US" sz="1800" dirty="0"/>
              <a:t>, T. </a:t>
            </a:r>
            <a:r>
              <a:rPr lang="en-US" sz="1800" i="1" dirty="0"/>
              <a:t>et al.</a:t>
            </a:r>
            <a:r>
              <a:rPr lang="en-US" sz="1800" dirty="0"/>
              <a:t> </a:t>
            </a:r>
          </a:p>
          <a:p>
            <a:r>
              <a:rPr lang="en-US" sz="1800" dirty="0"/>
              <a:t>Parameterized neural networks for high-energy physics.  </a:t>
            </a:r>
            <a:r>
              <a:rPr lang="en-US" sz="1800" i="1" dirty="0"/>
              <a:t>Eur. Phys. J. C</a:t>
            </a:r>
            <a:r>
              <a:rPr lang="en-US" sz="1800" dirty="0"/>
              <a:t> </a:t>
            </a:r>
            <a:r>
              <a:rPr lang="en-US" sz="1800" b="1" dirty="0"/>
              <a:t>76</a:t>
            </a:r>
            <a:r>
              <a:rPr lang="en-US" sz="18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44B2E-2CA7-ACE0-1259-9EEEF9EAC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C248160-7434-7564-BA6D-B9266946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ratio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could have a large dynamic range. </a:t>
                </a:r>
              </a:p>
              <a:p>
                <a:pPr marL="0" indent="0">
                  <a:buNone/>
                </a:pPr>
                <a:r>
                  <a:rPr lang="en-US" dirty="0"/>
                  <a:t>If so,  instead of approximating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it may be better to use the appropriate* loss function to approximate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and then compute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|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br>
                  <a:rPr lang="en-US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+mn-lt"/>
                  </a:rPr>
                  <a:t>* Which one?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 r="-176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1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6214</TotalTime>
  <Words>1643</Words>
  <Application>Microsoft Macintosh PowerPoint</Application>
  <PresentationFormat>Letter Paper (8.5x11 in)</PresentationFormat>
  <Paragraphs>194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Common loss functions</vt:lpstr>
      <vt:lpstr>Common Loss Functions (1)</vt:lpstr>
      <vt:lpstr>Quadratic Loss</vt:lpstr>
      <vt:lpstr>Binary Cross Entropy Loss (1)</vt:lpstr>
      <vt:lpstr>Binary Cross Entropy Loss (2)</vt:lpstr>
      <vt:lpstr>Other Loss Functions</vt:lpstr>
      <vt:lpstr>PowerPoint Presentation</vt:lpstr>
      <vt:lpstr>PowerPoint Presentation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Summary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Beyond Classification (5)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56</cp:revision>
  <cp:lastPrinted>2019-01-07T00:35:58Z</cp:lastPrinted>
  <dcterms:created xsi:type="dcterms:W3CDTF">2024-08-29T20:46:20Z</dcterms:created>
  <dcterms:modified xsi:type="dcterms:W3CDTF">2026-09-08T00:53:03Z</dcterms:modified>
</cp:coreProperties>
</file>