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1027" r:id="rId3"/>
    <p:sldId id="1043" r:id="rId4"/>
    <p:sldId id="278" r:id="rId5"/>
    <p:sldId id="279" r:id="rId6"/>
    <p:sldId id="280" r:id="rId7"/>
    <p:sldId id="1057" r:id="rId8"/>
    <p:sldId id="1021" r:id="rId9"/>
    <p:sldId id="1059" r:id="rId10"/>
    <p:sldId id="1023" r:id="rId11"/>
    <p:sldId id="1022" r:id="rId12"/>
    <p:sldId id="1013" r:id="rId13"/>
    <p:sldId id="1015" r:id="rId14"/>
    <p:sldId id="1017" r:id="rId15"/>
    <p:sldId id="1019" r:id="rId16"/>
    <p:sldId id="1055" r:id="rId17"/>
    <p:sldId id="1054" r:id="rId18"/>
    <p:sldId id="1040" r:id="rId19"/>
    <p:sldId id="1045" r:id="rId20"/>
    <p:sldId id="1046" r:id="rId21"/>
    <p:sldId id="1053" r:id="rId22"/>
    <p:sldId id="1047" r:id="rId23"/>
    <p:sldId id="1033" r:id="rId24"/>
    <p:sldId id="1042" r:id="rId25"/>
    <p:sldId id="1048" r:id="rId26"/>
    <p:sldId id="1018" r:id="rId27"/>
    <p:sldId id="1050" r:id="rId28"/>
    <p:sldId id="1051" r:id="rId29"/>
    <p:sldId id="1052" r:id="rId30"/>
    <p:sldId id="1056" r:id="rId31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2"/>
    <p:restoredTop sz="86548"/>
  </p:normalViewPr>
  <p:slideViewPr>
    <p:cSldViewPr>
      <p:cViewPr varScale="1">
        <p:scale>
          <a:sx n="87" d="100"/>
          <a:sy n="87" d="100"/>
        </p:scale>
        <p:origin x="219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6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5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88" r:id="rId4"/>
    <p:sldLayoutId id="2147483891" r:id="rId5"/>
    <p:sldLayoutId id="2147483884" r:id="rId6"/>
    <p:sldLayoutId id="2147483885" r:id="rId7"/>
    <p:sldLayoutId id="2147483886" r:id="rId8"/>
    <p:sldLayoutId id="2147483892" r:id="rId9"/>
    <p:sldLayoutId id="2147483893" r:id="rId1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Foundations 3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33422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B72B-CBF3-BA89-4F7A-266EE54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422737-B0BC-5667-4514-0BB23334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have we learned so far?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Machine learning models are trained by minimizing the empirical risk (aka average loss):</a:t>
                </a: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The loss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, is chosen according to the task at hand.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38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B631-CC40-84E0-9D60-34127FF2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BFC140-278B-664E-6BCF-9B66463A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1A1B08-1158-8B28-BD0C-D1A7508A7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The empirical risk is an </a:t>
                </a:r>
                <a:r>
                  <a:rPr lang="en-US" i="1" dirty="0"/>
                  <a:t>unbiased</a:t>
                </a:r>
                <a:r>
                  <a:rPr lang="en-US" dirty="0"/>
                  <a:t> Monte Carlo estimate of the risk functional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where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𝑑𝑥𝑑𝑦</m:t>
                    </m:r>
                  </m:oMath>
                </a14:m>
                <a:r>
                  <a:rPr lang="en-US" dirty="0"/>
                  <a:t> is the probability of the data.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with inputs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targets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and the loss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, minimizing the risk functional yields the important result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1A1B08-1158-8B28-BD0C-D1A7508A7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5789" r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AE38DF-53DF-D7EE-5BD0-2DC22CA37FCF}"/>
                  </a:ext>
                </a:extLst>
              </p:cNvPr>
              <p:cNvSpPr txBox="1"/>
              <p:nvPr/>
            </p:nvSpPr>
            <p:spPr>
              <a:xfrm>
                <a:off x="1768641" y="4953000"/>
                <a:ext cx="5695341" cy="1060931"/>
              </a:xfrm>
              <a:prstGeom prst="rect">
                <a:avLst/>
              </a:prstGeom>
              <a:solidFill>
                <a:srgbClr val="FFFC8F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AE38DF-53DF-D7EE-5BD0-2DC22CA37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641" y="4953000"/>
                <a:ext cx="5695341" cy="1060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13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FDF7CA-B744-B3B5-850E-543CCDA162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Common loss functions</a:t>
            </a:r>
          </a:p>
        </p:txBody>
      </p:sp>
    </p:spTree>
    <p:extLst>
      <p:ext uri="{BB962C8B-B14F-4D97-AF65-F5344CB8AC3E}">
        <p14:creationId xmlns:p14="http://schemas.microsoft.com/office/powerpoint/2010/main" val="421072202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1DC6163-A954-DD59-6EC8-A66A6CED9A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123950"/>
                <a:ext cx="7747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Quadratic loss</a:t>
                </a:r>
                <a:r>
                  <a:rPr lang="en-US" b="1" dirty="0">
                    <a:solidFill>
                      <a:srgbClr val="0033CC"/>
                    </a:solidFill>
                  </a:rPr>
                  <a:t>		</a:t>
                </a:r>
                <a:r>
                  <a:rPr lang="en-US" dirty="0"/>
                  <a:t>(often used for regression)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charset="0"/>
                    <a:cs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Binary cross entropy</a:t>
                </a:r>
                <a:r>
                  <a:rPr lang="en-US" b="1" dirty="0">
                    <a:solidFill>
                      <a:srgbClr val="0033CC"/>
                    </a:solidFill>
                  </a:rPr>
                  <a:t>	</a:t>
                </a:r>
                <a:r>
                  <a:rPr lang="en-US" dirty="0"/>
                  <a:t>(often used for classification)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charset="0"/>
                    <a:cs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  <m:t>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</m:oMath>
                </a14:m>
                <a:br>
                  <a:rPr lang="en-US" dirty="0">
                    <a:latin typeface="Cambria Math" panose="02040503050406030204" pitchFamily="18" charset="0"/>
                    <a:ea typeface="Cambria Math" charset="0"/>
                    <a:cs typeface="Cambria Math" charset="0"/>
                  </a:rPr>
                </a:br>
                <a:endParaRPr lang="en-US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∈{0, 1}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1DC6163-A954-DD59-6EC8-A66A6CED9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123950"/>
                <a:ext cx="7747000" cy="4819650"/>
              </a:xfrm>
              <a:blipFill>
                <a:blip r:embed="rId2"/>
                <a:stretch>
                  <a:fillRect l="-1309" t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724020-1E2E-A9CD-0218-AB93D86B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Loss Functions (1)</a:t>
            </a:r>
          </a:p>
        </p:txBody>
      </p:sp>
    </p:spTree>
    <p:extLst>
      <p:ext uri="{BB962C8B-B14F-4D97-AF65-F5344CB8AC3E}">
        <p14:creationId xmlns:p14="http://schemas.microsoft.com/office/powerpoint/2010/main" val="310075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85120-E763-F128-57A2-3EF60CB80E2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Font typeface="Marlett" pitchFamily="26" charset="0"/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Quadratic loss: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endParaRPr lang="en-US" b="1" dirty="0">
                  <a:solidFill>
                    <a:srgbClr val="0033CC"/>
                  </a:solidFill>
                </a:endParaRPr>
              </a:p>
              <a:p>
                <a:pPr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Marlett" pitchFamily="26" charset="0"/>
                  <a:buNone/>
                </a:pPr>
                <a:r>
                  <a:rPr lang="en-US" dirty="0"/>
                  <a:t>Solution</a:t>
                </a:r>
              </a:p>
              <a:p>
                <a:pPr>
                  <a:buFont typeface="Marlett" pitchFamily="26" charset="0"/>
                  <a:buNone/>
                </a:pPr>
                <a:endParaRPr lang="en-US" dirty="0"/>
              </a:p>
              <a:p>
                <a:pPr>
                  <a:buFont typeface="Marlett" pitchFamily="26" charset="0"/>
                  <a:buNone/>
                </a:pPr>
                <a:endParaRPr lang="en-US" dirty="0"/>
              </a:p>
              <a:p>
                <a:pPr>
                  <a:buFont typeface="Marlett" pitchFamily="26" charset="0"/>
                  <a:buNone/>
                </a:pPr>
                <a:r>
                  <a:rPr lang="en-US" dirty="0">
                    <a:sym typeface="Wingdings" pitchFamily="2" charset="2"/>
                  </a:rPr>
                  <a:t>As noted, in the previous lecture, given a sufficiently flexible model, this result</a:t>
                </a:r>
                <a:r>
                  <a:rPr lang="en-US" dirty="0"/>
                  <a:t> depends solely on the form of the loss function and the conditional probability,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US" dirty="0"/>
                  <a:t>, of the data.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85120-E763-F128-57A2-3EF60CB80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9CF121-6458-511B-7B99-A4DD1706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27CB3A09-E416-D607-F58B-FB0BA1CDA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0800" y="3276600"/>
                <a:ext cx="3215945" cy="5420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27CB3A09-E416-D607-F58B-FB0BA1CDA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3276600"/>
                <a:ext cx="3215945" cy="542008"/>
              </a:xfrm>
              <a:prstGeom prst="rect">
                <a:avLst/>
              </a:prstGeom>
              <a:blipFill>
                <a:blip r:embed="rId3"/>
                <a:stretch>
                  <a:fillRect l="-778" b="-6522"/>
                </a:stretch>
              </a:blip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6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A66F-0B72-66CA-D036-8B3BA086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Binary cross entropy loss :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−[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𝑦</m:t>
                    </m:r>
                    <m:func>
                      <m:funcPr>
                        <m:ctrl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(1−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endParaRPr lang="en-US" b="1" dirty="0">
                  <a:solidFill>
                    <a:srgbClr val="0033CC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the unit interval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br>
                  <a:rPr lang="en-US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</a:br>
                <a:endParaRPr lang="en-US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dirty="0"/>
                  <a:t> this yields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159F6C5-C484-EC79-5C75-AB8B3063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Cross Entropy Loss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A3808B84-E83B-8E89-855D-7F89863473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5600" y="5638800"/>
                <a:ext cx="2518446" cy="461665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A3808B84-E83B-8E89-855D-7F8986347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5600" y="5638800"/>
                <a:ext cx="2518446" cy="461665"/>
              </a:xfrm>
              <a:prstGeom prst="rect">
                <a:avLst/>
              </a:prstGeom>
              <a:blipFill>
                <a:blip r:embed="rId3"/>
                <a:stretch>
                  <a:fillRect l="-990" b="-17500"/>
                </a:stretch>
              </a:blip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11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805C-33FE-C4E0-A043-BAEEFB252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5DEE06-32D2-1EC4-196B-00B030238D4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123950"/>
                <a:ext cx="7747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+mn-lt"/>
                    <a:ea typeface="Cambria Math" charset="0"/>
                    <a:cs typeface="Cambria Math" charset="0"/>
                  </a:rPr>
                  <a:t>Exponential loss</a:t>
                </a:r>
                <a:r>
                  <a:rPr lang="en-US" b="1" dirty="0">
                    <a:solidFill>
                      <a:srgbClr val="0033CC"/>
                    </a:solidFill>
                    <a:latin typeface="Cambria Math" panose="02040503050406030204" pitchFamily="18" charset="0"/>
                    <a:ea typeface="Cambria Math" charset="0"/>
                    <a:cs typeface="Cambria Math" charset="0"/>
                  </a:rPr>
                  <a:t>		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charset="0"/>
                    <a:cs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  <m:t>𝑤𝑦𝑓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∈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</a:rPr>
                              <m:t>−1, 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+mn-lt"/>
                    <a:ea typeface="Cambria Math" charset="0"/>
                  </a:rPr>
                  <a:t>Quantile loss (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</a:rPr>
                      <m:t>0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+mn-lt"/>
                    <a:ea typeface="Cambria Math" charset="0"/>
                  </a:rPr>
                  <a:t>)</a:t>
                </a:r>
                <a:r>
                  <a:rPr lang="en-US" dirty="0">
                    <a:solidFill>
                      <a:srgbClr val="0033CC"/>
                    </a:solidFill>
                    <a:latin typeface="Cambria Math" panose="02040503050406030204" pitchFamily="18" charset="0"/>
                    <a:ea typeface="Cambria Math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𝜏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𝑓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         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 </m:t>
                            </m:r>
                          </m: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Zero-One loss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0          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|≤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 1       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5DEE06-32D2-1EC4-196B-00B030238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123950"/>
                <a:ext cx="7747000" cy="4819650"/>
              </a:xfrm>
              <a:blipFill>
                <a:blip r:embed="rId2"/>
                <a:stretch>
                  <a:fillRect l="-1309" t="-1050" b="-52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0E6CDD5-5F74-FC26-FB76-AE145174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Other Loss Functions</a:t>
            </a:r>
          </a:p>
        </p:txBody>
      </p:sp>
    </p:spTree>
    <p:extLst>
      <p:ext uri="{BB962C8B-B14F-4D97-AF65-F5344CB8AC3E}">
        <p14:creationId xmlns:p14="http://schemas.microsoft.com/office/powerpoint/2010/main" val="212596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CB4C0-80C8-07F9-C349-10ACCC49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51E33F5-BBCF-6CD6-6E9E-6FD680B4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457200"/>
            <a:ext cx="72517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8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8269-3DD1-62B3-A440-2DC62FE9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F23B5B-2925-0F05-2F6A-4DC2A84C3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527050"/>
            <a:ext cx="71882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32F4-C927-BA01-B1A8-23BE5EEE6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Classifiers</a:t>
            </a:r>
          </a:p>
        </p:txBody>
      </p:sp>
    </p:spTree>
    <p:extLst>
      <p:ext uri="{BB962C8B-B14F-4D97-AF65-F5344CB8AC3E}">
        <p14:creationId xmlns:p14="http://schemas.microsoft.com/office/powerpoint/2010/main" val="33743950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A66F-0B72-66CA-D036-8B3BA086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/>
                  <a:t>Starting with</a:t>
                </a:r>
              </a:p>
              <a:p>
                <a:pPr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Marlett" pitchFamily="26" charset="0"/>
                  <a:buNone/>
                </a:pPr>
                <a:r>
                  <a:rPr lang="en-US" dirty="0"/>
                  <a:t>we’ve shown that a binary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trained using the cross-entropy loss</a:t>
                </a:r>
                <a:r>
                  <a:rPr lang="en-US" b="1" dirty="0">
                    <a:solidFill>
                      <a:srgbClr val="0033CC"/>
                    </a:solidFill>
                  </a:rPr>
                  <a:t>  </a:t>
                </a:r>
                <a:br>
                  <a:rPr lang="en-US" b="1" dirty="0">
                    <a:solidFill>
                      <a:srgbClr val="0033CC"/>
                    </a:solidFill>
                  </a:rPr>
                </a:br>
                <a:endParaRPr lang="en-US" b="0" i="1" dirty="0">
                  <a:solidFill>
                    <a:srgbClr val="0033CC"/>
                  </a:solidFill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>
                  <a:buFont typeface="Marlett" pitchFamily="26" charset="0"/>
                  <a:buNone/>
                </a:pPr>
                <a:r>
                  <a:rPr lang="en-US" b="0" dirty="0">
                    <a:solidFill>
                      <a:schemeClr val="tx1"/>
                    </a:solidFill>
                    <a:ea typeface="Cambria Math" charset="0"/>
                    <a:cs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=−[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𝑦</m:t>
                    </m:r>
                    <m:func>
                      <m:funcPr>
                        <m:ctrl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(1−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Font typeface="Marlett" pitchFamily="26" charset="0"/>
                  <a:buNone/>
                </a:pPr>
                <a:r>
                  <a:rPr lang="en-US" dirty="0"/>
                  <a:t>approximates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class probability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, that is, the probability that an object characterized by the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features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belongs to the class labeled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23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159F6C5-C484-EC79-5C75-AB8B3063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(1)</a:t>
            </a:r>
          </a:p>
        </p:txBody>
      </p:sp>
    </p:spTree>
    <p:extLst>
      <p:ext uri="{BB962C8B-B14F-4D97-AF65-F5344CB8AC3E}">
        <p14:creationId xmlns:p14="http://schemas.microsoft.com/office/powerpoint/2010/main" val="2471689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9EFD6-8AF9-3AC0-A772-0C5780E4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FF234-6F7F-A2E8-4C2B-8C41E7CF3A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From Bayes’ theorem, we can write the class probability as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and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is the probability density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for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is the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prior probability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of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, and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FF234-6F7F-A2E8-4C2B-8C41E7CF3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2840FCC-D5A4-4372-6695-0E20A32E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(2)</a:t>
            </a:r>
          </a:p>
        </p:txBody>
      </p:sp>
    </p:spTree>
    <p:extLst>
      <p:ext uri="{BB962C8B-B14F-4D97-AF65-F5344CB8AC3E}">
        <p14:creationId xmlns:p14="http://schemas.microsoft.com/office/powerpoint/2010/main" val="205048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FA07-4D08-91C5-822D-EA30DA04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BE111-5277-6CD5-CDB1-358D32EF551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7747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When the training dataset is </a:t>
                </a:r>
                <a:r>
                  <a:rPr lang="en-US" b="1" dirty="0">
                    <a:solidFill>
                      <a:srgbClr val="0033CC"/>
                    </a:solidFill>
                  </a:rPr>
                  <a:t>balanced</a:t>
                </a:r>
                <a:r>
                  <a:rPr lang="en-US" dirty="0"/>
                  <a:t> that is,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the class probability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becomes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discriminant</a:t>
                </a:r>
                <a:r>
                  <a:rPr lang="en-US" dirty="0"/>
                  <a:t>,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This is one of the most useful results in scientific machine learning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 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BE111-5277-6CD5-CDB1-358D32EF5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7747000" cy="4819650"/>
              </a:xfrm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260803B-6204-0C12-7211-987376BA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(3)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1070C-C4FA-0018-0FFC-DB553E5FD2D0}"/>
              </a:ext>
            </a:extLst>
          </p:cNvPr>
          <p:cNvSpPr/>
          <p:nvPr/>
        </p:nvSpPr>
        <p:spPr bwMode="auto">
          <a:xfrm>
            <a:off x="2895600" y="2286000"/>
            <a:ext cx="3657600" cy="12192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9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1C9A-C562-4209-2742-5C63B422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270A78-B3C6-0C0C-96AB-1507A7B10D4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It is possible to train a binary classifier using an </a:t>
                </a:r>
                <a:r>
                  <a:rPr lang="en-US" b="1" dirty="0">
                    <a:solidFill>
                      <a:srgbClr val="0033CC"/>
                    </a:solidFill>
                  </a:rPr>
                  <a:t>unbalanced</a:t>
                </a:r>
                <a:r>
                  <a:rPr lang="en-US" b="0" dirty="0"/>
                  <a:t> dataset: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b="0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But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(1)≪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 why might this be very challenging?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b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270A78-B3C6-0C0C-96AB-1507A7B10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499AF41-7810-2449-4FA8-B6D0A34D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(4)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150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333D-192A-2FCA-AE84-08D7D1DB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E792C1-CB86-39DD-FA3E-9E01E109D4F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Let’s start with Bayes’ theorem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(1)+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Dividing the numerator and denominator by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yields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 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den>
                      </m:f>
                    </m:oMath>
                  </m:oMathPara>
                </a14:m>
                <a:b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</a:b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shows that,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(1|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can be computed from a model trained with a </a:t>
                </a:r>
                <a:r>
                  <a:rPr lang="en-US" i="1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balanced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dataset</a:t>
                </a:r>
                <a:r>
                  <a:rPr lang="en-US" dirty="0"/>
                  <a:t>. There is no need to train with the actual class prior probabilities, as is sometimes asserted.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E792C1-CB86-39DD-FA3E-9E01E109D4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1637" b="-3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89EB1F5-6713-6803-18CA-A9B28505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(4)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4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E79B-56F4-3405-DA5A-9ACDBA7B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2AB6-435C-31AE-89B5-EDE60FAC70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Classifier Performance</a:t>
            </a:r>
          </a:p>
        </p:txBody>
      </p:sp>
    </p:spTree>
    <p:extLst>
      <p:ext uri="{BB962C8B-B14F-4D97-AF65-F5344CB8AC3E}">
        <p14:creationId xmlns:p14="http://schemas.microsoft.com/office/powerpoint/2010/main" val="12848226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B484-30DB-8614-B778-B22C582F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A9D521-96B0-0007-4301-2463D309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Performance (1)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DAA0BC-4401-45B6-8218-AEEEF18E17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a classifier,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indicator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[∗]</m:t>
                    </m:r>
                  </m:oMath>
                </a14:m>
                <a:r>
                  <a:rPr lang="en-US" dirty="0"/>
                  <a:t>, the targets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and a threshold </a:t>
                </a:r>
                <a:r>
                  <a:rPr lang="en-US" i="1" dirty="0">
                    <a:solidFill>
                      <a:srgbClr val="0033CC"/>
                    </a:solidFill>
                  </a:rPr>
                  <a:t>t </a:t>
                </a:r>
                <a:r>
                  <a:rPr lang="en-US" dirty="0"/>
                  <a:t>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above which one is prepared to assign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the “positive” class and below which one assigns it to the “negative” class.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following counts can be computed: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False Negatives 	(FN):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True Positives 	(TP):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True Negatives 	(TN):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False Positives 	(FP):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is true, 0 otherwise.</a:t>
                </a: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DAA0BC-4401-45B6-8218-AEEEF18E1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5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CCC6-1254-A8A6-1666-29EA2E74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B4D7EC-0A9E-88B8-3786-D04B92BF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Performance (2)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A099783-2799-6C19-C31C-FAF24757F7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			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br>
                  <a:rPr lang="en-US" b="0" dirty="0"/>
                </a:b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				TN: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FP: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A099783-2799-6C19-C31C-FAF24757F7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  <a:blipFill>
                <a:blip r:embed="rId2"/>
                <a:stretch>
                  <a:fillRect l="-1205" t="-12368" b="-2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graph of a function&#10;&#10;Description automatically generated">
            <a:extLst>
              <a:ext uri="{FF2B5EF4-FFF2-40B4-BE49-F238E27FC236}">
                <a16:creationId xmlns:a16="http://schemas.microsoft.com/office/drawing/2014/main" id="{ED5C4D9E-FC76-30ED-A950-D295A549F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3622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A graph of a function&#10;&#10;Description automatically generated">
            <a:extLst>
              <a:ext uri="{FF2B5EF4-FFF2-40B4-BE49-F238E27FC236}">
                <a16:creationId xmlns:a16="http://schemas.microsoft.com/office/drawing/2014/main" id="{0735ED67-9E57-1D90-753D-20058D423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2860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3E14-E81B-0001-CB18-62738DE0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EFA01A-487B-ACAE-8ABB-3CF070E81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4A691D5-9F0D-FB02-2F98-B56C50D2C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0033CC"/>
                    </a:solidFill>
                  </a:rPr>
                  <a:t>confusion matrix</a:t>
                </a:r>
                <a:r>
                  <a:rPr lang="en-US" dirty="0"/>
                  <a:t> is a simple</a:t>
                </a:r>
              </a:p>
              <a:p>
                <a:pPr marL="0" indent="0">
                  <a:buNone/>
                </a:pPr>
                <a:r>
                  <a:rPr lang="en-US" dirty="0"/>
                  <a:t>w</a:t>
                </a:r>
                <a:r>
                  <a:rPr lang="en-US" b="0" dirty="0"/>
                  <a:t>ay to summari</a:t>
                </a:r>
                <a:r>
                  <a:rPr lang="en-US" dirty="0"/>
                  <a:t>ze the counts in</a:t>
                </a:r>
              </a:p>
              <a:p>
                <a:pPr marL="0" indent="0">
                  <a:buNone/>
                </a:pPr>
                <a:r>
                  <a:rPr lang="en-US" dirty="0"/>
                  <a:t>t</a:t>
                </a:r>
                <a:r>
                  <a:rPr lang="en-US" b="0" dirty="0"/>
                  <a:t>he four disjoint regions.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A perfectly separable dataset</a:t>
                </a:r>
                <a:br>
                  <a:rPr lang="en-US" b="0" dirty="0"/>
                </a:br>
                <a:r>
                  <a:rPr lang="en-US" b="0" dirty="0"/>
                  <a:t>would yield a diagonal matrix</a:t>
                </a:r>
                <a:r>
                  <a:rPr lang="en-US" dirty="0"/>
                  <a:t>.</a:t>
                </a: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TN: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FP: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4A691D5-9F0D-FB02-2F98-B56C50D2C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  <a:blipFill>
                <a:blip r:embed="rId2"/>
                <a:stretch>
                  <a:fillRect l="-1205" t="-12368" b="-2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9C32FE41-1CEB-B66A-E34F-950A4C4D2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2954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794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A5D4-61CE-7BA2-0A77-B01D721B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CFFE38CD-8CD0-A665-1977-8FF686A074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Confusion Matrix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en-US" dirty="0"/>
                  <a:t>)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CFFE38CD-8CD0-A665-1977-8FF686A07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graph of a graph&#10;&#10;Description automatically generated">
            <a:extLst>
              <a:ext uri="{FF2B5EF4-FFF2-40B4-BE49-F238E27FC236}">
                <a16:creationId xmlns:a16="http://schemas.microsoft.com/office/drawing/2014/main" id="{186DAB4B-38CF-DB45-3844-107A48AA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424" y="3287712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E4B6085F-DA2F-133C-082B-29395A94D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9906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B03FEB89-1C50-8CFB-0F50-EF9D2DA7D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2639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346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F535-56A9-5FE1-75AA-7EA10564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aph of a function&#10;&#10;Description automatically generated">
            <a:extLst>
              <a:ext uri="{FF2B5EF4-FFF2-40B4-BE49-F238E27FC236}">
                <a16:creationId xmlns:a16="http://schemas.microsoft.com/office/drawing/2014/main" id="{6F056D68-A397-B3B1-0686-EEBC4B73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214" y="34036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A graph of a function&#10;&#10;Description automatically generated">
            <a:extLst>
              <a:ext uri="{FF2B5EF4-FFF2-40B4-BE49-F238E27FC236}">
                <a16:creationId xmlns:a16="http://schemas.microsoft.com/office/drawing/2014/main" id="{A86F94DE-6CF7-24F3-FAB6-EBD36C084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34036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243018-889C-B2B3-1F5D-17ED3AF4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Accuracy, Precision, Recall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2D6F545-675A-4AF5-BCA1-CC5C0ECDD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</a:rPr>
                  <a:t>Accuracy</a:t>
                </a:r>
                <a:r>
                  <a:rPr lang="en-US" b="0" dirty="0"/>
                  <a:t>	= (TP + TN) / </a:t>
                </a:r>
                <a:r>
                  <a:rPr lang="en-US" dirty="0"/>
                  <a:t>(TP + TN + FN + </a:t>
                </a:r>
                <a:r>
                  <a:rPr lang="en-US" b="0" dirty="0"/>
                  <a:t>FP)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Precision</a:t>
                </a:r>
                <a:r>
                  <a:rPr lang="en-US" dirty="0"/>
                  <a:t>	= TP / (TP + FP)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</a:rPr>
                  <a:t>Recall</a:t>
                </a:r>
                <a:r>
                  <a:rPr lang="en-US" b="0" dirty="0"/>
                  <a:t>		= TP / (FN + TP)	</a:t>
                </a:r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</a:rPr>
                  <a:t>True Positive Rate </a:t>
                </a:r>
                <a:r>
                  <a:rPr lang="en-US" b="0" dirty="0"/>
                  <a:t>(TPR)	= TP / (FN + TP) 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|1)</m:t>
                    </m:r>
                  </m:oMath>
                </a14:m>
                <a:endParaRPr lang="en-US" b="0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False Positive Rate </a:t>
                </a:r>
                <a:r>
                  <a:rPr lang="en-US" dirty="0"/>
                  <a:t>(FPR)	= FP / (TN + FP)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|0)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2D6F545-675A-4AF5-BCA1-CC5C0ECDD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  <a:blipFill>
                <a:blip r:embed="rId4"/>
                <a:stretch>
                  <a:fillRect l="-12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8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2E35-A156-BC43-791C-17D8A7B0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08ABAD-372F-B9A5-CF67-B4F30591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and AUC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2C9029E-555C-CE56-CBFA-52C6C7B980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Receiver Operating Characteristic (</a:t>
                </a: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ROC)</a:t>
                </a:r>
                <a:r>
                  <a:rPr lang="en-US" dirty="0">
                    <a:latin typeface="+mn-lt"/>
                  </a:rPr>
                  <a:t> curve is a plot of TPR vs. FPR, that is,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vs.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|0)</m:t>
                      </m:r>
                    </m:oMath>
                  </m:oMathPara>
                </a14:m>
                <a:endParaRPr lang="en-US" dirty="0">
                  <a:solidFill>
                    <a:srgbClr val="0033CC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for different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+mn-lt"/>
                  </a:rPr>
                  <a:t>, where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(usually)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br>
                  <a:rPr lang="en-US" b="0" dirty="0">
                    <a:latin typeface="+mn-lt"/>
                  </a:rPr>
                </a:br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+mn-lt"/>
                  </a:rPr>
                  <a:t>AUC</a:t>
                </a:r>
                <a:r>
                  <a:rPr lang="en-US" dirty="0">
                    <a:latin typeface="+mn-lt"/>
                  </a:rPr>
                  <a:t>: Area Under Curve</a:t>
                </a:r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2C9029E-555C-CE56-CBFA-52C6C7B980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4EBCB0AC-A544-D7DE-97C5-CF8BAC908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165" y="1905000"/>
            <a:ext cx="4662435" cy="4419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280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730A-77BF-1B8D-5376-F6DCE604B7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quadratic and binary cross entropy losses are the most widely used loss functions in machine learning.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addition to the ROC curve and the AUC, the performance of a classifier can be characterized with several other numbers including:</a:t>
            </a:r>
          </a:p>
          <a:p>
            <a:pPr lvl="1"/>
            <a:r>
              <a:rPr lang="en-US" dirty="0"/>
              <a:t>False Negatives (FN)</a:t>
            </a:r>
          </a:p>
          <a:p>
            <a:pPr lvl="1"/>
            <a:r>
              <a:rPr lang="en-US" dirty="0"/>
              <a:t>True Positives	(TP)</a:t>
            </a:r>
          </a:p>
          <a:p>
            <a:pPr lvl="1"/>
            <a:r>
              <a:rPr lang="en-US" dirty="0"/>
              <a:t>True Negatives 	(TN)</a:t>
            </a:r>
          </a:p>
          <a:p>
            <a:pPr lvl="1"/>
            <a:r>
              <a:rPr lang="en-US" dirty="0"/>
              <a:t>False Positives	(FP)</a:t>
            </a:r>
          </a:p>
          <a:p>
            <a:pPr marL="457200" lvl="1" indent="0">
              <a:buNone/>
            </a:pPr>
            <a:r>
              <a:rPr lang="en-US" dirty="0"/>
              <a:t>which can be represented in a confusion matrix.</a:t>
            </a:r>
            <a:br>
              <a:rPr lang="en-US" dirty="0"/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1FE53-CCD3-2FB4-0B9D-BDDBD7AD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190940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233E-4612-1EF1-198D-7E2E0296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6991-5CFF-F6C8-CDA0-56652C8606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Beyond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550951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65E5-B875-3CDA-6D69-16B54714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7AEFDB6-F50F-F8CA-6518-78625CBBA63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Notice that the discriminant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|1)=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|0)</m:t>
                      </m:r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The above is often referred to as the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likelihood ratio trick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 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|0)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is a </a:t>
                </a:r>
                <a:r>
                  <a:rPr lang="en-US" i="1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known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density from which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vectors are sampled, then the discriminant can be repurposed as a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probability density estimator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7AEFDB6-F50F-F8CA-6518-78625CBBA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6BF1F42-9D07-58C2-7DEF-AAD977C1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(1) 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973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FAE-27C2-8BB3-6FEE-71FA98E0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C65E00-5CA2-2EC7-8CDA-2FFC5793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(2)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BB4544E-B2F7-15C2-FEF0-91F9F534E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a dataset </a:t>
                </a:r>
                <a:r>
                  <a:rPr lang="en-US" dirty="0">
                    <a:solidFill>
                      <a:srgbClr val="0033CC"/>
                    </a:solidFill>
                  </a:rPr>
                  <a:t>U[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</a:t>
                </a:r>
                <a:r>
                  <a:rPr lang="en-US" dirty="0"/>
                  <a:t>,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labeled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The goal is to approximate its associated probability density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endParaRPr lang="en-US" b="1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Algorithm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Generate another dataset </a:t>
                </a:r>
                <a:r>
                  <a:rPr lang="en-US" dirty="0">
                    <a:solidFill>
                      <a:srgbClr val="0033CC"/>
                    </a:solidFill>
                  </a:rPr>
                  <a:t>K[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</a:t>
                </a:r>
                <a:r>
                  <a:rPr lang="en-US" dirty="0"/>
                  <a:t>, of size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labeled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a </a:t>
                </a:r>
                <a:r>
                  <a:rPr lang="en-US" i="1" dirty="0"/>
                  <a:t>known</a:t>
                </a:r>
                <a:r>
                  <a:rPr lang="en-US" dirty="0"/>
                  <a:t> density*. 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>
                  <a:solidFill>
                    <a:srgbClr val="0033CC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Train a classifier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using a randomized mixture of the datasets </a:t>
                </a:r>
                <a:r>
                  <a:rPr lang="en-US" dirty="0">
                    <a:solidFill>
                      <a:srgbClr val="0033CC"/>
                    </a:solidFill>
                  </a:rPr>
                  <a:t>U[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 </a:t>
                </a:r>
                <a:r>
                  <a:rPr lang="en-US" dirty="0"/>
                  <a:t>and</a:t>
                </a:r>
                <a:r>
                  <a:rPr lang="en-US" dirty="0">
                    <a:solidFill>
                      <a:srgbClr val="0033CC"/>
                    </a:solidFill>
                  </a:rPr>
                  <a:t> K[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 </a:t>
                </a:r>
                <a:r>
                  <a:rPr lang="en-US" dirty="0"/>
                  <a:t>of sample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Approximate the unknown density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using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* </a:t>
                </a:r>
                <a:r>
                  <a:rPr lang="en-US" sz="2000" dirty="0"/>
                  <a:t>The symbol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000" dirty="0"/>
                  <a:t>” means “sampled from”.</a:t>
                </a: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BB4544E-B2F7-15C2-FEF0-91F9F534E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142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77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BB75-C7FD-A545-2D7F-9AF91FEA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720821-06F8-57AE-7CC4-75963BB0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(3)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5C1975-8E13-2BA1-7AC2-66CBFD887B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But we can go further*. Suppose our dataset U of sample size </a:t>
                </a:r>
                <a:r>
                  <a:rPr lang="en-US" i="1" dirty="0">
                    <a:solidFill>
                      <a:srgbClr val="0033CC"/>
                    </a:solidFill>
                  </a:rPr>
                  <a:t>N</a:t>
                </a:r>
                <a:r>
                  <a:rPr lang="en-US" dirty="0"/>
                  <a:t> is from a simulation that depends on a set of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Let’s sample these parameters from a </a:t>
                </a:r>
                <a:r>
                  <a:rPr lang="en-US" i="1" dirty="0">
                    <a:solidFill>
                      <a:srgbClr val="0033CC"/>
                    </a:solidFill>
                  </a:rPr>
                  <a:t>known</a:t>
                </a:r>
                <a:r>
                  <a:rPr lang="en-US" dirty="0"/>
                  <a:t> prior,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.  For each sampled point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sampled from the </a:t>
                </a:r>
                <a:r>
                  <a:rPr lang="en-US" i="1" dirty="0">
                    <a:solidFill>
                      <a:srgbClr val="0033CC"/>
                    </a:solidFill>
                  </a:rPr>
                  <a:t>unknown</a:t>
                </a:r>
                <a:r>
                  <a:rPr lang="en-US" dirty="0"/>
                  <a:t>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using the simulator.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dataset, labeled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 comprises </a:t>
                </a:r>
                <a:r>
                  <a:rPr lang="en-US" i="1" dirty="0">
                    <a:solidFill>
                      <a:srgbClr val="0033CC"/>
                    </a:solidFill>
                  </a:rPr>
                  <a:t>N</a:t>
                </a:r>
                <a:r>
                  <a:rPr lang="en-US" dirty="0"/>
                  <a:t> pairs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that constitute a </a:t>
                </a:r>
                <a:r>
                  <a:rPr lang="en-US" b="1" dirty="0">
                    <a:solidFill>
                      <a:srgbClr val="0033CC"/>
                    </a:solidFill>
                  </a:rPr>
                  <a:t>point cloud </a:t>
                </a:r>
                <a:r>
                  <a:rPr lang="en-US" dirty="0"/>
                  <a:t>representation of the joint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5C1975-8E13-2BA1-7AC2-66CBFD887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000067B-73D2-8C50-C0A1-8A38ED301FC6}"/>
              </a:ext>
            </a:extLst>
          </p:cNvPr>
          <p:cNvSpPr txBox="1"/>
          <p:nvPr/>
        </p:nvSpPr>
        <p:spPr>
          <a:xfrm>
            <a:off x="660400" y="5598486"/>
            <a:ext cx="833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* </a:t>
            </a:r>
            <a:r>
              <a:rPr lang="en-US" sz="1800" dirty="0" err="1"/>
              <a:t>Baldi</a:t>
            </a:r>
            <a:r>
              <a:rPr lang="en-US" sz="1800" dirty="0"/>
              <a:t>, P., Cranmer, K., </a:t>
            </a:r>
            <a:r>
              <a:rPr lang="en-US" sz="1800" dirty="0" err="1"/>
              <a:t>Faucett</a:t>
            </a:r>
            <a:r>
              <a:rPr lang="en-US" sz="1800" dirty="0"/>
              <a:t>, T. </a:t>
            </a:r>
            <a:r>
              <a:rPr lang="en-US" sz="1800" i="1" dirty="0"/>
              <a:t>et al.</a:t>
            </a:r>
            <a:r>
              <a:rPr lang="en-US" sz="1800" dirty="0"/>
              <a:t> </a:t>
            </a:r>
          </a:p>
          <a:p>
            <a:r>
              <a:rPr lang="en-US" sz="1800" dirty="0"/>
              <a:t>Parameterized neural networks for high-energy physics.  </a:t>
            </a:r>
            <a:r>
              <a:rPr lang="en-US" sz="1800" i="1" dirty="0"/>
              <a:t>Eur. Phys. J. C</a:t>
            </a:r>
            <a:r>
              <a:rPr lang="en-US" sz="1800" dirty="0"/>
              <a:t> </a:t>
            </a:r>
            <a:r>
              <a:rPr lang="en-US" sz="1800" b="1" dirty="0"/>
              <a:t>76</a:t>
            </a:r>
            <a:r>
              <a:rPr lang="en-US" sz="1800" dirty="0"/>
              <a:t>, 235 (2016). </a:t>
            </a:r>
          </a:p>
        </p:txBody>
      </p:sp>
    </p:spTree>
    <p:extLst>
      <p:ext uri="{BB962C8B-B14F-4D97-AF65-F5344CB8AC3E}">
        <p14:creationId xmlns:p14="http://schemas.microsoft.com/office/powerpoint/2010/main" val="352900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1CF8-6391-B492-D4D6-F4F481B9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AFA258-15BA-73B2-A895-6F0D47DD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(4)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8A0F1CB-A47B-70E4-E81D-4D20BEC82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Algorithm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Generate a dataset K of size </a:t>
                </a:r>
                <a:r>
                  <a:rPr lang="en-US" i="1" dirty="0">
                    <a:solidFill>
                      <a:srgbClr val="0033CC"/>
                    </a:solidFill>
                  </a:rPr>
                  <a:t>N</a:t>
                </a:r>
                <a:r>
                  <a:rPr lang="en-US" dirty="0"/>
                  <a:t>, labeled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sampled from the </a:t>
                </a:r>
                <a:r>
                  <a:rPr lang="en-US" i="1" u="sng" dirty="0"/>
                  <a:t>same</a:t>
                </a:r>
                <a:r>
                  <a:rPr lang="en-US" dirty="0"/>
                  <a:t> prior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For each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0033CC"/>
                    </a:solidFill>
                  </a:rPr>
                  <a:t> sample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dirty="0"/>
                  <a:t>where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a </a:t>
                </a:r>
                <a:r>
                  <a:rPr lang="en-US" i="1" u="sng" dirty="0"/>
                  <a:t>known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conditional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density</a:t>
                </a:r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>
                  <a:solidFill>
                    <a:srgbClr val="0033CC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Train a classifier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with an admixture of U and K.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Divide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8A0F1CB-A47B-70E4-E81D-4D20BEC82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43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4B2E-2CA7-ACE0-1259-9EEEF9EA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248160-7434-7564-BA6D-B9266946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(5)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7A66908-D4A5-D232-6893-666E46FDB5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ratio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could have a large dynamic range. </a:t>
                </a:r>
              </a:p>
              <a:p>
                <a:pPr marL="0" indent="0">
                  <a:buNone/>
                </a:pPr>
                <a:r>
                  <a:rPr lang="en-US" dirty="0"/>
                  <a:t>If so,  instead of approximating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, it may be better to use the appropriate* loss function to approximate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then compute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  <m:oMath>
                      <m:func>
                        <m:func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br>
                  <a:rPr 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33CC"/>
                    </a:solidFill>
                    <a:latin typeface="+mn-lt"/>
                  </a:rPr>
                  <a:t>* Which one?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7A66908-D4A5-D232-6893-666E46FDB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 r="-1766" b="-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31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1" id="{C3F3F02C-A0EA-B24E-929C-A6C346386062}" vid="{27EB58C2-21AD-A141-B9F0-987C112EF1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6375</TotalTime>
  <Words>1564</Words>
  <Application>Microsoft Macintosh PowerPoint</Application>
  <PresentationFormat>Letter Paper (8.5x11 in)</PresentationFormat>
  <Paragraphs>186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Cambria Math</vt:lpstr>
      <vt:lpstr>Marlett</vt:lpstr>
      <vt:lpstr>Times New Roman</vt:lpstr>
      <vt:lpstr>Wingdings</vt:lpstr>
      <vt:lpstr>Default Design</vt:lpstr>
      <vt:lpstr>Machine learning in physics Foundations 3</vt:lpstr>
      <vt:lpstr>Recap</vt:lpstr>
      <vt:lpstr>Recap</vt:lpstr>
      <vt:lpstr>Common loss functions</vt:lpstr>
      <vt:lpstr>Common Loss Functions (1)</vt:lpstr>
      <vt:lpstr>Quadratic Loss</vt:lpstr>
      <vt:lpstr>Binary Cross Entropy Loss (1)</vt:lpstr>
      <vt:lpstr>Other Loss Functions</vt:lpstr>
      <vt:lpstr>PowerPoint Presentation</vt:lpstr>
      <vt:lpstr>PowerPoint Presentation</vt:lpstr>
      <vt:lpstr>BINARY Classifiers</vt:lpstr>
      <vt:lpstr>Binary Classifiers (1)</vt:lpstr>
      <vt:lpstr>Binary Classifiers (2)</vt:lpstr>
      <vt:lpstr>Binary Classifiers (3)</vt:lpstr>
      <vt:lpstr>Binary Classifiers (4)</vt:lpstr>
      <vt:lpstr>Binary Classifiers (4)</vt:lpstr>
      <vt:lpstr>Classifier Performance</vt:lpstr>
      <vt:lpstr>Classifier Performance (1)</vt:lpstr>
      <vt:lpstr>Classifier Performance (2)</vt:lpstr>
      <vt:lpstr>Confusion Matrix</vt:lpstr>
      <vt:lpstr>Confusion Matrix (t=0.9)</vt:lpstr>
      <vt:lpstr>Accuracy, Precision, Recall</vt:lpstr>
      <vt:lpstr>ROC and AUC</vt:lpstr>
      <vt:lpstr>Summary</vt:lpstr>
      <vt:lpstr>Beyond Classification</vt:lpstr>
      <vt:lpstr>Beyond Classification (1) </vt:lpstr>
      <vt:lpstr>Beyond Classification (2)</vt:lpstr>
      <vt:lpstr>Beyond Classification (3)</vt:lpstr>
      <vt:lpstr>Beyond Classification (4)</vt:lpstr>
      <vt:lpstr>Beyond Classification (5)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57</cp:revision>
  <cp:lastPrinted>2019-01-07T00:35:58Z</cp:lastPrinted>
  <dcterms:created xsi:type="dcterms:W3CDTF">2024-08-29T20:46:20Z</dcterms:created>
  <dcterms:modified xsi:type="dcterms:W3CDTF">2026-09-14T17:06:19Z</dcterms:modified>
</cp:coreProperties>
</file>