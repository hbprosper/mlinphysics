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7" r:id="rId2"/>
    <p:sldId id="1137" r:id="rId3"/>
    <p:sldId id="1139" r:id="rId4"/>
    <p:sldId id="1156" r:id="rId5"/>
    <p:sldId id="1158" r:id="rId6"/>
    <p:sldId id="1160" r:id="rId7"/>
    <p:sldId id="1159" r:id="rId8"/>
    <p:sldId id="1157" r:id="rId9"/>
    <p:sldId id="1170" r:id="rId10"/>
    <p:sldId id="1161" r:id="rId11"/>
    <p:sldId id="1162" r:id="rId12"/>
    <p:sldId id="1163" r:id="rId13"/>
    <p:sldId id="1164" r:id="rId14"/>
    <p:sldId id="1088" r:id="rId15"/>
    <p:sldId id="1169" r:id="rId16"/>
    <p:sldId id="1166" r:id="rId17"/>
    <p:sldId id="1165" r:id="rId18"/>
    <p:sldId id="1167" r:id="rId19"/>
    <p:sldId id="1168" r:id="rId20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55"/>
    <p:restoredTop sz="86504"/>
  </p:normalViewPr>
  <p:slideViewPr>
    <p:cSldViewPr>
      <p:cViewPr varScale="1">
        <p:scale>
          <a:sx n="86" d="100"/>
          <a:sy n="86" d="100"/>
        </p:scale>
        <p:origin x="2584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022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922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484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73/pnas.1912789117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nova.lbl.gov/" TargetMode="External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E000CB-EC61-7DFA-0258-19D3DFAC49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Simulation-based inference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41248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B1A0-42D7-C589-36DA-2326866286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br>
              <a:rPr lang="en-US" dirty="0"/>
            </a:b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586248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724B-2ACA-F9A8-3B18-64D9433E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BE3ECA-5AE3-374E-43EB-922D00083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Introduction: </a:t>
            </a:r>
            <a:r>
              <a:rPr lang="en-US" dirty="0">
                <a:solidFill>
                  <a:schemeClr val="accent1"/>
                </a:solidFill>
              </a:rPr>
              <a:t>Statistical Inference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D98D007-F3AB-FC10-1CEA-49166442D3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Consider the following recent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measurement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of the Hubble constant</a:t>
                </a:r>
                <a:r>
                  <a:rPr lang="en-US" baseline="30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1"/>
                        <m:t>H</m:t>
                      </m:r>
                      <m:r>
                        <m:rPr>
                          <m:nor/>
                        </m:rPr>
                        <a:rPr lang="en-US" baseline="-25000"/>
                        <m:t>0</m:t>
                      </m:r>
                      <m:r>
                        <m:rPr>
                          <m:nor/>
                        </m:rPr>
                        <a:rPr lang="en-US"/>
                        <m:t> = 73.30 ± 1.04 </m:t>
                      </m:r>
                      <m:r>
                        <m:rPr>
                          <m:nor/>
                        </m:rPr>
                        <a:rPr lang="en-US"/>
                        <m:t>km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en-US"/>
                        <m:t>s</m:t>
                      </m:r>
                      <m:r>
                        <m:rPr>
                          <m:nor/>
                        </m:rPr>
                        <a:rPr lang="en-US" baseline="30000"/>
                        <m:t>−1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en-US"/>
                        <m:t>Mpc</m:t>
                      </m:r>
                      <m:r>
                        <m:rPr>
                          <m:nor/>
                        </m:rPr>
                        <a:rPr lang="en-US" baseline="30000"/>
                        <m:t>−1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What is the statistical meaning of the above statement? 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If this a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Bayesian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statement, the meaning is: There is a 0.68 probability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∈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72.36, 74.44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buFont typeface="+mj-lt"/>
                  <a:buAutoNum type="arabicPeriod"/>
                </a:pPr>
                <a:r>
                  <a:rPr lang="en-US" sz="1800" dirty="0">
                    <a:effectLst/>
                  </a:rPr>
                  <a:t>Adam G. Riess </a:t>
                </a:r>
                <a:r>
                  <a:rPr lang="en-US" sz="1800" i="1" dirty="0">
                    <a:effectLst/>
                  </a:rPr>
                  <a:t>et al.</a:t>
                </a:r>
                <a:r>
                  <a:rPr lang="en-US" sz="1800" dirty="0">
                    <a:effectLst/>
                  </a:rPr>
                  <a:t> 2022. 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A Comprehensive Measurement of the Local Value of the Hubble Constant with 1 km s</a:t>
                </a:r>
                <a:r>
                  <a:rPr lang="en-US" sz="1800" kern="100" baseline="300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−1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Mpc</a:t>
                </a:r>
                <a:r>
                  <a:rPr lang="en-US" sz="1800" kern="100" baseline="300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−1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Uncertainty from the Hubble Space Telescope and the SH0ES Team.</a:t>
                </a:r>
                <a:r>
                  <a:rPr lang="en-US" sz="1800" dirty="0">
                    <a:effectLst/>
                  </a:rPr>
                  <a:t> 2022 </a:t>
                </a:r>
                <a:r>
                  <a:rPr lang="en-US" sz="1800" i="1" dirty="0" err="1">
                    <a:effectLst/>
                  </a:rPr>
                  <a:t>ApJL</a:t>
                </a:r>
                <a:r>
                  <a:rPr lang="en-US" sz="1800" dirty="0">
                    <a:effectLst/>
                  </a:rPr>
                  <a:t> </a:t>
                </a:r>
                <a:r>
                  <a:rPr lang="en-US" sz="1800" b="1" dirty="0">
                    <a:effectLst/>
                  </a:rPr>
                  <a:t>934</a:t>
                </a:r>
                <a:r>
                  <a:rPr lang="en-US" sz="1800" dirty="0">
                    <a:effectLst/>
                  </a:rPr>
                  <a:t> L7.</a:t>
                </a:r>
                <a:endParaRPr lang="en-US" sz="1800" kern="1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D98D007-F3AB-FC10-1CEA-49166442D3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979" b="-5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885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97CDF-C94E-1CBB-7CEF-96CF5320B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D9D87A2-951F-8A45-1A95-8AD2BEE8F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Introduction: </a:t>
            </a:r>
            <a:r>
              <a:rPr lang="en-US" dirty="0">
                <a:solidFill>
                  <a:schemeClr val="accent1"/>
                </a:solidFill>
              </a:rPr>
              <a:t>Statistical Inference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2BE2A823-27D5-8C11-920E-24B7BAF7E1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If, however, </a:t>
                </a:r>
                <a:endParaRPr lang="en-US" baseline="30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1"/>
                        <m:t>H</m:t>
                      </m:r>
                      <m:r>
                        <m:rPr>
                          <m:nor/>
                        </m:rPr>
                        <a:rPr lang="en-US" baseline="-25000"/>
                        <m:t>0</m:t>
                      </m:r>
                      <m:r>
                        <m:rPr>
                          <m:nor/>
                        </m:rPr>
                        <a:rPr lang="en-US"/>
                        <m:t> = 73.30 ± 1.04 </m:t>
                      </m:r>
                      <m:r>
                        <m:rPr>
                          <m:nor/>
                        </m:rPr>
                        <a:rPr lang="en-US"/>
                        <m:t>km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en-US"/>
                        <m:t>s</m:t>
                      </m:r>
                      <m:r>
                        <m:rPr>
                          <m:nor/>
                        </m:rPr>
                        <a:rPr lang="en-US" baseline="30000"/>
                        <m:t>−1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en-US"/>
                        <m:t>Mpc</m:t>
                      </m:r>
                      <m:r>
                        <m:rPr>
                          <m:nor/>
                        </m:rPr>
                        <a:rPr lang="en-US" baseline="30000"/>
                        <m:t>−1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a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frequentist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statement, the meaning is more involved.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meaning is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72.36, 74.44</m:t>
                        </m:r>
                      </m:e>
                    </m:d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 member of an ensemble of statements 68% of which are true.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72.36, 74.44</m:t>
                        </m:r>
                      </m:e>
                    </m:d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example of a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confidence interval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If the observations are repeated (infinitely!) many times, it is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guaranteed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that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 least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68% of the intervals obtained will include the true value of the Hubble constant,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whatever the true value might be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2BE2A823-27D5-8C11-920E-24B7BAF7E1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b="-3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128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4285-72B0-59CC-E781-2603205B9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7FC190-9605-D00D-1122-27A67347C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Introduction: </a:t>
            </a:r>
            <a:r>
              <a:rPr lang="en-US" dirty="0">
                <a:solidFill>
                  <a:schemeClr val="accent1"/>
                </a:solidFill>
              </a:rPr>
              <a:t>Statistical Inference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D2DD0516-5BF6-1EB2-5F07-70CF1AE722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key quantity in any serious statistical inference is the statistical model </a:t>
                </a:r>
                <a:endParaRPr lang="en-US" b="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𝑝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denotes the potential observations and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 parameters of the statistical model, e.g., the Hubble constant.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When observations </a:t>
                </a: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are entered into the statistical model, the latter becomes the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likelihood function </a:t>
                </a:r>
                <a:endParaRPr lang="en-US" b="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𝑝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which is key for constructing confidence intervals and, more generally,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confidence sets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D2DD0516-5BF6-1EB2-5F07-70CF1AE722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5091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ECE19-36AA-F531-34F7-395A1F8DC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8C2B1E-5489-E616-17D7-8674BEB9D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Introduction: </a:t>
            </a:r>
            <a:r>
              <a:rPr lang="en-US" dirty="0">
                <a:solidFill>
                  <a:schemeClr val="accent1"/>
                </a:solidFill>
              </a:rPr>
              <a:t>Statistical Inference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8331246-9699-52D9-A77D-34614B94D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Unfortunately, statistical models can be intractable. </a:t>
            </a:r>
            <a:endParaRPr lang="en-US" b="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if one has access to a high-fidelity simulator, it is possible to make inferences without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explicit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knowledge of the statistical model. </a:t>
            </a:r>
          </a:p>
          <a:p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Simulation-based inference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(SBI)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1,2,3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methods for making inferences from real data using a simulator.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1600" dirty="0">
                <a:latin typeface="+mn-lt"/>
                <a:cs typeface="Times New Roman" panose="02020603050405020304" pitchFamily="18" charset="0"/>
              </a:rPr>
              <a:t>Kyle Cranmer, Johann Brehmer, and Gille Loupes, </a:t>
            </a:r>
            <a:r>
              <a:rPr lang="en-US" sz="1600" u="sng" kern="100" dirty="0">
                <a:solidFill>
                  <a:srgbClr val="467886"/>
                </a:solidFill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  <a:hlinkClick r:id="rId2"/>
              </a:rPr>
              <a:t>https://doi.org/10.1073/pnas.1912789117</a:t>
            </a:r>
            <a:r>
              <a:rPr lang="en-US" sz="1600" dirty="0">
                <a:latin typeface="+mn-lt"/>
                <a:cs typeface="Times New Roman" panose="02020603050405020304" pitchFamily="18" charset="0"/>
              </a:rPr>
              <a:t>;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600" dirty="0">
                <a:effectLst/>
                <a:latin typeface="+mn-lt"/>
              </a:rPr>
              <a:t>Likelihood-Free Frequentist Inference: Confidence Sets with Correct Conditional Coverage Niccolo Dalmasso, Luca </a:t>
            </a:r>
            <a:r>
              <a:rPr lang="en-US" sz="1600" dirty="0" err="1">
                <a:effectLst/>
                <a:latin typeface="+mn-lt"/>
              </a:rPr>
              <a:t>Masserano</a:t>
            </a:r>
            <a:r>
              <a:rPr lang="en-US" sz="1600" dirty="0">
                <a:effectLst/>
                <a:latin typeface="+mn-lt"/>
              </a:rPr>
              <a:t>, David Zhao, Rafael </a:t>
            </a:r>
            <a:r>
              <a:rPr lang="en-US" sz="1600" dirty="0" err="1">
                <a:effectLst/>
                <a:latin typeface="+mn-lt"/>
              </a:rPr>
              <a:t>Izbicki</a:t>
            </a:r>
            <a:r>
              <a:rPr lang="en-US" sz="1600" dirty="0">
                <a:effectLst/>
                <a:latin typeface="+mn-lt"/>
              </a:rPr>
              <a:t>, Ann B. Lee, arXiv:2107.03920v6 [</a:t>
            </a:r>
            <a:r>
              <a:rPr lang="en-US" sz="1600" dirty="0" err="1">
                <a:effectLst/>
                <a:latin typeface="+mn-lt"/>
              </a:rPr>
              <a:t>stat.ML</a:t>
            </a:r>
            <a:r>
              <a:rPr lang="en-US" sz="1600" dirty="0">
                <a:effectLst/>
                <a:latin typeface="+mn-lt"/>
              </a:rPr>
              <a:t>] 6 Apr 2023.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600" dirty="0"/>
              <a:t>A. Al Kadhim, HBP, O. F. Prosper, </a:t>
            </a:r>
            <a:r>
              <a:rPr lang="en-US" sz="1600" i="1" dirty="0"/>
              <a:t>Mach. Learn.: Sci. Technol. </a:t>
            </a:r>
            <a:r>
              <a:rPr lang="en-US" sz="1600" b="1" dirty="0"/>
              <a:t>5 </a:t>
            </a:r>
            <a:r>
              <a:rPr lang="en-US" sz="1600" dirty="0"/>
              <a:t>(2024) 015020. </a:t>
            </a:r>
          </a:p>
          <a:p>
            <a:pPr marL="0" indent="0">
              <a:buNone/>
            </a:pPr>
            <a:endParaRPr lang="en-US" sz="1600" dirty="0">
              <a:effectLst/>
              <a:latin typeface="+mn-lt"/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481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63B38-9351-40FA-08E6-F56E3C714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BC038-B537-6813-F2C0-9CCE0DAE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Simulation-based inference </a:t>
            </a:r>
            <a:br>
              <a:rPr lang="en-US" dirty="0"/>
            </a:b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27493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377FC-D046-2BA8-ADD6-26FA82FAA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4B1659-23B8-18B2-A4DA-C35F551B6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1751" y="3007836"/>
            <a:ext cx="4113008" cy="1945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1EADE942-00FF-0A29-9A2B-51BF99E22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SBI: </a:t>
            </a:r>
            <a:r>
              <a:rPr lang="en-US" dirty="0">
                <a:solidFill>
                  <a:schemeClr val="accent1"/>
                </a:solidFill>
              </a:rPr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B4C51BA-3F03-4405-0E3C-02FCFADA03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key to SBI from the frequentist perspective is the relationship between </a:t>
                </a: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hypothesis tests </a:t>
                </a:r>
                <a:r>
                  <a:rPr lang="en-US" dirty="0">
                    <a:latin typeface="+mn-lt"/>
                  </a:rPr>
                  <a:t>and </a:t>
                </a: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confidence sets</a:t>
                </a:r>
                <a:r>
                  <a:rPr lang="en-US" dirty="0">
                    <a:latin typeface="+mn-lt"/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hypothesis test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typically proceeds as follows.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Construct a function of potential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observations </a:t>
                </a: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called a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</a:t>
                </a:r>
                <a:b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statistic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the property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that large values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cast doubt 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on the hypothesis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Choose a small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fixed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probability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reject the hypothesis, otherwise do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reject it.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B4C51BA-3F03-4405-0E3C-02FCFADA03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3"/>
                <a:stretch>
                  <a:fillRect l="-1284" t="-1316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2211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4E25-07D8-59DB-B94A-8E11E9000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97054B-D78D-99BD-B120-17E7555F3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1751" y="4379436"/>
            <a:ext cx="4113008" cy="1945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0AFC004-FCCF-9FF5-DF29-9AE124E43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SBI: </a:t>
            </a:r>
            <a:r>
              <a:rPr lang="en-US" dirty="0">
                <a:solidFill>
                  <a:schemeClr val="accent1"/>
                </a:solidFill>
              </a:rPr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0114A438-7BBD-3FD2-1A23-CC0CD6BB89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+mn-lt"/>
                  </a:rPr>
                  <a:t>For a given dataset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, repeated application of this test for different 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+mn-lt"/>
                  </a:rPr>
                  <a:t>divides the parameter space into those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that are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rejected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those that are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set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that are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rejected is called a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confidence set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associated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confidence level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Consequently, the criterion for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rejecting the hypothesis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and, therefore, adding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 the confidence set is: </a:t>
                </a:r>
                <a:b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br>
                  <a:rPr lang="en-US" b="0" i="1" dirty="0">
                    <a:solidFill>
                      <a:srgbClr val="0033CC"/>
                    </a:solidFill>
                    <a:latin typeface="Cambria Math" panose="020405030504060302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1−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)≤1−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b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0114A438-7BBD-3FD2-1A23-CC0CD6BB89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42" t="-1316" r="-1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13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17AC2-0595-9D9E-EAF3-79228ADA3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5F2C9-1A61-62B6-6072-4E5B7ECFE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1751" y="4455636"/>
            <a:ext cx="4113008" cy="1945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37424C4-8BCC-814E-FBDC-765A6631D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SBI: </a:t>
            </a:r>
            <a:r>
              <a:rPr lang="en-US" dirty="0">
                <a:solidFill>
                  <a:schemeClr val="accent1"/>
                </a:solidFill>
              </a:rPr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3813272D-D487-A9AF-0F95-B7A3A5544C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key technical task is approximating either the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p-value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or, equivalently, the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cumulative density function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cdf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sub>
                        </m:sSub>
                      </m:e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≡1−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3813272D-D487-A9AF-0F95-B7A3A5544C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42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5404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744D-C1D5-98C0-C128-C7F2EE830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473D3-DE84-E457-4D0F-AE227B7E79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likelihood free frequentist inference (LF2I)</a:t>
            </a:r>
            <a:br>
              <a:rPr lang="en-US" dirty="0"/>
            </a:b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672132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F85EE-DE8F-AF07-660A-04026CF35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D6B4674-9B31-6C47-D8F3-809FD80A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LF2I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FB463CC-7CF7-A061-F2F4-66259F7F00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LF2I</a:t>
                </a:r>
                <a:r>
                  <a:rPr lang="en-US" baseline="30000" dirty="0"/>
                  <a:t>1</a:t>
                </a:r>
                <a:r>
                  <a:rPr lang="en-US" dirty="0"/>
                  <a:t> is a suite of procedures for implementing frequentist-based inference when the likelihood function is intractable.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We’ll focus on one aspect of LF2I, namely, the algorithm for approximating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algorithm requires: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prior density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sampling the parameter space.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simulator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ℱ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/>
                  <a:t> to simulate potential observations,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A test statistic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>
                  <a:buFont typeface="+mj-lt"/>
                  <a:buAutoNum type="arabicPeriod"/>
                </a:pPr>
                <a:r>
                  <a:rPr lang="en-US" sz="1800" dirty="0"/>
                  <a:t>Likelihood-Free Frequentist Inference: Confidence Sets with Correct Conditional Coverage Niccolo Dalmasso, Luca </a:t>
                </a:r>
                <a:r>
                  <a:rPr lang="en-US" sz="1800" dirty="0" err="1"/>
                  <a:t>Masserano</a:t>
                </a:r>
                <a:r>
                  <a:rPr lang="en-US" sz="1800" dirty="0"/>
                  <a:t>, David Zhao, Rafael </a:t>
                </a:r>
                <a:r>
                  <a:rPr lang="en-US" sz="1800" dirty="0" err="1"/>
                  <a:t>Izbicki</a:t>
                </a:r>
                <a:r>
                  <a:rPr lang="en-US" sz="1800" dirty="0"/>
                  <a:t>, Ann B. Lee, arXiv:2107.03920v6 [</a:t>
                </a:r>
                <a:r>
                  <a:rPr lang="en-US" sz="1800" dirty="0" err="1"/>
                  <a:t>stat.ML</a:t>
                </a:r>
                <a:r>
                  <a:rPr lang="en-US" sz="1800" dirty="0"/>
                  <a:t>] 6 Apr 2023.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FB463CC-7CF7-A061-F2F4-66259F7F00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326" b="-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7493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40685-7DDA-C582-A947-764687C25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294541C-C5BA-48FD-B421-38BA8B51E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LF2I: </a:t>
            </a:r>
            <a:r>
              <a:rPr lang="en-US" dirty="0">
                <a:solidFill>
                  <a:schemeClr val="accent1"/>
                </a:solidFill>
              </a:rPr>
              <a:t>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0E04351-11E7-8756-2DDC-81DEAB3F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2042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Neural network inputs: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Targets: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Loss function: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2000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l-GR" sz="20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Ε</m:t>
                    </m:r>
                    <m:d>
                      <m:dPr>
                        <m:begChr m:val="["/>
                        <m:endChr m:val="]"/>
                        <m:ctrlPr>
                          <a:rPr lang="el-GR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| </m:t>
                        </m:r>
                        <m:r>
                          <a:rPr lang="en-US" sz="2000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20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sz="200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sz="200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sSub>
                      <m:sSubPr>
                        <m:ctrlPr>
                          <a:rPr lang="en-US" sz="20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0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sz="200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r>
                      <a:rPr lang="en-US" sz="200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sz="200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0E04351-11E7-8756-2DDC-81DEAB3F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204200" cy="4819650"/>
              </a:xfrm>
              <a:blipFill>
                <a:blip r:embed="rId2"/>
                <a:stretch>
                  <a:fillRect l="-927" b="-6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9164321-CE93-048E-FA10-287975702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66800"/>
            <a:ext cx="7772400" cy="410122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9469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7CE1E-C644-828C-8BB5-30BF1471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999A8F-3050-C3C5-9528-1254FB130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1828800"/>
            <a:ext cx="4191000" cy="419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F5556444-88BA-CD4E-25CE-6F7C7AA9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LF2I: </a:t>
            </a:r>
            <a:r>
              <a:rPr lang="en-US" dirty="0">
                <a:solidFill>
                  <a:schemeClr val="accent1"/>
                </a:solidFill>
              </a:rPr>
              <a:t>Example – Type 1a </a:t>
            </a:r>
            <a:r>
              <a:rPr lang="en-US" dirty="0" err="1">
                <a:solidFill>
                  <a:schemeClr val="accent1"/>
                </a:solidFill>
              </a:rPr>
              <a:t>Sne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32B846A-7F3C-5809-5D05-66B4BFACE1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the problem of fitting a cosmological model, e.g.,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Λ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CDM</m:t>
                    </m:r>
                  </m:oMath>
                </a14:m>
                <a:r>
                  <a:rPr lang="en-US" dirty="0"/>
                  <a:t>, to the </a:t>
                </a:r>
                <a:r>
                  <a:rPr lang="en-US" dirty="0">
                    <a:solidFill>
                      <a:srgbClr val="0033CC"/>
                    </a:solidFill>
                  </a:rPr>
                  <a:t>Union 2.1</a:t>
                </a:r>
                <a:r>
                  <a:rPr lang="en-US" baseline="30000" dirty="0"/>
                  <a:t>1</a:t>
                </a:r>
                <a:r>
                  <a:rPr lang="en-US" dirty="0"/>
                  <a:t> Type 1a supernova data set.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The statistical model for </a:t>
                </a:r>
                <a:br>
                  <a:rPr lang="en-US" dirty="0"/>
                </a:br>
                <a:r>
                  <a:rPr lang="en-US" dirty="0"/>
                  <a:t>this task is tractable (it is a </a:t>
                </a:r>
                <a:br>
                  <a:rPr lang="en-US" dirty="0"/>
                </a:br>
                <a:r>
                  <a:rPr lang="en-US" dirty="0">
                    <a:solidFill>
                      <a:srgbClr val="0033CC"/>
                    </a:solidFill>
                  </a:rPr>
                  <a:t>580</a:t>
                </a:r>
                <a:r>
                  <a:rPr lang="en-US" dirty="0"/>
                  <a:t>-dimensional Gaussian), </a:t>
                </a:r>
                <a:br>
                  <a:rPr lang="en-US" dirty="0"/>
                </a:br>
                <a:r>
                  <a:rPr lang="en-US" dirty="0"/>
                  <a:t>but the problem provides </a:t>
                </a:r>
                <a:br>
                  <a:rPr lang="en-US" dirty="0"/>
                </a:br>
                <a:r>
                  <a:rPr lang="en-US" dirty="0"/>
                  <a:t>a simple benchmark to </a:t>
                </a:r>
                <a:br>
                  <a:rPr lang="en-US" dirty="0"/>
                </a:br>
                <a:r>
                  <a:rPr lang="en-US" dirty="0"/>
                  <a:t>illustrate the LF2I algorithm,</a:t>
                </a:r>
                <a:br>
                  <a:rPr lang="en-US" dirty="0"/>
                </a:br>
                <a:r>
                  <a:rPr lang="en-US" dirty="0"/>
                  <a:t>and a recent variation</a:t>
                </a:r>
                <a:r>
                  <a:rPr lang="en-US" baseline="30000" dirty="0"/>
                  <a:t>2</a:t>
                </a:r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pPr>
                  <a:buFont typeface="+mj-lt"/>
                  <a:buAutoNum type="arabicPeriod"/>
                </a:pPr>
                <a:r>
                  <a:rPr lang="en-US" sz="1600" dirty="0">
                    <a:hlinkClick r:id="rId3"/>
                  </a:rPr>
                  <a:t>https://www.supernova.lbl.gov/</a:t>
                </a:r>
                <a:endParaRPr lang="en-US" sz="1600" dirty="0"/>
              </a:p>
              <a:p>
                <a:pPr>
                  <a:buFont typeface="+mj-lt"/>
                  <a:buAutoNum type="arabicPeriod"/>
                </a:pPr>
                <a:r>
                  <a:rPr lang="en-US" sz="1600" dirty="0"/>
                  <a:t>A. Al </a:t>
                </a:r>
                <a:r>
                  <a:rPr lang="en-US" sz="1600" dirty="0" err="1"/>
                  <a:t>Kadhim</a:t>
                </a:r>
                <a:r>
                  <a:rPr lang="en-US" sz="1600" dirty="0"/>
                  <a:t>, HBP, O. F. Prosper, </a:t>
                </a:r>
                <a:r>
                  <a:rPr lang="en-US" sz="1600" i="1" dirty="0"/>
                  <a:t>Mach. Learn.: Sci. Technol. </a:t>
                </a:r>
                <a:r>
                  <a:rPr lang="en-US" sz="1600" b="1" dirty="0"/>
                  <a:t>5 </a:t>
                </a:r>
                <a:r>
                  <a:rPr lang="en-US" sz="1600" dirty="0"/>
                  <a:t>(2024) 015020 </a:t>
                </a:r>
              </a:p>
              <a:p>
                <a:pPr marL="0" indent="0">
                  <a:buNone/>
                </a:pPr>
                <a:br>
                  <a:rPr lang="en-US" sz="1800" dirty="0"/>
                </a:br>
                <a:endParaRPr lang="en-US" sz="180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32B846A-7F3C-5809-5D05-66B4BFACE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142" t="-1316" r="-1631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6162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D60DF-E79C-E945-E816-C97C9B3A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59B6E2-05BB-3573-395C-82B5B5F85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LF2I: </a:t>
            </a:r>
            <a:r>
              <a:rPr lang="en-US" dirty="0">
                <a:solidFill>
                  <a:schemeClr val="accent1"/>
                </a:solidFill>
              </a:rPr>
              <a:t>Example – Type 1a </a:t>
            </a:r>
            <a:r>
              <a:rPr lang="en-US" dirty="0" err="1">
                <a:solidFill>
                  <a:schemeClr val="accent1"/>
                </a:solidFill>
              </a:rPr>
              <a:t>Sne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98AD84D-CCD2-8291-5C4C-C288E7A70F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We’ll use the test statistic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580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are the measured </a:t>
                </a:r>
                <a:r>
                  <a:rPr lang="en-US" dirty="0">
                    <a:solidFill>
                      <a:srgbClr val="0033CC"/>
                    </a:solidFill>
                  </a:rPr>
                  <a:t>distance moduli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the measured redshifts,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the cosmological model parameters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is the theoretical prediction for the distance modulus.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Our goal is to approximate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98AD84D-CCD2-8291-5C4C-C288E7A70F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8947" r="-1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8391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081EB-0809-B060-B7F6-DD69CCF55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A601CA3-5C4F-085D-6429-80555726C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LF2I: </a:t>
            </a:r>
            <a:r>
              <a:rPr lang="en-US" dirty="0">
                <a:solidFill>
                  <a:schemeClr val="accent1"/>
                </a:solidFill>
              </a:rPr>
              <a:t>Example – Type 1a </a:t>
            </a:r>
            <a:r>
              <a:rPr lang="en-US" dirty="0" err="1">
                <a:solidFill>
                  <a:schemeClr val="accent1"/>
                </a:solidFill>
              </a:rPr>
              <a:t>Sne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C18527F-E7FF-6D13-E2F4-F8AEC4A0E1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consider a cosmological model in which the energy density of the universe is given by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−1)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model is defined by two parameters: the Hubble constant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(not to be confused with the hypothesis symbol!) and the dimensionless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As the figure indicates, one gets</a:t>
                </a:r>
                <a:br>
                  <a:rPr lang="en-US" dirty="0"/>
                </a:br>
                <a:r>
                  <a:rPr lang="en-US" dirty="0"/>
                  <a:t>an excellent fit of this model</a:t>
                </a:r>
                <a:br>
                  <a:rPr lang="en-US" dirty="0"/>
                </a:br>
                <a:r>
                  <a:rPr lang="en-US" dirty="0"/>
                  <a:t>to the Type 1a data.</a:t>
                </a:r>
                <a:br>
                  <a:rPr lang="en-US" sz="1800" dirty="0"/>
                </a:br>
                <a:endParaRPr lang="en-US" sz="180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C18527F-E7FF-6D13-E2F4-F8AEC4A0E1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9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3C330CA8-D34F-1396-7BBD-10AC1037F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440" y="3601075"/>
            <a:ext cx="4479560" cy="27997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86455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2C5FC-0636-1D87-B99F-27E5FEB7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5605ADB-F2B5-B87C-2ED6-0FE566BA3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LF2I: </a:t>
            </a:r>
            <a:r>
              <a:rPr lang="en-US" dirty="0">
                <a:solidFill>
                  <a:schemeClr val="accent1"/>
                </a:solidFill>
              </a:rPr>
              <a:t>Example – Type 1a </a:t>
            </a:r>
            <a:r>
              <a:rPr lang="en-US" dirty="0" err="1">
                <a:solidFill>
                  <a:schemeClr val="accent1"/>
                </a:solidFill>
              </a:rPr>
              <a:t>Sne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59A6600-4AE3-7F20-4297-95E3C53C36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Goal</a:t>
                </a:r>
                <a:r>
                  <a:rPr lang="en-US" dirty="0"/>
                  <a:t>: model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r>
                  <a:rPr lang="en-US" baseline="30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endParaRPr lang="en-US" baseline="30000" dirty="0"/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Training data: 250,000 sets of 580 distance</a:t>
                </a:r>
                <a:br>
                  <a:rPr lang="en-US" dirty="0"/>
                </a:br>
                <a:r>
                  <a:rPr lang="en-US" dirty="0"/>
                  <a:t>moduli sampled from Gaussians with the </a:t>
                </a:r>
                <a:br>
                  <a:rPr lang="en-US" dirty="0"/>
                </a:br>
                <a:r>
                  <a:rPr lang="en-US" dirty="0"/>
                  <a:t>same standard deviations as the real data.</a:t>
                </a:r>
              </a:p>
              <a:p>
                <a:r>
                  <a:rPr lang="en-US" dirty="0"/>
                  <a:t>Batch size: 50.</a:t>
                </a:r>
              </a:p>
              <a:p>
                <a:r>
                  <a:rPr lang="en-US" dirty="0"/>
                  <a:t>Learning rate: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Adam optimizer.</a:t>
                </a:r>
              </a:p>
              <a:p>
                <a:r>
                  <a:rPr lang="en-US" dirty="0"/>
                  <a:t>100,000 iterations.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1600" dirty="0">
                    <a:latin typeface="+mn-lt"/>
                  </a:rPr>
                  <a:t>A. Al </a:t>
                </a:r>
                <a:r>
                  <a:rPr lang="en-US" sz="1600" dirty="0" err="1">
                    <a:latin typeface="+mn-lt"/>
                  </a:rPr>
                  <a:t>Kadhim</a:t>
                </a:r>
                <a:r>
                  <a:rPr lang="en-US" sz="1600" dirty="0">
                    <a:latin typeface="+mn-lt"/>
                  </a:rPr>
                  <a:t>, HBP, O. F. Prosper, </a:t>
                </a:r>
                <a:r>
                  <a:rPr lang="en-US" sz="1600" i="1" dirty="0">
                    <a:effectLst/>
                    <a:latin typeface="+mn-lt"/>
                  </a:rPr>
                  <a:t>Mach. Learn.: Sci. Technol. </a:t>
                </a:r>
                <a:r>
                  <a:rPr lang="en-US" sz="1600" b="1" dirty="0">
                    <a:effectLst/>
                    <a:latin typeface="+mn-lt"/>
                  </a:rPr>
                  <a:t>5 </a:t>
                </a:r>
                <a:r>
                  <a:rPr lang="en-US" sz="1600" dirty="0">
                    <a:effectLst/>
                    <a:latin typeface="+mn-lt"/>
                  </a:rPr>
                  <a:t>(2024) 015020 </a:t>
                </a:r>
                <a:endParaRPr lang="en-US" sz="1600" dirty="0">
                  <a:latin typeface="+mn-lt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59A6600-4AE3-7F20-4297-95E3C53C36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1CBBE0DA-AA47-8FB6-807E-4C68E2EDD9F0}"/>
              </a:ext>
            </a:extLst>
          </p:cNvPr>
          <p:cNvGrpSpPr/>
          <p:nvPr/>
        </p:nvGrpSpPr>
        <p:grpSpPr>
          <a:xfrm>
            <a:off x="7095879" y="113374"/>
            <a:ext cx="1914406" cy="5982626"/>
            <a:chOff x="6934200" y="0"/>
            <a:chExt cx="1857828" cy="598262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6877793-CFCD-0421-A04B-0CB82BAAC33B}"/>
                    </a:ext>
                  </a:extLst>
                </p:cNvPr>
                <p:cNvSpPr txBox="1"/>
                <p:nvPr/>
              </p:nvSpPr>
              <p:spPr>
                <a:xfrm>
                  <a:off x="7670800" y="5542959"/>
                  <a:ext cx="434414" cy="43966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6877793-CFCD-0421-A04B-0CB82BAAC3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800" y="5542959"/>
                  <a:ext cx="434414" cy="43966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1375C0A-175C-EFEA-F3F3-0EDCB1DEF7D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7860037" y="4424065"/>
              <a:ext cx="2985" cy="201148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17A7B18-0637-7DD0-6753-F7C0C45B9DB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870803" y="5302937"/>
              <a:ext cx="0" cy="304313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85265EC-E31B-7B75-DEE5-52FC98FF44BA}"/>
                </a:ext>
              </a:extLst>
            </p:cNvPr>
            <p:cNvGrpSpPr/>
            <p:nvPr/>
          </p:nvGrpSpPr>
          <p:grpSpPr>
            <a:xfrm>
              <a:off x="6983415" y="4647116"/>
              <a:ext cx="1808613" cy="691556"/>
              <a:chOff x="6734628" y="4603691"/>
              <a:chExt cx="2133600" cy="8645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D821986D-8C31-52F5-087F-6A4E1F77F78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086600" y="4603691"/>
                    <a:ext cx="1447799" cy="423235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eLU</m:t>
                          </m:r>
                          <m:r>
                            <a:rPr kumimoji="0" lang="en-US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()</m:t>
                          </m:r>
                        </m:oMath>
                      </m:oMathPara>
                    </a14:m>
                    <a:endPara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D821986D-8C31-52F5-087F-6A4E1F77F78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7086600" y="4603691"/>
                    <a:ext cx="1447799" cy="42323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127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9C8281A-9442-1FF4-8489-9EAA196CF268}"/>
                  </a:ext>
                </a:extLst>
              </p:cNvPr>
              <p:cNvSpPr/>
              <p:nvPr/>
            </p:nvSpPr>
            <p:spPr bwMode="auto">
              <a:xfrm>
                <a:off x="6734628" y="5044988"/>
                <a:ext cx="2133600" cy="423235"/>
              </a:xfrm>
              <a:prstGeom prst="rect">
                <a:avLst/>
              </a:prstGeom>
              <a:solidFill>
                <a:srgbClr val="FFFC8F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Linear(3, 20)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FB7F528-3D13-9EF4-75F5-B139A0A1B971}"/>
                </a:ext>
              </a:extLst>
            </p:cNvPr>
            <p:cNvGrpSpPr/>
            <p:nvPr/>
          </p:nvGrpSpPr>
          <p:grpSpPr>
            <a:xfrm>
              <a:off x="6955731" y="3773165"/>
              <a:ext cx="1808613" cy="691558"/>
              <a:chOff x="6734628" y="5078449"/>
              <a:chExt cx="2133600" cy="86453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B98C2EB5-2E2D-8191-2164-A2DF744C2B2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086600" y="5078449"/>
                    <a:ext cx="1447799" cy="423235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eLU</m:t>
                          </m:r>
                          <m:r>
                            <a:rPr kumimoji="0" lang="en-US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()</m:t>
                          </m:r>
                        </m:oMath>
                      </m:oMathPara>
                    </a14:m>
                    <a:endPara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B98C2EB5-2E2D-8191-2164-A2DF744C2B2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7086600" y="5078449"/>
                    <a:ext cx="1447799" cy="42323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127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A8CFE30F-7502-D25F-AC24-BF5406AE781D}"/>
                  </a:ext>
                </a:extLst>
              </p:cNvPr>
              <p:cNvSpPr/>
              <p:nvPr/>
            </p:nvSpPr>
            <p:spPr bwMode="auto">
              <a:xfrm>
                <a:off x="6734628" y="5519748"/>
                <a:ext cx="2133600" cy="423235"/>
              </a:xfrm>
              <a:prstGeom prst="rect">
                <a:avLst/>
              </a:prstGeom>
              <a:solidFill>
                <a:srgbClr val="FFFC8F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Linear(</a:t>
                </a:r>
                <a:r>
                  <a:rPr lang="en-US" sz="1600" dirty="0">
                    <a:latin typeface="Times New Roman" pitchFamily="-65" charset="0"/>
                  </a:rPr>
                  <a:t>20</a:t>
                </a: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, 20)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9DAB0D4-E440-A830-6B6A-9EE36CCDE53F}"/>
                </a:ext>
              </a:extLst>
            </p:cNvPr>
            <p:cNvGrpSpPr/>
            <p:nvPr/>
          </p:nvGrpSpPr>
          <p:grpSpPr>
            <a:xfrm>
              <a:off x="6955730" y="765621"/>
              <a:ext cx="1808613" cy="733902"/>
              <a:chOff x="6705600" y="409924"/>
              <a:chExt cx="2133600" cy="83406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19A939D3-41E8-E1F3-C3A1-3BBA90B7934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061201" y="409924"/>
                    <a:ext cx="1447800" cy="384759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1600" b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</a:rPr>
                      <a:t>sigmoid</a:t>
                    </a:r>
                    <a14:m>
                      <m:oMath xmlns:m="http://schemas.openxmlformats.org/officeDocument/2006/math">
                        <m:r>
                          <a:rPr kumimoji="0" lang="en-US" sz="16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()</m:t>
                        </m:r>
                      </m:oMath>
                    </a14:m>
                    <a:endPara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19A939D3-41E8-E1F3-C3A1-3BBA90B7934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7061201" y="409924"/>
                    <a:ext cx="1447800" cy="38475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27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E5DB8C8-BF7B-364A-EA7D-5BCC529EDA9A}"/>
                  </a:ext>
                </a:extLst>
              </p:cNvPr>
              <p:cNvSpPr/>
              <p:nvPr/>
            </p:nvSpPr>
            <p:spPr bwMode="auto">
              <a:xfrm>
                <a:off x="6705600" y="859229"/>
                <a:ext cx="2133600" cy="384759"/>
              </a:xfrm>
              <a:prstGeom prst="rect">
                <a:avLst/>
              </a:prstGeom>
              <a:solidFill>
                <a:srgbClr val="FFFC8F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Linear(</a:t>
                </a:r>
                <a:r>
                  <a:rPr lang="en-US" sz="1600" dirty="0">
                    <a:latin typeface="Times New Roman" pitchFamily="-65" charset="0"/>
                  </a:rPr>
                  <a:t>20</a:t>
                </a: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, </a:t>
                </a:r>
                <a:r>
                  <a:rPr lang="en-US" sz="1600" dirty="0">
                    <a:latin typeface="Times New Roman" pitchFamily="-65" charset="0"/>
                  </a:rPr>
                  <a:t>1</a:t>
                </a: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)</a:t>
                </a:r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BF17A76-3742-4B85-319A-69C2F65AA9AC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7860131" y="3537117"/>
              <a:ext cx="2985" cy="201148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087BF214-9D98-9817-945C-5A4608FAE555}"/>
                </a:ext>
              </a:extLst>
            </p:cNvPr>
            <p:cNvGrpSpPr/>
            <p:nvPr/>
          </p:nvGrpSpPr>
          <p:grpSpPr>
            <a:xfrm>
              <a:off x="6954387" y="2519065"/>
              <a:ext cx="1808613" cy="990600"/>
              <a:chOff x="7030587" y="2819400"/>
              <a:chExt cx="1808613" cy="990600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65A0E9D1-EAD8-7350-0160-54FAE4CE2EE4}"/>
                  </a:ext>
                </a:extLst>
              </p:cNvPr>
              <p:cNvGrpSpPr/>
              <p:nvPr/>
            </p:nvGrpSpPr>
            <p:grpSpPr>
              <a:xfrm>
                <a:off x="7030587" y="3118442"/>
                <a:ext cx="1808613" cy="691558"/>
                <a:chOff x="6734628" y="5078449"/>
                <a:chExt cx="2133600" cy="86453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Rectangle 29">
                      <a:extLst>
                        <a:ext uri="{FF2B5EF4-FFF2-40B4-BE49-F238E27FC236}">
                          <a16:creationId xmlns:a16="http://schemas.microsoft.com/office/drawing/2014/main" id="{7899BD8E-BE75-E784-D055-52AD2ABB9D67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086600" y="5078449"/>
                      <a:ext cx="1447799" cy="423235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eLU</m:t>
                            </m:r>
                            <m:r>
                              <a:rPr kumimoji="0" lang="en-US" sz="16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()</m:t>
                            </m:r>
                          </m:oMath>
                        </m:oMathPara>
                      </a14:m>
                      <a:endParaRPr kumimoji="0" lang="en-US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0" name="Rectangle 29">
                      <a:extLst>
                        <a:ext uri="{FF2B5EF4-FFF2-40B4-BE49-F238E27FC236}">
                          <a16:creationId xmlns:a16="http://schemas.microsoft.com/office/drawing/2014/main" id="{7899BD8E-BE75-E784-D055-52AD2ABB9D6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 bwMode="auto">
                    <a:xfrm>
                      <a:off x="7086600" y="5078449"/>
                      <a:ext cx="1447799" cy="423235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  <a:ln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98F248B0-B8FD-96BB-4660-A3094A33B58E}"/>
                    </a:ext>
                  </a:extLst>
                </p:cNvPr>
                <p:cNvSpPr/>
                <p:nvPr/>
              </p:nvSpPr>
              <p:spPr bwMode="auto">
                <a:xfrm>
                  <a:off x="6734628" y="5519748"/>
                  <a:ext cx="2133600" cy="423235"/>
                </a:xfrm>
                <a:prstGeom prst="rect">
                  <a:avLst/>
                </a:prstGeom>
                <a:solidFill>
                  <a:srgbClr val="FFFC8F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rPr>
                    <a:t>Linear(</a:t>
                  </a:r>
                  <a:r>
                    <a:rPr lang="en-US" sz="1600" dirty="0">
                      <a:latin typeface="Times New Roman" pitchFamily="-65" charset="0"/>
                    </a:rPr>
                    <a:t>20</a:t>
                  </a:r>
                  <a:r>
                    <a: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rPr>
                    <a:t>, 20)</a:t>
                  </a:r>
                </a:p>
              </p:txBody>
            </p:sp>
          </p:grp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486291A0-CAB9-A4BB-594D-CFC6CB697162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 flipV="1">
                <a:off x="7924800" y="2819400"/>
                <a:ext cx="4370" cy="267728"/>
              </a:xfrm>
              <a:prstGeom prst="straightConnector1">
                <a:avLst/>
              </a:prstGeom>
              <a:noFill/>
              <a:ln w="412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A3E40B2-6B74-E618-9713-9AA840D388E2}"/>
                </a:ext>
              </a:extLst>
            </p:cNvPr>
            <p:cNvGrpSpPr/>
            <p:nvPr/>
          </p:nvGrpSpPr>
          <p:grpSpPr>
            <a:xfrm>
              <a:off x="6934200" y="1528465"/>
              <a:ext cx="1808613" cy="990600"/>
              <a:chOff x="7030587" y="2819400"/>
              <a:chExt cx="1808613" cy="990600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776D75BA-69AB-CCA3-6C9E-FF3CB0DD5286}"/>
                  </a:ext>
                </a:extLst>
              </p:cNvPr>
              <p:cNvGrpSpPr/>
              <p:nvPr/>
            </p:nvGrpSpPr>
            <p:grpSpPr>
              <a:xfrm>
                <a:off x="7030587" y="3118442"/>
                <a:ext cx="1808613" cy="691558"/>
                <a:chOff x="6734628" y="5078449"/>
                <a:chExt cx="2133600" cy="86453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Rectangle 36">
                      <a:extLst>
                        <a:ext uri="{FF2B5EF4-FFF2-40B4-BE49-F238E27FC236}">
                          <a16:creationId xmlns:a16="http://schemas.microsoft.com/office/drawing/2014/main" id="{71135898-FF2D-BF48-0D10-DB3A199F6811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7086600" y="5078449"/>
                      <a:ext cx="1447799" cy="423235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eLU</m:t>
                            </m:r>
                            <m:r>
                              <a:rPr kumimoji="0" lang="en-US" sz="16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()</m:t>
                            </m:r>
                          </m:oMath>
                        </m:oMathPara>
                      </a14:m>
                      <a:endParaRPr kumimoji="0" lang="en-US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7" name="Rectangle 36">
                      <a:extLst>
                        <a:ext uri="{FF2B5EF4-FFF2-40B4-BE49-F238E27FC236}">
                          <a16:creationId xmlns:a16="http://schemas.microsoft.com/office/drawing/2014/main" id="{71135898-FF2D-BF48-0D10-DB3A199F681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 bwMode="auto">
                    <a:xfrm>
                      <a:off x="7086600" y="5078449"/>
                      <a:ext cx="1447799" cy="423235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  <a:ln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1B0E2569-A002-56C1-0E73-EB16CCE841E8}"/>
                    </a:ext>
                  </a:extLst>
                </p:cNvPr>
                <p:cNvSpPr/>
                <p:nvPr/>
              </p:nvSpPr>
              <p:spPr bwMode="auto">
                <a:xfrm>
                  <a:off x="6734628" y="5519748"/>
                  <a:ext cx="2133600" cy="423235"/>
                </a:xfrm>
                <a:prstGeom prst="rect">
                  <a:avLst/>
                </a:prstGeom>
                <a:solidFill>
                  <a:srgbClr val="FFFC8F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rPr>
                    <a:t>Linear(</a:t>
                  </a:r>
                  <a:r>
                    <a:rPr lang="en-US" sz="1600" dirty="0">
                      <a:latin typeface="Times New Roman" pitchFamily="-65" charset="0"/>
                    </a:rPr>
                    <a:t>20</a:t>
                  </a:r>
                  <a:r>
                    <a: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rPr>
                    <a:t>, 20)</a:t>
                  </a:r>
                </a:p>
              </p:txBody>
            </p:sp>
          </p:grp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D9B83758-7DC0-183F-FC1D-5D57E01C0C8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 flipV="1">
                <a:off x="7924800" y="2819400"/>
                <a:ext cx="4370" cy="267728"/>
              </a:xfrm>
              <a:prstGeom prst="straightConnector1">
                <a:avLst/>
              </a:prstGeom>
              <a:noFill/>
              <a:ln w="412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2D4EEF15-3AA4-45C5-204C-8D788553631E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7844230" y="461665"/>
              <a:ext cx="4370" cy="267728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CF2AAA5-95D8-D669-0A5A-BFEE3CBFA792}"/>
                    </a:ext>
                  </a:extLst>
                </p:cNvPr>
                <p:cNvSpPr txBox="1"/>
                <p:nvPr/>
              </p:nvSpPr>
              <p:spPr>
                <a:xfrm>
                  <a:off x="7682929" y="0"/>
                  <a:ext cx="42543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CF2AAA5-95D8-D669-0A5A-BFEE3CBFA7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2929" y="0"/>
                  <a:ext cx="425434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81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09324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16248-34FC-D34B-27E8-88469119C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C5C70D-7D00-2EE5-ED5A-431E269A75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76400"/>
            <a:ext cx="4572000" cy="4572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3C553177-9AC7-9789-D456-484454936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LF2I: </a:t>
            </a:r>
            <a:r>
              <a:rPr lang="en-US" dirty="0">
                <a:solidFill>
                  <a:schemeClr val="accent1"/>
                </a:solidFill>
              </a:rPr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F689F4A-D6D9-96A7-5E50-B0E8A3C625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Confidence set boundaries defined by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d>
                      <m:dPr>
                        <m:ctrlP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≤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sub>
                        </m:sSub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Solid contours: NN.</a:t>
                </a:r>
                <a:br>
                  <a:rPr lang="en-US" dirty="0"/>
                </a:br>
                <a:endParaRPr lang="en-US" dirty="0"/>
              </a:p>
              <a:p>
                <a:pPr/>
                <a:r>
                  <a:rPr lang="en-US" dirty="0"/>
                  <a:t>Dashed contours: histogram</a:t>
                </a:r>
                <a:br>
                  <a:rPr lang="en-US" dirty="0"/>
                </a:br>
                <a:r>
                  <a:rPr lang="en-US" dirty="0"/>
                  <a:t>approximation of </a:t>
                </a:r>
                <a:br>
                  <a:rPr lang="en-US" b="0" i="1" dirty="0">
                    <a:solidFill>
                      <a:srgbClr val="0033CC"/>
                    </a:solidFill>
                    <a:latin typeface="Cambria Math" panose="020405030504060302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Ε</m:t>
                    </m:r>
                    <m:d>
                      <m:dPr>
                        <m:begChr m:val="["/>
                        <m:endChr m:val="]"/>
                        <m:ctrlPr>
                          <a:rPr lang="el-GR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|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|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F689F4A-D6D9-96A7-5E50-B0E8A3C625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6694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AFEC0-EEF9-31EB-AF80-51C53C598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FE972D-89C7-253D-C68A-921962594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785DE0-8A75-A26B-EC65-67C75D491F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Simulation-based inference is a set of methods to make inferences about the parameters of a statistical model when the latter is intractable.</a:t>
                </a:r>
              </a:p>
              <a:p>
                <a:endParaRPr lang="en-US" dirty="0"/>
              </a:p>
              <a:p>
                <a:r>
                  <a:rPr lang="en-US" dirty="0"/>
                  <a:t>The key ingredients are: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prior density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sampling the parameter space.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simulator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ℱ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to simulate potential observations,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A test statistic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Machine learning models to approximate various statistical quantities given data sets of real and simulated data.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785DE0-8A75-A26B-EC65-67C75D491F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1316" r="-1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586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205</TotalTime>
  <Words>1395</Words>
  <Application>Microsoft Macintosh PowerPoint</Application>
  <PresentationFormat>Letter Paper (8.5x11 in)</PresentationFormat>
  <Paragraphs>154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Cambria Math</vt:lpstr>
      <vt:lpstr>Times New Roman</vt:lpstr>
      <vt:lpstr>Wingdings</vt:lpstr>
      <vt:lpstr>Default Design</vt:lpstr>
      <vt:lpstr>Machine learning in physics Simulation-based inference</vt:lpstr>
      <vt:lpstr>introduction </vt:lpstr>
      <vt:lpstr>Introduction: Statistical Inference</vt:lpstr>
      <vt:lpstr>Introduction: Statistical Inference</vt:lpstr>
      <vt:lpstr>Introduction: Statistical Inference</vt:lpstr>
      <vt:lpstr>Introduction: Statistical Inference</vt:lpstr>
      <vt:lpstr>Simulation-based inference  </vt:lpstr>
      <vt:lpstr>SBI: Introduction</vt:lpstr>
      <vt:lpstr>SBI: Introduction</vt:lpstr>
      <vt:lpstr>SBI: Introduction</vt:lpstr>
      <vt:lpstr>likelihood free frequentist inference (LF2I) </vt:lpstr>
      <vt:lpstr>LF2I</vt:lpstr>
      <vt:lpstr>LF2I: Algorithm</vt:lpstr>
      <vt:lpstr>LF2I: Example – Type 1a Sne</vt:lpstr>
      <vt:lpstr>LF2I: Example – Type 1a Sne</vt:lpstr>
      <vt:lpstr>LF2I: Example – Type 1a Sne</vt:lpstr>
      <vt:lpstr>LF2I: Example – Type 1a Sne</vt:lpstr>
      <vt:lpstr>LF2I: Example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5</cp:revision>
  <cp:lastPrinted>2019-01-07T00:35:58Z</cp:lastPrinted>
  <dcterms:created xsi:type="dcterms:W3CDTF">2025-10-29T04:00:54Z</dcterms:created>
  <dcterms:modified xsi:type="dcterms:W3CDTF">2026-03-21T00:58:15Z</dcterms:modified>
</cp:coreProperties>
</file>