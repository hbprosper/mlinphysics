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1137" r:id="rId3"/>
    <p:sldId id="1139" r:id="rId4"/>
    <p:sldId id="1156" r:id="rId5"/>
    <p:sldId id="1158" r:id="rId6"/>
    <p:sldId id="1160" r:id="rId7"/>
    <p:sldId id="1159" r:id="rId8"/>
    <p:sldId id="1157" r:id="rId9"/>
    <p:sldId id="1161" r:id="rId10"/>
    <p:sldId id="1162" r:id="rId11"/>
    <p:sldId id="1163" r:id="rId12"/>
    <p:sldId id="1164" r:id="rId13"/>
    <p:sldId id="1088" r:id="rId14"/>
    <p:sldId id="1169" r:id="rId15"/>
    <p:sldId id="1166" r:id="rId16"/>
    <p:sldId id="1165" r:id="rId17"/>
    <p:sldId id="1167" r:id="rId18"/>
    <p:sldId id="1168" r:id="rId19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3"/>
    <p:restoredTop sz="86514"/>
  </p:normalViewPr>
  <p:slideViewPr>
    <p:cSldViewPr>
      <p:cViewPr varScale="1">
        <p:scale>
          <a:sx n="89" d="100"/>
          <a:sy n="89" d="100"/>
        </p:scale>
        <p:origin x="25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2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2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8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73/pnas.1912789117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nova.lbl.gov/" TargetMode="Externa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Simulation-based inference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4124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B1A0-42D7-C589-36DA-2326866286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8624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724B-2ACA-F9A8-3B18-64D9433E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BE3ECA-5AE3-374E-43EB-922D0008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D98D007-F3AB-FC10-1CEA-49166442D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following recent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Hubble constant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/>
                        <m:t>H</m:t>
                      </m:r>
                      <m:r>
                        <m:rPr>
                          <m:nor/>
                        </m:rPr>
                        <a:rPr lang="en-US" baseline="-25000"/>
                        <m:t>0</m:t>
                      </m:r>
                      <m:r>
                        <m:rPr>
                          <m:nor/>
                        </m:rPr>
                        <a:rPr lang="en-US"/>
                        <m:t> = 73.30 ± 1.04 </m:t>
                      </m:r>
                      <m:r>
                        <m:rPr>
                          <m:nor/>
                        </m:rPr>
                        <a:rPr lang="en-US"/>
                        <m:t>km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s</m:t>
                      </m:r>
                      <m:r>
                        <m:rPr>
                          <m:nor/>
                        </m:rPr>
                        <a:rPr lang="en-US" baseline="30000"/>
                        <m:t>−1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Mpc</m:t>
                      </m:r>
                      <m:r>
                        <m:rPr>
                          <m:nor/>
                        </m:rPr>
                        <a:rPr lang="en-US" baseline="30000"/>
                        <m:t>−1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statistical meaning of the above statement?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this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Bayesian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statement, the meaning is: There is a 0.68 probability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72.36, 74.44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800" dirty="0">
                    <a:effectLst/>
                  </a:rPr>
                  <a:t>Adam G. Riess </a:t>
                </a:r>
                <a:r>
                  <a:rPr lang="en-US" sz="1800" i="1" dirty="0">
                    <a:effectLst/>
                  </a:rPr>
                  <a:t>et al.</a:t>
                </a:r>
                <a:r>
                  <a:rPr lang="en-US" sz="1800" dirty="0">
                    <a:effectLst/>
                  </a:rPr>
                  <a:t> 2022.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Comprehensive Measurement of the Local Value of the Hubble Constant with 1 km s</a:t>
                </a:r>
                <a:r>
                  <a:rPr lang="en-US" sz="1800" kern="100" baseline="300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−1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Mpc</a:t>
                </a:r>
                <a:r>
                  <a:rPr lang="en-US" sz="1800" kern="100" baseline="300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−1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Uncertainty from the Hubble Space Telescope and the SH0ES Team.</a:t>
                </a:r>
                <a:r>
                  <a:rPr lang="en-US" sz="1800" dirty="0">
                    <a:effectLst/>
                  </a:rPr>
                  <a:t> 2022 </a:t>
                </a:r>
                <a:r>
                  <a:rPr lang="en-US" sz="1800" i="1" dirty="0" err="1">
                    <a:effectLst/>
                  </a:rPr>
                  <a:t>ApJL</a:t>
                </a:r>
                <a:r>
                  <a:rPr lang="en-US" sz="1800" dirty="0">
                    <a:effectLst/>
                  </a:rPr>
                  <a:t> </a:t>
                </a:r>
                <a:r>
                  <a:rPr lang="en-US" sz="1800" b="1" dirty="0">
                    <a:effectLst/>
                  </a:rPr>
                  <a:t>934</a:t>
                </a:r>
                <a:r>
                  <a:rPr lang="en-US" sz="1800" dirty="0">
                    <a:effectLst/>
                  </a:rPr>
                  <a:t> L7.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D98D007-F3AB-FC10-1CEA-49166442D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979" b="-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7CDF-C94E-1CBB-7CEF-96CF5320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9D87A2-951F-8A45-1A95-8AD2BEE8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E2A823-27D5-8C11-920E-24B7BAF7E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If, however, </a:t>
                </a:r>
                <a:endParaRPr lang="en-US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/>
                        <m:t>H</m:t>
                      </m:r>
                      <m:r>
                        <m:rPr>
                          <m:nor/>
                        </m:rPr>
                        <a:rPr lang="en-US" baseline="-25000"/>
                        <m:t>0</m:t>
                      </m:r>
                      <m:r>
                        <m:rPr>
                          <m:nor/>
                        </m:rPr>
                        <a:rPr lang="en-US"/>
                        <m:t> = 73.30 ± 1.04 </m:t>
                      </m:r>
                      <m:r>
                        <m:rPr>
                          <m:nor/>
                        </m:rPr>
                        <a:rPr lang="en-US"/>
                        <m:t>km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s</m:t>
                      </m:r>
                      <m:r>
                        <m:rPr>
                          <m:nor/>
                        </m:rPr>
                        <a:rPr lang="en-US" baseline="30000"/>
                        <m:t>−1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Mpc</m:t>
                      </m:r>
                      <m:r>
                        <m:rPr>
                          <m:nor/>
                        </m:rPr>
                        <a:rPr lang="en-US" baseline="30000"/>
                        <m:t>−1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frequentist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statement, the meaning is more involved.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meaning is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72.36, 74.44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member of an ensemble of statements 68% of which are true.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72.36, 74.44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example of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 interval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Upon unlimited repetitions of the observations that yielded this interval, we expect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least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68% of the intervals deduced from the repeated observations to include the true value of the Hubble constant.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E2A823-27D5-8C11-920E-24B7BAF7E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794" b="-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2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4285-72B0-59CC-E781-2603205B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FC190-9605-D00D-1122-27A67347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2DD0516-5BF6-1EB2-5F07-70CF1AE72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quantity in any serious statistical inference is the statistical model </a:t>
                </a:r>
                <a:endParaRPr lang="en-US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potential observations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parameters of the statistical model, e.g., the Hubble constant.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observations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entered into the statistical model, the statistical model becomes the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likelihood function </a:t>
                </a:r>
                <a:endParaRPr lang="en-US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is key for constructing confidence intervals and, more generally,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 sets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2DD0516-5BF6-1EB2-5F07-70CF1AE72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09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CE19-36AA-F531-34F7-395A1F8D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8C2B1E-5489-E616-17D7-8674BEB9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Statistical Inference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331246-9699-52D9-A77D-34614B94D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statistical models can be intractable. </a:t>
            </a:r>
            <a:endParaRPr lang="en-US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by leveraging domain-specific simulators, it is possible to make inferences without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of the statistical model. Knowledge of the statistical model 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 generated by the simulators. </a:t>
            </a:r>
          </a:p>
          <a:p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inference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(SBI)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 set of methods for making inferences directly from real and simulated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Kyle Cranmer, Johann Brehmer, and Gille Loupes, </a:t>
            </a:r>
            <a:r>
              <a:rPr lang="en-US" sz="1600" u="sng" kern="100" dirty="0">
                <a:solidFill>
                  <a:srgbClr val="467886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https://doi.org/10.1073/pnas.1912789117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effectLst/>
                <a:latin typeface="+mn-lt"/>
              </a:rPr>
              <a:t>Likelihood-Free Frequentist Inference: Confidence Sets with Correct Conditional Coverage Niccolo Dalmasso, Luca </a:t>
            </a:r>
            <a:r>
              <a:rPr lang="en-US" sz="1600" dirty="0" err="1">
                <a:effectLst/>
                <a:latin typeface="+mn-lt"/>
              </a:rPr>
              <a:t>Masserano</a:t>
            </a:r>
            <a:r>
              <a:rPr lang="en-US" sz="1600" dirty="0">
                <a:effectLst/>
                <a:latin typeface="+mn-lt"/>
              </a:rPr>
              <a:t>, David Zhao, Rafael </a:t>
            </a:r>
            <a:r>
              <a:rPr lang="en-US" sz="1600" dirty="0" err="1">
                <a:effectLst/>
                <a:latin typeface="+mn-lt"/>
              </a:rPr>
              <a:t>Izbicki</a:t>
            </a:r>
            <a:r>
              <a:rPr lang="en-US" sz="1600" dirty="0">
                <a:effectLst/>
                <a:latin typeface="+mn-lt"/>
              </a:rPr>
              <a:t>, Ann B. Lee, arXiv:2107.03920v6 [</a:t>
            </a:r>
            <a:r>
              <a:rPr lang="en-US" sz="1600" dirty="0" err="1">
                <a:effectLst/>
                <a:latin typeface="+mn-lt"/>
              </a:rPr>
              <a:t>stat.ML</a:t>
            </a:r>
            <a:r>
              <a:rPr lang="en-US" sz="1600" dirty="0">
                <a:effectLst/>
                <a:latin typeface="+mn-lt"/>
              </a:rPr>
              <a:t>] 6 Apr 2023. 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3B38-9351-40FA-08E6-F56E3C71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C038-B537-6813-F2C0-9CCE0DAE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Simulation-based inference </a:t>
            </a: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27493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77FC-D046-2BA8-ADD6-26FA82FA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4B1659-23B8-18B2-A4DA-C35F551B6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751" y="3007836"/>
            <a:ext cx="4113008" cy="19451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EADE942-00FF-0A29-9A2B-51BF99E2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SBI: </a:t>
            </a:r>
            <a:r>
              <a:rPr lang="en-US" dirty="0">
                <a:solidFill>
                  <a:schemeClr val="accent1"/>
                </a:solidFill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B4C51BA-3F03-4405-0E3C-02FCFADA03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key to SBI from the frequentist perspective is the relationship between </a:t>
                </a: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hypothesis tests </a:t>
                </a:r>
                <a:r>
                  <a:rPr lang="en-US" dirty="0">
                    <a:latin typeface="+mn-lt"/>
                  </a:rPr>
                  <a:t>and </a:t>
                </a: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confidence sets</a:t>
                </a:r>
                <a:r>
                  <a:rPr lang="en-US" dirty="0">
                    <a:latin typeface="+mn-lt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hypothesis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typically proceeds as follows.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a function of potential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observations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called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</a:t>
                </a:r>
                <a:b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statistic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property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large values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cast doubt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p-value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a small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reject the hypothesis, otherwise do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reject it.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B4C51BA-3F03-4405-0E3C-02FCFADA0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r="-81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21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7AC2-0595-9D9E-EAF3-79228ADA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5F2C9-1A61-62B6-6072-4E5B7ECFE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751" y="4379436"/>
            <a:ext cx="4113008" cy="19451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37424C4-8BCC-814E-FBDC-765A6631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SBI: </a:t>
            </a:r>
            <a:r>
              <a:rPr lang="en-US" dirty="0">
                <a:solidFill>
                  <a:schemeClr val="accent1"/>
                </a:solidFill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813272D-D487-A9AF-0F95-B7A3A5544C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n-lt"/>
                  </a:rPr>
                  <a:t>Repeated application of the hypothesis test for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+mn-lt"/>
                  </a:rPr>
                  <a:t>divides the parameter space into those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are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those that are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are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rejected is called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 set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associated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 level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key task is approximating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or, equivalently, the cumulative density function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cdf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813272D-D487-A9AF-0F95-B7A3A5544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2" t="-131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40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744D-C1D5-98C0-C128-C7F2EE83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73D3-DE84-E457-4D0F-AE227B7E7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likelihood free frequentist inference (LF2I)</a:t>
            </a: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67213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85EE-DE8F-AF07-660A-04026CF3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6B4674-9B31-6C47-D8F3-809FD80A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FB463CC-7CF7-A061-F2F4-66259F7F0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LF2I</a:t>
                </a:r>
                <a:r>
                  <a:rPr lang="en-US" baseline="30000" dirty="0"/>
                  <a:t>1</a:t>
                </a:r>
                <a:r>
                  <a:rPr lang="en-US" dirty="0"/>
                  <a:t> is a suite of procedures for implementing frequentist-based inference when the likelihood function is intractable.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We’ll focus on one aspect of LF2I, namely, the algorithm for approximating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algorithm requires: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prior density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sampling the parameter space.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simulator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to simulate potential observations,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A test statistic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sz="1800" dirty="0"/>
                  <a:t>Likelihood-Free Frequentist Inference: Confidence Sets with Correct Conditional Coverage Niccolo Dalmasso, Luca </a:t>
                </a:r>
                <a:r>
                  <a:rPr lang="en-US" sz="1800" dirty="0" err="1"/>
                  <a:t>Masserano</a:t>
                </a:r>
                <a:r>
                  <a:rPr lang="en-US" sz="1800" dirty="0"/>
                  <a:t>, David Zhao, Rafael </a:t>
                </a:r>
                <a:r>
                  <a:rPr lang="en-US" sz="1800" dirty="0" err="1"/>
                  <a:t>Izbicki</a:t>
                </a:r>
                <a:r>
                  <a:rPr lang="en-US" sz="1800" dirty="0"/>
                  <a:t>, Ann B. Lee, arXiv:2107.03920v6 [</a:t>
                </a:r>
                <a:r>
                  <a:rPr lang="en-US" sz="1800" dirty="0" err="1"/>
                  <a:t>stat.ML</a:t>
                </a:r>
                <a:r>
                  <a:rPr lang="en-US" sz="1800" dirty="0"/>
                  <a:t>] 6 Apr 2023.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FB463CC-7CF7-A061-F2F4-66259F7F0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326" b="-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49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0685-7DDA-C582-A947-764687C2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94541C-C5BA-48FD-B421-38BA8B51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E04351-11E7-8756-2DDC-81DEAB3F5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2042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Neural network inputs: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Targets: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Loss function: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sz="20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el-GR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20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E04351-11E7-8756-2DDC-81DEAB3F5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204200" cy="4819650"/>
              </a:xfrm>
              <a:blipFill>
                <a:blip r:embed="rId2"/>
                <a:stretch>
                  <a:fillRect l="-927" b="-6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9164321-CE93-048E-FA10-287975702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66800"/>
            <a:ext cx="7772400" cy="4101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94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999A8F-3050-C3C5-9528-1254FB13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28800"/>
            <a:ext cx="4191000" cy="419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Example – Type 1a </a:t>
            </a:r>
            <a:r>
              <a:rPr lang="en-US" dirty="0" err="1">
                <a:solidFill>
                  <a:schemeClr val="accent1"/>
                </a:solidFill>
              </a:rPr>
              <a:t>Sne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32B846A-7F3C-5809-5D05-66B4BFACE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problem of fitting a cosmological model, 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CDM</m:t>
                    </m:r>
                  </m:oMath>
                </a14:m>
                <a:r>
                  <a:rPr lang="en-US" dirty="0"/>
                  <a:t>, to the </a:t>
                </a:r>
                <a:r>
                  <a:rPr lang="en-US" dirty="0">
                    <a:solidFill>
                      <a:srgbClr val="0033CC"/>
                    </a:solidFill>
                  </a:rPr>
                  <a:t>Union 2.1</a:t>
                </a:r>
                <a:r>
                  <a:rPr lang="en-US" baseline="30000" dirty="0"/>
                  <a:t>1</a:t>
                </a:r>
                <a:r>
                  <a:rPr lang="en-US" dirty="0"/>
                  <a:t> Type 1a supernova data set.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statistical model for </a:t>
                </a:r>
                <a:br>
                  <a:rPr lang="en-US" dirty="0"/>
                </a:br>
                <a:r>
                  <a:rPr lang="en-US" dirty="0"/>
                  <a:t>this task is tractable (it is a </a:t>
                </a:r>
                <a:br>
                  <a:rPr lang="en-US" dirty="0"/>
                </a:br>
                <a:r>
                  <a:rPr lang="en-US" dirty="0">
                    <a:solidFill>
                      <a:srgbClr val="0033CC"/>
                    </a:solidFill>
                  </a:rPr>
                  <a:t>580</a:t>
                </a:r>
                <a:r>
                  <a:rPr lang="en-US" dirty="0"/>
                  <a:t>-dimensional Gaussian), </a:t>
                </a:r>
                <a:br>
                  <a:rPr lang="en-US" dirty="0"/>
                </a:br>
                <a:r>
                  <a:rPr lang="en-US" dirty="0"/>
                  <a:t>but the problem provides </a:t>
                </a:r>
                <a:br>
                  <a:rPr lang="en-US" dirty="0"/>
                </a:br>
                <a:r>
                  <a:rPr lang="en-US" dirty="0"/>
                  <a:t>a simple benchmark to </a:t>
                </a:r>
                <a:br>
                  <a:rPr lang="en-US" dirty="0"/>
                </a:br>
                <a:r>
                  <a:rPr lang="en-US" dirty="0"/>
                  <a:t>illustrate the LF2I algorithm,</a:t>
                </a:r>
                <a:br>
                  <a:rPr lang="en-US" dirty="0"/>
                </a:br>
                <a:r>
                  <a:rPr lang="en-US" dirty="0"/>
                  <a:t>and a recent variation</a:t>
                </a:r>
                <a:r>
                  <a:rPr lang="en-US" baseline="30000" dirty="0"/>
                  <a:t>2</a:t>
                </a:r>
                <a:r>
                  <a:rPr lang="en-US" dirty="0"/>
                  <a:t>.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sz="1600" dirty="0">
                    <a:hlinkClick r:id="rId3"/>
                  </a:rPr>
                  <a:t>https://www.supernova.lbl.gov/</a:t>
                </a:r>
                <a:endParaRPr lang="en-US" sz="1600" dirty="0"/>
              </a:p>
              <a:p>
                <a:pPr>
                  <a:buFont typeface="+mj-lt"/>
                  <a:buAutoNum type="arabicPeriod"/>
                </a:pPr>
                <a:r>
                  <a:rPr lang="en-US" sz="1600" dirty="0"/>
                  <a:t>A. Al </a:t>
                </a:r>
                <a:r>
                  <a:rPr lang="en-US" sz="1600" dirty="0" err="1"/>
                  <a:t>Kadhim</a:t>
                </a:r>
                <a:r>
                  <a:rPr lang="en-US" sz="1600" dirty="0"/>
                  <a:t>, HBP, O. F. Prosper, </a:t>
                </a:r>
                <a:r>
                  <a:rPr lang="en-US" sz="1600" i="1" dirty="0"/>
                  <a:t>Mach. Learn.: Sci. Technol. </a:t>
                </a:r>
                <a:r>
                  <a:rPr lang="en-US" sz="1600" b="1" dirty="0"/>
                  <a:t>5 </a:t>
                </a:r>
                <a:r>
                  <a:rPr lang="en-US" sz="1600" dirty="0"/>
                  <a:t>(2024) 015020 </a:t>
                </a:r>
              </a:p>
              <a:p>
                <a:pPr marL="0" indent="0">
                  <a:buNone/>
                </a:pPr>
                <a:br>
                  <a:rPr lang="en-US" sz="1800" dirty="0"/>
                </a:br>
                <a:endParaRPr lang="en-U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32B846A-7F3C-5809-5D05-66B4BFACE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42" t="-1316" r="-1631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16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60DF-E79C-E945-E816-C97C9B3A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59B6E2-05BB-3573-395C-82B5B5F8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Example – Type 1a </a:t>
            </a:r>
            <a:r>
              <a:rPr lang="en-US" dirty="0" err="1">
                <a:solidFill>
                  <a:schemeClr val="accent1"/>
                </a:solidFill>
              </a:rPr>
              <a:t>Sne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98AD84D-CCD2-8291-5C4C-C288E7A70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We’ll use the test statistic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580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the measured </a:t>
                </a:r>
                <a:r>
                  <a:rPr lang="en-US" dirty="0">
                    <a:solidFill>
                      <a:srgbClr val="0033CC"/>
                    </a:solidFill>
                  </a:rPr>
                  <a:t>distance moduli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measured redshifts,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the cosmological model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the theoretical prediction for the distance modulus.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Our goal is to approximate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98AD84D-CCD2-8291-5C4C-C288E7A70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8947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39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81EB-0809-B060-B7F6-DD69CCF5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601CA3-5C4F-085D-6429-80555726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Example – Type 1a </a:t>
            </a:r>
            <a:r>
              <a:rPr lang="en-US" dirty="0" err="1">
                <a:solidFill>
                  <a:schemeClr val="accent1"/>
                </a:solidFill>
              </a:rPr>
              <a:t>Sne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8527F-E7FF-6D13-E2F4-F8AEC4A0E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consider a cosmological model in which the energy density of the universe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model is defined by two parameters: the Hubble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(not to be confused with the hypothesis symbol) and the dimensionless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 the figure indicates, one gets</a:t>
                </a:r>
                <a:br>
                  <a:rPr lang="en-US" dirty="0"/>
                </a:br>
                <a:r>
                  <a:rPr lang="en-US" dirty="0"/>
                  <a:t>an excellent fit of this model</a:t>
                </a:r>
                <a:br>
                  <a:rPr lang="en-US" dirty="0"/>
                </a:br>
                <a:r>
                  <a:rPr lang="en-US" dirty="0"/>
                  <a:t>to the Type 1a data.</a:t>
                </a:r>
                <a:br>
                  <a:rPr lang="en-US" sz="1800" dirty="0"/>
                </a:br>
                <a:endParaRPr lang="en-U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8527F-E7FF-6D13-E2F4-F8AEC4A0E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C330CA8-D34F-1396-7BBD-10AC1037F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40" y="3601075"/>
            <a:ext cx="4479560" cy="2799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645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C5FC-0636-1D87-B99F-27E5FEB7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605ADB-F2B5-B87C-2ED6-0FE566BA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Example – Type 1a </a:t>
            </a:r>
            <a:r>
              <a:rPr lang="en-US" dirty="0" err="1">
                <a:solidFill>
                  <a:schemeClr val="accent1"/>
                </a:solidFill>
              </a:rPr>
              <a:t>Sne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59A6600-4AE3-7F20-4297-95E3C53C36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Goal</a:t>
                </a:r>
                <a:r>
                  <a:rPr lang="en-US" dirty="0"/>
                  <a:t>: model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baseline="30000" dirty="0"/>
              </a:p>
              <a:p>
                <a:r>
                  <a:rPr lang="en-US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Training data: 250,000 sets of 580 distance</a:t>
                </a:r>
                <a:br>
                  <a:rPr lang="en-US" dirty="0"/>
                </a:br>
                <a:r>
                  <a:rPr lang="en-US" dirty="0"/>
                  <a:t>moduli sampled from Gaussians with the </a:t>
                </a:r>
                <a:br>
                  <a:rPr lang="en-US" dirty="0"/>
                </a:br>
                <a:r>
                  <a:rPr lang="en-US" dirty="0"/>
                  <a:t>same standard deviations as the real data.</a:t>
                </a:r>
              </a:p>
              <a:p>
                <a:r>
                  <a:rPr lang="en-US" dirty="0"/>
                  <a:t>Batch size: 50.</a:t>
                </a:r>
              </a:p>
              <a:p>
                <a:r>
                  <a:rPr lang="en-US" dirty="0"/>
                  <a:t>Learning rate: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Adam optimizer.</a:t>
                </a:r>
              </a:p>
              <a:p>
                <a:r>
                  <a:rPr lang="en-US" dirty="0"/>
                  <a:t>100,000 iterations.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600" dirty="0">
                    <a:latin typeface="+mn-lt"/>
                  </a:rPr>
                  <a:t>A. Al </a:t>
                </a:r>
                <a:r>
                  <a:rPr lang="en-US" sz="1600" dirty="0" err="1">
                    <a:latin typeface="+mn-lt"/>
                  </a:rPr>
                  <a:t>Kadhim</a:t>
                </a:r>
                <a:r>
                  <a:rPr lang="en-US" sz="1600" dirty="0">
                    <a:latin typeface="+mn-lt"/>
                  </a:rPr>
                  <a:t>, HBP, O. F. Prosper, </a:t>
                </a:r>
                <a:r>
                  <a:rPr lang="en-US" sz="1600" i="1" dirty="0">
                    <a:effectLst/>
                    <a:latin typeface="+mn-lt"/>
                  </a:rPr>
                  <a:t>Mach. Learn.: Sci. Technol. </a:t>
                </a:r>
                <a:r>
                  <a:rPr lang="en-US" sz="1600" b="1" dirty="0">
                    <a:effectLst/>
                    <a:latin typeface="+mn-lt"/>
                  </a:rPr>
                  <a:t>5 </a:t>
                </a:r>
                <a:r>
                  <a:rPr lang="en-US" sz="1600" dirty="0">
                    <a:effectLst/>
                    <a:latin typeface="+mn-lt"/>
                  </a:rPr>
                  <a:t>(2024) 015020 </a:t>
                </a:r>
                <a:endParaRPr lang="en-US" sz="1600" dirty="0">
                  <a:latin typeface="+mn-lt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59A6600-4AE3-7F20-4297-95E3C53C3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CBBE0DA-AA47-8FB6-807E-4C68E2EDD9F0}"/>
              </a:ext>
            </a:extLst>
          </p:cNvPr>
          <p:cNvGrpSpPr/>
          <p:nvPr/>
        </p:nvGrpSpPr>
        <p:grpSpPr>
          <a:xfrm>
            <a:off x="7095879" y="113374"/>
            <a:ext cx="1914406" cy="5982626"/>
            <a:chOff x="6934200" y="0"/>
            <a:chExt cx="1857828" cy="5982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877793-CFCD-0421-A04B-0CB82BAAC33B}"/>
                    </a:ext>
                  </a:extLst>
                </p:cNvPr>
                <p:cNvSpPr txBox="1"/>
                <p:nvPr/>
              </p:nvSpPr>
              <p:spPr>
                <a:xfrm>
                  <a:off x="7670800" y="5542959"/>
                  <a:ext cx="434414" cy="4396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877793-CFCD-0421-A04B-0CB82BAAC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800" y="5542959"/>
                  <a:ext cx="434414" cy="4396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1375C0A-175C-EFEA-F3F3-0EDCB1DEF7D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860037" y="4424065"/>
              <a:ext cx="2985" cy="201148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7A7B18-0637-7DD0-6753-F7C0C45B9DB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870803" y="5302937"/>
              <a:ext cx="0" cy="304313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85265EC-E31B-7B75-DEE5-52FC98FF44BA}"/>
                </a:ext>
              </a:extLst>
            </p:cNvPr>
            <p:cNvGrpSpPr/>
            <p:nvPr/>
          </p:nvGrpSpPr>
          <p:grpSpPr>
            <a:xfrm>
              <a:off x="6983415" y="4647116"/>
              <a:ext cx="1808613" cy="691556"/>
              <a:chOff x="6734628" y="4603691"/>
              <a:chExt cx="2133600" cy="864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D821986D-8C31-52F5-087F-6A4E1F77F7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086600" y="4603691"/>
                    <a:ext cx="1447799" cy="423235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eLU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()</m:t>
                          </m:r>
                        </m:oMath>
                      </m:oMathPara>
                    </a14:m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D821986D-8C31-52F5-087F-6A4E1F77F7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86600" y="4603691"/>
                    <a:ext cx="1447799" cy="42323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9C8281A-9442-1FF4-8489-9EAA196CF268}"/>
                  </a:ext>
                </a:extLst>
              </p:cNvPr>
              <p:cNvSpPr/>
              <p:nvPr/>
            </p:nvSpPr>
            <p:spPr bwMode="auto">
              <a:xfrm>
                <a:off x="6734628" y="5044988"/>
                <a:ext cx="2133600" cy="423235"/>
              </a:xfrm>
              <a:prstGeom prst="rect">
                <a:avLst/>
              </a:prstGeom>
              <a:solidFill>
                <a:srgbClr val="FFFC8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Linear(3, 20)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FB7F528-3D13-9EF4-75F5-B139A0A1B971}"/>
                </a:ext>
              </a:extLst>
            </p:cNvPr>
            <p:cNvGrpSpPr/>
            <p:nvPr/>
          </p:nvGrpSpPr>
          <p:grpSpPr>
            <a:xfrm>
              <a:off x="6955731" y="3773165"/>
              <a:ext cx="1808613" cy="691558"/>
              <a:chOff x="6734628" y="5078449"/>
              <a:chExt cx="2133600" cy="8645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98C2EB5-2E2D-8191-2164-A2DF744C2B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086600" y="5078449"/>
                    <a:ext cx="1447799" cy="423235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eLU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()</m:t>
                          </m:r>
                        </m:oMath>
                      </m:oMathPara>
                    </a14:m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98C2EB5-2E2D-8191-2164-A2DF744C2B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86600" y="5078449"/>
                    <a:ext cx="1447799" cy="42323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8CFE30F-7502-D25F-AC24-BF5406AE781D}"/>
                  </a:ext>
                </a:extLst>
              </p:cNvPr>
              <p:cNvSpPr/>
              <p:nvPr/>
            </p:nvSpPr>
            <p:spPr bwMode="auto">
              <a:xfrm>
                <a:off x="6734628" y="5519748"/>
                <a:ext cx="2133600" cy="423235"/>
              </a:xfrm>
              <a:prstGeom prst="rect">
                <a:avLst/>
              </a:prstGeom>
              <a:solidFill>
                <a:srgbClr val="FFFC8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Linear(</a:t>
                </a:r>
                <a:r>
                  <a:rPr lang="en-US" sz="1600" dirty="0">
                    <a:latin typeface="Times New Roman" pitchFamily="-65" charset="0"/>
                  </a:rPr>
                  <a:t>20</a:t>
                </a: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, 20)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9DAB0D4-E440-A830-6B6A-9EE36CCDE53F}"/>
                </a:ext>
              </a:extLst>
            </p:cNvPr>
            <p:cNvGrpSpPr/>
            <p:nvPr/>
          </p:nvGrpSpPr>
          <p:grpSpPr>
            <a:xfrm>
              <a:off x="6955730" y="765621"/>
              <a:ext cx="1808613" cy="733902"/>
              <a:chOff x="6705600" y="409924"/>
              <a:chExt cx="2133600" cy="8340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19A939D3-41E8-E1F3-C3A1-3BBA90B793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061201" y="409924"/>
                    <a:ext cx="1447800" cy="384759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6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rPr>
                      <a:t>sigmoid</a:t>
                    </a:r>
                    <a14:m>
                      <m:oMath xmlns:m="http://schemas.openxmlformats.org/officeDocument/2006/math">
                        <m:r>
                          <a:rPr kumimoji="0" lang="en-US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()</m:t>
                        </m:r>
                      </m:oMath>
                    </a14:m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19A939D3-41E8-E1F3-C3A1-3BBA90B793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61201" y="409924"/>
                    <a:ext cx="1447800" cy="38475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E5DB8C8-BF7B-364A-EA7D-5BCC529EDA9A}"/>
                  </a:ext>
                </a:extLst>
              </p:cNvPr>
              <p:cNvSpPr/>
              <p:nvPr/>
            </p:nvSpPr>
            <p:spPr bwMode="auto">
              <a:xfrm>
                <a:off x="6705600" y="859229"/>
                <a:ext cx="2133600" cy="384759"/>
              </a:xfrm>
              <a:prstGeom prst="rect">
                <a:avLst/>
              </a:prstGeom>
              <a:solidFill>
                <a:srgbClr val="FFFC8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Linear(</a:t>
                </a:r>
                <a:r>
                  <a:rPr lang="en-US" sz="1600" dirty="0">
                    <a:latin typeface="Times New Roman" pitchFamily="-65" charset="0"/>
                  </a:rPr>
                  <a:t>20</a:t>
                </a: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, </a:t>
                </a:r>
                <a:r>
                  <a:rPr lang="en-US" sz="1600" dirty="0">
                    <a:latin typeface="Times New Roman" pitchFamily="-65" charset="0"/>
                  </a:rPr>
                  <a:t>1</a:t>
                </a: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)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F17A76-3742-4B85-319A-69C2F65AA9A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860131" y="3537117"/>
              <a:ext cx="2985" cy="201148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7BF214-9D98-9817-945C-5A4608FAE555}"/>
                </a:ext>
              </a:extLst>
            </p:cNvPr>
            <p:cNvGrpSpPr/>
            <p:nvPr/>
          </p:nvGrpSpPr>
          <p:grpSpPr>
            <a:xfrm>
              <a:off x="6954387" y="2519065"/>
              <a:ext cx="1808613" cy="990600"/>
              <a:chOff x="7030587" y="2819400"/>
              <a:chExt cx="1808613" cy="990600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5A0E9D1-EAD8-7350-0160-54FAE4CE2EE4}"/>
                  </a:ext>
                </a:extLst>
              </p:cNvPr>
              <p:cNvGrpSpPr/>
              <p:nvPr/>
            </p:nvGrpSpPr>
            <p:grpSpPr>
              <a:xfrm>
                <a:off x="7030587" y="3118442"/>
                <a:ext cx="1808613" cy="691558"/>
                <a:chOff x="6734628" y="5078449"/>
                <a:chExt cx="2133600" cy="86453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7899BD8E-BE75-E784-D055-52AD2ABB9D6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086600" y="5078449"/>
                      <a:ext cx="1447799" cy="423235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eLU</m:t>
                            </m:r>
                            <m:r>
                              <a:rPr kumimoji="0" lang="en-US" sz="16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()</m:t>
                            </m:r>
                          </m:oMath>
                        </m:oMathPara>
                      </a14:m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7899BD8E-BE75-E784-D055-52AD2ABB9D6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086600" y="5078449"/>
                      <a:ext cx="1447799" cy="42323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98F248B0-B8FD-96BB-4660-A3094A33B58E}"/>
                    </a:ext>
                  </a:extLst>
                </p:cNvPr>
                <p:cNvSpPr/>
                <p:nvPr/>
              </p:nvSpPr>
              <p:spPr bwMode="auto">
                <a:xfrm>
                  <a:off x="6734628" y="5519748"/>
                  <a:ext cx="2133600" cy="423235"/>
                </a:xfrm>
                <a:prstGeom prst="rect">
                  <a:avLst/>
                </a:prstGeom>
                <a:solidFill>
                  <a:srgbClr val="FFFC8F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Linear(</a:t>
                  </a:r>
                  <a:r>
                    <a:rPr lang="en-US" sz="1600" dirty="0">
                      <a:latin typeface="Times New Roman" pitchFamily="-65" charset="0"/>
                    </a:rPr>
                    <a:t>20</a:t>
                  </a: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, 20)</a:t>
                  </a:r>
                </a:p>
              </p:txBody>
            </p:sp>
          </p:grp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86291A0-CAB9-A4BB-594D-CFC6CB69716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7924800" y="2819400"/>
                <a:ext cx="4370" cy="267728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A3E40B2-6B74-E618-9713-9AA840D388E2}"/>
                </a:ext>
              </a:extLst>
            </p:cNvPr>
            <p:cNvGrpSpPr/>
            <p:nvPr/>
          </p:nvGrpSpPr>
          <p:grpSpPr>
            <a:xfrm>
              <a:off x="6934200" y="1528465"/>
              <a:ext cx="1808613" cy="990600"/>
              <a:chOff x="7030587" y="2819400"/>
              <a:chExt cx="1808613" cy="9906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76D75BA-69AB-CCA3-6C9E-FF3CB0DD5286}"/>
                  </a:ext>
                </a:extLst>
              </p:cNvPr>
              <p:cNvGrpSpPr/>
              <p:nvPr/>
            </p:nvGrpSpPr>
            <p:grpSpPr>
              <a:xfrm>
                <a:off x="7030587" y="3118442"/>
                <a:ext cx="1808613" cy="691558"/>
                <a:chOff x="6734628" y="5078449"/>
                <a:chExt cx="2133600" cy="86453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71135898-FF2D-BF48-0D10-DB3A199F681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086600" y="5078449"/>
                      <a:ext cx="1447799" cy="423235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eLU</m:t>
                            </m:r>
                            <m:r>
                              <a:rPr kumimoji="0" lang="en-US" sz="16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()</m:t>
                            </m:r>
                          </m:oMath>
                        </m:oMathPara>
                      </a14:m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71135898-FF2D-BF48-0D10-DB3A199F681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086600" y="5078449"/>
                      <a:ext cx="1447799" cy="42323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B0E2569-A002-56C1-0E73-EB16CCE841E8}"/>
                    </a:ext>
                  </a:extLst>
                </p:cNvPr>
                <p:cNvSpPr/>
                <p:nvPr/>
              </p:nvSpPr>
              <p:spPr bwMode="auto">
                <a:xfrm>
                  <a:off x="6734628" y="5519748"/>
                  <a:ext cx="2133600" cy="423235"/>
                </a:xfrm>
                <a:prstGeom prst="rect">
                  <a:avLst/>
                </a:prstGeom>
                <a:solidFill>
                  <a:srgbClr val="FFFC8F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Linear(</a:t>
                  </a:r>
                  <a:r>
                    <a:rPr lang="en-US" sz="1600" dirty="0">
                      <a:latin typeface="Times New Roman" pitchFamily="-65" charset="0"/>
                    </a:rPr>
                    <a:t>20</a:t>
                  </a: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, 20)</a:t>
                  </a:r>
                </a:p>
              </p:txBody>
            </p:sp>
          </p:grp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9B83758-7DC0-183F-FC1D-5D57E01C0C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7924800" y="2819400"/>
                <a:ext cx="4370" cy="267728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D4EEF15-3AA4-45C5-204C-8D788553631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844230" y="461665"/>
              <a:ext cx="4370" cy="267728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CF2AAA5-95D8-D669-0A5A-BFEE3CBFA792}"/>
                    </a:ext>
                  </a:extLst>
                </p:cNvPr>
                <p:cNvSpPr txBox="1"/>
                <p:nvPr/>
              </p:nvSpPr>
              <p:spPr>
                <a:xfrm>
                  <a:off x="7682929" y="0"/>
                  <a:ext cx="4254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CF2AAA5-95D8-D669-0A5A-BFEE3CBFA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929" y="0"/>
                  <a:ext cx="42543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932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6248-34FC-D34B-27E8-8846911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5C70D-7D00-2EE5-ED5A-431E269A7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76400"/>
            <a:ext cx="4572000" cy="457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C553177-9AC7-9789-D456-48445493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LF2I: </a:t>
            </a:r>
            <a:r>
              <a:rPr lang="en-US" dirty="0">
                <a:solidFill>
                  <a:schemeClr val="accent1"/>
                </a:solidFill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689F4A-D6D9-96A7-5E50-B0E8A3C625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Confidence set boundaries defined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Solid contours: NN.</a:t>
                </a:r>
                <a:br>
                  <a:rPr lang="en-US" dirty="0"/>
                </a:br>
                <a:endParaRPr lang="en-US" dirty="0"/>
              </a:p>
              <a:p>
                <a:pPr/>
                <a:r>
                  <a:rPr lang="en-US" dirty="0"/>
                  <a:t>Dashed contours: histogram</a:t>
                </a:r>
                <a:br>
                  <a:rPr lang="en-US" dirty="0"/>
                </a:br>
                <a:r>
                  <a:rPr lang="en-US" dirty="0"/>
                  <a:t>approximation of </a:t>
                </a:r>
                <a:br>
                  <a:rPr lang="en-US" b="0" i="1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el-GR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689F4A-D6D9-96A7-5E50-B0E8A3C62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6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AFEC0-EEF9-31EB-AF80-51C53C59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FE972D-89C7-253D-C68A-92196259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785DE0-8A75-A26B-EC65-67C75D491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Simulation-based inference is a set of methods to make inferences about the parameters of a statistical model when the latter is intractable.</a:t>
                </a:r>
              </a:p>
              <a:p>
                <a:endParaRPr lang="en-US" dirty="0"/>
              </a:p>
              <a:p>
                <a:r>
                  <a:rPr lang="en-US" dirty="0"/>
                  <a:t>The key ingredients are: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prior density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sampling the parameter space.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simulator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to simulate potential observations,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A test statistic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Machine learning models to approximate various statistical quantities given data sets of real and simulated data.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785DE0-8A75-A26B-EC65-67C75D491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58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3</TotalTime>
  <Words>1311</Words>
  <Application>Microsoft Macintosh PowerPoint</Application>
  <PresentationFormat>Letter Paper (8.5x11 in)</PresentationFormat>
  <Paragraphs>150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Cambria Math</vt:lpstr>
      <vt:lpstr>Times New Roman</vt:lpstr>
      <vt:lpstr>Wingdings</vt:lpstr>
      <vt:lpstr>Default Design</vt:lpstr>
      <vt:lpstr>Machine learning in physics Simulation-based inference</vt:lpstr>
      <vt:lpstr>introduction </vt:lpstr>
      <vt:lpstr>Introduction: Statistical Inference</vt:lpstr>
      <vt:lpstr>Introduction: Statistical Inference</vt:lpstr>
      <vt:lpstr>Introduction: Statistical Inference</vt:lpstr>
      <vt:lpstr>Introduction: Statistical Inference</vt:lpstr>
      <vt:lpstr>Simulation-based inference  </vt:lpstr>
      <vt:lpstr>SBI: Introduction</vt:lpstr>
      <vt:lpstr>SBI: Introduction</vt:lpstr>
      <vt:lpstr>likelihood free frequentist inference (LF2I) </vt:lpstr>
      <vt:lpstr>LF2I</vt:lpstr>
      <vt:lpstr>LF2I: Algorithm</vt:lpstr>
      <vt:lpstr>LF2I: Example – Type 1a Sne</vt:lpstr>
      <vt:lpstr>LF2I: Example – Type 1a Sne</vt:lpstr>
      <vt:lpstr>LF2I: Example – Type 1a Sne</vt:lpstr>
      <vt:lpstr>LF2I: Example – Type 1a Sne</vt:lpstr>
      <vt:lpstr>LF2I: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</cp:revision>
  <cp:lastPrinted>2019-01-07T00:35:58Z</cp:lastPrinted>
  <dcterms:created xsi:type="dcterms:W3CDTF">2025-10-29T04:00:54Z</dcterms:created>
  <dcterms:modified xsi:type="dcterms:W3CDTF">2025-10-29T04:03:55Z</dcterms:modified>
</cp:coreProperties>
</file>