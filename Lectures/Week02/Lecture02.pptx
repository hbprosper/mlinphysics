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1012" r:id="rId3"/>
    <p:sldId id="1011" r:id="rId4"/>
    <p:sldId id="257" r:id="rId5"/>
    <p:sldId id="258" r:id="rId6"/>
    <p:sldId id="259" r:id="rId7"/>
    <p:sldId id="1020" r:id="rId8"/>
    <p:sldId id="266" r:id="rId9"/>
    <p:sldId id="265" r:id="rId10"/>
    <p:sldId id="262" r:id="rId11"/>
    <p:sldId id="261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7" r:id="rId21"/>
    <p:sldId id="278" r:id="rId22"/>
    <p:sldId id="279" r:id="rId23"/>
    <p:sldId id="280" r:id="rId24"/>
    <p:sldId id="1013" r:id="rId25"/>
    <p:sldId id="1015" r:id="rId26"/>
    <p:sldId id="1016" r:id="rId27"/>
    <p:sldId id="1017" r:id="rId28"/>
    <p:sldId id="1018" r:id="rId29"/>
    <p:sldId id="1019" r:id="rId30"/>
    <p:sldId id="1014" r:id="rId31"/>
    <p:sldId id="281" r:id="rId32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87"/>
    <p:restoredTop sz="86502"/>
  </p:normalViewPr>
  <p:slideViewPr>
    <p:cSldViewPr>
      <p:cViewPr varScale="1">
        <p:scale>
          <a:sx n="88" d="100"/>
          <a:sy n="88" d="100"/>
        </p:scale>
        <p:origin x="225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0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image" Target="../media/image1.png"/><Relationship Id="rId10" Type="http://schemas.openxmlformats.org/officeDocument/2006/relationships/image" Target="NULL"/><Relationship Id="rId9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4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Foundations 2</a:t>
            </a:r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5C7A7-FBDE-D4B2-4C63-FB41DC17C7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Last time we introduced the multi-node (and multi-layer) perceptron (MLP).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852A56-C8A8-80BB-A1A6-CC8D0579E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0545FE-88E6-EEEA-522B-1237EC23AB52}"/>
              </a:ext>
            </a:extLst>
          </p:cNvPr>
          <p:cNvGrpSpPr/>
          <p:nvPr/>
        </p:nvGrpSpPr>
        <p:grpSpPr>
          <a:xfrm>
            <a:off x="1262161" y="2315028"/>
            <a:ext cx="7272239" cy="3433266"/>
            <a:chOff x="1185961" y="1824534"/>
            <a:chExt cx="7272239" cy="343326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7831719-A3AF-32DD-F7D5-73B002BEBAF0}"/>
                </a:ext>
              </a:extLst>
            </p:cNvPr>
            <p:cNvGrpSpPr/>
            <p:nvPr/>
          </p:nvGrpSpPr>
          <p:grpSpPr>
            <a:xfrm>
              <a:off x="1185961" y="1824534"/>
              <a:ext cx="7272239" cy="3433266"/>
              <a:chOff x="592264" y="1751310"/>
              <a:chExt cx="7272239" cy="343326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D6220E2-D6EA-1F25-6704-4524B12DC3EB}"/>
                  </a:ext>
                </a:extLst>
              </p:cNvPr>
              <p:cNvGrpSpPr/>
              <p:nvPr/>
            </p:nvGrpSpPr>
            <p:grpSpPr>
              <a:xfrm>
                <a:off x="592264" y="1981200"/>
                <a:ext cx="7272239" cy="3203376"/>
                <a:chOff x="576361" y="2130624"/>
                <a:chExt cx="7272239" cy="320337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3099BAAF-3305-7862-BD1B-C9F806B178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39468" y="3048000"/>
                      <a:ext cx="809132" cy="156966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  <a:p>
                      <a:endParaRPr lang="en-US" sz="3200" b="0" i="1" dirty="0">
                        <a:latin typeface="Cambria Math" panose="02040503050406030204" pitchFamily="18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57888F4-5766-1D68-D916-E6B53E1C73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39468" y="3048000"/>
                      <a:ext cx="809132" cy="156966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61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0F8D9DFE-27CE-BA4A-7536-43125F1A977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5298825" y="3131710"/>
                  <a:ext cx="1641484" cy="1211690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66D15155-DCE0-9C1B-B426-14FD25E88A2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5246690" y="4006757"/>
                  <a:ext cx="1681930" cy="364863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A93AAF1B-644D-C40D-3E7F-EC263041A6B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5332369" y="4353219"/>
                  <a:ext cx="1596251" cy="656187"/>
                </a:xfrm>
                <a:prstGeom prst="straightConnector1">
                  <a:avLst/>
                </a:prstGeom>
                <a:noFill/>
                <a:ln w="50800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stealth"/>
                </a:ln>
                <a:effectLst/>
              </p:spPr>
            </p:cxn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94B789BB-A72E-CC89-89EE-29D8423693E7}"/>
                    </a:ext>
                  </a:extLst>
                </p:cNvPr>
                <p:cNvGrpSpPr/>
                <p:nvPr/>
              </p:nvGrpSpPr>
              <p:grpSpPr>
                <a:xfrm>
                  <a:off x="5246690" y="2388345"/>
                  <a:ext cx="1827003" cy="2601267"/>
                  <a:chOff x="5246690" y="2377503"/>
                  <a:chExt cx="1827003" cy="2601267"/>
                </a:xfrm>
              </p:grpSpPr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234E65CF-20C4-AA7D-7310-A82FDE39E3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5326829" y="2424734"/>
                    <a:ext cx="1666725" cy="1004266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2" name="Straight Arrow Connector 31">
                    <a:extLst>
                      <a:ext uri="{FF2B5EF4-FFF2-40B4-BE49-F238E27FC236}">
                        <a16:creationId xmlns:a16="http://schemas.microsoft.com/office/drawing/2014/main" id="{7D810A4C-C06E-9480-D5D3-5469883CA6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5338518" y="2377503"/>
                    <a:ext cx="1655036" cy="1986898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3" name="Straight Arrow Connector 32">
                    <a:extLst>
                      <a:ext uri="{FF2B5EF4-FFF2-40B4-BE49-F238E27FC236}">
                        <a16:creationId xmlns:a16="http://schemas.microsoft.com/office/drawing/2014/main" id="{3E63E48B-F7C5-64F2-D5F6-7B0D65E79E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5246690" y="3109363"/>
                    <a:ext cx="1681930" cy="319637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5E5174F8-841E-6DBA-52A2-57610DBE77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5292604" y="3414535"/>
                    <a:ext cx="1700950" cy="595135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13E161C5-B333-3982-B012-8CDABDF1C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5366753" y="3476231"/>
                    <a:ext cx="1561867" cy="1502539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B5902906-0F32-887A-AE1E-0E7CE75C31B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94015" y="3290880"/>
                    <a:ext cx="279678" cy="27967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619E072D-9C7D-0330-6FF3-AD7871E36394}"/>
                    </a:ext>
                  </a:extLst>
                </p:cNvPr>
                <p:cNvSpPr/>
                <p:nvPr/>
              </p:nvSpPr>
              <p:spPr bwMode="auto">
                <a:xfrm>
                  <a:off x="6806922" y="4216122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0724D3B-AAA1-4092-7F99-98150DED250C}"/>
                    </a:ext>
                  </a:extLst>
                </p:cNvPr>
                <p:cNvSpPr/>
                <p:nvPr/>
              </p:nvSpPr>
              <p:spPr bwMode="auto">
                <a:xfrm>
                  <a:off x="576361" y="3512857"/>
                  <a:ext cx="279678" cy="279678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2613453F-C62A-7D5E-36F5-D3BE4DF33C76}"/>
                    </a:ext>
                  </a:extLst>
                </p:cNvPr>
                <p:cNvGrpSpPr/>
                <p:nvPr/>
              </p:nvGrpSpPr>
              <p:grpSpPr>
                <a:xfrm>
                  <a:off x="1873150" y="2130624"/>
                  <a:ext cx="3689450" cy="3203376"/>
                  <a:chOff x="1660453" y="2017812"/>
                  <a:chExt cx="3689450" cy="3203376"/>
                </a:xfrm>
              </p:grpSpPr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1376EC84-FBCA-63DB-897E-2FF844F2311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>
                    <a:off x="1660453" y="2338149"/>
                    <a:ext cx="3076508" cy="1130439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FCBAA61B-57D7-A023-1320-6FD1FEEE8A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48200" y="2017812"/>
                    <a:ext cx="684738" cy="649188"/>
                  </a:xfrm>
                  <a:prstGeom prst="ellipse">
                    <a:avLst/>
                  </a:prstGeom>
                  <a:solidFill>
                    <a:srgbClr val="E395F6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C92E4002-5FD3-F14F-9EDC-D9E87F621F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65165" y="2856012"/>
                    <a:ext cx="684738" cy="649188"/>
                  </a:xfrm>
                  <a:prstGeom prst="ellipse">
                    <a:avLst/>
                  </a:prstGeom>
                  <a:solidFill>
                    <a:srgbClr val="E395F6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350A75C3-4C8C-DC91-ED01-2878EAF828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65165" y="3770412"/>
                    <a:ext cx="684738" cy="649188"/>
                  </a:xfrm>
                  <a:prstGeom prst="ellipse">
                    <a:avLst/>
                  </a:prstGeom>
                  <a:solidFill>
                    <a:srgbClr val="E395F6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25C9DF7B-3765-B348-1E3D-347CBC5B15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65165" y="4572000"/>
                    <a:ext cx="684738" cy="649188"/>
                  </a:xfrm>
                  <a:prstGeom prst="ellipse">
                    <a:avLst/>
                  </a:prstGeom>
                  <a:solidFill>
                    <a:srgbClr val="E395F6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mbria Math" panose="02040503050406030204" pitchFamily="18" charset="0"/>
                    </a:endParaRPr>
                  </a:p>
                </p:txBody>
              </p:sp>
              <p:cxnSp>
                <p:nvCxnSpPr>
                  <p:cNvPr id="28" name="Straight Arrow Connector 27">
                    <a:extLst>
                      <a:ext uri="{FF2B5EF4-FFF2-40B4-BE49-F238E27FC236}">
                        <a16:creationId xmlns:a16="http://schemas.microsoft.com/office/drawing/2014/main" id="{D1F608F7-570A-BC08-8D04-621BCE1E252D}"/>
                      </a:ext>
                    </a:extLst>
                  </p:cNvPr>
                  <p:cNvCxnSpPr>
                    <a:cxnSpLocks/>
                    <a:stCxn id="25" idx="2"/>
                  </p:cNvCxnSpPr>
                  <p:nvPr/>
                </p:nvCxnSpPr>
                <p:spPr bwMode="auto">
                  <a:xfrm flipH="1">
                    <a:off x="1660453" y="3180606"/>
                    <a:ext cx="3004712" cy="380077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29" name="Straight Arrow Connector 28">
                    <a:extLst>
                      <a:ext uri="{FF2B5EF4-FFF2-40B4-BE49-F238E27FC236}">
                        <a16:creationId xmlns:a16="http://schemas.microsoft.com/office/drawing/2014/main" id="{9393B571-9B8E-24EF-1279-76B0D6677A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1660453" y="3624743"/>
                    <a:ext cx="2987747" cy="413857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id="{9CEB6105-E278-A04C-7C10-6CBD8EA698B8}"/>
                      </a:ext>
                    </a:extLst>
                  </p:cNvPr>
                  <p:cNvCxnSpPr>
                    <a:cxnSpLocks/>
                    <a:endCxn id="7" idx="5"/>
                  </p:cNvCxnSpPr>
                  <p:nvPr/>
                </p:nvCxnSpPr>
                <p:spPr bwMode="auto">
                  <a:xfrm flipH="1" flipV="1">
                    <a:off x="1744425" y="3717905"/>
                    <a:ext cx="2925945" cy="1107393"/>
                  </a:xfrm>
                  <a:prstGeom prst="straightConnector1">
                    <a:avLst/>
                  </a:prstGeom>
                  <a:noFill/>
                  <a:ln w="50800" cap="flat" cmpd="sng" algn="ctr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stealth"/>
                  </a:ln>
                  <a:effectLst/>
                </p:spPr>
              </p:cxn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00060FE-8275-2C08-CB2D-76C96089C674}"/>
                  </a:ext>
                </a:extLst>
              </p:cNvPr>
              <p:cNvGrpSpPr/>
              <p:nvPr/>
            </p:nvGrpSpPr>
            <p:grpSpPr>
              <a:xfrm>
                <a:off x="4194261" y="1751310"/>
                <a:ext cx="698442" cy="3015732"/>
                <a:chOff x="4118061" y="1751310"/>
                <a:chExt cx="698442" cy="30157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A59A9295-CD13-A287-D96E-558DF81D55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4704" y="1751310"/>
                      <a:ext cx="565899" cy="6432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673BC42A-BCD6-2A2D-6975-B0A8FFAA5CF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4704" y="1751310"/>
                      <a:ext cx="565899" cy="643253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8696" b="-58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37A3A27B-0275-9DC6-3420-8AC305F9CA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22094" y="2575607"/>
                      <a:ext cx="694228" cy="6432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141" name="TextBox 140">
                      <a:extLst>
                        <a:ext uri="{FF2B5EF4-FFF2-40B4-BE49-F238E27FC236}">
                          <a16:creationId xmlns:a16="http://schemas.microsoft.com/office/drawing/2014/main" id="{5F878C71-19F4-9F43-6201-AFAED46A81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22094" y="2575607"/>
                      <a:ext cx="694228" cy="64325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8BE1E840-4CE7-B71B-939B-90A28A158E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8061" y="3340428"/>
                      <a:ext cx="694228" cy="6432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142" name="TextBox 141">
                      <a:extLst>
                        <a:ext uri="{FF2B5EF4-FFF2-40B4-BE49-F238E27FC236}">
                          <a16:creationId xmlns:a16="http://schemas.microsoft.com/office/drawing/2014/main" id="{9A9BFDAE-EC79-5347-323E-4C6E8A3F4DD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8061" y="3340428"/>
                      <a:ext cx="694228" cy="643253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38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264855D0-8FDC-4443-FD24-8CA8109063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39843" y="4123789"/>
                      <a:ext cx="676660" cy="64325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3200" dirty="0"/>
                    </a:p>
                  </p:txBody>
                </p:sp>
              </mc:Choice>
              <mc:Fallback xmlns="">
                <p:sp>
                  <p:nvSpPr>
                    <p:cNvPr id="143" name="TextBox 142">
                      <a:extLst>
                        <a:ext uri="{FF2B5EF4-FFF2-40B4-BE49-F238E27FC236}">
                          <a16:creationId xmlns:a16="http://schemas.microsoft.com/office/drawing/2014/main" id="{C66450CE-2DD1-B278-6386-F7568143A43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39843" y="4123789"/>
                      <a:ext cx="676660" cy="643253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39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F3C6E19-4B85-3673-039D-EA3E8DBA4FAA}"/>
                </a:ext>
              </a:extLst>
            </p:cNvPr>
            <p:cNvSpPr/>
            <p:nvPr/>
          </p:nvSpPr>
          <p:spPr bwMode="auto">
            <a:xfrm>
              <a:off x="1829862" y="3276600"/>
              <a:ext cx="684738" cy="649188"/>
            </a:xfrm>
            <a:prstGeom prst="ellipse">
              <a:avLst/>
            </a:prstGeom>
            <a:solidFill>
              <a:srgbClr val="E395F6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A07476A-8F9C-608D-1FEE-0B6080245567}"/>
                </a:ext>
              </a:extLst>
            </p:cNvPr>
            <p:cNvCxnSpPr>
              <a:cxnSpLocks/>
              <a:stCxn id="7" idx="2"/>
            </p:cNvCxnSpPr>
            <p:nvPr/>
          </p:nvCxnSpPr>
          <p:spPr bwMode="auto">
            <a:xfrm flipH="1" flipV="1">
              <a:off x="1321048" y="3597295"/>
              <a:ext cx="508814" cy="3899"/>
            </a:xfrm>
            <a:prstGeom prst="straightConnector1">
              <a:avLst/>
            </a:prstGeom>
            <a:noFill/>
            <a:ln w="508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  <p:sp>
        <p:nvSpPr>
          <p:cNvPr id="43" name="Right Brace 42">
            <a:extLst>
              <a:ext uri="{FF2B5EF4-FFF2-40B4-BE49-F238E27FC236}">
                <a16:creationId xmlns:a16="http://schemas.microsoft.com/office/drawing/2014/main" id="{8A61E332-C348-4DBD-D652-885345EBBB24}"/>
              </a:ext>
            </a:extLst>
          </p:cNvPr>
          <p:cNvSpPr/>
          <p:nvPr/>
        </p:nvSpPr>
        <p:spPr bwMode="auto">
          <a:xfrm rot="16200000">
            <a:off x="6305192" y="1314809"/>
            <a:ext cx="432033" cy="1917216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CC4ACF-97A5-E1DB-0D48-244078D7D3D5}"/>
              </a:ext>
            </a:extLst>
          </p:cNvPr>
          <p:cNvSpPr txBox="1"/>
          <p:nvPr/>
        </p:nvSpPr>
        <p:spPr>
          <a:xfrm>
            <a:off x="6640359" y="172356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Layer 1</a:t>
            </a: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1EC082D6-2344-6C03-C4CE-54CD4C9780C8}"/>
              </a:ext>
            </a:extLst>
          </p:cNvPr>
          <p:cNvSpPr/>
          <p:nvPr/>
        </p:nvSpPr>
        <p:spPr bwMode="auto">
          <a:xfrm rot="16200000">
            <a:off x="3390537" y="784160"/>
            <a:ext cx="410237" cy="307651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188C5C-3EC4-CB78-DF5A-17A0C9E95A41}"/>
              </a:ext>
            </a:extLst>
          </p:cNvPr>
          <p:cNvSpPr txBox="1"/>
          <p:nvPr/>
        </p:nvSpPr>
        <p:spPr>
          <a:xfrm>
            <a:off x="3581400" y="173448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Layer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33DC2C8-A0C2-8249-7D54-C626AFA702E4}"/>
                  </a:ext>
                </a:extLst>
              </p:cNvPr>
              <p:cNvSpPr txBox="1"/>
              <p:nvPr/>
            </p:nvSpPr>
            <p:spPr>
              <a:xfrm>
                <a:off x="802438" y="2856012"/>
                <a:ext cx="26907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33DC2C8-A0C2-8249-7D54-C626AFA70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38" y="2856012"/>
                <a:ext cx="2690737" cy="523220"/>
              </a:xfrm>
              <a:prstGeom prst="rect">
                <a:avLst/>
              </a:prstGeom>
              <a:blipFill>
                <a:blip r:embed="rId11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B790ED9-AD78-C528-D9EA-4EA64B455DDF}"/>
                  </a:ext>
                </a:extLst>
              </p:cNvPr>
              <p:cNvSpPr txBox="1"/>
              <p:nvPr/>
            </p:nvSpPr>
            <p:spPr>
              <a:xfrm>
                <a:off x="5396661" y="5877580"/>
                <a:ext cx="27101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B790ED9-AD78-C528-D9EA-4EA64B455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661" y="5877580"/>
                <a:ext cx="2710165" cy="523220"/>
              </a:xfrm>
              <a:prstGeom prst="rect">
                <a:avLst/>
              </a:prstGeom>
              <a:blipFill>
                <a:blip r:embed="rId12"/>
                <a:stretch>
                  <a:fillRect r="-465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89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8E3757-806D-8007-1104-115F11A5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also noted that ML models are usually drawn using high-level components. For example: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relu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189D3E5-DE11-4089-AF21-B25A702BB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58" t="-1316" r="-3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B0F07A7-BA99-13C2-9AAC-7BA887E0B3B5}"/>
              </a:ext>
            </a:extLst>
          </p:cNvPr>
          <p:cNvSpPr/>
          <p:nvPr/>
        </p:nvSpPr>
        <p:spPr bwMode="auto">
          <a:xfrm>
            <a:off x="2971800" y="4572000"/>
            <a:ext cx="381000" cy="4571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9EAE0CE-CB5A-9330-8EA0-6E62B7E6E685}"/>
              </a:ext>
            </a:extLst>
          </p:cNvPr>
          <p:cNvGrpSpPr/>
          <p:nvPr/>
        </p:nvGrpSpPr>
        <p:grpSpPr>
          <a:xfrm>
            <a:off x="4648200" y="1295400"/>
            <a:ext cx="2162628" cy="5105400"/>
            <a:chOff x="5304972" y="1295400"/>
            <a:chExt cx="2162628" cy="5105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6CC05A-C6C8-65CE-BF31-ECA3367B4E7A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04F4DF-7E47-F6D3-EF2B-17B4A70CE17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A7BD658-F520-7977-6AEE-821A2A725F2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7CBE5B0-B4F4-DDF2-8A75-3B8296F50EE8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relu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7CBE5B0-B4F4-DDF2-8A75-3B8296F50E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465A5A1-B6DB-1925-14ED-712982BB6ECA}"/>
                    </a:ext>
                  </a:extLst>
                </p:cNvPr>
                <p:cNvSpPr/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solidFill>
                  <a:srgbClr val="E395F6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465A5A1-B6DB-1925-14ED-712982BB6E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946F376-F44F-6103-892E-583677D7164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7190139-F5E0-40F4-47AA-E1C1BBE9ABDE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756A9F9-52B3-CF8B-A6BF-3C4D88FCE8E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19DD53D-8138-E699-6FE5-05CD57487CF8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19DD53D-8138-E699-6FE5-05CD57487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ADC26F4-AB00-CE8C-ED19-F1C1C730B9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BC667F0-5808-A57E-5077-CA067511BF4F}"/>
                </a:ext>
              </a:extLst>
            </p:cNvPr>
            <p:cNvSpPr txBox="1"/>
            <p:nvPr/>
          </p:nvSpPr>
          <p:spPr>
            <a:xfrm>
              <a:off x="5867400" y="1295400"/>
              <a:ext cx="9701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B44CA97-135C-E5C0-AA35-9599896E19BF}"/>
              </a:ext>
            </a:extLst>
          </p:cNvPr>
          <p:cNvGrpSpPr/>
          <p:nvPr/>
        </p:nvGrpSpPr>
        <p:grpSpPr>
          <a:xfrm>
            <a:off x="6955757" y="2224032"/>
            <a:ext cx="1872484" cy="1456543"/>
            <a:chOff x="6955757" y="2224032"/>
            <a:chExt cx="1872484" cy="1456543"/>
          </a:xfrm>
        </p:grpSpPr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004E1DDC-406E-1522-896E-C9062110BDAF}"/>
                </a:ext>
              </a:extLst>
            </p:cNvPr>
            <p:cNvSpPr/>
            <p:nvPr/>
          </p:nvSpPr>
          <p:spPr bwMode="auto">
            <a:xfrm>
              <a:off x="6955757" y="2224032"/>
              <a:ext cx="575332" cy="1456543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B155D0B-3841-C3AC-1D2F-272C86F34EC8}"/>
                </a:ext>
              </a:extLst>
            </p:cNvPr>
            <p:cNvSpPr txBox="1"/>
            <p:nvPr/>
          </p:nvSpPr>
          <p:spPr>
            <a:xfrm>
              <a:off x="7696200" y="2715651"/>
              <a:ext cx="1132041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2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ECFF7C-6246-C72A-CC16-F4A0D8F34C7A}"/>
              </a:ext>
            </a:extLst>
          </p:cNvPr>
          <p:cNvGrpSpPr/>
          <p:nvPr/>
        </p:nvGrpSpPr>
        <p:grpSpPr>
          <a:xfrm>
            <a:off x="6963228" y="4114800"/>
            <a:ext cx="1879602" cy="1456543"/>
            <a:chOff x="6963228" y="4114800"/>
            <a:chExt cx="1879602" cy="145654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9DF1DCF-BD6D-1509-CE3B-EED20334E4CA}"/>
                </a:ext>
              </a:extLst>
            </p:cNvPr>
            <p:cNvSpPr txBox="1"/>
            <p:nvPr/>
          </p:nvSpPr>
          <p:spPr>
            <a:xfrm>
              <a:off x="7710789" y="4611077"/>
              <a:ext cx="11320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Layer 1</a:t>
              </a:r>
            </a:p>
          </p:txBody>
        </p:sp>
        <p:sp>
          <p:nvSpPr>
            <p:cNvPr id="42" name="Right Brace 41">
              <a:extLst>
                <a:ext uri="{FF2B5EF4-FFF2-40B4-BE49-F238E27FC236}">
                  <a16:creationId xmlns:a16="http://schemas.microsoft.com/office/drawing/2014/main" id="{6D2C5ABD-5A3F-016D-254C-0D8D77E804FC}"/>
                </a:ext>
              </a:extLst>
            </p:cNvPr>
            <p:cNvSpPr/>
            <p:nvPr/>
          </p:nvSpPr>
          <p:spPr bwMode="auto">
            <a:xfrm>
              <a:off x="6963228" y="4114800"/>
              <a:ext cx="575332" cy="1456543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A71C015-3151-064D-BE31-6B9C4047DA20}"/>
              </a:ext>
            </a:extLst>
          </p:cNvPr>
          <p:cNvSpPr/>
          <p:nvPr/>
        </p:nvSpPr>
        <p:spPr bwMode="auto">
          <a:xfrm>
            <a:off x="990600" y="4038600"/>
            <a:ext cx="453572" cy="461665"/>
          </a:xfrm>
          <a:prstGeom prst="rect">
            <a:avLst/>
          </a:prstGeom>
          <a:solidFill>
            <a:srgbClr val="FFFC8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E336F8-52AE-C13F-D355-EA6652670480}"/>
              </a:ext>
            </a:extLst>
          </p:cNvPr>
          <p:cNvSpPr/>
          <p:nvPr/>
        </p:nvSpPr>
        <p:spPr bwMode="auto">
          <a:xfrm>
            <a:off x="983343" y="4800600"/>
            <a:ext cx="482600" cy="461665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B52839-182A-69A0-8DB4-9922D0B86A1A}"/>
              </a:ext>
            </a:extLst>
          </p:cNvPr>
          <p:cNvSpPr/>
          <p:nvPr/>
        </p:nvSpPr>
        <p:spPr bwMode="auto">
          <a:xfrm>
            <a:off x="990600" y="5710535"/>
            <a:ext cx="482600" cy="461665"/>
          </a:xfrm>
          <a:prstGeom prst="rect">
            <a:avLst/>
          </a:prstGeom>
          <a:solidFill>
            <a:srgbClr val="E395F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99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1DB3FF-3514-262A-D56A-DBE33F2BE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Fitting Models to data</a:t>
            </a:r>
          </a:p>
        </p:txBody>
      </p:sp>
    </p:spTree>
    <p:extLst>
      <p:ext uri="{BB962C8B-B14F-4D97-AF65-F5344CB8AC3E}">
        <p14:creationId xmlns:p14="http://schemas.microsoft.com/office/powerpoint/2010/main" val="38141098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37071F-469C-AC1D-4971-627EA656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Models to Data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DDAD883-14ED-260A-3958-86CC7A23615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Suppose our goal is to approximate an unknown function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given a dataset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standard approach is to approximate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with a parameterized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, that is, a model,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are the parameters of the model.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DDAD883-14ED-260A-3958-86CC7A236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66" t="-1316" r="-2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7A829E1-1BCF-5BA6-7BC1-3FDD0E1769EF}"/>
              </a:ext>
            </a:extLst>
          </p:cNvPr>
          <p:cNvGrpSpPr/>
          <p:nvPr/>
        </p:nvGrpSpPr>
        <p:grpSpPr>
          <a:xfrm>
            <a:off x="6371772" y="1295400"/>
            <a:ext cx="2162628" cy="5105400"/>
            <a:chOff x="5304972" y="1295400"/>
            <a:chExt cx="2162628" cy="510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60E19E-7396-8D83-4E14-14ED66B6E28A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478763-B0CC-CA1B-A5E0-37EA044FFA5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A506BAD-5D5C-6713-85C2-752D5793B82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2E04A20-CBDD-FD0D-480E-538ABB0B8646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relu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B757605-B32A-713D-F678-F0E7931243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0851186-DEAC-1146-E252-F3512444DF7B}"/>
                    </a:ext>
                  </a:extLst>
                </p:cNvPr>
                <p:cNvSpPr/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81CB6F6-4FE5-9858-F6EA-44D503BDB9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C2912A1-0AF0-1EEB-D0E1-28915E8AE32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A5A71C-418A-A6F4-81B6-05ADDDDCEF13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CBBD027-8214-31E7-5044-2B3D8328FBA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05D693C-884E-9399-4747-1274699FB229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9AD3391-7576-A4AE-C29C-99FB86189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72F07A4-0A7C-6ED8-9E94-A6792A293C1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9F7B500-2E49-6B29-67E8-EF2BABB43808}"/>
                    </a:ext>
                  </a:extLst>
                </p:cNvPr>
                <p:cNvSpPr txBox="1"/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38A83F1-6622-52AF-5B87-A5ADC1EFD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449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0774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897A-1919-2B78-6636-C468FC97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C37B65-62F9-CAA4-DD53-40FD43DD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Models to Data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74589A-F879-C165-9E23-B4E27AF4E9A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way to find the </a:t>
                </a:r>
                <a:r>
                  <a:rPr lang="en-US" i="1" dirty="0">
                    <a:solidFill>
                      <a:srgbClr val="0033CC"/>
                    </a:solidFill>
                  </a:rPr>
                  <a:t>best-fit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of the model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is to minimize the quadratic form 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with respect to the parameters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, where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called a </a:t>
                </a:r>
                <a:r>
                  <a:rPr lang="en-US" b="1" dirty="0">
                    <a:solidFill>
                      <a:srgbClr val="0033CC"/>
                    </a:solidFill>
                  </a:rPr>
                  <a:t>least-squares fit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574589A-F879-C165-9E23-B4E27AF4E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66" t="-1316" r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194D523-850C-80E5-05AA-D135125A87BF}"/>
              </a:ext>
            </a:extLst>
          </p:cNvPr>
          <p:cNvGrpSpPr/>
          <p:nvPr/>
        </p:nvGrpSpPr>
        <p:grpSpPr>
          <a:xfrm>
            <a:off x="6371772" y="1295400"/>
            <a:ext cx="2162628" cy="5105400"/>
            <a:chOff x="5304972" y="1295400"/>
            <a:chExt cx="2162628" cy="510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668C92-ED99-D89C-4EF1-D3176ED863DA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30FCDDF-7ADD-A6F9-98C7-DF577FE74F9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1CA4D4E-1604-B619-87EB-31DFFA7535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911B57D-F0F3-DD7A-C8FF-8B375A385937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relu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911B57D-F0F3-DD7A-C8FF-8B375A3859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4BC92B0-5344-A101-5754-180621627F0B}"/>
                    </a:ext>
                  </a:extLst>
                </p:cNvPr>
                <p:cNvSpPr/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4BC92B0-5344-A101-5754-180621627F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DCA19AA-2423-13DE-FD0F-E8E9B201E74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4D966C-E967-013E-F52B-128C8895ED8E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37D021-8FFC-41FB-D282-837D6076C3E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EEC624-44D8-E01A-2C29-09B4201095E8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EEC624-44D8-E01A-2C29-09B420109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A66E51D-EAF5-4595-2066-FC62C23F642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73B52FC-833E-7746-2A4D-3EF8FDED7D9D}"/>
                    </a:ext>
                  </a:extLst>
                </p:cNvPr>
                <p:cNvSpPr txBox="1"/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73B52FC-833E-7746-2A4D-3EF8FDED7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449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9441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23F2E-B309-8BFC-CFBA-51667F7C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ED1EDA-0CF9-C62B-EC48-09A69492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Models to Data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5E7CF4-B3F2-C650-9110-77AEE2D5EC4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least-squares fit can be generalized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the </a:t>
                </a:r>
                <a:r>
                  <a:rPr lang="en-US" b="1" dirty="0">
                    <a:solidFill>
                      <a:srgbClr val="0033CC"/>
                    </a:solidFill>
                  </a:rPr>
                  <a:t>loss function</a:t>
                </a:r>
                <a:r>
                  <a:rPr lang="en-US" dirty="0"/>
                  <a:t>, measures the discrepancy between the desired </a:t>
                </a:r>
                <a:r>
                  <a:rPr lang="en-US" b="1" dirty="0">
                    <a:solidFill>
                      <a:srgbClr val="0033CC"/>
                    </a:solidFill>
                  </a:rPr>
                  <a:t>target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the model,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is called the </a:t>
                </a:r>
                <a:r>
                  <a:rPr lang="en-US" b="1" dirty="0">
                    <a:solidFill>
                      <a:srgbClr val="0033CC"/>
                    </a:solidFill>
                  </a:rPr>
                  <a:t>empirical risk</a:t>
                </a:r>
                <a:r>
                  <a:rPr lang="en-US" dirty="0"/>
                  <a:t> or average loss.</a:t>
                </a:r>
                <a:r>
                  <a:rPr lang="en-US" b="1" dirty="0">
                    <a:solidFill>
                      <a:srgbClr val="0033CC"/>
                    </a:solidFill>
                  </a:rPr>
                  <a:t> Warning: </a:t>
                </a:r>
                <a:r>
                  <a:rPr lang="en-US" dirty="0"/>
                  <a:t>In ML, the empirical risk is often referred to as the “loss”.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E5E7CF4-B3F2-C650-9110-77AEE2D5E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66" t="-8947" b="-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1B1787B-3BEC-31A0-FE5A-D95EF0D21010}"/>
              </a:ext>
            </a:extLst>
          </p:cNvPr>
          <p:cNvGrpSpPr/>
          <p:nvPr/>
        </p:nvGrpSpPr>
        <p:grpSpPr>
          <a:xfrm>
            <a:off x="6371772" y="1295400"/>
            <a:ext cx="2162628" cy="5105400"/>
            <a:chOff x="5304972" y="1295400"/>
            <a:chExt cx="2162628" cy="5105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2BF525-D21F-1312-6F79-7C12B8773F7B}"/>
                </a:ext>
              </a:extLst>
            </p:cNvPr>
            <p:cNvSpPr/>
            <p:nvPr/>
          </p:nvSpPr>
          <p:spPr bwMode="auto">
            <a:xfrm>
              <a:off x="5304972" y="3149025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Linear(4, 1)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7BDF299-245A-14EC-DBE6-8FAFAF08849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662" y="3592164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C7426D9-12DA-CB6D-0A4E-A421AE55615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4560245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AE21FE60-0947-F266-4A55-9AB3ADBD02E9}"/>
                    </a:ext>
                  </a:extLst>
                </p:cNvPr>
                <p:cNvSpPr/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0" lang="en-US" sz="2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relu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AE21FE60-0947-F266-4A55-9AB3ADBD02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8718" y="4102502"/>
                  <a:ext cx="14478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3B1CC7E8-F987-585C-EA5A-6997FAE55248}"/>
                    </a:ext>
                  </a:extLst>
                </p:cNvPr>
                <p:cNvSpPr/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0" lang="en-US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3B1CC7E8-F987-585C-EA5A-6997FAE552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76899" y="2238165"/>
                  <a:ext cx="14478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97B4336-2055-009D-F131-ABF6CE50018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68141" y="2677311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5348C6-C758-B6B1-2C02-B05BADF69CAC}"/>
                </a:ext>
              </a:extLst>
            </p:cNvPr>
            <p:cNvSpPr/>
            <p:nvPr/>
          </p:nvSpPr>
          <p:spPr bwMode="auto">
            <a:xfrm>
              <a:off x="5334000" y="5044988"/>
              <a:ext cx="2133600" cy="461665"/>
            </a:xfrm>
            <a:prstGeom prst="rect">
              <a:avLst/>
            </a:prstGeom>
            <a:solidFill>
              <a:srgbClr val="FFFC8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Linear(2, 4)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778F223-721B-6FB0-21A5-4DD38A5438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400799" y="5492789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5A0C7FB-9193-3437-FCF8-BD0225B410E9}"/>
                    </a:ext>
                  </a:extLst>
                </p:cNvPr>
                <p:cNvSpPr txBox="1"/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5A0C7FB-9193-3437-FCF8-BD0225B41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1946" y="5816025"/>
                  <a:ext cx="517706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909EBCF-6CDB-E686-8740-4A50DFD6E3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371771" y="1730253"/>
              <a:ext cx="0" cy="493780"/>
            </a:xfrm>
            <a:prstGeom prst="straightConnector1">
              <a:avLst/>
            </a:prstGeom>
            <a:noFill/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6B99D52-3E0F-4333-2109-47DAFF9A7321}"/>
                    </a:ext>
                  </a:extLst>
                </p:cNvPr>
                <p:cNvSpPr txBox="1"/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6B99D52-3E0F-4333-2109-47DAFF9A7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6046" y="1295400"/>
                  <a:ext cx="867673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449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21258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BE5C-792A-0DA0-372D-C10451CE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3FEE2E02-D718-22E3-34D5-4CC1051B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18" y="2057400"/>
            <a:ext cx="3846482" cy="39222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9877C6-9EAD-509E-30C4-5CFDD77B0C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empirical risk defines a highly corrugated high-dimensional “landscape” in the space of parameters.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task is to navigate the empirical</a:t>
            </a:r>
          </a:p>
          <a:p>
            <a:pPr marL="0" indent="0">
              <a:buNone/>
            </a:pPr>
            <a:r>
              <a:rPr lang="en-US" dirty="0"/>
              <a:t>risk landscape to find a </a:t>
            </a:r>
            <a:r>
              <a:rPr lang="en-US" i="1" dirty="0">
                <a:solidFill>
                  <a:srgbClr val="0033CC"/>
                </a:solidFill>
              </a:rPr>
              <a:t>good </a:t>
            </a:r>
          </a:p>
          <a:p>
            <a:pPr marL="0" indent="0">
              <a:buNone/>
            </a:pPr>
            <a:r>
              <a:rPr lang="en-US" i="1" dirty="0">
                <a:solidFill>
                  <a:srgbClr val="0033CC"/>
                </a:solidFill>
              </a:rPr>
              <a:t>approximation</a:t>
            </a:r>
            <a:r>
              <a:rPr lang="en-US" dirty="0"/>
              <a:t> of the minimum not of </a:t>
            </a:r>
          </a:p>
          <a:p>
            <a:pPr marL="0" indent="0">
              <a:buNone/>
            </a:pPr>
            <a:r>
              <a:rPr lang="en-US" dirty="0"/>
              <a:t>that landscape but rather of the</a:t>
            </a:r>
          </a:p>
          <a:p>
            <a:pPr marL="0" indent="0">
              <a:buNone/>
            </a:pPr>
            <a:r>
              <a:rPr lang="en-US" dirty="0"/>
              <a:t>landscape that would be formed if </a:t>
            </a:r>
          </a:p>
          <a:p>
            <a:pPr marL="0" indent="0">
              <a:buNone/>
            </a:pPr>
            <a:r>
              <a:rPr lang="en-US" dirty="0"/>
              <a:t>we if we had an </a:t>
            </a:r>
            <a:r>
              <a:rPr lang="en-US" i="1" u="sng" dirty="0">
                <a:solidFill>
                  <a:srgbClr val="0033CC"/>
                </a:solidFill>
              </a:rPr>
              <a:t>infinite</a:t>
            </a:r>
            <a:r>
              <a:rPr lang="en-US" dirty="0"/>
              <a:t> amount of data</a:t>
            </a:r>
          </a:p>
          <a:p>
            <a:pPr marL="0" indent="0">
              <a:buNone/>
            </a:pPr>
            <a:r>
              <a:rPr lang="en-US" dirty="0"/>
              <a:t>and a model that would fit the infinite dataset exactly.</a:t>
            </a:r>
          </a:p>
          <a:p>
            <a:pPr marL="0" indent="0">
              <a:buNone/>
            </a:pPr>
            <a:r>
              <a:rPr lang="en-US" dirty="0"/>
              <a:t>A model that approximates this ideal is said to </a:t>
            </a:r>
            <a:r>
              <a:rPr lang="en-US" i="1" dirty="0">
                <a:solidFill>
                  <a:srgbClr val="0033CC"/>
                </a:solidFill>
              </a:rPr>
              <a:t>generalize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D7A706-1979-0CEC-11EC-04E801B7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</a:t>
            </a:r>
            <a:r>
              <a:rPr lang="en-US" dirty="0">
                <a:solidFill>
                  <a:srgbClr val="0033CC"/>
                </a:solidFill>
              </a:rPr>
              <a:t>Landscape (1)</a:t>
            </a:r>
          </a:p>
        </p:txBody>
      </p:sp>
    </p:spTree>
    <p:extLst>
      <p:ext uri="{BB962C8B-B14F-4D97-AF65-F5344CB8AC3E}">
        <p14:creationId xmlns:p14="http://schemas.microsoft.com/office/powerpoint/2010/main" val="2234775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F6B6DD0-E265-4B9F-974D-650F4CDB4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667000"/>
            <a:ext cx="73152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357EB8C-947F-B648-A9AF-99CF7CE7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</a:t>
            </a:r>
            <a:r>
              <a:rPr lang="en-US" dirty="0">
                <a:solidFill>
                  <a:srgbClr val="0033CC"/>
                </a:solidFill>
              </a:rPr>
              <a:t>Landscape 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FC5054C1-911D-45A7-F187-AD70F30B924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Example:</a:t>
                </a:r>
                <a:r>
                  <a:rPr lang="en-US" dirty="0"/>
                  <a:t> A 1D least squares fit to a </a:t>
                </a:r>
                <a:r>
                  <a:rPr lang="en-US" b="1" dirty="0">
                    <a:solidFill>
                      <a:srgbClr val="0033CC"/>
                    </a:solidFill>
                  </a:rPr>
                  <a:t>linear model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order 3</a:t>
                </a:r>
              </a:p>
              <a:p>
                <a:pPr marL="0" indent="0">
                  <a:buNone/>
                </a:pPr>
                <a:r>
                  <a:rPr lang="en-US" dirty="0"/>
                  <a:t>model</a:t>
                </a:r>
              </a:p>
              <a:p>
                <a:pPr marL="0" indent="0">
                  <a:buNone/>
                </a:pPr>
                <a:r>
                  <a:rPr lang="en-US" dirty="0"/>
                  <a:t>generalizes.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the</a:t>
                </a:r>
              </a:p>
              <a:p>
                <a:pPr marL="0" indent="0">
                  <a:buNone/>
                </a:pPr>
                <a:r>
                  <a:rPr lang="en-US" dirty="0"/>
                  <a:t>other</a:t>
                </a:r>
              </a:p>
              <a:p>
                <a:pPr marL="0" indent="0">
                  <a:buNone/>
                </a:pPr>
                <a:r>
                  <a:rPr lang="en-US" dirty="0"/>
                  <a:t>models do</a:t>
                </a:r>
              </a:p>
              <a:p>
                <a:pPr marL="0" indent="0">
                  <a:buNone/>
                </a:pPr>
                <a:r>
                  <a:rPr lang="en-US" dirty="0"/>
                  <a:t>not.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FC5054C1-911D-45A7-F187-AD70F30B9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7105" b="-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865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B0365-4572-88E7-77C3-A8BBB24FB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Risk Functional</a:t>
            </a:r>
          </a:p>
        </p:txBody>
      </p:sp>
    </p:spTree>
    <p:extLst>
      <p:ext uri="{BB962C8B-B14F-4D97-AF65-F5344CB8AC3E}">
        <p14:creationId xmlns:p14="http://schemas.microsoft.com/office/powerpoint/2010/main" val="193185294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0171E8A-D951-BD03-FE4A-80E5601CAA5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mathematics and physics, insight can often be gained by taking some limit of an expression. Consider the limit of </a:t>
                </a:r>
                <a:r>
                  <a:rPr lang="en-US" dirty="0">
                    <a:solidFill>
                      <a:srgbClr val="0033CC"/>
                    </a:solidFill>
                  </a:rPr>
                  <a:t>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, that is, as the amount of data grows without limit.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In that limit, the empirical risk becomes the </a:t>
                </a:r>
                <a:r>
                  <a:rPr lang="en-US" b="1" dirty="0">
                    <a:solidFill>
                      <a:srgbClr val="0033CC"/>
                    </a:solidFill>
                  </a:rPr>
                  <a:t>risk functional</a:t>
                </a:r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𝑑𝑥𝑑𝑦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the probability distribution of the data.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0171E8A-D951-BD03-FE4A-80E5601CAA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8947" b="-28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EB29C309-CA0B-2F71-410E-8A72D189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(1)</a:t>
            </a:r>
          </a:p>
        </p:txBody>
      </p:sp>
    </p:spTree>
    <p:extLst>
      <p:ext uri="{BB962C8B-B14F-4D97-AF65-F5344CB8AC3E}">
        <p14:creationId xmlns:p14="http://schemas.microsoft.com/office/powerpoint/2010/main" val="456581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05F6DF-07C0-3FB6-D14A-A77EB0EDFBF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find the optimal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ideally,  we should minimize the risk functional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While we know the functional form of the loss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 because we choose it, the probability distribution,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𝑑𝑥𝑑𝑦</m:t>
                    </m:r>
                  </m:oMath>
                </a14:m>
                <a:r>
                  <a:rPr lang="en-US" dirty="0"/>
                  <a:t>, of the data is usually unknown.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 because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is a </a:t>
                </a:r>
                <a:r>
                  <a:rPr lang="en-US" b="1" dirty="0">
                    <a:solidFill>
                      <a:srgbClr val="0033CC"/>
                    </a:solidFill>
                  </a:rPr>
                  <a:t>Monte Carlo </a:t>
                </a:r>
                <a:r>
                  <a:rPr lang="en-US" dirty="0"/>
                  <a:t>approximation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, any useful result derived for the risk functional pertains, at least approximately, to the empirical risk.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05F6DF-07C0-3FB6-D14A-A77EB0EDFB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5789" r="-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932BC2D-7398-EAA2-68DC-E23FFAC5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(2)</a:t>
            </a:r>
          </a:p>
        </p:txBody>
      </p:sp>
    </p:spTree>
    <p:extLst>
      <p:ext uri="{BB962C8B-B14F-4D97-AF65-F5344CB8AC3E}">
        <p14:creationId xmlns:p14="http://schemas.microsoft.com/office/powerpoint/2010/main" val="919993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0F603E-9849-B0C0-3CA0-F22BBC4B141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minimize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 note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Therefore, we can write the functional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 as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where,</a:t>
                </a:r>
                <a:r>
                  <a:rPr lang="en-US" dirty="0">
                    <a:solidFill>
                      <a:srgbClr val="0033CC"/>
                    </a:solidFill>
                    <a:ea typeface="Cambria Math" panose="02040503050406030204" pitchFamily="18" charset="0"/>
                  </a:rPr>
                  <a:t>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𝓛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0F603E-9849-B0C0-3CA0-F22BBC4B14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23421" b="-48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D221EB3-B992-EAFE-458B-1AE0A27A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(3)</a:t>
            </a:r>
          </a:p>
        </p:txBody>
      </p:sp>
    </p:spTree>
    <p:extLst>
      <p:ext uri="{BB962C8B-B14F-4D97-AF65-F5344CB8AC3E}">
        <p14:creationId xmlns:p14="http://schemas.microsoft.com/office/powerpoint/2010/main" val="1624171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0063-F0D4-B719-5B7A-F2606E55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CDADDB8-4A22-0FC0-AD65-FFDDB49294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Add an </a:t>
                </a:r>
                <a:r>
                  <a:rPr lang="en-US" i="1" u="sng" dirty="0">
                    <a:solidFill>
                      <a:srgbClr val="0033CC"/>
                    </a:solidFill>
                  </a:rPr>
                  <a:t>arbitrary</a:t>
                </a:r>
                <a:r>
                  <a:rPr lang="en-US" dirty="0"/>
                  <a:t>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to the optimal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an infinitesimal*.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m:rPr>
                        <m:aln/>
                      </m:rP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  <m:d>
                      <m:dPr>
                        <m:ctrl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𝝐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p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                                 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CDADDB8-4A22-0FC0-AD65-FFDDB4929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3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E290628-6ED3-9C1E-6CC0-E4CF13A9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D46909-5E09-573F-A448-00E2156AB69F}"/>
                  </a:ext>
                </a:extLst>
              </p:cNvPr>
              <p:cNvSpPr txBox="1"/>
              <p:nvPr/>
            </p:nvSpPr>
            <p:spPr>
              <a:xfrm>
                <a:off x="711200" y="5848647"/>
                <a:ext cx="58302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*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&lt;|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any real number.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D46909-5E09-573F-A448-00E2156AB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" y="5848647"/>
                <a:ext cx="5830250" cy="461665"/>
              </a:xfrm>
              <a:prstGeom prst="rect">
                <a:avLst/>
              </a:prstGeom>
              <a:blipFill>
                <a:blip r:embed="rId3"/>
                <a:stretch>
                  <a:fillRect l="-1739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31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6F7A-7AED-F1F7-215C-33E71A6B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F7A583-070E-CD78-A92A-38012A02394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Rearranging, and taking standard part* of both sides, we find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st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The lefthand side defines the functional derivative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By assumption,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zero 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 ∀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 Therefore,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*</a:t>
                </a:r>
                <a:r>
                  <a:rPr lang="en-US" sz="2000" dirty="0"/>
                  <a:t>The standard part of the hyperreal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/>
                  <a:t> is defined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st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6F7A583-070E-CD78-A92A-38012A023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038BF04-EEC9-218F-FB7F-46573B99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(5)</a:t>
            </a:r>
          </a:p>
        </p:txBody>
      </p:sp>
    </p:spTree>
    <p:extLst>
      <p:ext uri="{BB962C8B-B14F-4D97-AF65-F5344CB8AC3E}">
        <p14:creationId xmlns:p14="http://schemas.microsoft.com/office/powerpoint/2010/main" val="1685354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65D47-3E96-B82E-A5F9-010A679C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CCA021E-DD2D-264A-3068-A419F3FF459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We want the expression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hold for </a:t>
                </a:r>
                <a:r>
                  <a:rPr lang="en-US" i="1" dirty="0"/>
                  <a:t>any</a:t>
                </a:r>
                <a:r>
                  <a:rPr lang="en-US" dirty="0"/>
                  <a:t>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This can happen </a:t>
                </a:r>
                <a:r>
                  <a:rPr lang="en-US" i="1" dirty="0"/>
                  <a:t>if only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Assuming the integral and partial derivative operations commute, and recalling that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𝓛</m:t>
                    </m:r>
                    <m:d>
                      <m:dPr>
                        <m:ctrl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, we arrive at the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V</a:t>
                </a:r>
                <a:r>
                  <a:rPr lang="en-US" dirty="0">
                    <a:solidFill>
                      <a:srgbClr val="0033CC"/>
                    </a:solidFill>
                  </a:rPr>
                  <a:t>ery </a:t>
                </a:r>
                <a:r>
                  <a:rPr lang="en-US" b="1" dirty="0">
                    <a:solidFill>
                      <a:srgbClr val="0033CC"/>
                    </a:solidFill>
                  </a:rPr>
                  <a:t>I</a:t>
                </a:r>
                <a:r>
                  <a:rPr lang="en-US" dirty="0">
                    <a:solidFill>
                      <a:srgbClr val="0033CC"/>
                    </a:solidFill>
                  </a:rPr>
                  <a:t>mportant </a:t>
                </a:r>
                <a:r>
                  <a:rPr lang="en-US" b="1" dirty="0">
                    <a:solidFill>
                      <a:srgbClr val="0033CC"/>
                    </a:solidFill>
                  </a:rPr>
                  <a:t>R</a:t>
                </a:r>
                <a:r>
                  <a:rPr lang="en-US" dirty="0">
                    <a:solidFill>
                      <a:srgbClr val="0033CC"/>
                    </a:solidFill>
                  </a:rPr>
                  <a:t>esult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CCA021E-DD2D-264A-3068-A419F3FF45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23421" b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A9A6E72-D9BB-38E7-7486-78EC1E24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80DAFF-105B-7780-AA48-5F1B4CF3212E}"/>
                  </a:ext>
                </a:extLst>
              </p:cNvPr>
              <p:cNvSpPr txBox="1"/>
              <p:nvPr/>
            </p:nvSpPr>
            <p:spPr>
              <a:xfrm>
                <a:off x="4600840" y="5263669"/>
                <a:ext cx="3019160" cy="1060931"/>
              </a:xfrm>
              <a:prstGeom prst="rect">
                <a:avLst/>
              </a:prstGeom>
              <a:solidFill>
                <a:srgbClr val="FFFC8F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80DAFF-105B-7780-AA48-5F1B4CF32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840" y="5263669"/>
                <a:ext cx="3019160" cy="1060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38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2B16D-34FA-51D9-C1D0-D4F50602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2F608CF-2A1C-4C12-9BA4-863BD659E06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Points to Note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This result is independent of the details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. However,…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must have sufficient </a:t>
                </a:r>
                <a:r>
                  <a:rPr lang="en-US" b="1" dirty="0">
                    <a:solidFill>
                      <a:srgbClr val="0033CC"/>
                    </a:solidFill>
                  </a:rPr>
                  <a:t>capacity</a:t>
                </a:r>
                <a:r>
                  <a:rPr lang="en-US" dirty="0"/>
                  <a:t>: i.e., there must exist an approximation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n-US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found by minimizing the empirical risk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is arbitrarily close to the optimal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Moreover, it must be possible to find that function!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2F608CF-2A1C-4C12-9BA4-863BD659E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D6D8B3A-DE2D-BE5E-17CF-54E63D92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Functional (7)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7BD73D-E7E9-6CD7-71FD-C01C656AC13C}"/>
                  </a:ext>
                </a:extLst>
              </p:cNvPr>
              <p:cNvSpPr txBox="1"/>
              <p:nvPr/>
            </p:nvSpPr>
            <p:spPr>
              <a:xfrm>
                <a:off x="2819400" y="1828800"/>
                <a:ext cx="3019160" cy="1060931"/>
              </a:xfrm>
              <a:prstGeom prst="rect">
                <a:avLst/>
              </a:prstGeom>
              <a:solidFill>
                <a:srgbClr val="FFFC8F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7BD73D-E7E9-6CD7-71FD-C01C656AC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828800"/>
                <a:ext cx="3019160" cy="1060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82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0679-D6B1-610A-B664-7236129E7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Empirical RISK Minimization</a:t>
            </a:r>
          </a:p>
        </p:txBody>
      </p:sp>
    </p:spTree>
    <p:extLst>
      <p:ext uri="{BB962C8B-B14F-4D97-AF65-F5344CB8AC3E}">
        <p14:creationId xmlns:p14="http://schemas.microsoft.com/office/powerpoint/2010/main" val="379386027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FC20D917-2813-56A2-BE44-B1E43547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18" y="2514600"/>
            <a:ext cx="3846482" cy="392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07674D-04C0-896E-ECB0-08F4A9BA384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The minimization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typically done by moving in the direction of </a:t>
                </a:r>
                <a:r>
                  <a:rPr lang="en-US" i="1" dirty="0">
                    <a:solidFill>
                      <a:srgbClr val="0033CC"/>
                    </a:solidFill>
                  </a:rPr>
                  <a:t>steepest descent</a:t>
                </a:r>
                <a:r>
                  <a:rPr lang="en-US" dirty="0"/>
                  <a:t>. Most optimization algorithms in ML are variations of</a:t>
                </a: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b="1" dirty="0">
                    <a:solidFill>
                      <a:srgbClr val="0033CC"/>
                    </a:solidFill>
                  </a:rPr>
                  <a:t>S</a:t>
                </a:r>
                <a:r>
                  <a:rPr lang="en-US" dirty="0">
                    <a:solidFill>
                      <a:srgbClr val="0033CC"/>
                    </a:solidFill>
                  </a:rPr>
                  <a:t>tochastic </a:t>
                </a:r>
                <a:r>
                  <a:rPr lang="en-US" b="1" dirty="0">
                    <a:solidFill>
                      <a:srgbClr val="0033CC"/>
                    </a:solidFill>
                  </a:rPr>
                  <a:t>G</a:t>
                </a:r>
                <a:r>
                  <a:rPr lang="en-US" dirty="0">
                    <a:solidFill>
                      <a:srgbClr val="0033CC"/>
                    </a:solidFill>
                  </a:rPr>
                  <a:t>radient </a:t>
                </a:r>
                <a:r>
                  <a:rPr lang="en-US" b="1" dirty="0">
                    <a:solidFill>
                      <a:srgbClr val="0033CC"/>
                    </a:solidFill>
                  </a:rPr>
                  <a:t>D</a:t>
                </a:r>
                <a:r>
                  <a:rPr lang="en-US" dirty="0">
                    <a:solidFill>
                      <a:srgbClr val="0033CC"/>
                    </a:solidFill>
                  </a:rPr>
                  <a:t>escent</a:t>
                </a:r>
                <a:r>
                  <a:rPr lang="en-US" dirty="0">
                    <a:solidFill>
                      <a:srgbClr val="000000"/>
                    </a:solidFill>
                  </a:rPr>
                  <a:t>.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endParaRPr lang="en-US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Algorithm</a:t>
                </a:r>
                <a:endParaRPr lang="en-US" b="1" dirty="0">
                  <a:solidFill>
                    <a:srgbClr val="000000"/>
                  </a:solidFill>
                </a:endParaRPr>
              </a:p>
              <a:p>
                <a:pPr marL="457200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000000"/>
                    </a:solidFill>
                  </a:rPr>
                  <a:t>At the current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, compute a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i="1" u="sng" dirty="0">
                    <a:solidFill>
                      <a:srgbClr val="0033CC"/>
                    </a:solidFill>
                  </a:rPr>
                  <a:t>noisy</a:t>
                </a:r>
                <a:r>
                  <a:rPr lang="en-US" dirty="0">
                    <a:solidFill>
                      <a:srgbClr val="000000"/>
                    </a:solidFill>
                  </a:rPr>
                  <a:t> approximation of the gradient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of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by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using a </a:t>
                </a:r>
                <a:r>
                  <a:rPr lang="en-US" b="1" dirty="0">
                    <a:solidFill>
                      <a:srgbClr val="0033CC"/>
                    </a:solidFill>
                  </a:rPr>
                  <a:t>batch</a:t>
                </a:r>
                <a:r>
                  <a:rPr lang="en-US" dirty="0">
                    <a:solidFill>
                      <a:srgbClr val="000000"/>
                    </a:solidFill>
                  </a:rPr>
                  <a:t> of </a:t>
                </a:r>
                <a:r>
                  <a:rPr lang="en-US" b="1" dirty="0">
                    <a:solidFill>
                      <a:srgbClr val="0033CC"/>
                    </a:solidFill>
                  </a:rPr>
                  <a:t>training data</a:t>
                </a:r>
                <a:r>
                  <a:rPr lang="en-US" dirty="0">
                    <a:solidFill>
                      <a:srgbClr val="000000"/>
                    </a:solidFill>
                  </a:rPr>
                  <a:t>,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dirty="0"/>
                  <a:t>Move to the next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in the landscape using </a:t>
                </a: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07674D-04C0-896E-ECB0-08F4A9BA38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842" r="-1964" b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5997FEB-454C-5C8C-3731-F19D54CE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 (1)</a:t>
            </a:r>
          </a:p>
        </p:txBody>
      </p:sp>
    </p:spTree>
    <p:extLst>
      <p:ext uri="{BB962C8B-B14F-4D97-AF65-F5344CB8AC3E}">
        <p14:creationId xmlns:p14="http://schemas.microsoft.com/office/powerpoint/2010/main" val="184966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3A2D-5754-2FAF-C4D1-4F4BC643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9E54FDF4-4C20-75CD-A55C-2128FB104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18" y="2514600"/>
            <a:ext cx="3846482" cy="392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5839D9-08FB-02BE-91C0-05B1224A652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Why does </a:t>
                </a:r>
                <a:r>
                  <a:rPr lang="en-US" dirty="0">
                    <a:solidFill>
                      <a:srgbClr val="000000"/>
                    </a:solidFill>
                  </a:rPr>
                  <a:t>this (1</a:t>
                </a:r>
                <a:r>
                  <a:rPr lang="en-US" baseline="30000" dirty="0">
                    <a:solidFill>
                      <a:srgbClr val="000000"/>
                    </a:solidFill>
                  </a:rPr>
                  <a:t>st</a:t>
                </a:r>
                <a:r>
                  <a:rPr lang="en-US" dirty="0">
                    <a:solidFill>
                      <a:srgbClr val="000000"/>
                    </a:solidFill>
                  </a:rPr>
                  <a:t>-order) algorithm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  <a:cs typeface="Cambria Math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work?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Consider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𝜂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𝑅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 		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0033CC"/>
                        </a:solidFill>
                        <a:ea typeface="Cambria Math" panose="02040503050406030204" pitchFamily="18" charset="0"/>
                        <a:cs typeface="Cambria Math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𝜂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If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can be neglected, and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given that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term is always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negative, it follows that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br>
                  <a:rPr lang="en-US" dirty="0"/>
                </a:b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5839D9-08FB-02BE-91C0-05B1224A65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842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B48CDEA-88F8-3CA5-B26A-0F384AAF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 (2)</a:t>
            </a:r>
          </a:p>
        </p:txBody>
      </p:sp>
    </p:spTree>
    <p:extLst>
      <p:ext uri="{BB962C8B-B14F-4D97-AF65-F5344CB8AC3E}">
        <p14:creationId xmlns:p14="http://schemas.microsoft.com/office/powerpoint/2010/main" val="71031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FDF7CA-B744-B3B5-850E-543CCDA162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Common loss functions</a:t>
            </a:r>
          </a:p>
        </p:txBody>
      </p:sp>
    </p:spTree>
    <p:extLst>
      <p:ext uri="{BB962C8B-B14F-4D97-AF65-F5344CB8AC3E}">
        <p14:creationId xmlns:p14="http://schemas.microsoft.com/office/powerpoint/2010/main" val="421072202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1DC6163-A954-DD59-6EC8-A66A6CED9A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123950"/>
                <a:ext cx="77470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Quadratic loss		</a:t>
                </a:r>
                <a:r>
                  <a:rPr lang="en-US" dirty="0"/>
                  <a:t>(often used for regression)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charset="0"/>
                    <a:cs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Binary cross entropy		</a:t>
                </a:r>
                <a:r>
                  <a:rPr lang="en-US" dirty="0"/>
                  <a:t>(often used for classification)</a:t>
                </a:r>
                <a:endParaRPr lang="en-US" b="1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charset="0"/>
                    <a:cs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−[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𝑦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ambria Math" panose="02040503050406030204" pitchFamily="18" charset="0"/>
                    <a:ea typeface="Cambria Math" charset="0"/>
                    <a:cs typeface="Cambria Math" charset="0"/>
                  </a:rPr>
                  <a:t>Exponential loss		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charset="0"/>
                    <a:cs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exp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(−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𝑤𝑦𝑓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/2)</m:t>
                        </m:r>
                      </m:e>
                    </m:func>
                  </m:oMath>
                </a14:m>
                <a:endParaRPr lang="en-US" dirty="0">
                  <a:latin typeface="Cambria Math" panose="02040503050406030204" pitchFamily="18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Cambria Math" panose="02040503050406030204" pitchFamily="18" charset="0"/>
                    <a:ea typeface="Cambria Math" charset="0"/>
                  </a:rPr>
                  <a:t>Quantile loss 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</a:rPr>
                      <m:t>𝟎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rgbClr val="0033CC"/>
                    </a:solidFill>
                    <a:latin typeface="Cambria Math" panose="02040503050406030204" pitchFamily="18" charset="0"/>
                    <a:ea typeface="Cambria Math" charset="0"/>
                  </a:rPr>
                  <a:t>)	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  <m:t>𝜏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𝑓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  <m:t>         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</a:rPr>
                              <m:t> </m:t>
                            </m:r>
                          </m: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Zero-One loss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0          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|≤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 1       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1DC6163-A954-DD59-6EC8-A66A6CED9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123950"/>
                <a:ext cx="7747000" cy="4819650"/>
              </a:xfrm>
              <a:blipFill>
                <a:blip r:embed="rId2"/>
                <a:stretch>
                  <a:fillRect l="-1309" t="-1050" b="-65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7724020-1E2E-A9CD-0218-AB93D86B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Loss Functions (1)</a:t>
            </a:r>
          </a:p>
        </p:txBody>
      </p:sp>
    </p:spTree>
    <p:extLst>
      <p:ext uri="{BB962C8B-B14F-4D97-AF65-F5344CB8AC3E}">
        <p14:creationId xmlns:p14="http://schemas.microsoft.com/office/powerpoint/2010/main" val="3100751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85120-E763-F128-57A2-3EF60CB80E2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Font typeface="Marlett" pitchFamily="26" charset="0"/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Quadratic loss: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endParaRPr lang="en-US" b="1" dirty="0">
                  <a:solidFill>
                    <a:srgbClr val="0033CC"/>
                  </a:solidFill>
                </a:endParaRPr>
              </a:p>
              <a:p>
                <a:pPr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Marlett" pitchFamily="26" charset="0"/>
                  <a:buNone/>
                </a:pPr>
                <a:r>
                  <a:rPr lang="en-US" dirty="0"/>
                  <a:t>Solution</a:t>
                </a:r>
              </a:p>
              <a:p>
                <a:pPr>
                  <a:buFont typeface="Marlett" pitchFamily="26" charset="0"/>
                  <a:buNone/>
                </a:pPr>
                <a:endParaRPr lang="en-US" dirty="0"/>
              </a:p>
              <a:p>
                <a:pPr>
                  <a:buFont typeface="Marlett" pitchFamily="26" charset="0"/>
                  <a:buNone/>
                </a:pPr>
                <a:endParaRPr lang="en-US" dirty="0"/>
              </a:p>
              <a:p>
                <a:pPr>
                  <a:buFont typeface="Marlett" pitchFamily="26" charset="0"/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V</a:t>
                </a:r>
                <a:r>
                  <a:rPr lang="en-US" dirty="0">
                    <a:solidFill>
                      <a:srgbClr val="0033CC"/>
                    </a:solidFill>
                  </a:rPr>
                  <a:t>ery </a:t>
                </a:r>
                <a:r>
                  <a:rPr lang="en-US" b="1" dirty="0">
                    <a:solidFill>
                      <a:srgbClr val="0033CC"/>
                    </a:solidFill>
                  </a:rPr>
                  <a:t>I</a:t>
                </a:r>
                <a:r>
                  <a:rPr lang="en-US" dirty="0">
                    <a:solidFill>
                      <a:srgbClr val="0033CC"/>
                    </a:solidFill>
                  </a:rPr>
                  <a:t>mportant </a:t>
                </a:r>
                <a:r>
                  <a:rPr lang="en-US" b="1" dirty="0">
                    <a:solidFill>
                      <a:srgbClr val="0033CC"/>
                    </a:solidFill>
                  </a:rPr>
                  <a:t>P</a:t>
                </a:r>
                <a:r>
                  <a:rPr lang="en-US" dirty="0">
                    <a:solidFill>
                      <a:srgbClr val="0033CC"/>
                    </a:solidFill>
                  </a:rPr>
                  <a:t>oint</a:t>
                </a:r>
                <a:r>
                  <a:rPr lang="en-US" dirty="0">
                    <a:solidFill>
                      <a:srgbClr val="0033CC"/>
                    </a:solidFill>
                    <a:sym typeface="Wingdings" pitchFamily="2" charset="2"/>
                  </a:rPr>
                  <a:t> (VIP)</a:t>
                </a:r>
                <a:r>
                  <a:rPr lang="en-US" dirty="0">
                    <a:sym typeface="Wingdings" pitchFamily="2" charset="2"/>
                  </a:rPr>
                  <a:t>: As noted, the result</a:t>
                </a:r>
                <a:r>
                  <a:rPr lang="en-US" dirty="0"/>
                  <a:t> is independent of the details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 result depends solely on the form of the loss function and the conditional probability,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US" dirty="0"/>
                  <a:t>, of the data.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85120-E763-F128-57A2-3EF60CB80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9CF121-6458-511B-7B99-A4DD1706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Loss Functions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27CB3A09-E416-D607-F58B-FB0BA1CDAF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0800" y="3276600"/>
                <a:ext cx="3713774" cy="1060931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27CB3A09-E416-D607-F58B-FB0BA1CDA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800" y="3276600"/>
                <a:ext cx="3713774" cy="1060931"/>
              </a:xfrm>
              <a:prstGeom prst="rect">
                <a:avLst/>
              </a:prstGeom>
              <a:blipFill>
                <a:blip r:embed="rId3"/>
                <a:stretch>
                  <a:fillRect l="-676" t="-131818" b="-182955"/>
                </a:stretch>
              </a:blipFill>
              <a:ln w="381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6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A66F-0B72-66CA-D036-8B3BA086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D71358-E7C4-4011-A59E-755828C26D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Binary cross entropy loss :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−[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𝑦</m:t>
                    </m:r>
                    <m:func>
                      <m:func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(1−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endParaRPr lang="en-US" b="1" dirty="0">
                  <a:solidFill>
                    <a:srgbClr val="0033CC"/>
                  </a:solidFill>
                </a:endParaRPr>
              </a:p>
              <a:p>
                <a:pPr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US" dirty="0"/>
                  <a:t>. Therefore,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implies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D71358-E7C4-4011-A59E-755828C26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23421" r="-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159F6C5-C484-EC79-5C75-AB8B3063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Cross Entropy Loss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A3808B84-E83B-8E89-855D-7F89863473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7813" y="5558135"/>
                <a:ext cx="3184398" cy="461665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" name="Text Box 6">
                <a:extLst>
                  <a:ext uri="{FF2B5EF4-FFF2-40B4-BE49-F238E27FC236}">
                    <a16:creationId xmlns:a16="http://schemas.microsoft.com/office/drawing/2014/main" id="{A3808B84-E83B-8E89-855D-7F8986347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7813" y="5558135"/>
                <a:ext cx="3184398" cy="461665"/>
              </a:xfrm>
              <a:prstGeom prst="rect">
                <a:avLst/>
              </a:prstGeom>
              <a:blipFill>
                <a:blip r:embed="rId3"/>
                <a:stretch>
                  <a:fillRect l="-1176" b="-12500"/>
                </a:stretch>
              </a:blipFill>
              <a:ln w="381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68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9EFD6-8AF9-3AC0-A772-0C5780E4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5FF234-6F7F-A2E8-4C2B-8C41E7CF3A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result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b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</a:b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,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shows that </a:t>
                </a:r>
                <a:r>
                  <a:rPr lang="en-US" i="1" u="sng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any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model trained using the the cross-entropy loss necessarily approximates a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class probability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, that is, the probability that an object characterized by the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features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(i.e., attributes)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belongs to the class labeled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is the probability density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for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is the prior probability of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5FF234-6F7F-A2E8-4C2B-8C41E7CF3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2840FCC-D5A4-4372-6695-0E20A32E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Cross Entropy Loss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57CDA-15E4-6062-2B9A-14F1EB476F48}"/>
              </a:ext>
            </a:extLst>
          </p:cNvPr>
          <p:cNvSpPr/>
          <p:nvPr/>
        </p:nvSpPr>
        <p:spPr bwMode="auto">
          <a:xfrm>
            <a:off x="2362200" y="1676400"/>
            <a:ext cx="4648200" cy="9144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482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52B3-B149-0384-60D0-3FBD9A10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9D23C3-1A8A-B6E1-82CD-2E3C33F57EF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295400"/>
                <a:ext cx="78232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Example: A Spam Filter</a:t>
                </a:r>
              </a:p>
              <a:p>
                <a:pPr marL="0" indent="0">
                  <a:buNone/>
                </a:pPr>
                <a:r>
                  <a:rPr lang="en-US" dirty="0"/>
                  <a:t>A spam filter is a binary classifier: spam vs. non-spam emails. </a:t>
                </a:r>
              </a:p>
              <a:p>
                <a:pPr marL="0" indent="0">
                  <a:buNone/>
                </a:pPr>
                <a:r>
                  <a:rPr lang="en-US" dirty="0"/>
                  <a:t>Suppose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labels spam and non-spam emails, respectively, and the training dataset comprises </a:t>
                </a:r>
                <a:r>
                  <a:rPr lang="en-US" dirty="0">
                    <a:solidFill>
                      <a:srgbClr val="0033CC"/>
                    </a:solidFill>
                  </a:rPr>
                  <a:t>50%</a:t>
                </a:r>
                <a:r>
                  <a:rPr lang="en-US" dirty="0"/>
                  <a:t> spam emails and </a:t>
                </a:r>
                <a:r>
                  <a:rPr lang="en-US" dirty="0">
                    <a:solidFill>
                      <a:srgbClr val="0033CC"/>
                    </a:solidFill>
                  </a:rPr>
                  <a:t>50%</a:t>
                </a:r>
                <a:r>
                  <a:rPr lang="en-US" dirty="0"/>
                  <a:t> non-spam emails. That is, the dataset is </a:t>
                </a:r>
                <a:r>
                  <a:rPr lang="en-US" b="1" dirty="0">
                    <a:solidFill>
                      <a:srgbClr val="0033CC"/>
                    </a:solidFill>
                  </a:rPr>
                  <a:t>balanced</a:t>
                </a:r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Each email is characterized by a vector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are the probability densities of these vectors for spam and non-spam emails, respectively.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The prior probabilities are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r>
                  <a:rPr lang="en-US" dirty="0"/>
                  <a:t>.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9D23C3-1A8A-B6E1-82CD-2E3C33F57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295400"/>
                <a:ext cx="7823200" cy="4819650"/>
              </a:xfrm>
              <a:blipFill>
                <a:blip r:embed="rId2"/>
                <a:stretch>
                  <a:fillRect l="-1299" t="-1316" r="-1461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1F8539E-70B2-43DC-E94F-8C95CE81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Cross Entropy Loss (3)</a:t>
            </a:r>
          </a:p>
        </p:txBody>
      </p:sp>
    </p:spTree>
    <p:extLst>
      <p:ext uri="{BB962C8B-B14F-4D97-AF65-F5344CB8AC3E}">
        <p14:creationId xmlns:p14="http://schemas.microsoft.com/office/powerpoint/2010/main" val="2653704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FA07-4D08-91C5-822D-EA30DA04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FBE111-5277-6CD5-CDB1-358D32EF551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295400"/>
                <a:ext cx="77470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When the training dataset is balanced, the classification probability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which in physics is often refer to as a </a:t>
                </a:r>
                <a:r>
                  <a:rPr lang="en-US" b="1" dirty="0">
                    <a:solidFill>
                      <a:srgbClr val="0033CC"/>
                    </a:solidFill>
                  </a:rPr>
                  <a:t>discriminant</a:t>
                </a:r>
                <a:r>
                  <a:rPr lang="en-US" dirty="0"/>
                  <a:t>, becomes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This is one of the most useful results in machine learning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 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The next couple of slides offer some examples of how useful a result this is.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FBE111-5277-6CD5-CDB1-358D32EF5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295400"/>
                <a:ext cx="7747000" cy="4819650"/>
              </a:xfrm>
              <a:blipFill>
                <a:blip r:embed="rId2"/>
                <a:stretch>
                  <a:fillRect l="-1309" t="-1316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260803B-6204-0C12-7211-987376BA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Discriminant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81070C-C4FA-0018-0FFC-DB553E5FD2D0}"/>
              </a:ext>
            </a:extLst>
          </p:cNvPr>
          <p:cNvSpPr/>
          <p:nvPr/>
        </p:nvSpPr>
        <p:spPr bwMode="auto">
          <a:xfrm>
            <a:off x="2895600" y="2590800"/>
            <a:ext cx="3657600" cy="12192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98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65E5-B875-3CDA-6D69-16B54714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7AEFDB6-F50F-F8CA-6518-78625CBBA63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The discriminant suggests a way to model a probability density, given a known density. First note that</a:t>
                </a:r>
                <a:br>
                  <a:rPr lang="en-US" b="0" dirty="0"/>
                </a:b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can be rewritten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|1)=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|0)</m:t>
                      </m:r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using the so-called likelihood ratio trick. If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|0)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is a known density, from which the class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vectors are sampled, then the discriminant can be repurposed as a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probability density estimator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7AEFDB6-F50F-F8CA-6518-78625CBBA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2455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6BF1F42-9D07-58C2-7DEF-AAD977C1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Discriminant: </a:t>
            </a:r>
            <a:r>
              <a:rPr lang="en-US" dirty="0">
                <a:solidFill>
                  <a:schemeClr val="accent1"/>
                </a:solidFill>
              </a:rPr>
              <a:t>Uses (1)</a:t>
            </a:r>
          </a:p>
        </p:txBody>
      </p:sp>
    </p:spTree>
    <p:extLst>
      <p:ext uri="{BB962C8B-B14F-4D97-AF65-F5344CB8AC3E}">
        <p14:creationId xmlns:p14="http://schemas.microsoft.com/office/powerpoint/2010/main" val="1626973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1C9A-C562-4209-2742-5C63B422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270A78-B3C6-0C0C-96AB-1507A7B10D4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It is of course possible to train a classifier using an unbalanced dataset: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(1)≠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b="0" dirty="0"/>
                  <a:t>. </a:t>
                </a:r>
                <a:r>
                  <a:rPr lang="en-US" dirty="0"/>
                  <a:t>We’ve just shown that the model will </a:t>
                </a:r>
                <a:r>
                  <a:rPr lang="en-US" b="0" dirty="0"/>
                  <a:t>approximate the classification probability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But what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(1)≪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/>
                  <a:t>? The classifier is unlikely to be very good. (</a:t>
                </a:r>
                <a:r>
                  <a:rPr lang="en-US" dirty="0">
                    <a:solidFill>
                      <a:srgbClr val="0033CC"/>
                    </a:solidFill>
                  </a:rPr>
                  <a:t>Why do you think this is</a:t>
                </a:r>
                <a:r>
                  <a:rPr lang="en-US" dirty="0"/>
                  <a:t>?) </a:t>
                </a:r>
              </a:p>
              <a:p>
                <a:pPr marL="0" indent="0">
                  <a:buNone/>
                </a:pPr>
                <a:r>
                  <a:rPr lang="en-US" dirty="0"/>
                  <a:t>Instead, train with a balanced dataset and compute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using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(1)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den>
                      </m:f>
                    </m:oMath>
                  </m:oMathPara>
                </a14:m>
                <a:b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</a:b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effectLst>
                            <a:outerShdw blurRad="38100" dist="38100" dir="2700000" algn="tl">
                              <a:srgbClr val="DDDDDD"/>
                            </a:outerShdw>
                          </a:effectLst>
                          <a:latin typeface="Cambria Math" panose="02040503050406030204" pitchFamily="18" charset="0"/>
                        </a:rPr>
                        <m:t>/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effectLst>
                                    <a:outerShdw blurRad="38100" dist="38100" dir="2700000" algn="tl">
                                      <a:srgbClr val="DDDDDD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effectLst>
                                    <a:outerShdw blurRad="38100" dist="38100" dir="2700000" algn="tl">
                                      <a:srgbClr val="DDDDDD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effectLst>
                                    <a:outerShdw blurRad="38100" dist="38100" dir="2700000" algn="tl">
                                      <a:srgbClr val="DDDDDD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effectLst>
                                <a:outerShdw blurRad="38100" dist="38100" dir="2700000" algn="tl">
                                  <a:srgbClr val="DDDDDD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|0)</m:t>
                          </m:r>
                        </m:e>
                      </m:d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270A78-B3C6-0C0C-96AB-1507A7B10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818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499AF41-7810-2449-4FA8-B6D0A34D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Discriminant: </a:t>
            </a:r>
            <a:r>
              <a:rPr lang="en-US" dirty="0">
                <a:solidFill>
                  <a:schemeClr val="accent1"/>
                </a:solidFill>
              </a:rPr>
              <a:t>Uses (2)</a:t>
            </a:r>
          </a:p>
        </p:txBody>
      </p:sp>
    </p:spTree>
    <p:extLst>
      <p:ext uri="{BB962C8B-B14F-4D97-AF65-F5344CB8AC3E}">
        <p14:creationId xmlns:p14="http://schemas.microsoft.com/office/powerpoint/2010/main" val="64615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0BD22-A552-7619-8B27-EBFA1345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630BBC-189E-5D63-12C1-97C1E92F8F3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Stochastic Gradient Descent</a:t>
                </a:r>
              </a:p>
              <a:p>
                <a:r>
                  <a:rPr lang="en-US" dirty="0"/>
                  <a:t>Many (1</a:t>
                </a:r>
                <a:r>
                  <a:rPr lang="en-US" baseline="30000" dirty="0"/>
                  <a:t>st</a:t>
                </a:r>
                <a:r>
                  <a:rPr lang="en-US" dirty="0"/>
                  <a:t>-order) minimization algorithms are variations of the following algorithm:</a:t>
                </a: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  <a:cs typeface="Cambria Math" charset="0"/>
                </a:endParaRPr>
              </a:p>
              <a:p>
                <a:r>
                  <a:rPr lang="en-US" dirty="0"/>
                  <a:t>Batches of data are used, which introduces noise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𝑅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Risk Minimization</a:t>
                </a:r>
              </a:p>
              <a:p>
                <a:r>
                  <a:rPr lang="en-US" dirty="0"/>
                  <a:t>Given a data set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dirty="0"/>
                  <a:t>, a model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, and a loss function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optimal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satisfies: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630BBC-189E-5D63-12C1-97C1E92F8F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1309" b="-4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51E9639-C2BE-648A-6B74-658A698E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(1)</a:t>
            </a:r>
          </a:p>
        </p:txBody>
      </p:sp>
    </p:spTree>
    <p:extLst>
      <p:ext uri="{BB962C8B-B14F-4D97-AF65-F5344CB8AC3E}">
        <p14:creationId xmlns:p14="http://schemas.microsoft.com/office/powerpoint/2010/main" val="3395332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7C061-60F4-12F7-25F5-D6B0B4F3CC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Binary Cross Entropy</a:t>
            </a:r>
          </a:p>
          <a:p>
            <a:r>
              <a:rPr lang="en-US" dirty="0"/>
              <a:t>Training with the binary cross entropy loss yields a classifier that approximates the class probability.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fact can be exploited in creative ways. Two examples were given.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45E3B4-D021-15F8-995C-F301FA0FD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(2)</a:t>
            </a:r>
          </a:p>
        </p:txBody>
      </p:sp>
    </p:spTree>
    <p:extLst>
      <p:ext uri="{BB962C8B-B14F-4D97-AF65-F5344CB8AC3E}">
        <p14:creationId xmlns:p14="http://schemas.microsoft.com/office/powerpoint/2010/main" val="363852571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10965</TotalTime>
  <Words>1950</Words>
  <Application>Microsoft Macintosh PowerPoint</Application>
  <PresentationFormat>Letter Paper (8.5x11 in)</PresentationFormat>
  <Paragraphs>249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Cambria Math</vt:lpstr>
      <vt:lpstr>Marlett</vt:lpstr>
      <vt:lpstr>Times New Roman</vt:lpstr>
      <vt:lpstr>Wingdings</vt:lpstr>
      <vt:lpstr>Default Design</vt:lpstr>
      <vt:lpstr>Machine Learning In Physics Foundations 2</vt:lpstr>
      <vt:lpstr>Recap</vt:lpstr>
      <vt:lpstr>Recap</vt:lpstr>
      <vt:lpstr>Fitting Models to data</vt:lpstr>
      <vt:lpstr>Fitting Models to Data (1)</vt:lpstr>
      <vt:lpstr>Fitting Models to Data (2)</vt:lpstr>
      <vt:lpstr>Fitting Models to Data (3)</vt:lpstr>
      <vt:lpstr>Empirical Risk Landscape (1)</vt:lpstr>
      <vt:lpstr>Empirical Risk Landscape (2)</vt:lpstr>
      <vt:lpstr>Risk Functional</vt:lpstr>
      <vt:lpstr>Risk Functional (1)</vt:lpstr>
      <vt:lpstr>Risk Functional (2)</vt:lpstr>
      <vt:lpstr>Risk Functional (3)</vt:lpstr>
      <vt:lpstr>Risk Functional (4)</vt:lpstr>
      <vt:lpstr>Risk Functional (5)</vt:lpstr>
      <vt:lpstr>Risk Functional (6)</vt:lpstr>
      <vt:lpstr>Risk Functional (7)</vt:lpstr>
      <vt:lpstr>Empirical RISK Minimization</vt:lpstr>
      <vt:lpstr>Empirical Risk Minimization (1)</vt:lpstr>
      <vt:lpstr>Empirical Risk Minimization (2)</vt:lpstr>
      <vt:lpstr>Common loss functions</vt:lpstr>
      <vt:lpstr>Common Loss Functions (1)</vt:lpstr>
      <vt:lpstr>Common Loss Functions (2)</vt:lpstr>
      <vt:lpstr>Binary Cross Entropy Loss (1)</vt:lpstr>
      <vt:lpstr>Binary Cross Entropy Loss (2)</vt:lpstr>
      <vt:lpstr>Binary Cross Entropy Loss (3)</vt:lpstr>
      <vt:lpstr>The Discriminant</vt:lpstr>
      <vt:lpstr>The Discriminant: Uses (1)</vt:lpstr>
      <vt:lpstr>The Discriminant: Uses (2)</vt:lpstr>
      <vt:lpstr>Summary (1)</vt:lpstr>
      <vt:lpstr>Summary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42</cp:revision>
  <cp:lastPrinted>2019-01-07T00:35:58Z</cp:lastPrinted>
  <dcterms:created xsi:type="dcterms:W3CDTF">2025-08-24T13:22:07Z</dcterms:created>
  <dcterms:modified xsi:type="dcterms:W3CDTF">2025-09-04T20:34:44Z</dcterms:modified>
</cp:coreProperties>
</file>